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0" r:id="rId2"/>
  </p:sldMasterIdLst>
  <p:notesMasterIdLst>
    <p:notesMasterId r:id="rId24"/>
  </p:notesMasterIdLst>
  <p:sldIdLst>
    <p:sldId id="256" r:id="rId3"/>
    <p:sldId id="257" r:id="rId4"/>
    <p:sldId id="303" r:id="rId5"/>
    <p:sldId id="273" r:id="rId6"/>
    <p:sldId id="304" r:id="rId7"/>
    <p:sldId id="275" r:id="rId8"/>
    <p:sldId id="276" r:id="rId9"/>
    <p:sldId id="278" r:id="rId10"/>
    <p:sldId id="274" r:id="rId11"/>
    <p:sldId id="277" r:id="rId12"/>
    <p:sldId id="272" r:id="rId13"/>
    <p:sldId id="259" r:id="rId14"/>
    <p:sldId id="268" r:id="rId15"/>
    <p:sldId id="269" r:id="rId16"/>
    <p:sldId id="270" r:id="rId17"/>
    <p:sldId id="260" r:id="rId18"/>
    <p:sldId id="263" r:id="rId19"/>
    <p:sldId id="264" r:id="rId20"/>
    <p:sldId id="265" r:id="rId21"/>
    <p:sldId id="266" r:id="rId22"/>
    <p:sldId id="26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D94A884-DF1B-4052-A4A5-7E5B111653A6}">
          <p14:sldIdLst>
            <p14:sldId id="256"/>
          </p14:sldIdLst>
        </p14:section>
        <p14:section name="Lecture of WEEK 01" id="{EE77AD58-54B9-4141-9C73-2967550F6F9F}">
          <p14:sldIdLst>
            <p14:sldId id="257"/>
            <p14:sldId id="303"/>
            <p14:sldId id="273"/>
            <p14:sldId id="304"/>
            <p14:sldId id="275"/>
            <p14:sldId id="276"/>
            <p14:sldId id="278"/>
            <p14:sldId id="274"/>
            <p14:sldId id="277"/>
            <p14:sldId id="272"/>
            <p14:sldId id="259"/>
            <p14:sldId id="268"/>
            <p14:sldId id="269"/>
            <p14:sldId id="270"/>
            <p14:sldId id="260"/>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1A84C-442A-4C41-A099-253994BFF00D}"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47A58D-40D2-4069-BF38-6C77A2968DEF}" type="slidenum">
              <a:rPr lang="en-US" smtClean="0"/>
              <a:t>‹#›</a:t>
            </a:fld>
            <a:endParaRPr lang="en-US"/>
          </a:p>
        </p:txBody>
      </p:sp>
    </p:spTree>
    <p:extLst>
      <p:ext uri="{BB962C8B-B14F-4D97-AF65-F5344CB8AC3E}">
        <p14:creationId xmlns:p14="http://schemas.microsoft.com/office/powerpoint/2010/main" val="227732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6D3402-EEB3-4BCD-BCDC-BB7ED814FEF7}" type="slidenum">
              <a:rPr lang="en-US" altLang="en-US"/>
              <a:pPr/>
              <a:t>11</a:t>
            </a:fld>
            <a:endParaRPr lang="en-US" altLang="en-US"/>
          </a:p>
        </p:txBody>
      </p:sp>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885633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AB303F-0C84-4E99-8EAA-D87A756D3384}" type="slidenum">
              <a:rPr lang="en-US" altLang="en-US"/>
              <a:pPr/>
              <a:t>13</a:t>
            </a:fld>
            <a:endParaRPr lang="en-US" alt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9974530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A1EB3F-C1BD-497F-8925-7E2CF3CDB2A7}" type="slidenum">
              <a:rPr lang="en-US" altLang="en-US"/>
              <a:pPr/>
              <a:t>14</a:t>
            </a:fld>
            <a:endParaRPr lang="en-US" alt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4067155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FEBD98-AF8C-4E96-9389-AE02AF0E01FF}" type="slidenum">
              <a:rPr lang="en-US" altLang="en-US"/>
              <a:pPr/>
              <a:t>15</a:t>
            </a:fld>
            <a:endParaRPr lang="en-US" alt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500271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4E287D-055C-48B4-A13B-762293AAB338}" type="slidenum">
              <a:rPr lang="en-US" altLang="en-US"/>
              <a:pPr/>
              <a:t>17</a:t>
            </a:fld>
            <a:endParaRPr lang="en-US" altLang="en-US"/>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4130265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DFDE98-E1FA-44A7-9239-EF1A445DC052}" type="slidenum">
              <a:rPr lang="en-US" altLang="en-US"/>
              <a:pPr/>
              <a:t>18</a:t>
            </a:fld>
            <a:endParaRPr lang="en-US" alt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550075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FFB448-5F19-413F-9000-F2CE095DCF91}" type="slidenum">
              <a:rPr lang="en-US" altLang="en-US"/>
              <a:pPr/>
              <a:t>19</a:t>
            </a:fld>
            <a:endParaRPr lang="en-US" alt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2976073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F25449-1E48-4425-976F-4AB35725369C}" type="slidenum">
              <a:rPr lang="en-US" altLang="en-US"/>
              <a:pPr/>
              <a:t>20</a:t>
            </a:fld>
            <a:endParaRPr lang="en-US" alt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1854284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18A078-04E1-43CF-A7CA-B1EAE393529B}" type="slidenum">
              <a:rPr lang="en-US" altLang="en-US"/>
              <a:pPr/>
              <a:t>21</a:t>
            </a:fld>
            <a:endParaRPr lang="en-US" alt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endParaRPr lang="en-GB" altLang="en-US"/>
          </a:p>
        </p:txBody>
      </p:sp>
    </p:spTree>
    <p:extLst>
      <p:ext uri="{BB962C8B-B14F-4D97-AF65-F5344CB8AC3E}">
        <p14:creationId xmlns:p14="http://schemas.microsoft.com/office/powerpoint/2010/main" val="3543435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25349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3598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010156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99350F5-16FA-4894-921C-05B4EA31D466}"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311720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99350F5-16FA-4894-921C-05B4EA31D466}"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004979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99350F5-16FA-4894-921C-05B4EA31D466}"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674779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350F5-16FA-4894-921C-05B4EA31D466}"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2388580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350F5-16FA-4894-921C-05B4EA31D466}"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662516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350F5-16FA-4894-921C-05B4EA31D466}"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1715791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2847139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296255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155542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5954107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3397329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99350F5-16FA-4894-921C-05B4EA31D466}"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551847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99350F5-16FA-4894-921C-05B4EA31D466}"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0803075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99350F5-16FA-4894-921C-05B4EA31D466}"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3197483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350F5-16FA-4894-921C-05B4EA31D466}"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2994640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350F5-16FA-4894-921C-05B4EA31D466}"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2654038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99350F5-16FA-4894-921C-05B4EA31D466}"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5366020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10933748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99350F5-16FA-4894-921C-05B4EA31D466}"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B56C0-AA25-4D70-ADF6-D3D337BD50A8}" type="slidenum">
              <a:rPr lang="en-US" smtClean="0"/>
              <a:t>‹#›</a:t>
            </a:fld>
            <a:endParaRPr lang="en-US"/>
          </a:p>
        </p:txBody>
      </p:sp>
    </p:spTree>
    <p:extLst>
      <p:ext uri="{BB962C8B-B14F-4D97-AF65-F5344CB8AC3E}">
        <p14:creationId xmlns:p14="http://schemas.microsoft.com/office/powerpoint/2010/main" val="2294345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01038" y="339050"/>
            <a:ext cx="10515600" cy="13255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1001038" y="1834812"/>
            <a:ext cx="10515600" cy="4351338"/>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350F5-16FA-4894-921C-05B4EA31D466}" type="datetimeFigureOut">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CB56C0-AA25-4D70-ADF6-D3D337BD50A8}" type="slidenum">
              <a:rPr lang="en-US" smtClean="0"/>
              <a:t>‹#›</a:t>
            </a:fld>
            <a:endParaRPr lang="en-US"/>
          </a:p>
        </p:txBody>
      </p:sp>
      <p:pic>
        <p:nvPicPr>
          <p:cNvPr id="7" name="Picture 6"/>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0" y="-10656"/>
            <a:ext cx="809625" cy="809625"/>
          </a:xfrm>
          <a:prstGeom prst="rect">
            <a:avLst/>
          </a:prstGeom>
        </p:spPr>
      </p:pic>
    </p:spTree>
    <p:extLst>
      <p:ext uri="{BB962C8B-B14F-4D97-AF65-F5344CB8AC3E}">
        <p14:creationId xmlns:p14="http://schemas.microsoft.com/office/powerpoint/2010/main" val="1421496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000" kern="1200">
          <a:solidFill>
            <a:srgbClr val="00206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350F5-16FA-4894-921C-05B4EA31D466}" type="datetimeFigureOut">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CB56C0-AA25-4D70-ADF6-D3D337BD50A8}" type="slidenum">
              <a:rPr lang="en-US" smtClean="0"/>
              <a:t>‹#›</a:t>
            </a:fld>
            <a:endParaRPr lang="en-US"/>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10656"/>
            <a:ext cx="809625" cy="809625"/>
          </a:xfrm>
          <a:prstGeom prst="rect">
            <a:avLst/>
          </a:prstGeom>
        </p:spPr>
      </p:pic>
    </p:spTree>
    <p:extLst>
      <p:ext uri="{BB962C8B-B14F-4D97-AF65-F5344CB8AC3E}">
        <p14:creationId xmlns:p14="http://schemas.microsoft.com/office/powerpoint/2010/main" val="93084187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9300" y="697707"/>
            <a:ext cx="10820400" cy="2387600"/>
          </a:xfrm>
        </p:spPr>
        <p:txBody>
          <a:bodyPr>
            <a:normAutofit/>
          </a:bodyPr>
          <a:lstStyle/>
          <a:p>
            <a:r>
              <a:rPr lang="en-US" sz="4000" dirty="0" smtClean="0">
                <a:latin typeface="Times New Roman" panose="02020603050405020304" pitchFamily="18" charset="0"/>
                <a:cs typeface="Times New Roman" panose="02020603050405020304" pitchFamily="18" charset="0"/>
              </a:rPr>
              <a:t>  Computer Architecture &amp; Assembly Language</a:t>
            </a:r>
            <a:br>
              <a:rPr lang="en-US" sz="4000" dirty="0" smtClean="0">
                <a:latin typeface="Times New Roman" panose="02020603050405020304" pitchFamily="18" charset="0"/>
                <a:cs typeface="Times New Roman" panose="02020603050405020304" pitchFamily="18" charset="0"/>
              </a:rPr>
            </a:br>
            <a:r>
              <a:rPr lang="en-US" sz="4000" dirty="0" smtClean="0">
                <a:latin typeface="Times New Roman" panose="02020603050405020304" pitchFamily="18" charset="0"/>
                <a:cs typeface="Times New Roman" panose="02020603050405020304" pitchFamily="18" charset="0"/>
              </a:rPr>
              <a:t> </a:t>
            </a:r>
            <a:br>
              <a:rPr lang="en-US" sz="4000" dirty="0" smtClean="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CSC-250</a:t>
            </a:r>
            <a:endParaRPr lang="en-US" sz="40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618707"/>
            <a:ext cx="9144000" cy="1655762"/>
          </a:xfrm>
        </p:spPr>
        <p:txBody>
          <a:bodyPr>
            <a:normAutofit fontScale="92500" lnSpcReduction="10000"/>
          </a:bodyPr>
          <a:lstStyle/>
          <a:p>
            <a:r>
              <a:rPr lang="en-US" b="1" u="sng" smtClean="0">
                <a:latin typeface="Times New Roman" panose="02020603050405020304" pitchFamily="18" charset="0"/>
                <a:cs typeface="Times New Roman" panose="02020603050405020304" pitchFamily="18" charset="0"/>
              </a:rPr>
              <a:t>COURSE  LECTURE </a:t>
            </a:r>
            <a:endParaRPr lang="en-US" b="1" u="sng" dirty="0" smtClean="0">
              <a:latin typeface="Times New Roman" panose="02020603050405020304" pitchFamily="18" charset="0"/>
              <a:cs typeface="Times New Roman" panose="02020603050405020304" pitchFamily="18" charset="0"/>
            </a:endParaRPr>
          </a:p>
          <a:p>
            <a:endParaRPr lang="en-US" dirty="0"/>
          </a:p>
          <a:p>
            <a:r>
              <a:rPr lang="en-US" sz="2800" dirty="0" smtClean="0">
                <a:latin typeface="Times New Roman" panose="02020603050405020304" pitchFamily="18" charset="0"/>
                <a:cs typeface="Times New Roman" panose="02020603050405020304" pitchFamily="18" charset="0"/>
              </a:rPr>
              <a:t>COMPUTER SCIENCE DEPARTMENT </a:t>
            </a:r>
          </a:p>
          <a:p>
            <a:r>
              <a:rPr lang="en-US" dirty="0" smtClean="0">
                <a:latin typeface="Times New Roman" panose="02020603050405020304" pitchFamily="18" charset="0"/>
                <a:cs typeface="Times New Roman" panose="02020603050405020304" pitchFamily="18" charset="0"/>
              </a:rPr>
              <a:t>SIBAU KANDHKOT CAMPUS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86563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latin typeface="Times New Roman" panose="02020603050405020304" pitchFamily="18" charset="0"/>
                <a:cs typeface="Times New Roman" panose="02020603050405020304" pitchFamily="18" charset="0"/>
              </a:rPr>
              <a:t>Computer Architecture</a:t>
            </a:r>
            <a:endParaRPr lang="en-US"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US" sz="2400" dirty="0">
                <a:latin typeface="Times New Roman" panose="02020603050405020304" pitchFamily="18" charset="0"/>
                <a:cs typeface="Times New Roman" panose="02020603050405020304" pitchFamily="18" charset="0"/>
              </a:rPr>
              <a:t>A very good example of computer architecture is von Neumann architecture, which is still used by most types of computers today. </a:t>
            </a:r>
            <a:endParaRPr lang="en-US" sz="2400" dirty="0" smtClean="0">
              <a:latin typeface="Times New Roman" panose="02020603050405020304" pitchFamily="18" charset="0"/>
              <a:cs typeface="Times New Roman" panose="02020603050405020304" pitchFamily="18" charset="0"/>
            </a:endParaRP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This </a:t>
            </a:r>
            <a:r>
              <a:rPr lang="en-US" sz="2400" dirty="0">
                <a:latin typeface="Times New Roman" panose="02020603050405020304" pitchFamily="18" charset="0"/>
                <a:cs typeface="Times New Roman" panose="02020603050405020304" pitchFamily="18" charset="0"/>
              </a:rPr>
              <a:t>was proposed by the mathematician John von Neumann in 1945. It describes the design of an electronic computer with its CPU, which includes the arithmetic logic unit, control unit, registers, memory for data and instructions, an input/output interface and external storage </a:t>
            </a:r>
            <a:r>
              <a:rPr lang="en-US" sz="2400" dirty="0" smtClean="0">
                <a:latin typeface="Times New Roman" panose="02020603050405020304" pitchFamily="18" charset="0"/>
                <a:cs typeface="Times New Roman" panose="02020603050405020304" pitchFamily="18" charset="0"/>
              </a:rPr>
              <a:t>functions</a:t>
            </a:r>
          </a:p>
          <a:p>
            <a:r>
              <a:rPr lang="en-US" sz="2400" dirty="0" smtClean="0">
                <a:latin typeface="Times New Roman" panose="02020603050405020304" pitchFamily="18" charset="0"/>
                <a:cs typeface="Times New Roman" panose="02020603050405020304" pitchFamily="18" charset="0"/>
              </a:rPr>
              <a:t>Involves Logics (instruction address data types memory optimization)</a:t>
            </a:r>
          </a:p>
          <a:p>
            <a:r>
              <a:rPr lang="en-US" sz="2400" dirty="0" smtClean="0">
                <a:latin typeface="Times New Roman" panose="02020603050405020304" pitchFamily="18" charset="0"/>
                <a:cs typeface="Times New Roman" panose="02020603050405020304" pitchFamily="18" charset="0"/>
              </a:rPr>
              <a:t>Show responsibility who does interconnect &amp; connectivity structure</a:t>
            </a:r>
          </a:p>
          <a:p>
            <a:r>
              <a:rPr lang="en-US" sz="2400" dirty="0" smtClean="0">
                <a:latin typeface="Times New Roman" panose="02020603050405020304" pitchFamily="18" charset="0"/>
                <a:cs typeface="Times New Roman" panose="02020603050405020304" pitchFamily="18" charset="0"/>
              </a:rPr>
              <a:t>Functional requirements</a:t>
            </a:r>
          </a:p>
          <a:p>
            <a:r>
              <a:rPr lang="en-US" sz="2400" dirty="0" smtClean="0">
                <a:latin typeface="Times New Roman" panose="02020603050405020304" pitchFamily="18" charset="0"/>
                <a:cs typeface="Times New Roman" panose="02020603050405020304" pitchFamily="18" charset="0"/>
              </a:rPr>
              <a:t>High level design</a:t>
            </a:r>
          </a:p>
          <a:p>
            <a:r>
              <a:rPr lang="en-US" sz="2400" dirty="0" smtClean="0">
                <a:latin typeface="Times New Roman" panose="02020603050405020304" pitchFamily="18" charset="0"/>
                <a:cs typeface="Times New Roman" panose="02020603050405020304" pitchFamily="18" charset="0"/>
              </a:rPr>
              <a:t>Focus on understanding problem</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51915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Computer Architecture</a:t>
            </a:r>
            <a:endParaRPr lang="en-US" dirty="0"/>
          </a:p>
        </p:txBody>
      </p:sp>
      <p:sp>
        <p:nvSpPr>
          <p:cNvPr id="3" name="Content Placeholder 2"/>
          <p:cNvSpPr>
            <a:spLocks noGrp="1"/>
          </p:cNvSpPr>
          <p:nvPr>
            <p:ph idx="1"/>
          </p:nvPr>
        </p:nvSpPr>
        <p:spPr/>
        <p:txBody>
          <a:bodyPr>
            <a:normAutofit fontScale="92500" lnSpcReduction="10000"/>
          </a:bodyPr>
          <a:lstStyle/>
          <a:p>
            <a:r>
              <a:rPr lang="en-US" altLang="en-US" sz="2400" dirty="0"/>
              <a:t>A modern computer is an electronic, digital, general purpose computing machine that automatically follows a step-by-step list of instructions to solve a problem. This step-by step list of instructions that a computer follows is also called an algorithm or a computer </a:t>
            </a:r>
            <a:r>
              <a:rPr lang="af-ZA" altLang="en-US" sz="2400" dirty="0"/>
              <a:t>program.</a:t>
            </a:r>
            <a:r>
              <a:rPr lang="en-US" altLang="en-US" sz="2400" dirty="0"/>
              <a:t>  </a:t>
            </a:r>
          </a:p>
          <a:p>
            <a:pPr>
              <a:lnSpc>
                <a:spcPct val="80000"/>
              </a:lnSpc>
              <a:spcBef>
                <a:spcPct val="40000"/>
              </a:spcBef>
            </a:pPr>
            <a:r>
              <a:rPr lang="en-US" altLang="en-US" sz="2500" dirty="0"/>
              <a:t> </a:t>
            </a:r>
            <a:r>
              <a:rPr lang="en-US" altLang="en-US" sz="2500" dirty="0">
                <a:solidFill>
                  <a:srgbClr val="FF3300"/>
                </a:solidFill>
              </a:rPr>
              <a:t>Why study computer organization and architecture?</a:t>
            </a:r>
            <a:endParaRPr lang="en-US" altLang="en-US" dirty="0">
              <a:solidFill>
                <a:srgbClr val="FF3300"/>
              </a:solidFill>
            </a:endParaRPr>
          </a:p>
          <a:p>
            <a:pPr lvl="1">
              <a:lnSpc>
                <a:spcPct val="80000"/>
              </a:lnSpc>
              <a:spcBef>
                <a:spcPct val="40000"/>
              </a:spcBef>
            </a:pPr>
            <a:r>
              <a:rPr lang="en-US" altLang="en-US" sz="2000" dirty="0"/>
              <a:t>Design better programs, including system software such as compilers, operating systems, and device drivers.</a:t>
            </a:r>
          </a:p>
          <a:p>
            <a:pPr lvl="1">
              <a:lnSpc>
                <a:spcPct val="80000"/>
              </a:lnSpc>
              <a:spcBef>
                <a:spcPct val="40000"/>
              </a:spcBef>
            </a:pPr>
            <a:r>
              <a:rPr lang="en-US" altLang="en-US" sz="2000" dirty="0"/>
              <a:t>Optimize program behavior.</a:t>
            </a:r>
          </a:p>
          <a:p>
            <a:pPr lvl="1">
              <a:lnSpc>
                <a:spcPct val="80000"/>
              </a:lnSpc>
              <a:spcBef>
                <a:spcPct val="40000"/>
              </a:spcBef>
            </a:pPr>
            <a:r>
              <a:rPr lang="en-US" altLang="en-US" sz="2000" dirty="0"/>
              <a:t>Evaluate (benchmark) computer system performance.</a:t>
            </a:r>
          </a:p>
          <a:p>
            <a:pPr lvl="1">
              <a:lnSpc>
                <a:spcPct val="80000"/>
              </a:lnSpc>
              <a:spcBef>
                <a:spcPct val="40000"/>
              </a:spcBef>
            </a:pPr>
            <a:r>
              <a:rPr lang="en-US" altLang="en-US" sz="2000" dirty="0"/>
              <a:t>Understand time, space, and price tradeoffs.</a:t>
            </a:r>
          </a:p>
          <a:p>
            <a:pPr>
              <a:lnSpc>
                <a:spcPct val="80000"/>
              </a:lnSpc>
            </a:pPr>
            <a:r>
              <a:rPr lang="en-US" altLang="en-US" sz="2500" dirty="0">
                <a:solidFill>
                  <a:srgbClr val="FF3300"/>
                </a:solidFill>
              </a:rPr>
              <a:t>Computer organization</a:t>
            </a:r>
          </a:p>
          <a:p>
            <a:pPr lvl="1">
              <a:lnSpc>
                <a:spcPct val="80000"/>
              </a:lnSpc>
            </a:pPr>
            <a:r>
              <a:rPr lang="en-US" altLang="en-US" sz="2000" dirty="0"/>
              <a:t>Encompasses all physical aspects of computer systems.</a:t>
            </a:r>
          </a:p>
          <a:p>
            <a:pPr lvl="1">
              <a:lnSpc>
                <a:spcPct val="80000"/>
              </a:lnSpc>
            </a:pPr>
            <a:r>
              <a:rPr lang="en-US" altLang="en-US" sz="2000" dirty="0"/>
              <a:t>E.g., circuit design, control signals, memory types.</a:t>
            </a:r>
          </a:p>
          <a:p>
            <a:pPr lvl="1">
              <a:lnSpc>
                <a:spcPct val="80000"/>
              </a:lnSpc>
            </a:pPr>
            <a:r>
              <a:rPr lang="en-US" altLang="en-US" sz="2000" i="1" dirty="0"/>
              <a:t>How does a computer work?</a:t>
            </a:r>
          </a:p>
          <a:p>
            <a:endParaRPr lang="en-US" dirty="0"/>
          </a:p>
        </p:txBody>
      </p:sp>
    </p:spTree>
    <p:extLst>
      <p:ext uri="{BB962C8B-B14F-4D97-AF65-F5344CB8AC3E}">
        <p14:creationId xmlns:p14="http://schemas.microsoft.com/office/powerpoint/2010/main" val="2368232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7025"/>
            <a:ext cx="10515600" cy="1325563"/>
          </a:xfrm>
        </p:spPr>
        <p:txBody>
          <a:bodyPr>
            <a:normAutofit/>
          </a:bodyPr>
          <a:lstStyle/>
          <a:p>
            <a:r>
              <a:rPr lang="en-US" sz="4000" dirty="0" smtClean="0">
                <a:latin typeface="Times New Roman" panose="02020603050405020304" pitchFamily="18" charset="0"/>
                <a:cs typeface="Times New Roman" panose="02020603050405020304" pitchFamily="18" charset="0"/>
              </a:rPr>
              <a:t>Computer Architecture</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62100"/>
            <a:ext cx="10515600" cy="4914900"/>
          </a:xfrm>
        </p:spPr>
        <p:txBody>
          <a:bodyPr>
            <a:normAutofit fontScale="92500" lnSpcReduction="10000"/>
          </a:bodyPr>
          <a:lstStyle/>
          <a:p>
            <a:r>
              <a:rPr lang="en-US" sz="2400" dirty="0" smtClean="0">
                <a:latin typeface="Times New Roman" panose="02020603050405020304" pitchFamily="18" charset="0"/>
                <a:cs typeface="Times New Roman" panose="02020603050405020304" pitchFamily="18" charset="0"/>
              </a:rPr>
              <a:t>Visible attributes of system to programmer </a:t>
            </a:r>
          </a:p>
          <a:p>
            <a:r>
              <a:rPr lang="en-US" sz="2400" dirty="0" smtClean="0">
                <a:latin typeface="Times New Roman" panose="02020603050405020304" pitchFamily="18" charset="0"/>
                <a:cs typeface="Times New Roman" panose="02020603050405020304" pitchFamily="18" charset="0"/>
              </a:rPr>
              <a:t>System competitive techniques for addressing design</a:t>
            </a:r>
          </a:p>
          <a:p>
            <a:r>
              <a:rPr lang="en-US" sz="2400" dirty="0" smtClean="0">
                <a:latin typeface="Times New Roman" panose="02020603050405020304" pitchFamily="18" charset="0"/>
                <a:cs typeface="Times New Roman" panose="02020603050405020304" pitchFamily="18" charset="0"/>
              </a:rPr>
              <a:t>Structural behavior</a:t>
            </a:r>
          </a:p>
          <a:p>
            <a:endParaRPr lang="en-US" sz="2400" dirty="0" smtClean="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r>
              <a:rPr lang="en-US" sz="2400" b="1" u="sng" dirty="0">
                <a:latin typeface="Times New Roman" panose="02020603050405020304" pitchFamily="18" charset="0"/>
                <a:cs typeface="Times New Roman" panose="02020603050405020304" pitchFamily="18" charset="0"/>
              </a:rPr>
              <a:t>Instruction Set Architecture (ISA): </a:t>
            </a:r>
            <a:r>
              <a:rPr lang="en-US" sz="2400" dirty="0">
                <a:latin typeface="Times New Roman" panose="02020603050405020304" pitchFamily="18" charset="0"/>
                <a:cs typeface="Times New Roman" panose="02020603050405020304" pitchFamily="18" charset="0"/>
              </a:rPr>
              <a:t>This is the embedded programming language of the central processing unit.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It </a:t>
            </a:r>
            <a:r>
              <a:rPr lang="en-US" sz="2400" dirty="0">
                <a:latin typeface="Times New Roman" panose="02020603050405020304" pitchFamily="18" charset="0"/>
                <a:cs typeface="Times New Roman" panose="02020603050405020304" pitchFamily="18" charset="0"/>
              </a:rPr>
              <a:t>defines the CPU's functions and capabilities based on what programming it can perform or process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This includes the word size, processor register types, memory addressing modes, data formats and the instruction set that programmers use</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b="1" u="sng" dirty="0">
                <a:latin typeface="Times New Roman" panose="02020603050405020304" pitchFamily="18" charset="0"/>
                <a:cs typeface="Times New Roman" panose="02020603050405020304" pitchFamily="18" charset="0"/>
              </a:rPr>
              <a:t>Microarchitecture</a:t>
            </a:r>
            <a:r>
              <a:rPr lang="en-US" sz="2400"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Otherwise known as </a:t>
            </a:r>
            <a:r>
              <a:rPr lang="en-US" sz="2400" b="1" dirty="0">
                <a:latin typeface="Times New Roman" panose="02020603050405020304" pitchFamily="18" charset="0"/>
                <a:cs typeface="Times New Roman" panose="02020603050405020304" pitchFamily="18" charset="0"/>
              </a:rPr>
              <a:t>computer organization</a:t>
            </a:r>
            <a:r>
              <a:rPr lang="en-US" sz="2400" dirty="0">
                <a:latin typeface="Times New Roman" panose="02020603050405020304" pitchFamily="18" charset="0"/>
                <a:cs typeface="Times New Roman" panose="02020603050405020304" pitchFamily="18" charset="0"/>
              </a:rPr>
              <a:t>, this type of architecture defines the data paths, data processing and storage elements, as well as how they should be implemented in the ISA.</a:t>
            </a:r>
          </a:p>
        </p:txBody>
      </p:sp>
    </p:spTree>
    <p:extLst>
      <p:ext uri="{BB962C8B-B14F-4D97-AF65-F5344CB8AC3E}">
        <p14:creationId xmlns:p14="http://schemas.microsoft.com/office/powerpoint/2010/main" val="1997608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latin typeface="Times New Roman" panose="02020603050405020304" pitchFamily="18" charset="0"/>
                <a:cs typeface="Times New Roman" panose="02020603050405020304" pitchFamily="18" charset="0"/>
              </a:rPr>
              <a:t>Computer Architecture</a:t>
            </a:r>
            <a:endParaRPr lang="en-US" dirty="0"/>
          </a:p>
        </p:txBody>
      </p:sp>
      <p:sp>
        <p:nvSpPr>
          <p:cNvPr id="3" name="Content Placeholder 2"/>
          <p:cNvSpPr>
            <a:spLocks noGrp="1"/>
          </p:cNvSpPr>
          <p:nvPr>
            <p:ph idx="1"/>
          </p:nvPr>
        </p:nvSpPr>
        <p:spPr/>
        <p:txBody>
          <a:bodyPr>
            <a:normAutofit fontScale="55000" lnSpcReduction="20000"/>
          </a:bodyPr>
          <a:lstStyle/>
          <a:p>
            <a:r>
              <a:rPr lang="en-US" altLang="en-US" sz="3800" dirty="0">
                <a:latin typeface="Times New Roman" panose="02020603050405020304" pitchFamily="18" charset="0"/>
                <a:cs typeface="Times New Roman" panose="02020603050405020304" pitchFamily="18" charset="0"/>
              </a:rPr>
              <a:t>Focuses on the </a:t>
            </a:r>
            <a:r>
              <a:rPr lang="en-US" altLang="en-US" sz="3800" b="1" dirty="0" smtClean="0">
                <a:latin typeface="Times New Roman" panose="02020603050405020304" pitchFamily="18" charset="0"/>
                <a:cs typeface="Times New Roman" panose="02020603050405020304" pitchFamily="18" charset="0"/>
              </a:rPr>
              <a:t>structure (</a:t>
            </a:r>
            <a:r>
              <a:rPr lang="en-US" altLang="en-US" sz="3800" dirty="0">
                <a:latin typeface="Times New Roman" panose="02020603050405020304" pitchFamily="18" charset="0"/>
                <a:cs typeface="Times New Roman" panose="02020603050405020304" pitchFamily="18" charset="0"/>
              </a:rPr>
              <a:t>the way in which the components are interrelated</a:t>
            </a:r>
            <a:r>
              <a:rPr lang="en-US" altLang="en-US" sz="3800" b="1" dirty="0">
                <a:latin typeface="Times New Roman" panose="02020603050405020304" pitchFamily="18" charset="0"/>
                <a:cs typeface="Times New Roman" panose="02020603050405020304" pitchFamily="18" charset="0"/>
              </a:rPr>
              <a:t>)</a:t>
            </a:r>
            <a:r>
              <a:rPr lang="en-US" altLang="en-US" sz="3800" dirty="0">
                <a:latin typeface="Times New Roman" panose="02020603050405020304" pitchFamily="18" charset="0"/>
                <a:cs typeface="Times New Roman" panose="02020603050405020304" pitchFamily="18" charset="0"/>
              </a:rPr>
              <a:t> and behavior of the computer system and refers to the logical aspects of system implementation as seen by the </a:t>
            </a:r>
            <a:r>
              <a:rPr lang="en-US" altLang="en-US" sz="3800" dirty="0" smtClean="0">
                <a:latin typeface="Times New Roman" panose="02020603050405020304" pitchFamily="18" charset="0"/>
                <a:cs typeface="Times New Roman" panose="02020603050405020304" pitchFamily="18" charset="0"/>
              </a:rPr>
              <a:t>programmer</a:t>
            </a:r>
          </a:p>
          <a:p>
            <a:endParaRPr lang="en-US" altLang="en-US" sz="3800" dirty="0">
              <a:latin typeface="Times New Roman" panose="02020603050405020304" pitchFamily="18" charset="0"/>
              <a:cs typeface="Times New Roman" panose="02020603050405020304" pitchFamily="18" charset="0"/>
            </a:endParaRPr>
          </a:p>
          <a:p>
            <a:r>
              <a:rPr lang="en-US" altLang="en-US" sz="3800" dirty="0">
                <a:latin typeface="Times New Roman" panose="02020603050405020304" pitchFamily="18" charset="0"/>
                <a:cs typeface="Times New Roman" panose="02020603050405020304" pitchFamily="18" charset="0"/>
              </a:rPr>
              <a:t>Computer architecture includes many elements such as </a:t>
            </a:r>
          </a:p>
          <a:p>
            <a:pPr lvl="1"/>
            <a:r>
              <a:rPr lang="en-US" altLang="en-US" sz="3800" dirty="0">
                <a:latin typeface="Times New Roman" panose="02020603050405020304" pitchFamily="18" charset="0"/>
                <a:cs typeface="Times New Roman" panose="02020603050405020304" pitchFamily="18" charset="0"/>
              </a:rPr>
              <a:t>instruction sets and formats, operation codes, data types, the number and types of registers, addressing modes, main memory access methods, and various I/O mechanisms. </a:t>
            </a:r>
            <a:endParaRPr lang="en-US" altLang="en-US" sz="3800" dirty="0" smtClean="0">
              <a:latin typeface="Times New Roman" panose="02020603050405020304" pitchFamily="18" charset="0"/>
              <a:cs typeface="Times New Roman" panose="02020603050405020304" pitchFamily="18" charset="0"/>
            </a:endParaRPr>
          </a:p>
          <a:p>
            <a:pPr lvl="1"/>
            <a:endParaRPr lang="en-US" altLang="en-US" sz="3800" dirty="0">
              <a:latin typeface="Times New Roman" panose="02020603050405020304" pitchFamily="18" charset="0"/>
              <a:cs typeface="Times New Roman" panose="02020603050405020304" pitchFamily="18" charset="0"/>
            </a:endParaRPr>
          </a:p>
          <a:p>
            <a:r>
              <a:rPr lang="en-US" altLang="en-US" sz="3800" dirty="0">
                <a:latin typeface="Times New Roman" panose="02020603050405020304" pitchFamily="18" charset="0"/>
                <a:cs typeface="Times New Roman" panose="02020603050405020304" pitchFamily="18" charset="0"/>
              </a:rPr>
              <a:t>The architecture of a system directly affects the logical execution of programs. </a:t>
            </a:r>
          </a:p>
          <a:p>
            <a:r>
              <a:rPr lang="en-US" altLang="en-US" sz="3800" dirty="0">
                <a:latin typeface="Times New Roman" panose="02020603050405020304" pitchFamily="18" charset="0"/>
                <a:cs typeface="Times New Roman" panose="02020603050405020304" pitchFamily="18" charset="0"/>
              </a:rPr>
              <a:t>The computer architecture for a given machine is the combination of its hardware components plus its instruction set architecture (ISA). </a:t>
            </a:r>
          </a:p>
          <a:p>
            <a:r>
              <a:rPr lang="en-US" altLang="en-US" sz="3800" dirty="0">
                <a:latin typeface="Times New Roman" panose="02020603050405020304" pitchFamily="18" charset="0"/>
                <a:cs typeface="Times New Roman" panose="02020603050405020304" pitchFamily="18" charset="0"/>
              </a:rPr>
              <a:t>The ISA is the interface between all the software that runs on the machine and the hard</a:t>
            </a:r>
          </a:p>
          <a:p>
            <a:r>
              <a:rPr lang="en-US" altLang="en-US" sz="3800" b="1" dirty="0">
                <a:solidFill>
                  <a:srgbClr val="FF0000"/>
                </a:solidFill>
                <a:latin typeface="Times New Roman" panose="02020603050405020304" pitchFamily="18" charset="0"/>
                <a:cs typeface="Times New Roman" panose="02020603050405020304" pitchFamily="18" charset="0"/>
              </a:rPr>
              <a:t>Studying computer architecture helps us to answer the question: How do I design a computer</a:t>
            </a:r>
            <a:r>
              <a:rPr lang="en-US" altLang="en-US" sz="3800" b="1" dirty="0">
                <a:solidFill>
                  <a:srgbClr val="FF0000"/>
                </a:solidFill>
              </a:rPr>
              <a:t>?</a:t>
            </a:r>
          </a:p>
          <a:p>
            <a:endParaRPr lang="en-US" dirty="0"/>
          </a:p>
        </p:txBody>
      </p:sp>
    </p:spTree>
    <p:extLst>
      <p:ext uri="{BB962C8B-B14F-4D97-AF65-F5344CB8AC3E}">
        <p14:creationId xmlns:p14="http://schemas.microsoft.com/office/powerpoint/2010/main" val="2702215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Computer Architecture Layer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a:bodyPr>
          <a:lstStyle/>
          <a:p>
            <a:r>
              <a:rPr lang="en-US" sz="2400" dirty="0">
                <a:latin typeface="Times New Roman" panose="02020603050405020304" pitchFamily="18" charset="0"/>
                <a:cs typeface="Times New Roman" panose="02020603050405020304" pitchFamily="18" charset="0"/>
              </a:rPr>
              <a:t>The term layer with regard to computer architecture typically represents the way abstraction is used to describe computer systems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A layer </a:t>
            </a:r>
            <a:r>
              <a:rPr lang="en-US" sz="2400" dirty="0">
                <a:latin typeface="Times New Roman" panose="02020603050405020304" pitchFamily="18" charset="0"/>
                <a:cs typeface="Times New Roman" panose="02020603050405020304" pitchFamily="18" charset="0"/>
              </a:rPr>
              <a:t>is the term used to describe the different levels at which you can place an </a:t>
            </a:r>
            <a:r>
              <a:rPr lang="en-US" sz="2400" dirty="0" smtClean="0">
                <a:latin typeface="Times New Roman" panose="02020603050405020304" pitchFamily="18" charset="0"/>
                <a:cs typeface="Times New Roman" panose="02020603050405020304" pitchFamily="18" charset="0"/>
              </a:rPr>
              <a:t>object.</a:t>
            </a:r>
          </a:p>
          <a:p>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There are many different abstractions that have been used in computer architecture.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If </a:t>
            </a:r>
            <a:r>
              <a:rPr lang="en-US" sz="2400" dirty="0">
                <a:latin typeface="Times New Roman" panose="02020603050405020304" pitchFamily="18" charset="0"/>
                <a:cs typeface="Times New Roman" panose="02020603050405020304" pitchFamily="18" charset="0"/>
              </a:rPr>
              <a:t>you restricted yourself to four layers, they may be defined as</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 algorithm</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 programming language/compiler,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processor/memory</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4) I/O.</a:t>
            </a:r>
          </a:p>
        </p:txBody>
      </p:sp>
    </p:spTree>
    <p:extLst>
      <p:ext uri="{BB962C8B-B14F-4D97-AF65-F5344CB8AC3E}">
        <p14:creationId xmlns:p14="http://schemas.microsoft.com/office/powerpoint/2010/main" val="2571312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b="7778"/>
          <a:stretch/>
        </p:blipFill>
        <p:spPr>
          <a:xfrm>
            <a:off x="457200" y="850901"/>
            <a:ext cx="11112500" cy="5715000"/>
          </a:xfrm>
          <a:prstGeom prst="rect">
            <a:avLst/>
          </a:prstGeom>
        </p:spPr>
      </p:pic>
    </p:spTree>
    <p:extLst>
      <p:ext uri="{BB962C8B-B14F-4D97-AF65-F5344CB8AC3E}">
        <p14:creationId xmlns:p14="http://schemas.microsoft.com/office/powerpoint/2010/main" val="1571094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Image result for hardware of comput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Image result for hardware of comput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5240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360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Design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This includes all hardware components in the system, including data processors aside from the CPU, such as the graphics processing unit and direct memory access. </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also includes memory controllers, data paths and miscellaneous things like multiprocessing and virtualization.</a:t>
            </a:r>
            <a:endParaRPr lang="en-US" dirty="0" smtClean="0">
              <a:latin typeface="Times New Roman" panose="02020603050405020304" pitchFamily="18" charset="0"/>
              <a:cs typeface="Times New Roman" panose="02020603050405020304" pitchFamily="18" charset="0"/>
            </a:endParaRPr>
          </a:p>
          <a:p>
            <a:endParaRPr lang="en-US" dirty="0"/>
          </a:p>
          <a:p>
            <a:r>
              <a:rPr lang="en-US" dirty="0" smtClean="0">
                <a:latin typeface="Times New Roman" panose="02020603050405020304" pitchFamily="18" charset="0"/>
                <a:cs typeface="Times New Roman" panose="02020603050405020304" pitchFamily="18" charset="0"/>
              </a:rPr>
              <a:t>Develop system components</a:t>
            </a:r>
          </a:p>
          <a:p>
            <a:r>
              <a:rPr lang="en-US" dirty="0" smtClean="0">
                <a:latin typeface="Times New Roman" panose="02020603050405020304" pitchFamily="18" charset="0"/>
                <a:cs typeface="Times New Roman" panose="02020603050405020304" pitchFamily="18" charset="0"/>
              </a:rPr>
              <a:t>Understand configuration</a:t>
            </a:r>
          </a:p>
          <a:p>
            <a:r>
              <a:rPr lang="en-US" dirty="0" smtClean="0">
                <a:latin typeface="Times New Roman" panose="02020603050405020304" pitchFamily="18" charset="0"/>
                <a:cs typeface="Times New Roman" panose="02020603050405020304" pitchFamily="18" charset="0"/>
              </a:rPr>
              <a:t>Hardware design</a:t>
            </a:r>
          </a:p>
          <a:p>
            <a:endParaRPr lang="en-US" dirty="0" smtClean="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882581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Why We Study Computer Architecture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The study of computer architecture and organization focuses on the interface between hardware and software, and emphasizes the structure and behavior of the system</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As computer users, we probably do not have to worry about this anymore than we need to know what our cars look like under the hood in order to drive them.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can certainly write high label language programs without understanding how these programs execute</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We can use various application packages without understanding how they really work.  But what happens when the program we have written needs to be faster and more efficient or the application we are using does not do precisely what we want?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As </a:t>
            </a:r>
            <a:r>
              <a:rPr lang="en-US" dirty="0">
                <a:latin typeface="Times New Roman" panose="02020603050405020304" pitchFamily="18" charset="0"/>
                <a:cs typeface="Times New Roman" panose="02020603050405020304" pitchFamily="18" charset="0"/>
              </a:rPr>
              <a:t>Computer Scientists, we need a basic understanding of computer system itself in order to rectify these problems.</a:t>
            </a:r>
          </a:p>
        </p:txBody>
      </p:sp>
    </p:spTree>
    <p:extLst>
      <p:ext uri="{BB962C8B-B14F-4D97-AF65-F5344CB8AC3E}">
        <p14:creationId xmlns:p14="http://schemas.microsoft.com/office/powerpoint/2010/main" val="2108166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GB" altLang="en-US" u="sng" dirty="0" smtClean="0">
                <a:latin typeface="Times New Roman" panose="02020603050405020304" pitchFamily="18" charset="0"/>
                <a:cs typeface="Times New Roman" panose="02020603050405020304" pitchFamily="18" charset="0"/>
              </a:rPr>
              <a:t>Computer Architecture </a:t>
            </a:r>
            <a:r>
              <a:rPr lang="en-GB" altLang="en-US" u="sng" dirty="0">
                <a:latin typeface="Times New Roman" panose="02020603050405020304" pitchFamily="18" charset="0"/>
                <a:cs typeface="Times New Roman" panose="02020603050405020304" pitchFamily="18" charset="0"/>
              </a:rPr>
              <a:t>&amp; Organization </a:t>
            </a:r>
          </a:p>
        </p:txBody>
      </p:sp>
      <p:sp>
        <p:nvSpPr>
          <p:cNvPr id="5123" name="Rectangle 3"/>
          <p:cNvSpPr>
            <a:spLocks noGrp="1" noChangeArrowheads="1"/>
          </p:cNvSpPr>
          <p:nvPr>
            <p:ph idx="1"/>
          </p:nvPr>
        </p:nvSpPr>
        <p:spPr/>
        <p:txBody>
          <a:bodyPr>
            <a:normAutofit lnSpcReduction="10000"/>
          </a:bodyPr>
          <a:lstStyle/>
          <a:p>
            <a:r>
              <a:rPr lang="en-GB" altLang="en-US" dirty="0"/>
              <a:t>Architecture is those attributes visible to the programmer</a:t>
            </a:r>
          </a:p>
          <a:p>
            <a:pPr lvl="1"/>
            <a:r>
              <a:rPr lang="en-GB" altLang="en-US" dirty="0"/>
              <a:t>Instruction set, number of bits used for data representation, I/O mechanisms, addressing techniques.</a:t>
            </a:r>
          </a:p>
          <a:p>
            <a:pPr lvl="1"/>
            <a:r>
              <a:rPr lang="en-GB" altLang="en-US" dirty="0"/>
              <a:t>e.g. Is there a multiply instruction</a:t>
            </a:r>
            <a:r>
              <a:rPr lang="en-GB" altLang="en-US" dirty="0" smtClean="0"/>
              <a:t>?</a:t>
            </a:r>
          </a:p>
          <a:p>
            <a:pPr lvl="1"/>
            <a:endParaRPr lang="en-GB" altLang="en-US" dirty="0"/>
          </a:p>
          <a:p>
            <a:pPr marL="457200" lvl="1" indent="0">
              <a:buNone/>
            </a:pPr>
            <a:endParaRPr lang="en-GB" altLang="en-US" dirty="0"/>
          </a:p>
          <a:p>
            <a:r>
              <a:rPr lang="en-GB" altLang="en-US" dirty="0"/>
              <a:t>Organization is how features are implemented</a:t>
            </a:r>
          </a:p>
          <a:p>
            <a:pPr lvl="1"/>
            <a:r>
              <a:rPr lang="en-GB" altLang="en-US" dirty="0"/>
              <a:t>Control signals, interfaces, memory technology</a:t>
            </a:r>
            <a:r>
              <a:rPr lang="en-GB" altLang="en-US" dirty="0" smtClean="0"/>
              <a:t>.</a:t>
            </a:r>
          </a:p>
          <a:p>
            <a:pPr lvl="1"/>
            <a:r>
              <a:rPr lang="en-GB" altLang="en-US" dirty="0" smtClean="0"/>
              <a:t>Organization differs between different versions</a:t>
            </a:r>
          </a:p>
          <a:p>
            <a:pPr lvl="1"/>
            <a:endParaRPr lang="en-GB" altLang="en-US" dirty="0"/>
          </a:p>
          <a:p>
            <a:pPr lvl="1"/>
            <a:r>
              <a:rPr lang="en-GB" altLang="en-US" dirty="0"/>
              <a:t>e.g. Is there a hardware multiply unit or is it done by repeated addition?</a:t>
            </a:r>
          </a:p>
        </p:txBody>
      </p:sp>
    </p:spTree>
    <p:extLst>
      <p:ext uri="{BB962C8B-B14F-4D97-AF65-F5344CB8AC3E}">
        <p14:creationId xmlns:p14="http://schemas.microsoft.com/office/powerpoint/2010/main" val="4206563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latin typeface="Times New Roman" panose="02020603050405020304" pitchFamily="18" charset="0"/>
                <a:cs typeface="Times New Roman" panose="02020603050405020304" pitchFamily="18" charset="0"/>
              </a:rPr>
              <a:t>Structure</a:t>
            </a:r>
            <a:r>
              <a:rPr lang="en-US" dirty="0" smtClean="0"/>
              <a:t> </a:t>
            </a:r>
            <a:endParaRPr lang="en-US" dirty="0"/>
          </a:p>
        </p:txBody>
      </p:sp>
      <p:sp>
        <p:nvSpPr>
          <p:cNvPr id="3" name="Content Placeholder 2"/>
          <p:cNvSpPr>
            <a:spLocks noGrp="1"/>
          </p:cNvSpPr>
          <p:nvPr>
            <p:ph idx="1"/>
          </p:nvPr>
        </p:nvSpPr>
        <p:spPr/>
        <p:txBody>
          <a:bodyPr>
            <a:normAutofit/>
          </a:bodyPr>
          <a:lstStyle/>
          <a:p>
            <a:r>
              <a:rPr lang="en-US" sz="2400" dirty="0" smtClean="0">
                <a:latin typeface="Times New Roman" panose="02020603050405020304" pitchFamily="18" charset="0"/>
                <a:cs typeface="Times New Roman" panose="02020603050405020304" pitchFamily="18" charset="0"/>
              </a:rPr>
              <a:t>A hierarchical set of interrelated sub system</a:t>
            </a:r>
          </a:p>
          <a:p>
            <a:r>
              <a:rPr lang="en-US" sz="2400" dirty="0" smtClean="0">
                <a:latin typeface="Times New Roman" panose="02020603050405020304" pitchFamily="18" charset="0"/>
                <a:cs typeface="Times New Roman" panose="02020603050405020304" pitchFamily="18" charset="0"/>
              </a:rPr>
              <a:t>At each level system is consist of a set of components</a:t>
            </a:r>
          </a:p>
          <a:p>
            <a:r>
              <a:rPr lang="en-US" sz="2400" dirty="0" smtClean="0">
                <a:latin typeface="Times New Roman" panose="02020603050405020304" pitchFamily="18" charset="0"/>
                <a:cs typeface="Times New Roman" panose="02020603050405020304" pitchFamily="18" charset="0"/>
              </a:rPr>
              <a:t>The way in which the components are interrelated </a:t>
            </a:r>
          </a:p>
          <a:p>
            <a:r>
              <a:rPr lang="en-US" sz="2400" dirty="0" smtClean="0">
                <a:latin typeface="Times New Roman" panose="02020603050405020304" pitchFamily="18" charset="0"/>
                <a:cs typeface="Times New Roman" panose="02020603050405020304" pitchFamily="18" charset="0"/>
              </a:rPr>
              <a:t>Internal </a:t>
            </a:r>
            <a:r>
              <a:rPr lang="en-US" sz="2400" dirty="0">
                <a:latin typeface="Times New Roman" panose="02020603050405020304" pitchFamily="18" charset="0"/>
                <a:cs typeface="Times New Roman" panose="02020603050405020304" pitchFamily="18" charset="0"/>
              </a:rPr>
              <a:t>structure of a digital computer, encompassing the design and layout of its instruction </a:t>
            </a:r>
            <a:r>
              <a:rPr lang="en-US" sz="2400" dirty="0" smtClean="0">
                <a:latin typeface="Times New Roman" panose="02020603050405020304" pitchFamily="18" charset="0"/>
                <a:cs typeface="Times New Roman" panose="02020603050405020304" pitchFamily="18" charset="0"/>
              </a:rPr>
              <a:t>set </a:t>
            </a:r>
            <a:r>
              <a:rPr lang="en-US" sz="2400" dirty="0">
                <a:latin typeface="Times New Roman" panose="02020603050405020304" pitchFamily="18" charset="0"/>
                <a:cs typeface="Times New Roman" panose="02020603050405020304" pitchFamily="18" charset="0"/>
              </a:rPr>
              <a:t>and storage registers</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Top to Bottom</a:t>
            </a:r>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Bottom to Top </a:t>
            </a:r>
          </a:p>
          <a:p>
            <a:endParaRPr lang="en-US" dirty="0"/>
          </a:p>
        </p:txBody>
      </p:sp>
    </p:spTree>
    <p:extLst>
      <p:ext uri="{BB962C8B-B14F-4D97-AF65-F5344CB8AC3E}">
        <p14:creationId xmlns:p14="http://schemas.microsoft.com/office/powerpoint/2010/main" val="927997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Oval 5" descr="50%"/>
          <p:cNvSpPr>
            <a:spLocks noChangeArrowheads="1"/>
          </p:cNvSpPr>
          <p:nvPr/>
        </p:nvSpPr>
        <p:spPr bwMode="auto">
          <a:xfrm>
            <a:off x="5410200" y="2057400"/>
            <a:ext cx="4724400" cy="4648200"/>
          </a:xfrm>
          <a:prstGeom prst="ellipse">
            <a:avLst/>
          </a:prstGeom>
          <a:pattFill prst="pct50">
            <a:fgClr>
              <a:schemeClr val="tx1"/>
            </a:fgClr>
            <a:bgClr>
              <a:schemeClr val="bg1"/>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GB" altLang="en-US" sz="1600">
              <a:latin typeface="Arial" panose="020B0604020202020204" pitchFamily="34" charset="0"/>
            </a:endParaRPr>
          </a:p>
        </p:txBody>
      </p:sp>
      <p:sp>
        <p:nvSpPr>
          <p:cNvPr id="14345" name="Oval 9"/>
          <p:cNvSpPr>
            <a:spLocks noChangeArrowheads="1"/>
          </p:cNvSpPr>
          <p:nvPr/>
        </p:nvSpPr>
        <p:spPr bwMode="auto">
          <a:xfrm>
            <a:off x="6934200" y="3581400"/>
            <a:ext cx="1524000" cy="1524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42" name="Oval 6"/>
          <p:cNvSpPr>
            <a:spLocks noChangeArrowheads="1"/>
          </p:cNvSpPr>
          <p:nvPr/>
        </p:nvSpPr>
        <p:spPr bwMode="auto">
          <a:xfrm>
            <a:off x="6172200" y="27432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38" name="Rectangle 2"/>
          <p:cNvSpPr>
            <a:spLocks noGrp="1" noChangeArrowheads="1"/>
          </p:cNvSpPr>
          <p:nvPr>
            <p:ph type="title"/>
          </p:nvPr>
        </p:nvSpPr>
        <p:spPr>
          <a:noFill/>
          <a:ln cap="flat">
            <a:noFill/>
            <a:miter lim="800000"/>
            <a:headEnd/>
            <a:tailEnd/>
          </a:ln>
        </p:spPr>
        <p:txBody>
          <a:bodyPr vert="horz" lIns="90000" tIns="46800" rIns="90000" bIns="46800" rtlCol="0" anchor="ctr">
            <a:normAutofit/>
          </a:bodyPr>
          <a:lstStyle/>
          <a:p>
            <a:r>
              <a:rPr lang="en-GB" altLang="en-US" u="sng" dirty="0">
                <a:latin typeface="Times New Roman" panose="02020603050405020304" pitchFamily="18" charset="0"/>
                <a:cs typeface="Times New Roman" panose="02020603050405020304" pitchFamily="18" charset="0"/>
              </a:rPr>
              <a:t>Structure - Top Level</a:t>
            </a:r>
          </a:p>
        </p:txBody>
      </p:sp>
      <p:sp>
        <p:nvSpPr>
          <p:cNvPr id="14340" name="Oval 4"/>
          <p:cNvSpPr>
            <a:spLocks noChangeArrowheads="1"/>
          </p:cNvSpPr>
          <p:nvPr/>
        </p:nvSpPr>
        <p:spPr bwMode="auto">
          <a:xfrm>
            <a:off x="2057400" y="3657600"/>
            <a:ext cx="1066800" cy="1066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43" name="Oval 7"/>
          <p:cNvSpPr>
            <a:spLocks noChangeArrowheads="1"/>
          </p:cNvSpPr>
          <p:nvPr/>
        </p:nvSpPr>
        <p:spPr bwMode="auto">
          <a:xfrm>
            <a:off x="7924800" y="27432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44" name="Oval 8"/>
          <p:cNvSpPr>
            <a:spLocks noChangeArrowheads="1"/>
          </p:cNvSpPr>
          <p:nvPr/>
        </p:nvSpPr>
        <p:spPr bwMode="auto">
          <a:xfrm>
            <a:off x="7010400" y="48006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46" name="Text Box 10"/>
          <p:cNvSpPr txBox="1">
            <a:spLocks noChangeArrowheads="1"/>
          </p:cNvSpPr>
          <p:nvPr/>
        </p:nvSpPr>
        <p:spPr bwMode="auto">
          <a:xfrm>
            <a:off x="2043114" y="3946526"/>
            <a:ext cx="1082645" cy="34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Computer</a:t>
            </a:r>
            <a:endParaRPr lang="en-GB" altLang="en-US"/>
          </a:p>
        </p:txBody>
      </p:sp>
      <p:sp>
        <p:nvSpPr>
          <p:cNvPr id="14348" name="Text Box 12"/>
          <p:cNvSpPr txBox="1">
            <a:spLocks noChangeArrowheads="1"/>
          </p:cNvSpPr>
          <p:nvPr/>
        </p:nvSpPr>
        <p:spPr bwMode="auto">
          <a:xfrm>
            <a:off x="8153401" y="3048001"/>
            <a:ext cx="923949"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Main </a:t>
            </a:r>
          </a:p>
          <a:p>
            <a:r>
              <a:rPr lang="en-GB" altLang="en-US" sz="1600">
                <a:latin typeface="Arial" panose="020B0604020202020204" pitchFamily="34" charset="0"/>
              </a:rPr>
              <a:t>Memory</a:t>
            </a:r>
          </a:p>
        </p:txBody>
      </p:sp>
      <p:sp>
        <p:nvSpPr>
          <p:cNvPr id="14349" name="Text Box 13"/>
          <p:cNvSpPr txBox="1">
            <a:spLocks noChangeArrowheads="1"/>
          </p:cNvSpPr>
          <p:nvPr/>
        </p:nvSpPr>
        <p:spPr bwMode="auto">
          <a:xfrm>
            <a:off x="7315200" y="5133976"/>
            <a:ext cx="798914"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Input</a:t>
            </a:r>
          </a:p>
          <a:p>
            <a:r>
              <a:rPr lang="en-GB" altLang="en-US" sz="1600">
                <a:latin typeface="Arial" panose="020B0604020202020204" pitchFamily="34" charset="0"/>
              </a:rPr>
              <a:t>Output</a:t>
            </a:r>
          </a:p>
        </p:txBody>
      </p:sp>
      <p:sp>
        <p:nvSpPr>
          <p:cNvPr id="14350" name="Text Box 14"/>
          <p:cNvSpPr txBox="1">
            <a:spLocks noChangeArrowheads="1"/>
          </p:cNvSpPr>
          <p:nvPr/>
        </p:nvSpPr>
        <p:spPr bwMode="auto">
          <a:xfrm>
            <a:off x="6934200" y="4067176"/>
            <a:ext cx="1584386"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Systems</a:t>
            </a:r>
          </a:p>
          <a:p>
            <a:r>
              <a:rPr lang="en-GB" altLang="en-US" sz="1600">
                <a:latin typeface="Arial" panose="020B0604020202020204" pitchFamily="34" charset="0"/>
              </a:rPr>
              <a:t>Interconnection</a:t>
            </a:r>
          </a:p>
        </p:txBody>
      </p:sp>
      <p:sp>
        <p:nvSpPr>
          <p:cNvPr id="14351" name="Line 15"/>
          <p:cNvSpPr>
            <a:spLocks noChangeShapeType="1"/>
          </p:cNvSpPr>
          <p:nvPr/>
        </p:nvSpPr>
        <p:spPr bwMode="auto">
          <a:xfrm flipV="1">
            <a:off x="2590800" y="2209800"/>
            <a:ext cx="4343400" cy="1447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52" name="Line 16"/>
          <p:cNvSpPr>
            <a:spLocks noChangeShapeType="1"/>
          </p:cNvSpPr>
          <p:nvPr/>
        </p:nvSpPr>
        <p:spPr bwMode="auto">
          <a:xfrm>
            <a:off x="2590800" y="4724400"/>
            <a:ext cx="4191000" cy="1752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55" name="Text Box 19"/>
          <p:cNvSpPr txBox="1">
            <a:spLocks noChangeArrowheads="1"/>
          </p:cNvSpPr>
          <p:nvPr/>
        </p:nvSpPr>
        <p:spPr bwMode="auto">
          <a:xfrm>
            <a:off x="1814513" y="2346326"/>
            <a:ext cx="1217298" cy="34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Peripherals</a:t>
            </a:r>
          </a:p>
        </p:txBody>
      </p:sp>
      <p:sp>
        <p:nvSpPr>
          <p:cNvPr id="14356" name="Text Box 20"/>
          <p:cNvSpPr txBox="1">
            <a:spLocks noChangeArrowheads="1"/>
          </p:cNvSpPr>
          <p:nvPr/>
        </p:nvSpPr>
        <p:spPr bwMode="auto">
          <a:xfrm>
            <a:off x="1662113" y="5622926"/>
            <a:ext cx="1605224"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Communication</a:t>
            </a:r>
          </a:p>
          <a:p>
            <a:r>
              <a:rPr lang="en-GB" altLang="en-US" sz="1600">
                <a:latin typeface="Arial" panose="020B0604020202020204" pitchFamily="34" charset="0"/>
              </a:rPr>
              <a:t>lines</a:t>
            </a:r>
          </a:p>
        </p:txBody>
      </p:sp>
      <p:sp>
        <p:nvSpPr>
          <p:cNvPr id="14347" name="Text Box 11"/>
          <p:cNvSpPr txBox="1">
            <a:spLocks noChangeArrowheads="1"/>
          </p:cNvSpPr>
          <p:nvPr/>
        </p:nvSpPr>
        <p:spPr bwMode="auto">
          <a:xfrm>
            <a:off x="6324601" y="2971800"/>
            <a:ext cx="124142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Central</a:t>
            </a:r>
          </a:p>
          <a:p>
            <a:r>
              <a:rPr lang="en-GB" altLang="en-US" sz="1600">
                <a:latin typeface="Arial" panose="020B0604020202020204" pitchFamily="34" charset="0"/>
              </a:rPr>
              <a:t>Processing </a:t>
            </a:r>
          </a:p>
          <a:p>
            <a:r>
              <a:rPr lang="en-GB" altLang="en-US" sz="1600">
                <a:latin typeface="Arial" panose="020B0604020202020204" pitchFamily="34" charset="0"/>
              </a:rPr>
              <a:t>Unit</a:t>
            </a:r>
          </a:p>
        </p:txBody>
      </p:sp>
      <p:sp>
        <p:nvSpPr>
          <p:cNvPr id="14357" name="Line 21"/>
          <p:cNvSpPr>
            <a:spLocks noChangeShapeType="1"/>
          </p:cNvSpPr>
          <p:nvPr/>
        </p:nvSpPr>
        <p:spPr bwMode="auto">
          <a:xfrm>
            <a:off x="2438400" y="2743200"/>
            <a:ext cx="0" cy="914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58" name="Line 22"/>
          <p:cNvSpPr>
            <a:spLocks noChangeShapeType="1"/>
          </p:cNvSpPr>
          <p:nvPr/>
        </p:nvSpPr>
        <p:spPr bwMode="auto">
          <a:xfrm>
            <a:off x="2438400" y="4724400"/>
            <a:ext cx="0" cy="914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4360" name="Text Box 24"/>
          <p:cNvSpPr txBox="1">
            <a:spLocks noChangeArrowheads="1"/>
          </p:cNvSpPr>
          <p:nvPr/>
        </p:nvSpPr>
        <p:spPr bwMode="auto">
          <a:xfrm>
            <a:off x="7122042" y="2254718"/>
            <a:ext cx="1307066"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2000">
                <a:latin typeface="Arial" panose="020B0604020202020204" pitchFamily="34" charset="0"/>
              </a:rPr>
              <a:t>Computer</a:t>
            </a:r>
            <a:endParaRPr lang="en-US" altLang="en-US" sz="1600">
              <a:latin typeface="Arial" panose="020B0604020202020204" pitchFamily="34" charset="0"/>
            </a:endParaRPr>
          </a:p>
        </p:txBody>
      </p:sp>
    </p:spTree>
    <p:extLst>
      <p:ext uri="{BB962C8B-B14F-4D97-AF65-F5344CB8AC3E}">
        <p14:creationId xmlns:p14="http://schemas.microsoft.com/office/powerpoint/2010/main" val="1812558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04" name="Oval 20" descr="50%"/>
          <p:cNvSpPr>
            <a:spLocks noChangeArrowheads="1"/>
          </p:cNvSpPr>
          <p:nvPr/>
        </p:nvSpPr>
        <p:spPr bwMode="auto">
          <a:xfrm>
            <a:off x="5410200" y="2057400"/>
            <a:ext cx="4724400" cy="4648200"/>
          </a:xfrm>
          <a:prstGeom prst="ellipse">
            <a:avLst/>
          </a:prstGeom>
          <a:pattFill prst="pct50">
            <a:fgClr>
              <a:schemeClr val="tx1"/>
            </a:fgClr>
            <a:bgClr>
              <a:schemeClr val="bg1"/>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endParaRPr lang="en-GB" altLang="en-US" sz="1600">
              <a:latin typeface="Arial" panose="020B0604020202020204" pitchFamily="34" charset="0"/>
            </a:endParaRPr>
          </a:p>
        </p:txBody>
      </p:sp>
      <p:sp>
        <p:nvSpPr>
          <p:cNvPr id="16409" name="Oval 25"/>
          <p:cNvSpPr>
            <a:spLocks noChangeArrowheads="1"/>
          </p:cNvSpPr>
          <p:nvPr/>
        </p:nvSpPr>
        <p:spPr bwMode="auto">
          <a:xfrm>
            <a:off x="6934200" y="3581400"/>
            <a:ext cx="1524000" cy="1524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386" name="Rectangle 2"/>
          <p:cNvSpPr>
            <a:spLocks noGrp="1" noChangeArrowheads="1"/>
          </p:cNvSpPr>
          <p:nvPr>
            <p:ph type="title"/>
          </p:nvPr>
        </p:nvSpPr>
        <p:spPr>
          <a:noFill/>
          <a:ln cap="flat">
            <a:noFill/>
            <a:miter lim="800000"/>
            <a:headEnd/>
            <a:tailEnd/>
          </a:ln>
        </p:spPr>
        <p:txBody>
          <a:bodyPr vert="horz" lIns="90000" tIns="46800" rIns="90000" bIns="46800" rtlCol="0" anchor="ctr">
            <a:normAutofit/>
          </a:bodyPr>
          <a:lstStyle/>
          <a:p>
            <a:r>
              <a:rPr lang="en-GB" altLang="en-US" u="sng" dirty="0">
                <a:latin typeface="Times New Roman" panose="02020603050405020304" pitchFamily="18" charset="0"/>
                <a:cs typeface="Times New Roman" panose="02020603050405020304" pitchFamily="18" charset="0"/>
              </a:rPr>
              <a:t>Structure - The CPU</a:t>
            </a:r>
          </a:p>
        </p:txBody>
      </p:sp>
      <p:sp>
        <p:nvSpPr>
          <p:cNvPr id="16405" name="Oval 21"/>
          <p:cNvSpPr>
            <a:spLocks noChangeArrowheads="1"/>
          </p:cNvSpPr>
          <p:nvPr/>
        </p:nvSpPr>
        <p:spPr bwMode="auto">
          <a:xfrm>
            <a:off x="6172200" y="27432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06" name="Oval 22"/>
          <p:cNvSpPr>
            <a:spLocks noChangeArrowheads="1"/>
          </p:cNvSpPr>
          <p:nvPr/>
        </p:nvSpPr>
        <p:spPr bwMode="auto">
          <a:xfrm>
            <a:off x="1600200" y="2971800"/>
            <a:ext cx="1981200" cy="2057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07" name="Oval 23"/>
          <p:cNvSpPr>
            <a:spLocks noChangeArrowheads="1"/>
          </p:cNvSpPr>
          <p:nvPr/>
        </p:nvSpPr>
        <p:spPr bwMode="auto">
          <a:xfrm>
            <a:off x="7924800" y="27432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08" name="Oval 24"/>
          <p:cNvSpPr>
            <a:spLocks noChangeArrowheads="1"/>
          </p:cNvSpPr>
          <p:nvPr/>
        </p:nvSpPr>
        <p:spPr bwMode="auto">
          <a:xfrm>
            <a:off x="7010400" y="48006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10" name="Text Box 26"/>
          <p:cNvSpPr txBox="1">
            <a:spLocks noChangeArrowheads="1"/>
          </p:cNvSpPr>
          <p:nvPr/>
        </p:nvSpPr>
        <p:spPr bwMode="auto">
          <a:xfrm>
            <a:off x="2127251" y="3016251"/>
            <a:ext cx="1082645" cy="34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Computer</a:t>
            </a:r>
            <a:endParaRPr lang="en-GB" altLang="en-US"/>
          </a:p>
        </p:txBody>
      </p:sp>
      <p:sp>
        <p:nvSpPr>
          <p:cNvPr id="16411" name="Text Box 27"/>
          <p:cNvSpPr txBox="1">
            <a:spLocks noChangeArrowheads="1"/>
          </p:cNvSpPr>
          <p:nvPr/>
        </p:nvSpPr>
        <p:spPr bwMode="auto">
          <a:xfrm>
            <a:off x="8077200" y="2971800"/>
            <a:ext cx="1093788"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Arithmetic</a:t>
            </a:r>
          </a:p>
          <a:p>
            <a:r>
              <a:rPr lang="en-GB" altLang="en-US" sz="1600">
                <a:latin typeface="Arial" panose="020B0604020202020204" pitchFamily="34" charset="0"/>
              </a:rPr>
              <a:t>and </a:t>
            </a:r>
          </a:p>
          <a:p>
            <a:r>
              <a:rPr lang="en-GB" altLang="en-US" sz="1600">
                <a:latin typeface="Arial" panose="020B0604020202020204" pitchFamily="34" charset="0"/>
              </a:rPr>
              <a:t>Login Unit</a:t>
            </a:r>
          </a:p>
        </p:txBody>
      </p:sp>
      <p:sp>
        <p:nvSpPr>
          <p:cNvPr id="16412" name="Text Box 28"/>
          <p:cNvSpPr txBox="1">
            <a:spLocks noChangeArrowheads="1"/>
          </p:cNvSpPr>
          <p:nvPr/>
        </p:nvSpPr>
        <p:spPr bwMode="auto">
          <a:xfrm>
            <a:off x="7239001" y="5133976"/>
            <a:ext cx="842195"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Control</a:t>
            </a:r>
          </a:p>
          <a:p>
            <a:r>
              <a:rPr lang="en-GB" altLang="en-US" sz="1600">
                <a:latin typeface="Arial" panose="020B0604020202020204" pitchFamily="34" charset="0"/>
              </a:rPr>
              <a:t>Unit</a:t>
            </a:r>
          </a:p>
        </p:txBody>
      </p:sp>
      <p:sp>
        <p:nvSpPr>
          <p:cNvPr id="16413" name="Text Box 29"/>
          <p:cNvSpPr txBox="1">
            <a:spLocks noChangeArrowheads="1"/>
          </p:cNvSpPr>
          <p:nvPr/>
        </p:nvSpPr>
        <p:spPr bwMode="auto">
          <a:xfrm>
            <a:off x="6934200" y="4067176"/>
            <a:ext cx="1584386"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Internal CPU</a:t>
            </a:r>
          </a:p>
          <a:p>
            <a:r>
              <a:rPr lang="en-GB" altLang="en-US" sz="1600">
                <a:latin typeface="Arial" panose="020B0604020202020204" pitchFamily="34" charset="0"/>
              </a:rPr>
              <a:t>Interconnection</a:t>
            </a:r>
          </a:p>
        </p:txBody>
      </p:sp>
      <p:sp>
        <p:nvSpPr>
          <p:cNvPr id="16414" name="Line 30"/>
          <p:cNvSpPr>
            <a:spLocks noChangeShapeType="1"/>
          </p:cNvSpPr>
          <p:nvPr/>
        </p:nvSpPr>
        <p:spPr bwMode="auto">
          <a:xfrm flipV="1">
            <a:off x="3048000" y="2209800"/>
            <a:ext cx="3886200" cy="137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15" name="Line 31"/>
          <p:cNvSpPr>
            <a:spLocks noChangeShapeType="1"/>
          </p:cNvSpPr>
          <p:nvPr/>
        </p:nvSpPr>
        <p:spPr bwMode="auto">
          <a:xfrm>
            <a:off x="3048000" y="4343400"/>
            <a:ext cx="3733800" cy="213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18" name="Text Box 34"/>
          <p:cNvSpPr txBox="1">
            <a:spLocks noChangeArrowheads="1"/>
          </p:cNvSpPr>
          <p:nvPr/>
        </p:nvSpPr>
        <p:spPr bwMode="auto">
          <a:xfrm>
            <a:off x="6353176" y="3168651"/>
            <a:ext cx="1047379" cy="34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Registers</a:t>
            </a:r>
          </a:p>
        </p:txBody>
      </p:sp>
      <p:sp>
        <p:nvSpPr>
          <p:cNvPr id="16421" name="Oval 37"/>
          <p:cNvSpPr>
            <a:spLocks noChangeArrowheads="1"/>
          </p:cNvSpPr>
          <p:nvPr/>
        </p:nvSpPr>
        <p:spPr bwMode="auto">
          <a:xfrm>
            <a:off x="2743200" y="3581400"/>
            <a:ext cx="685800" cy="762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22" name="Text Box 38"/>
          <p:cNvSpPr txBox="1">
            <a:spLocks noChangeArrowheads="1"/>
          </p:cNvSpPr>
          <p:nvPr/>
        </p:nvSpPr>
        <p:spPr bwMode="auto">
          <a:xfrm>
            <a:off x="2849193" y="3807729"/>
            <a:ext cx="505564"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200">
                <a:latin typeface="Arial" panose="020B0604020202020204" pitchFamily="34" charset="0"/>
              </a:rPr>
              <a:t>CPU</a:t>
            </a:r>
            <a:endParaRPr lang="en-US" altLang="en-US" sz="1600">
              <a:latin typeface="Arial" panose="020B0604020202020204" pitchFamily="34" charset="0"/>
            </a:endParaRPr>
          </a:p>
        </p:txBody>
      </p:sp>
      <p:sp>
        <p:nvSpPr>
          <p:cNvPr id="16423" name="Oval 39"/>
          <p:cNvSpPr>
            <a:spLocks noChangeArrowheads="1"/>
          </p:cNvSpPr>
          <p:nvPr/>
        </p:nvSpPr>
        <p:spPr bwMode="auto">
          <a:xfrm>
            <a:off x="1828800" y="3276600"/>
            <a:ext cx="609600" cy="609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en-US" sz="1200">
                <a:latin typeface="Arial" panose="020B0604020202020204" pitchFamily="34" charset="0"/>
              </a:rPr>
              <a:t>I/O</a:t>
            </a:r>
            <a:endParaRPr lang="en-US" altLang="en-US" sz="1600">
              <a:latin typeface="Arial" panose="020B0604020202020204" pitchFamily="34" charset="0"/>
            </a:endParaRPr>
          </a:p>
        </p:txBody>
      </p:sp>
      <p:sp>
        <p:nvSpPr>
          <p:cNvPr id="16424" name="Oval 40"/>
          <p:cNvSpPr>
            <a:spLocks noChangeArrowheads="1"/>
          </p:cNvSpPr>
          <p:nvPr/>
        </p:nvSpPr>
        <p:spPr bwMode="auto">
          <a:xfrm>
            <a:off x="1905000" y="4191000"/>
            <a:ext cx="685800" cy="685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25" name="Oval 41"/>
          <p:cNvSpPr>
            <a:spLocks noChangeArrowheads="1"/>
          </p:cNvSpPr>
          <p:nvPr/>
        </p:nvSpPr>
        <p:spPr bwMode="auto">
          <a:xfrm>
            <a:off x="2133600" y="3581400"/>
            <a:ext cx="685800" cy="762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6427" name="Text Box 43"/>
          <p:cNvSpPr txBox="1">
            <a:spLocks noChangeArrowheads="1"/>
          </p:cNvSpPr>
          <p:nvPr/>
        </p:nvSpPr>
        <p:spPr bwMode="auto">
          <a:xfrm>
            <a:off x="1901928" y="4371292"/>
            <a:ext cx="736397"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200">
                <a:latin typeface="Arial" panose="020B0604020202020204" pitchFamily="34" charset="0"/>
              </a:rPr>
              <a:t>Memory</a:t>
            </a:r>
            <a:endParaRPr lang="en-US" altLang="en-US" sz="1600">
              <a:latin typeface="Arial" panose="020B0604020202020204" pitchFamily="34" charset="0"/>
            </a:endParaRPr>
          </a:p>
        </p:txBody>
      </p:sp>
      <p:sp>
        <p:nvSpPr>
          <p:cNvPr id="16428" name="Text Box 44"/>
          <p:cNvSpPr txBox="1">
            <a:spLocks noChangeArrowheads="1"/>
          </p:cNvSpPr>
          <p:nvPr/>
        </p:nvSpPr>
        <p:spPr bwMode="auto">
          <a:xfrm>
            <a:off x="2127554" y="3806677"/>
            <a:ext cx="694719"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200">
                <a:latin typeface="Arial" panose="020B0604020202020204" pitchFamily="34" charset="0"/>
              </a:rPr>
              <a:t>System</a:t>
            </a:r>
          </a:p>
          <a:p>
            <a:pPr algn="ctr"/>
            <a:r>
              <a:rPr lang="en-US" altLang="en-US" sz="1200">
                <a:latin typeface="Arial" panose="020B0604020202020204" pitchFamily="34" charset="0"/>
              </a:rPr>
              <a:t>Bus</a:t>
            </a:r>
          </a:p>
        </p:txBody>
      </p:sp>
      <p:sp>
        <p:nvSpPr>
          <p:cNvPr id="16430" name="Text Box 46"/>
          <p:cNvSpPr txBox="1">
            <a:spLocks noChangeArrowheads="1"/>
          </p:cNvSpPr>
          <p:nvPr/>
        </p:nvSpPr>
        <p:spPr bwMode="auto">
          <a:xfrm>
            <a:off x="7431244" y="2315043"/>
            <a:ext cx="725176"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2000">
                <a:latin typeface="Arial" panose="020B0604020202020204" pitchFamily="34" charset="0"/>
              </a:rPr>
              <a:t>CPU</a:t>
            </a:r>
            <a:endParaRPr lang="en-US" altLang="en-US" sz="1600">
              <a:latin typeface="Arial" panose="020B0604020202020204" pitchFamily="34" charset="0"/>
            </a:endParaRPr>
          </a:p>
        </p:txBody>
      </p:sp>
    </p:spTree>
    <p:extLst>
      <p:ext uri="{BB962C8B-B14F-4D97-AF65-F5344CB8AC3E}">
        <p14:creationId xmlns:p14="http://schemas.microsoft.com/office/powerpoint/2010/main" val="3225038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43" name="Oval 35" descr="50%"/>
          <p:cNvSpPr>
            <a:spLocks noChangeArrowheads="1"/>
          </p:cNvSpPr>
          <p:nvPr/>
        </p:nvSpPr>
        <p:spPr bwMode="auto">
          <a:xfrm>
            <a:off x="5410200" y="2057400"/>
            <a:ext cx="4724400" cy="4648200"/>
          </a:xfrm>
          <a:prstGeom prst="ellipse">
            <a:avLst/>
          </a:prstGeom>
          <a:pattFill prst="pct50">
            <a:fgClr>
              <a:schemeClr val="tx1"/>
            </a:fgClr>
            <a:bgClr>
              <a:schemeClr val="bg1"/>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48" name="Oval 40"/>
          <p:cNvSpPr>
            <a:spLocks noChangeArrowheads="1"/>
          </p:cNvSpPr>
          <p:nvPr/>
        </p:nvSpPr>
        <p:spPr bwMode="auto">
          <a:xfrm>
            <a:off x="6934200" y="3581400"/>
            <a:ext cx="1828800" cy="18288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10" name="Rectangle 2"/>
          <p:cNvSpPr>
            <a:spLocks noGrp="1" noChangeArrowheads="1"/>
          </p:cNvSpPr>
          <p:nvPr>
            <p:ph type="title"/>
          </p:nvPr>
        </p:nvSpPr>
        <p:spPr>
          <a:noFill/>
          <a:ln cap="flat">
            <a:noFill/>
            <a:miter lim="800000"/>
            <a:headEnd/>
            <a:tailEnd/>
          </a:ln>
        </p:spPr>
        <p:txBody>
          <a:bodyPr vert="horz" lIns="90000" tIns="46800" rIns="90000" bIns="46800" rtlCol="0" anchor="ctr">
            <a:normAutofit/>
          </a:bodyPr>
          <a:lstStyle/>
          <a:p>
            <a:r>
              <a:rPr lang="en-GB" altLang="en-US" u="sng" dirty="0">
                <a:latin typeface="Times New Roman" panose="02020603050405020304" pitchFamily="18" charset="0"/>
                <a:cs typeface="Times New Roman" panose="02020603050405020304" pitchFamily="18" charset="0"/>
              </a:rPr>
              <a:t>Structure - The Control Unit</a:t>
            </a:r>
          </a:p>
        </p:txBody>
      </p:sp>
      <p:sp>
        <p:nvSpPr>
          <p:cNvPr id="17444" name="Oval 36"/>
          <p:cNvSpPr>
            <a:spLocks noChangeArrowheads="1"/>
          </p:cNvSpPr>
          <p:nvPr/>
        </p:nvSpPr>
        <p:spPr bwMode="auto">
          <a:xfrm>
            <a:off x="6172200" y="27432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45" name="Oval 37"/>
          <p:cNvSpPr>
            <a:spLocks noChangeArrowheads="1"/>
          </p:cNvSpPr>
          <p:nvPr/>
        </p:nvSpPr>
        <p:spPr bwMode="auto">
          <a:xfrm>
            <a:off x="1600200" y="2971800"/>
            <a:ext cx="1981200" cy="2057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47" name="Oval 39"/>
          <p:cNvSpPr>
            <a:spLocks noChangeArrowheads="1"/>
          </p:cNvSpPr>
          <p:nvPr/>
        </p:nvSpPr>
        <p:spPr bwMode="auto">
          <a:xfrm>
            <a:off x="7239000" y="5029200"/>
            <a:ext cx="1371600" cy="1371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49" name="Text Box 41"/>
          <p:cNvSpPr txBox="1">
            <a:spLocks noChangeArrowheads="1"/>
          </p:cNvSpPr>
          <p:nvPr/>
        </p:nvSpPr>
        <p:spPr bwMode="auto">
          <a:xfrm>
            <a:off x="2287588" y="3016251"/>
            <a:ext cx="612966" cy="340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CPU</a:t>
            </a:r>
            <a:endParaRPr lang="en-GB" altLang="en-US"/>
          </a:p>
        </p:txBody>
      </p:sp>
      <p:sp>
        <p:nvSpPr>
          <p:cNvPr id="17451" name="Text Box 43"/>
          <p:cNvSpPr txBox="1">
            <a:spLocks noChangeArrowheads="1"/>
          </p:cNvSpPr>
          <p:nvPr/>
        </p:nvSpPr>
        <p:spPr bwMode="auto">
          <a:xfrm>
            <a:off x="7466014" y="5362576"/>
            <a:ext cx="923949"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Control</a:t>
            </a:r>
          </a:p>
          <a:p>
            <a:r>
              <a:rPr lang="en-GB" altLang="en-US" sz="1600">
                <a:latin typeface="Arial" panose="020B0604020202020204" pitchFamily="34" charset="0"/>
              </a:rPr>
              <a:t>Memory</a:t>
            </a:r>
          </a:p>
        </p:txBody>
      </p:sp>
      <p:sp>
        <p:nvSpPr>
          <p:cNvPr id="17452" name="Text Box 44"/>
          <p:cNvSpPr txBox="1">
            <a:spLocks noChangeArrowheads="1"/>
          </p:cNvSpPr>
          <p:nvPr/>
        </p:nvSpPr>
        <p:spPr bwMode="auto">
          <a:xfrm>
            <a:off x="7196138" y="4067175"/>
            <a:ext cx="149066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dirty="0">
                <a:latin typeface="Arial" panose="020B0604020202020204" pitchFamily="34" charset="0"/>
              </a:rPr>
              <a:t>Control Unit </a:t>
            </a:r>
          </a:p>
          <a:p>
            <a:r>
              <a:rPr lang="en-GB" altLang="en-US" sz="1600" dirty="0">
                <a:latin typeface="Arial" panose="020B0604020202020204" pitchFamily="34" charset="0"/>
              </a:rPr>
              <a:t>Registers and </a:t>
            </a:r>
          </a:p>
          <a:p>
            <a:r>
              <a:rPr lang="en-GB" altLang="en-US" sz="1600" dirty="0">
                <a:latin typeface="Arial" panose="020B0604020202020204" pitchFamily="34" charset="0"/>
              </a:rPr>
              <a:t>Decoders</a:t>
            </a:r>
          </a:p>
        </p:txBody>
      </p:sp>
      <p:sp>
        <p:nvSpPr>
          <p:cNvPr id="17453" name="Line 45"/>
          <p:cNvSpPr>
            <a:spLocks noChangeShapeType="1"/>
          </p:cNvSpPr>
          <p:nvPr/>
        </p:nvSpPr>
        <p:spPr bwMode="auto">
          <a:xfrm flipV="1">
            <a:off x="3048000" y="2209800"/>
            <a:ext cx="3886200" cy="1371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54" name="Line 46"/>
          <p:cNvSpPr>
            <a:spLocks noChangeShapeType="1"/>
          </p:cNvSpPr>
          <p:nvPr/>
        </p:nvSpPr>
        <p:spPr bwMode="auto">
          <a:xfrm>
            <a:off x="3048000" y="4343400"/>
            <a:ext cx="3733800" cy="213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55" name="Text Box 47"/>
          <p:cNvSpPr txBox="1">
            <a:spLocks noChangeArrowheads="1"/>
          </p:cNvSpPr>
          <p:nvPr/>
        </p:nvSpPr>
        <p:spPr bwMode="auto">
          <a:xfrm>
            <a:off x="6353175" y="3168651"/>
            <a:ext cx="1262182" cy="586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p>
            <a:r>
              <a:rPr lang="en-GB" altLang="en-US" sz="1600">
                <a:latin typeface="Arial" panose="020B0604020202020204" pitchFamily="34" charset="0"/>
              </a:rPr>
              <a:t>Sequencing</a:t>
            </a:r>
          </a:p>
          <a:p>
            <a:r>
              <a:rPr lang="en-GB" altLang="en-US" sz="1600">
                <a:latin typeface="Arial" panose="020B0604020202020204" pitchFamily="34" charset="0"/>
              </a:rPr>
              <a:t>Login</a:t>
            </a:r>
          </a:p>
        </p:txBody>
      </p:sp>
      <p:sp>
        <p:nvSpPr>
          <p:cNvPr id="17456" name="Oval 48"/>
          <p:cNvSpPr>
            <a:spLocks noChangeArrowheads="1"/>
          </p:cNvSpPr>
          <p:nvPr/>
        </p:nvSpPr>
        <p:spPr bwMode="auto">
          <a:xfrm>
            <a:off x="2743200" y="3581400"/>
            <a:ext cx="685800" cy="762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57" name="Text Box 49"/>
          <p:cNvSpPr txBox="1">
            <a:spLocks noChangeArrowheads="1"/>
          </p:cNvSpPr>
          <p:nvPr/>
        </p:nvSpPr>
        <p:spPr bwMode="auto">
          <a:xfrm>
            <a:off x="2767410" y="3716190"/>
            <a:ext cx="675483"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200">
                <a:latin typeface="Arial" panose="020B0604020202020204" pitchFamily="34" charset="0"/>
              </a:rPr>
              <a:t>Control</a:t>
            </a:r>
          </a:p>
          <a:p>
            <a:pPr algn="ctr"/>
            <a:r>
              <a:rPr lang="en-US" altLang="en-US" sz="1200">
                <a:latin typeface="Arial" panose="020B0604020202020204" pitchFamily="34" charset="0"/>
              </a:rPr>
              <a:t>Unit</a:t>
            </a:r>
            <a:endParaRPr lang="en-US" altLang="en-US" sz="1600">
              <a:latin typeface="Arial" panose="020B0604020202020204" pitchFamily="34" charset="0"/>
            </a:endParaRPr>
          </a:p>
        </p:txBody>
      </p:sp>
      <p:sp>
        <p:nvSpPr>
          <p:cNvPr id="17458" name="Oval 50"/>
          <p:cNvSpPr>
            <a:spLocks noChangeArrowheads="1"/>
          </p:cNvSpPr>
          <p:nvPr/>
        </p:nvSpPr>
        <p:spPr bwMode="auto">
          <a:xfrm>
            <a:off x="1828800" y="3276600"/>
            <a:ext cx="609600" cy="609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en-US" sz="1200">
                <a:latin typeface="Arial" panose="020B0604020202020204" pitchFamily="34" charset="0"/>
              </a:rPr>
              <a:t>ALU</a:t>
            </a:r>
            <a:endParaRPr lang="en-US" altLang="en-US" sz="1600">
              <a:latin typeface="Arial" panose="020B0604020202020204" pitchFamily="34" charset="0"/>
            </a:endParaRPr>
          </a:p>
        </p:txBody>
      </p:sp>
      <p:sp>
        <p:nvSpPr>
          <p:cNvPr id="17459" name="Oval 51"/>
          <p:cNvSpPr>
            <a:spLocks noChangeArrowheads="1"/>
          </p:cNvSpPr>
          <p:nvPr/>
        </p:nvSpPr>
        <p:spPr bwMode="auto">
          <a:xfrm>
            <a:off x="1905000" y="4191000"/>
            <a:ext cx="685800" cy="685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60" name="Oval 52"/>
          <p:cNvSpPr>
            <a:spLocks noChangeArrowheads="1"/>
          </p:cNvSpPr>
          <p:nvPr/>
        </p:nvSpPr>
        <p:spPr bwMode="auto">
          <a:xfrm>
            <a:off x="2133600" y="3581400"/>
            <a:ext cx="685800" cy="7620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17461" name="Text Box 53"/>
          <p:cNvSpPr txBox="1">
            <a:spLocks noChangeArrowheads="1"/>
          </p:cNvSpPr>
          <p:nvPr/>
        </p:nvSpPr>
        <p:spPr bwMode="auto">
          <a:xfrm>
            <a:off x="1858616" y="4371292"/>
            <a:ext cx="829371"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200">
                <a:latin typeface="Arial" panose="020B0604020202020204" pitchFamily="34" charset="0"/>
              </a:rPr>
              <a:t>Registers</a:t>
            </a:r>
            <a:endParaRPr lang="en-US" altLang="en-US" sz="1600">
              <a:latin typeface="Arial" panose="020B0604020202020204" pitchFamily="34" charset="0"/>
            </a:endParaRPr>
          </a:p>
        </p:txBody>
      </p:sp>
      <p:sp>
        <p:nvSpPr>
          <p:cNvPr id="17462" name="Text Box 54"/>
          <p:cNvSpPr txBox="1">
            <a:spLocks noChangeArrowheads="1"/>
          </p:cNvSpPr>
          <p:nvPr/>
        </p:nvSpPr>
        <p:spPr bwMode="auto">
          <a:xfrm>
            <a:off x="2130736" y="3806677"/>
            <a:ext cx="693116"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r>
              <a:rPr lang="en-US" altLang="en-US" sz="1200">
                <a:latin typeface="Arial" panose="020B0604020202020204" pitchFamily="34" charset="0"/>
              </a:rPr>
              <a:t>Internal</a:t>
            </a:r>
          </a:p>
          <a:p>
            <a:pPr algn="ctr"/>
            <a:r>
              <a:rPr lang="en-US" altLang="en-US" sz="1200">
                <a:latin typeface="Arial" panose="020B0604020202020204" pitchFamily="34" charset="0"/>
              </a:rPr>
              <a:t>Bus</a:t>
            </a:r>
          </a:p>
        </p:txBody>
      </p:sp>
      <p:sp>
        <p:nvSpPr>
          <p:cNvPr id="17463" name="Text Box 55"/>
          <p:cNvSpPr txBox="1">
            <a:spLocks noChangeArrowheads="1"/>
          </p:cNvSpPr>
          <p:nvPr/>
        </p:nvSpPr>
        <p:spPr bwMode="auto">
          <a:xfrm>
            <a:off x="6928846" y="2283293"/>
            <a:ext cx="1536296" cy="402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ctr">
              <a:spcBef>
                <a:spcPct val="50000"/>
              </a:spcBef>
            </a:pPr>
            <a:r>
              <a:rPr lang="en-US" altLang="en-US" sz="2000">
                <a:latin typeface="Arial" panose="020B0604020202020204" pitchFamily="34" charset="0"/>
              </a:rPr>
              <a:t>Control Unit</a:t>
            </a:r>
            <a:endParaRPr lang="en-US" altLang="en-US" sz="1600">
              <a:latin typeface="Arial" panose="020B0604020202020204" pitchFamily="34" charset="0"/>
            </a:endParaRPr>
          </a:p>
        </p:txBody>
      </p:sp>
    </p:spTree>
    <p:extLst>
      <p:ext uri="{BB962C8B-B14F-4D97-AF65-F5344CB8AC3E}">
        <p14:creationId xmlns:p14="http://schemas.microsoft.com/office/powerpoint/2010/main" val="3466041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    </a:t>
            </a:r>
            <a:r>
              <a:rPr lang="en-US" u="sng" dirty="0" smtClean="0">
                <a:latin typeface="Times New Roman" panose="02020603050405020304" pitchFamily="18" charset="0"/>
                <a:cs typeface="Times New Roman" panose="02020603050405020304" pitchFamily="18" charset="0"/>
              </a:rPr>
              <a:t>Function </a:t>
            </a:r>
            <a:endParaRPr lang="en-US"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GB" altLang="en-US" dirty="0" smtClean="0">
                <a:latin typeface="Times New Roman" panose="02020603050405020304" pitchFamily="18" charset="0"/>
                <a:cs typeface="Times New Roman" panose="02020603050405020304" pitchFamily="18" charset="0"/>
              </a:rPr>
              <a:t>The operation of each individual component as part of the structure</a:t>
            </a:r>
          </a:p>
          <a:p>
            <a:r>
              <a:rPr lang="en-GB" altLang="en-US" dirty="0" smtClean="0">
                <a:latin typeface="Times New Roman" panose="02020603050405020304" pitchFamily="18" charset="0"/>
                <a:cs typeface="Times New Roman" panose="02020603050405020304" pitchFamily="18" charset="0"/>
              </a:rPr>
              <a:t>All computer functions are:</a:t>
            </a:r>
          </a:p>
          <a:p>
            <a:pPr lvl="1">
              <a:lnSpc>
                <a:spcPct val="200000"/>
              </a:lnSpc>
            </a:pPr>
            <a:r>
              <a:rPr lang="en-GB" altLang="en-US" dirty="0" smtClean="0">
                <a:latin typeface="Times New Roman" panose="02020603050405020304" pitchFamily="18" charset="0"/>
                <a:cs typeface="Times New Roman" panose="02020603050405020304" pitchFamily="18" charset="0"/>
              </a:rPr>
              <a:t>Data processing</a:t>
            </a:r>
          </a:p>
          <a:p>
            <a:pPr lvl="1">
              <a:lnSpc>
                <a:spcPct val="200000"/>
              </a:lnSpc>
            </a:pPr>
            <a:r>
              <a:rPr lang="en-GB" altLang="en-US" dirty="0" smtClean="0">
                <a:latin typeface="Times New Roman" panose="02020603050405020304" pitchFamily="18" charset="0"/>
                <a:cs typeface="Times New Roman" panose="02020603050405020304" pitchFamily="18" charset="0"/>
              </a:rPr>
              <a:t>Data storage</a:t>
            </a:r>
          </a:p>
          <a:p>
            <a:pPr lvl="1">
              <a:lnSpc>
                <a:spcPct val="200000"/>
              </a:lnSpc>
            </a:pPr>
            <a:r>
              <a:rPr lang="en-GB" altLang="en-US" dirty="0" smtClean="0">
                <a:latin typeface="Times New Roman" panose="02020603050405020304" pitchFamily="18" charset="0"/>
                <a:cs typeface="Times New Roman" panose="02020603050405020304" pitchFamily="18" charset="0"/>
              </a:rPr>
              <a:t>Data movement</a:t>
            </a:r>
          </a:p>
          <a:p>
            <a:pPr lvl="1">
              <a:lnSpc>
                <a:spcPct val="200000"/>
              </a:lnSpc>
            </a:pPr>
            <a:r>
              <a:rPr lang="en-GB" altLang="en-US" dirty="0" smtClean="0">
                <a:latin typeface="Times New Roman" panose="02020603050405020304" pitchFamily="18" charset="0"/>
                <a:cs typeface="Times New Roman" panose="02020603050405020304" pitchFamily="18" charset="0"/>
              </a:rPr>
              <a:t>Control</a:t>
            </a:r>
          </a:p>
          <a:p>
            <a:endParaRPr lang="en-US" dirty="0"/>
          </a:p>
        </p:txBody>
      </p:sp>
    </p:spTree>
    <p:extLst>
      <p:ext uri="{BB962C8B-B14F-4D97-AF65-F5344CB8AC3E}">
        <p14:creationId xmlns:p14="http://schemas.microsoft.com/office/powerpoint/2010/main" val="1708845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p:spPr>
        <p:txBody>
          <a:bodyPr/>
          <a:lstStyle/>
          <a:p>
            <a:r>
              <a:rPr lang="en-GB" altLang="en-US" u="sng" dirty="0"/>
              <a:t>Functional View</a:t>
            </a:r>
          </a:p>
        </p:txBody>
      </p:sp>
      <p:pic>
        <p:nvPicPr>
          <p:cNvPr id="9262" name="Picture 46"/>
          <p:cNvPicPr>
            <a:picLocks noChangeAspect="1" noChangeArrowheads="1"/>
          </p:cNvPicPr>
          <p:nvPr/>
        </p:nvPicPr>
        <p:blipFill>
          <a:blip r:embed="rId3">
            <a:extLst>
              <a:ext uri="{28A0092B-C50C-407E-A947-70E740481C1C}">
                <a14:useLocalDpi xmlns:a14="http://schemas.microsoft.com/office/drawing/2010/main" val="0"/>
              </a:ext>
            </a:extLst>
          </a:blip>
          <a:srcRect l="25031" t="11363" r="23865" b="17046"/>
          <a:stretch>
            <a:fillRect/>
          </a:stretch>
        </p:blipFill>
        <p:spPr bwMode="auto">
          <a:xfrm>
            <a:off x="4994423" y="1335148"/>
            <a:ext cx="5207000"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4170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561512" y="154110"/>
            <a:ext cx="9553135" cy="1325563"/>
          </a:xfrm>
          <a:noFill/>
        </p:spPr>
        <p:txBody>
          <a:bodyPr/>
          <a:lstStyle/>
          <a:p>
            <a:r>
              <a:rPr lang="en-GB" altLang="en-US" u="sng" dirty="0"/>
              <a:t>Operations (a) Data movement</a:t>
            </a:r>
          </a:p>
        </p:txBody>
      </p:sp>
      <p:pic>
        <p:nvPicPr>
          <p:cNvPr id="10288" name="Picture 48"/>
          <p:cNvPicPr>
            <a:picLocks noChangeAspect="1" noChangeArrowheads="1"/>
          </p:cNvPicPr>
          <p:nvPr/>
        </p:nvPicPr>
        <p:blipFill>
          <a:blip r:embed="rId3">
            <a:extLst>
              <a:ext uri="{28A0092B-C50C-407E-A947-70E740481C1C}">
                <a14:useLocalDpi xmlns:a14="http://schemas.microsoft.com/office/drawing/2010/main" val="0"/>
              </a:ext>
            </a:extLst>
          </a:blip>
          <a:srcRect l="8835" t="6470" r="54846" b="58243"/>
          <a:stretch>
            <a:fillRect/>
          </a:stretch>
        </p:blipFill>
        <p:spPr bwMode="auto">
          <a:xfrm>
            <a:off x="4406900" y="1346200"/>
            <a:ext cx="4940300" cy="534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7439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30570" y="111906"/>
            <a:ext cx="10515600" cy="1325563"/>
          </a:xfrm>
          <a:noFill/>
        </p:spPr>
        <p:txBody>
          <a:bodyPr/>
          <a:lstStyle/>
          <a:p>
            <a:r>
              <a:rPr lang="en-GB" altLang="en-US" u="sng" dirty="0"/>
              <a:t>Operations (b) Storage </a:t>
            </a:r>
          </a:p>
        </p:txBody>
      </p:sp>
      <p:pic>
        <p:nvPicPr>
          <p:cNvPr id="11313" name="Picture 49"/>
          <p:cNvPicPr>
            <a:picLocks noChangeAspect="1" noChangeArrowheads="1"/>
          </p:cNvPicPr>
          <p:nvPr/>
        </p:nvPicPr>
        <p:blipFill>
          <a:blip r:embed="rId3">
            <a:extLst>
              <a:ext uri="{28A0092B-C50C-407E-A947-70E740481C1C}">
                <a14:useLocalDpi xmlns:a14="http://schemas.microsoft.com/office/drawing/2010/main" val="0"/>
              </a:ext>
            </a:extLst>
          </a:blip>
          <a:srcRect l="54970" t="6207" r="9694" b="58510"/>
          <a:stretch>
            <a:fillRect/>
          </a:stretch>
        </p:blipFill>
        <p:spPr bwMode="auto">
          <a:xfrm>
            <a:off x="5003801" y="1333500"/>
            <a:ext cx="4418013" cy="494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25946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246163" y="122237"/>
            <a:ext cx="10515600" cy="1325563"/>
          </a:xfrm>
          <a:noFill/>
        </p:spPr>
        <p:txBody>
          <a:bodyPr/>
          <a:lstStyle/>
          <a:p>
            <a:r>
              <a:rPr lang="en-GB" altLang="en-US" u="sng" dirty="0"/>
              <a:t>Operation (c) Processing from/to storage </a:t>
            </a:r>
          </a:p>
        </p:txBody>
      </p:sp>
      <p:pic>
        <p:nvPicPr>
          <p:cNvPr id="12349" name="Picture 61"/>
          <p:cNvPicPr>
            <a:picLocks noChangeAspect="1" noChangeArrowheads="1"/>
          </p:cNvPicPr>
          <p:nvPr/>
        </p:nvPicPr>
        <p:blipFill>
          <a:blip r:embed="rId3">
            <a:extLst>
              <a:ext uri="{28A0092B-C50C-407E-A947-70E740481C1C}">
                <a14:useLocalDpi xmlns:a14="http://schemas.microsoft.com/office/drawing/2010/main" val="0"/>
              </a:ext>
            </a:extLst>
          </a:blip>
          <a:srcRect l="8772" t="50000" r="52945" b="13637"/>
          <a:stretch>
            <a:fillRect/>
          </a:stretch>
        </p:blipFill>
        <p:spPr bwMode="auto">
          <a:xfrm>
            <a:off x="3429000" y="1447800"/>
            <a:ext cx="4705350" cy="50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542744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1028700" y="320675"/>
            <a:ext cx="10845800" cy="1325563"/>
          </a:xfrm>
          <a:noFill/>
        </p:spPr>
        <p:txBody>
          <a:bodyPr/>
          <a:lstStyle/>
          <a:p>
            <a:r>
              <a:rPr lang="en-GB" altLang="en-US" u="sng" dirty="0"/>
              <a:t>Operation (</a:t>
            </a:r>
            <a:r>
              <a:rPr lang="en-GB" altLang="en-US" u="sng" dirty="0" smtClean="0"/>
              <a:t>d)  Processing </a:t>
            </a:r>
            <a:r>
              <a:rPr lang="en-GB" altLang="en-US" u="sng" dirty="0"/>
              <a:t>from storage to I/O</a:t>
            </a:r>
          </a:p>
        </p:txBody>
      </p:sp>
      <p:pic>
        <p:nvPicPr>
          <p:cNvPr id="13374" name="Picture 62"/>
          <p:cNvPicPr>
            <a:picLocks noChangeAspect="1" noChangeArrowheads="1"/>
          </p:cNvPicPr>
          <p:nvPr/>
        </p:nvPicPr>
        <p:blipFill>
          <a:blip r:embed="rId3">
            <a:extLst>
              <a:ext uri="{28A0092B-C50C-407E-A947-70E740481C1C}">
                <a14:useLocalDpi xmlns:a14="http://schemas.microsoft.com/office/drawing/2010/main" val="0"/>
              </a:ext>
            </a:extLst>
          </a:blip>
          <a:srcRect l="54907" t="50000" r="7791" b="13637"/>
          <a:stretch>
            <a:fillRect/>
          </a:stretch>
        </p:blipFill>
        <p:spPr bwMode="auto">
          <a:xfrm>
            <a:off x="3810000" y="1790700"/>
            <a:ext cx="4813300" cy="467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0311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297</TotalTime>
  <Words>1028</Words>
  <Application>Microsoft Office PowerPoint</Application>
  <PresentationFormat>Widescreen</PresentationFormat>
  <Paragraphs>156</Paragraphs>
  <Slides>21</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Calibri Light</vt:lpstr>
      <vt:lpstr>Times New Roman</vt:lpstr>
      <vt:lpstr>Wingdings</vt:lpstr>
      <vt:lpstr>Office Theme</vt:lpstr>
      <vt:lpstr>1_Office Theme</vt:lpstr>
      <vt:lpstr>  Computer Architecture &amp; Assembly Language   CSC-250</vt:lpstr>
      <vt:lpstr>Computer Architecture</vt:lpstr>
      <vt:lpstr>Computer Architecture</vt:lpstr>
      <vt:lpstr>Computer Architecture</vt:lpstr>
      <vt:lpstr>Computer Architecture</vt:lpstr>
      <vt:lpstr>Computer Architecture Layer</vt:lpstr>
      <vt:lpstr>PowerPoint Presentation</vt:lpstr>
      <vt:lpstr>PowerPoint Presentation</vt:lpstr>
      <vt:lpstr>Design </vt:lpstr>
      <vt:lpstr>Why We Study Computer Architecture</vt:lpstr>
      <vt:lpstr>Computer Architecture &amp; Organization </vt:lpstr>
      <vt:lpstr>Structure </vt:lpstr>
      <vt:lpstr>Structure - Top Level</vt:lpstr>
      <vt:lpstr>Structure - The CPU</vt:lpstr>
      <vt:lpstr>Structure - The Control Unit</vt:lpstr>
      <vt:lpstr>    Function </vt:lpstr>
      <vt:lpstr>Functional View</vt:lpstr>
      <vt:lpstr>Operations (a) Data movement</vt:lpstr>
      <vt:lpstr>Operations (b) Storage </vt:lpstr>
      <vt:lpstr>Operation (c) Processing from/to storage </vt:lpstr>
      <vt:lpstr>Operation (d)  Processing from storage to I/O</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Architecture &amp; Assembly Language </dc:title>
  <dc:creator>Noor Nabi</dc:creator>
  <cp:lastModifiedBy>PC</cp:lastModifiedBy>
  <cp:revision>33</cp:revision>
  <dcterms:created xsi:type="dcterms:W3CDTF">2020-01-15T04:11:08Z</dcterms:created>
  <dcterms:modified xsi:type="dcterms:W3CDTF">2026-01-15T08:18:55Z</dcterms:modified>
</cp:coreProperties>
</file>