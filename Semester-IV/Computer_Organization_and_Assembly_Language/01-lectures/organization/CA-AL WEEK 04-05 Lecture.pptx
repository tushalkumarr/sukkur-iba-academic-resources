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18" r:id="rId1"/>
  </p:sldMasterIdLst>
  <p:notesMasterIdLst>
    <p:notesMasterId r:id="rId52"/>
  </p:notesMasterIdLst>
  <p:handoutMasterIdLst>
    <p:handoutMasterId r:id="rId53"/>
  </p:handoutMasterIdLst>
  <p:sldIdLst>
    <p:sldId id="353" r:id="rId2"/>
    <p:sldId id="347" r:id="rId3"/>
    <p:sldId id="348" r:id="rId4"/>
    <p:sldId id="349" r:id="rId5"/>
    <p:sldId id="351" r:id="rId6"/>
    <p:sldId id="352" r:id="rId7"/>
    <p:sldId id="319" r:id="rId8"/>
    <p:sldId id="356" r:id="rId9"/>
    <p:sldId id="357" r:id="rId10"/>
    <p:sldId id="358" r:id="rId11"/>
    <p:sldId id="359" r:id="rId12"/>
    <p:sldId id="360" r:id="rId13"/>
    <p:sldId id="320" r:id="rId14"/>
    <p:sldId id="321" r:id="rId15"/>
    <p:sldId id="322" r:id="rId16"/>
    <p:sldId id="294" r:id="rId17"/>
    <p:sldId id="297" r:id="rId18"/>
    <p:sldId id="261" r:id="rId19"/>
    <p:sldId id="323" r:id="rId20"/>
    <p:sldId id="324" r:id="rId21"/>
    <p:sldId id="296" r:id="rId22"/>
    <p:sldId id="332" r:id="rId23"/>
    <p:sldId id="355" r:id="rId24"/>
    <p:sldId id="298" r:id="rId25"/>
    <p:sldId id="361" r:id="rId26"/>
    <p:sldId id="334" r:id="rId27"/>
    <p:sldId id="325" r:id="rId28"/>
    <p:sldId id="306" r:id="rId29"/>
    <p:sldId id="299" r:id="rId30"/>
    <p:sldId id="335" r:id="rId31"/>
    <p:sldId id="307" r:id="rId32"/>
    <p:sldId id="301" r:id="rId33"/>
    <p:sldId id="336" r:id="rId34"/>
    <p:sldId id="303" r:id="rId35"/>
    <p:sldId id="304" r:id="rId36"/>
    <p:sldId id="337" r:id="rId37"/>
    <p:sldId id="263" r:id="rId38"/>
    <p:sldId id="311" r:id="rId39"/>
    <p:sldId id="265" r:id="rId40"/>
    <p:sldId id="338" r:id="rId41"/>
    <p:sldId id="362" r:id="rId42"/>
    <p:sldId id="363" r:id="rId43"/>
    <p:sldId id="364" r:id="rId44"/>
    <p:sldId id="305" r:id="rId45"/>
    <p:sldId id="366" r:id="rId46"/>
    <p:sldId id="342" r:id="rId47"/>
    <p:sldId id="367" r:id="rId48"/>
    <p:sldId id="369" r:id="rId49"/>
    <p:sldId id="368" r:id="rId50"/>
    <p:sldId id="345" r:id="rId5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21" autoAdjust="0"/>
    <p:restoredTop sz="94523" autoAdjust="0"/>
  </p:normalViewPr>
  <p:slideViewPr>
    <p:cSldViewPr>
      <p:cViewPr varScale="1">
        <p:scale>
          <a:sx n="70" d="100"/>
          <a:sy n="70" d="100"/>
        </p:scale>
        <p:origin x="256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7.xml"/><Relationship Id="rId3" Type="http://schemas.openxmlformats.org/officeDocument/2006/relationships/slide" Target="slides/slide22.xml"/><Relationship Id="rId7" Type="http://schemas.openxmlformats.org/officeDocument/2006/relationships/slide" Target="slides/slide36.xml"/><Relationship Id="rId12" Type="http://schemas.openxmlformats.org/officeDocument/2006/relationships/slide" Target="slides/slide50.xml"/><Relationship Id="rId2" Type="http://schemas.openxmlformats.org/officeDocument/2006/relationships/slide" Target="slides/slide18.xml"/><Relationship Id="rId1" Type="http://schemas.openxmlformats.org/officeDocument/2006/relationships/slide" Target="slides/slide16.xml"/><Relationship Id="rId6" Type="http://schemas.openxmlformats.org/officeDocument/2006/relationships/slide" Target="slides/slide33.xml"/><Relationship Id="rId11" Type="http://schemas.openxmlformats.org/officeDocument/2006/relationships/slide" Target="slides/slide46.xml"/><Relationship Id="rId5" Type="http://schemas.openxmlformats.org/officeDocument/2006/relationships/slide" Target="slides/slide30.xml"/><Relationship Id="rId10" Type="http://schemas.openxmlformats.org/officeDocument/2006/relationships/slide" Target="slides/slide40.xml"/><Relationship Id="rId4" Type="http://schemas.openxmlformats.org/officeDocument/2006/relationships/slide" Target="slides/slide26.xml"/><Relationship Id="rId9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B5D1F-AD31-4D05-9EF1-931C0C9B5ACD}" type="doc">
      <dgm:prSet loTypeId="urn:microsoft.com/office/officeart/2005/8/layout/chevron1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59C0CAAB-C359-414F-9EBE-E2BBBA770C57}">
      <dgm:prSet phldrT="[Text]"/>
      <dgm:spPr/>
      <dgm:t>
        <a:bodyPr/>
        <a:lstStyle/>
        <a:p>
          <a:r>
            <a:rPr lang="en-US" dirty="0"/>
            <a:t>Program Counter (PC)</a:t>
          </a:r>
        </a:p>
      </dgm:t>
    </dgm:pt>
    <dgm:pt modelId="{B39816C2-274E-42DC-927F-09210F350687}" type="parTrans" cxnId="{D8B1C6A7-9EEA-46BE-A87C-6FE8C149DEDD}">
      <dgm:prSet/>
      <dgm:spPr/>
      <dgm:t>
        <a:bodyPr/>
        <a:lstStyle/>
        <a:p>
          <a:endParaRPr lang="en-US"/>
        </a:p>
      </dgm:t>
    </dgm:pt>
    <dgm:pt modelId="{86B9E0A0-D970-4B28-82A2-2AB452DEE631}" type="sibTrans" cxnId="{D8B1C6A7-9EEA-46BE-A87C-6FE8C149DEDD}">
      <dgm:prSet/>
      <dgm:spPr/>
      <dgm:t>
        <a:bodyPr/>
        <a:lstStyle/>
        <a:p>
          <a:endParaRPr lang="en-US"/>
        </a:p>
      </dgm:t>
    </dgm:pt>
    <dgm:pt modelId="{5AABB24F-A863-4C45-B3DC-315BAA479CDD}">
      <dgm:prSet phldrT="[Text]"/>
      <dgm:spPr/>
      <dgm:t>
        <a:bodyPr/>
        <a:lstStyle/>
        <a:p>
          <a:r>
            <a:rPr lang="en-US" dirty="0"/>
            <a:t>Holds address of next instruction to fetch</a:t>
          </a:r>
        </a:p>
      </dgm:t>
    </dgm:pt>
    <dgm:pt modelId="{9DD7E74D-A709-4C91-8253-1518BEE0E863}" type="parTrans" cxnId="{50C745D4-9540-4191-99BF-B3C14F334493}">
      <dgm:prSet/>
      <dgm:spPr/>
      <dgm:t>
        <a:bodyPr/>
        <a:lstStyle/>
        <a:p>
          <a:endParaRPr lang="en-US"/>
        </a:p>
      </dgm:t>
    </dgm:pt>
    <dgm:pt modelId="{4A6DB5FD-71C3-4E7B-AF04-68228A96C498}" type="sibTrans" cxnId="{50C745D4-9540-4191-99BF-B3C14F334493}">
      <dgm:prSet/>
      <dgm:spPr/>
      <dgm:t>
        <a:bodyPr/>
        <a:lstStyle/>
        <a:p>
          <a:endParaRPr lang="en-US"/>
        </a:p>
      </dgm:t>
    </dgm:pt>
    <dgm:pt modelId="{12D624E8-9FD4-46CD-A5F6-7BBD975F52A5}">
      <dgm:prSet phldrT="[Text]"/>
      <dgm:spPr/>
      <dgm:t>
        <a:bodyPr/>
        <a:lstStyle/>
        <a:p>
          <a:r>
            <a:rPr lang="en-US" dirty="0"/>
            <a:t>Processor</a:t>
          </a:r>
        </a:p>
      </dgm:t>
    </dgm:pt>
    <dgm:pt modelId="{2575A650-F35A-4D5D-9A61-5CD59E95F5FE}" type="parTrans" cxnId="{866B2F92-4D06-49FA-8FD7-9BCE1829CE1C}">
      <dgm:prSet/>
      <dgm:spPr/>
      <dgm:t>
        <a:bodyPr/>
        <a:lstStyle/>
        <a:p>
          <a:endParaRPr lang="en-US"/>
        </a:p>
      </dgm:t>
    </dgm:pt>
    <dgm:pt modelId="{2559CC5C-7DB4-4EAA-8A1E-0A51C94C1958}" type="sibTrans" cxnId="{866B2F92-4D06-49FA-8FD7-9BCE1829CE1C}">
      <dgm:prSet/>
      <dgm:spPr/>
      <dgm:t>
        <a:bodyPr/>
        <a:lstStyle/>
        <a:p>
          <a:endParaRPr lang="en-US"/>
        </a:p>
      </dgm:t>
    </dgm:pt>
    <dgm:pt modelId="{A0D29F53-5062-43F9-ACBB-FF65F53526F3}">
      <dgm:prSet phldrT="[Text]"/>
      <dgm:spPr/>
      <dgm:t>
        <a:bodyPr/>
        <a:lstStyle/>
        <a:p>
          <a:r>
            <a:rPr lang="en-US" dirty="0"/>
            <a:t>Fetch instruction from memory location pointed to by PC</a:t>
          </a:r>
        </a:p>
      </dgm:t>
    </dgm:pt>
    <dgm:pt modelId="{993F16DE-3E31-40A3-93A6-C97BF61E8128}" type="parTrans" cxnId="{D5E13FBD-E083-41AD-8EC4-C45BAE5AB2EF}">
      <dgm:prSet/>
      <dgm:spPr/>
      <dgm:t>
        <a:bodyPr/>
        <a:lstStyle/>
        <a:p>
          <a:endParaRPr lang="en-US"/>
        </a:p>
      </dgm:t>
    </dgm:pt>
    <dgm:pt modelId="{22F65A34-805A-4D85-977A-36A04B3E7850}" type="sibTrans" cxnId="{D5E13FBD-E083-41AD-8EC4-C45BAE5AB2EF}">
      <dgm:prSet/>
      <dgm:spPr/>
      <dgm:t>
        <a:bodyPr/>
        <a:lstStyle/>
        <a:p>
          <a:endParaRPr lang="en-US"/>
        </a:p>
      </dgm:t>
    </dgm:pt>
    <dgm:pt modelId="{5E9BB26D-7656-4D5F-A55C-7AED4ED8319A}">
      <dgm:prSet phldrT="[Text]"/>
      <dgm:spPr/>
      <dgm:t>
        <a:bodyPr/>
        <a:lstStyle/>
        <a:p>
          <a:r>
            <a:rPr lang="en-US" dirty="0"/>
            <a:t>Increment PC</a:t>
          </a:r>
        </a:p>
      </dgm:t>
    </dgm:pt>
    <dgm:pt modelId="{0C614B57-A0B2-4C0C-80FD-D5D0718B0A9A}" type="parTrans" cxnId="{74538564-0DA0-4169-9B9D-3978AB02C3F1}">
      <dgm:prSet/>
      <dgm:spPr/>
      <dgm:t>
        <a:bodyPr/>
        <a:lstStyle/>
        <a:p>
          <a:endParaRPr lang="en-US"/>
        </a:p>
      </dgm:t>
    </dgm:pt>
    <dgm:pt modelId="{4ACA3CFB-04BC-4F28-AADC-2E8F1B230FD2}" type="sibTrans" cxnId="{74538564-0DA0-4169-9B9D-3978AB02C3F1}">
      <dgm:prSet/>
      <dgm:spPr/>
      <dgm:t>
        <a:bodyPr/>
        <a:lstStyle/>
        <a:p>
          <a:endParaRPr lang="en-US"/>
        </a:p>
      </dgm:t>
    </dgm:pt>
    <dgm:pt modelId="{C972615C-266F-4104-A9D9-FA7454854C9B}">
      <dgm:prSet phldrT="[Text]"/>
      <dgm:spPr/>
      <dgm:t>
        <a:bodyPr/>
        <a:lstStyle/>
        <a:p>
          <a:r>
            <a:rPr lang="en-US" dirty="0"/>
            <a:t>Instruction Register (IR)</a:t>
          </a:r>
        </a:p>
      </dgm:t>
    </dgm:pt>
    <dgm:pt modelId="{9CD8043E-4261-4385-B553-2E2A36B6A437}" type="parTrans" cxnId="{4EC7F780-1E55-4AA4-96A3-B9BED833FB97}">
      <dgm:prSet/>
      <dgm:spPr/>
      <dgm:t>
        <a:bodyPr/>
        <a:lstStyle/>
        <a:p>
          <a:endParaRPr lang="en-US"/>
        </a:p>
      </dgm:t>
    </dgm:pt>
    <dgm:pt modelId="{6698CC74-3758-4924-B43B-BB91141D7B8E}" type="sibTrans" cxnId="{4EC7F780-1E55-4AA4-96A3-B9BED833FB97}">
      <dgm:prSet/>
      <dgm:spPr/>
      <dgm:t>
        <a:bodyPr/>
        <a:lstStyle/>
        <a:p>
          <a:endParaRPr lang="en-US"/>
        </a:p>
      </dgm:t>
    </dgm:pt>
    <dgm:pt modelId="{D4EE5007-1D19-4BA6-B992-7183A11E1B87}">
      <dgm:prSet phldrT="[Text]"/>
      <dgm:spPr/>
      <dgm:t>
        <a:bodyPr/>
        <a:lstStyle/>
        <a:p>
          <a:r>
            <a:rPr lang="en-US" dirty="0"/>
            <a:t>Load the instruction</a:t>
          </a:r>
        </a:p>
      </dgm:t>
    </dgm:pt>
    <dgm:pt modelId="{D524293E-5FE7-4158-9753-9F56BE00A88E}" type="parTrans" cxnId="{87B21AFD-261E-4FD4-9014-554C333EFB43}">
      <dgm:prSet/>
      <dgm:spPr/>
      <dgm:t>
        <a:bodyPr/>
        <a:lstStyle/>
        <a:p>
          <a:endParaRPr lang="en-US"/>
        </a:p>
      </dgm:t>
    </dgm:pt>
    <dgm:pt modelId="{CD227C79-7C5B-4274-A26A-B6755DB8E80E}" type="sibTrans" cxnId="{87B21AFD-261E-4FD4-9014-554C333EFB43}">
      <dgm:prSet/>
      <dgm:spPr/>
      <dgm:t>
        <a:bodyPr/>
        <a:lstStyle/>
        <a:p>
          <a:endParaRPr lang="en-US"/>
        </a:p>
      </dgm:t>
    </dgm:pt>
    <dgm:pt modelId="{83598EAC-9D41-4238-8FAA-262A54E4D3D7}">
      <dgm:prSet phldrT="[Text]"/>
      <dgm:spPr/>
      <dgm:t>
        <a:bodyPr/>
        <a:lstStyle/>
        <a:p>
          <a:r>
            <a:rPr lang="en-US" dirty="0"/>
            <a:t>Processor</a:t>
          </a:r>
        </a:p>
      </dgm:t>
    </dgm:pt>
    <dgm:pt modelId="{5CC5456C-E1D2-4245-8BA4-697D737B1C15}" type="parTrans" cxnId="{64CFED81-F5B9-43C8-9EFF-6EBB3BD35E52}">
      <dgm:prSet/>
      <dgm:spPr/>
      <dgm:t>
        <a:bodyPr/>
        <a:lstStyle/>
        <a:p>
          <a:endParaRPr lang="en-US"/>
        </a:p>
      </dgm:t>
    </dgm:pt>
    <dgm:pt modelId="{903D2792-F40E-4813-8611-23FFCE747561}" type="sibTrans" cxnId="{64CFED81-F5B9-43C8-9EFF-6EBB3BD35E52}">
      <dgm:prSet/>
      <dgm:spPr/>
      <dgm:t>
        <a:bodyPr/>
        <a:lstStyle/>
        <a:p>
          <a:endParaRPr lang="en-US"/>
        </a:p>
      </dgm:t>
    </dgm:pt>
    <dgm:pt modelId="{BC3C9C46-24BB-4F63-8836-2F187F9F7AFC}">
      <dgm:prSet phldrT="[Text]"/>
      <dgm:spPr/>
      <dgm:t>
        <a:bodyPr/>
        <a:lstStyle/>
        <a:p>
          <a:r>
            <a:rPr lang="en-US" dirty="0"/>
            <a:t>Interprets instruction</a:t>
          </a:r>
        </a:p>
      </dgm:t>
    </dgm:pt>
    <dgm:pt modelId="{7CC45ABC-3F99-433F-A1C2-0C609CF6777E}" type="parTrans" cxnId="{080FECB6-4798-4599-B5A0-06BCB8E56836}">
      <dgm:prSet/>
      <dgm:spPr/>
      <dgm:t>
        <a:bodyPr/>
        <a:lstStyle/>
        <a:p>
          <a:endParaRPr lang="en-US"/>
        </a:p>
      </dgm:t>
    </dgm:pt>
    <dgm:pt modelId="{E387ECFE-A392-4F7E-AE42-145F7FFC813F}" type="sibTrans" cxnId="{080FECB6-4798-4599-B5A0-06BCB8E56836}">
      <dgm:prSet/>
      <dgm:spPr/>
      <dgm:t>
        <a:bodyPr/>
        <a:lstStyle/>
        <a:p>
          <a:endParaRPr lang="en-US"/>
        </a:p>
      </dgm:t>
    </dgm:pt>
    <dgm:pt modelId="{8C73AFAB-F86B-4086-92CE-CE50DFDB3083}">
      <dgm:prSet phldrT="[Text]"/>
      <dgm:spPr/>
      <dgm:t>
        <a:bodyPr/>
        <a:lstStyle/>
        <a:p>
          <a:r>
            <a:rPr lang="en-US" dirty="0"/>
            <a:t>Perform required actions</a:t>
          </a:r>
        </a:p>
      </dgm:t>
    </dgm:pt>
    <dgm:pt modelId="{9BCF4DF5-CAAD-4628-844D-1472D2EBBC96}" type="parTrans" cxnId="{CB2AFEB2-D131-4196-9279-B04EED45BC05}">
      <dgm:prSet/>
      <dgm:spPr/>
      <dgm:t>
        <a:bodyPr/>
        <a:lstStyle/>
        <a:p>
          <a:endParaRPr lang="en-US"/>
        </a:p>
      </dgm:t>
    </dgm:pt>
    <dgm:pt modelId="{C06820C8-1717-4589-979C-1B6558E9ADF8}" type="sibTrans" cxnId="{CB2AFEB2-D131-4196-9279-B04EED45BC05}">
      <dgm:prSet/>
      <dgm:spPr/>
      <dgm:t>
        <a:bodyPr/>
        <a:lstStyle/>
        <a:p>
          <a:endParaRPr lang="en-US"/>
        </a:p>
      </dgm:t>
    </dgm:pt>
    <dgm:pt modelId="{74A50D6B-B889-4005-B23F-98365636F625}" type="pres">
      <dgm:prSet presAssocID="{766B5D1F-AD31-4D05-9EF1-931C0C9B5ACD}" presName="Name0" presStyleCnt="0">
        <dgm:presLayoutVars>
          <dgm:dir/>
          <dgm:animLvl val="lvl"/>
          <dgm:resizeHandles val="exact"/>
        </dgm:presLayoutVars>
      </dgm:prSet>
      <dgm:spPr/>
    </dgm:pt>
    <dgm:pt modelId="{5C2C76EB-EB54-497C-BF49-C87303454234}" type="pres">
      <dgm:prSet presAssocID="{59C0CAAB-C359-414F-9EBE-E2BBBA770C57}" presName="composite" presStyleCnt="0"/>
      <dgm:spPr/>
    </dgm:pt>
    <dgm:pt modelId="{0235785C-23BB-4F85-9929-7DF330C28A0D}" type="pres">
      <dgm:prSet presAssocID="{59C0CAAB-C359-414F-9EBE-E2BBBA770C5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713D56-2978-4258-8A42-E62227A6DB41}" type="pres">
      <dgm:prSet presAssocID="{59C0CAAB-C359-414F-9EBE-E2BBBA770C57}" presName="desTx" presStyleLbl="revTx" presStyleIdx="0" presStyleCnt="4">
        <dgm:presLayoutVars>
          <dgm:bulletEnabled val="1"/>
        </dgm:presLayoutVars>
      </dgm:prSet>
      <dgm:spPr/>
    </dgm:pt>
    <dgm:pt modelId="{55E115BC-E985-4CD9-BFF6-16549695A4B9}" type="pres">
      <dgm:prSet presAssocID="{86B9E0A0-D970-4B28-82A2-2AB452DEE631}" presName="space" presStyleCnt="0"/>
      <dgm:spPr/>
    </dgm:pt>
    <dgm:pt modelId="{8EDAF928-487E-4A21-A11E-C2D602F6A19A}" type="pres">
      <dgm:prSet presAssocID="{12D624E8-9FD4-46CD-A5F6-7BBD975F52A5}" presName="composite" presStyleCnt="0"/>
      <dgm:spPr/>
    </dgm:pt>
    <dgm:pt modelId="{625015C1-3350-4650-A14A-472684589BF3}" type="pres">
      <dgm:prSet presAssocID="{12D624E8-9FD4-46CD-A5F6-7BBD975F52A5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118DBF6-40BE-49E4-96EF-332095224298}" type="pres">
      <dgm:prSet presAssocID="{12D624E8-9FD4-46CD-A5F6-7BBD975F52A5}" presName="desTx" presStyleLbl="revTx" presStyleIdx="1" presStyleCnt="4">
        <dgm:presLayoutVars>
          <dgm:bulletEnabled val="1"/>
        </dgm:presLayoutVars>
      </dgm:prSet>
      <dgm:spPr/>
    </dgm:pt>
    <dgm:pt modelId="{EDEEACDA-FF1F-47EA-8D5C-D85C4507A0FE}" type="pres">
      <dgm:prSet presAssocID="{2559CC5C-7DB4-4EAA-8A1E-0A51C94C1958}" presName="space" presStyleCnt="0"/>
      <dgm:spPr/>
    </dgm:pt>
    <dgm:pt modelId="{41410FA0-AA71-417B-86B4-1CD465371BE1}" type="pres">
      <dgm:prSet presAssocID="{C972615C-266F-4104-A9D9-FA7454854C9B}" presName="composite" presStyleCnt="0"/>
      <dgm:spPr/>
    </dgm:pt>
    <dgm:pt modelId="{AEC290E4-8258-4D07-9749-6EEB7838456B}" type="pres">
      <dgm:prSet presAssocID="{C972615C-266F-4104-A9D9-FA7454854C9B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CF85319-ED3D-4334-87B7-5156B634FEDC}" type="pres">
      <dgm:prSet presAssocID="{C972615C-266F-4104-A9D9-FA7454854C9B}" presName="desTx" presStyleLbl="revTx" presStyleIdx="2" presStyleCnt="4">
        <dgm:presLayoutVars>
          <dgm:bulletEnabled val="1"/>
        </dgm:presLayoutVars>
      </dgm:prSet>
      <dgm:spPr/>
    </dgm:pt>
    <dgm:pt modelId="{F93E1F97-9E04-4BEA-8B97-7F4EBFB336D5}" type="pres">
      <dgm:prSet presAssocID="{6698CC74-3758-4924-B43B-BB91141D7B8E}" presName="space" presStyleCnt="0"/>
      <dgm:spPr/>
    </dgm:pt>
    <dgm:pt modelId="{194BE516-319D-4C85-B560-EACED146AD3B}" type="pres">
      <dgm:prSet presAssocID="{83598EAC-9D41-4238-8FAA-262A54E4D3D7}" presName="composite" presStyleCnt="0"/>
      <dgm:spPr/>
    </dgm:pt>
    <dgm:pt modelId="{A104CEEC-F6E1-4AC4-B789-E39E1E6AC551}" type="pres">
      <dgm:prSet presAssocID="{83598EAC-9D41-4238-8FAA-262A54E4D3D7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B40C6FF-0F5D-4E8F-B062-D81C827BD548}" type="pres">
      <dgm:prSet presAssocID="{83598EAC-9D41-4238-8FAA-262A54E4D3D7}" presName="desTx" presStyleLbl="revTx" presStyleIdx="3" presStyleCnt="4">
        <dgm:presLayoutVars>
          <dgm:bulletEnabled val="1"/>
        </dgm:presLayoutVars>
      </dgm:prSet>
      <dgm:spPr/>
    </dgm:pt>
  </dgm:ptLst>
  <dgm:cxnLst>
    <dgm:cxn modelId="{12B09819-4131-4D32-A3F6-ABE390B0B78C}" type="presOf" srcId="{D4EE5007-1D19-4BA6-B992-7183A11E1B87}" destId="{ECF85319-ED3D-4334-87B7-5156B634FEDC}" srcOrd="0" destOrd="0" presId="urn:microsoft.com/office/officeart/2005/8/layout/chevron1"/>
    <dgm:cxn modelId="{09FF2C21-288C-439B-87FF-EA66D6280AC7}" type="presOf" srcId="{5AABB24F-A863-4C45-B3DC-315BAA479CDD}" destId="{3C713D56-2978-4258-8A42-E62227A6DB41}" srcOrd="0" destOrd="0" presId="urn:microsoft.com/office/officeart/2005/8/layout/chevron1"/>
    <dgm:cxn modelId="{FD19C92A-927C-46C7-8323-15C58F218A3C}" type="presOf" srcId="{83598EAC-9D41-4238-8FAA-262A54E4D3D7}" destId="{A104CEEC-F6E1-4AC4-B789-E39E1E6AC551}" srcOrd="0" destOrd="0" presId="urn:microsoft.com/office/officeart/2005/8/layout/chevron1"/>
    <dgm:cxn modelId="{DAC17C2C-2989-43D4-9DE5-F457959104B3}" type="presOf" srcId="{BC3C9C46-24BB-4F63-8836-2F187F9F7AFC}" destId="{AB40C6FF-0F5D-4E8F-B062-D81C827BD548}" srcOrd="0" destOrd="0" presId="urn:microsoft.com/office/officeart/2005/8/layout/chevron1"/>
    <dgm:cxn modelId="{3EF61037-31ED-4D1A-8EF1-12708ABD9B50}" type="presOf" srcId="{8C73AFAB-F86B-4086-92CE-CE50DFDB3083}" destId="{AB40C6FF-0F5D-4E8F-B062-D81C827BD548}" srcOrd="0" destOrd="1" presId="urn:microsoft.com/office/officeart/2005/8/layout/chevron1"/>
    <dgm:cxn modelId="{A2210E3A-78D0-429C-8A78-26DFC1DD916D}" type="presOf" srcId="{A0D29F53-5062-43F9-ACBB-FF65F53526F3}" destId="{1118DBF6-40BE-49E4-96EF-332095224298}" srcOrd="0" destOrd="0" presId="urn:microsoft.com/office/officeart/2005/8/layout/chevron1"/>
    <dgm:cxn modelId="{74538564-0DA0-4169-9B9D-3978AB02C3F1}" srcId="{12D624E8-9FD4-46CD-A5F6-7BBD975F52A5}" destId="{5E9BB26D-7656-4D5F-A55C-7AED4ED8319A}" srcOrd="1" destOrd="0" parTransId="{0C614B57-A0B2-4C0C-80FD-D5D0718B0A9A}" sibTransId="{4ACA3CFB-04BC-4F28-AADC-2E8F1B230FD2}"/>
    <dgm:cxn modelId="{9CCF5952-69EB-492C-A7B6-3CDEA92C309F}" type="presOf" srcId="{766B5D1F-AD31-4D05-9EF1-931C0C9B5ACD}" destId="{74A50D6B-B889-4005-B23F-98365636F625}" srcOrd="0" destOrd="0" presId="urn:microsoft.com/office/officeart/2005/8/layout/chevron1"/>
    <dgm:cxn modelId="{4EC7F780-1E55-4AA4-96A3-B9BED833FB97}" srcId="{766B5D1F-AD31-4D05-9EF1-931C0C9B5ACD}" destId="{C972615C-266F-4104-A9D9-FA7454854C9B}" srcOrd="2" destOrd="0" parTransId="{9CD8043E-4261-4385-B553-2E2A36B6A437}" sibTransId="{6698CC74-3758-4924-B43B-BB91141D7B8E}"/>
    <dgm:cxn modelId="{64CFED81-F5B9-43C8-9EFF-6EBB3BD35E52}" srcId="{766B5D1F-AD31-4D05-9EF1-931C0C9B5ACD}" destId="{83598EAC-9D41-4238-8FAA-262A54E4D3D7}" srcOrd="3" destOrd="0" parTransId="{5CC5456C-E1D2-4245-8BA4-697D737B1C15}" sibTransId="{903D2792-F40E-4813-8611-23FFCE747561}"/>
    <dgm:cxn modelId="{A593B383-E919-431F-AC5A-F92D2DF64B32}" type="presOf" srcId="{59C0CAAB-C359-414F-9EBE-E2BBBA770C57}" destId="{0235785C-23BB-4F85-9929-7DF330C28A0D}" srcOrd="0" destOrd="0" presId="urn:microsoft.com/office/officeart/2005/8/layout/chevron1"/>
    <dgm:cxn modelId="{866B2F92-4D06-49FA-8FD7-9BCE1829CE1C}" srcId="{766B5D1F-AD31-4D05-9EF1-931C0C9B5ACD}" destId="{12D624E8-9FD4-46CD-A5F6-7BBD975F52A5}" srcOrd="1" destOrd="0" parTransId="{2575A650-F35A-4D5D-9A61-5CD59E95F5FE}" sibTransId="{2559CC5C-7DB4-4EAA-8A1E-0A51C94C1958}"/>
    <dgm:cxn modelId="{D8B1C6A7-9EEA-46BE-A87C-6FE8C149DEDD}" srcId="{766B5D1F-AD31-4D05-9EF1-931C0C9B5ACD}" destId="{59C0CAAB-C359-414F-9EBE-E2BBBA770C57}" srcOrd="0" destOrd="0" parTransId="{B39816C2-274E-42DC-927F-09210F350687}" sibTransId="{86B9E0A0-D970-4B28-82A2-2AB452DEE631}"/>
    <dgm:cxn modelId="{CB2AFEB2-D131-4196-9279-B04EED45BC05}" srcId="{83598EAC-9D41-4238-8FAA-262A54E4D3D7}" destId="{8C73AFAB-F86B-4086-92CE-CE50DFDB3083}" srcOrd="1" destOrd="0" parTransId="{9BCF4DF5-CAAD-4628-844D-1472D2EBBC96}" sibTransId="{C06820C8-1717-4589-979C-1B6558E9ADF8}"/>
    <dgm:cxn modelId="{080FECB6-4798-4599-B5A0-06BCB8E56836}" srcId="{83598EAC-9D41-4238-8FAA-262A54E4D3D7}" destId="{BC3C9C46-24BB-4F63-8836-2F187F9F7AFC}" srcOrd="0" destOrd="0" parTransId="{7CC45ABC-3F99-433F-A1C2-0C609CF6777E}" sibTransId="{E387ECFE-A392-4F7E-AE42-145F7FFC813F}"/>
    <dgm:cxn modelId="{D5E13FBD-E083-41AD-8EC4-C45BAE5AB2EF}" srcId="{12D624E8-9FD4-46CD-A5F6-7BBD975F52A5}" destId="{A0D29F53-5062-43F9-ACBB-FF65F53526F3}" srcOrd="0" destOrd="0" parTransId="{993F16DE-3E31-40A3-93A6-C97BF61E8128}" sibTransId="{22F65A34-805A-4D85-977A-36A04B3E7850}"/>
    <dgm:cxn modelId="{5285F5CD-2E8F-4018-87A2-52D3945FD0F5}" type="presOf" srcId="{5E9BB26D-7656-4D5F-A55C-7AED4ED8319A}" destId="{1118DBF6-40BE-49E4-96EF-332095224298}" srcOrd="0" destOrd="1" presId="urn:microsoft.com/office/officeart/2005/8/layout/chevron1"/>
    <dgm:cxn modelId="{133D1AD0-CDF1-4709-9073-6F7C28A95092}" type="presOf" srcId="{12D624E8-9FD4-46CD-A5F6-7BBD975F52A5}" destId="{625015C1-3350-4650-A14A-472684589BF3}" srcOrd="0" destOrd="0" presId="urn:microsoft.com/office/officeart/2005/8/layout/chevron1"/>
    <dgm:cxn modelId="{50C745D4-9540-4191-99BF-B3C14F334493}" srcId="{59C0CAAB-C359-414F-9EBE-E2BBBA770C57}" destId="{5AABB24F-A863-4C45-B3DC-315BAA479CDD}" srcOrd="0" destOrd="0" parTransId="{9DD7E74D-A709-4C91-8253-1518BEE0E863}" sibTransId="{4A6DB5FD-71C3-4E7B-AF04-68228A96C498}"/>
    <dgm:cxn modelId="{A10084E4-5E5C-48AD-ACEE-7B0FF8EDEB77}" type="presOf" srcId="{C972615C-266F-4104-A9D9-FA7454854C9B}" destId="{AEC290E4-8258-4D07-9749-6EEB7838456B}" srcOrd="0" destOrd="0" presId="urn:microsoft.com/office/officeart/2005/8/layout/chevron1"/>
    <dgm:cxn modelId="{87B21AFD-261E-4FD4-9014-554C333EFB43}" srcId="{C972615C-266F-4104-A9D9-FA7454854C9B}" destId="{D4EE5007-1D19-4BA6-B992-7183A11E1B87}" srcOrd="0" destOrd="0" parTransId="{D524293E-5FE7-4158-9753-9F56BE00A88E}" sibTransId="{CD227C79-7C5B-4274-A26A-B6755DB8E80E}"/>
    <dgm:cxn modelId="{91CCB6A5-C815-43FB-93A7-304FBF2E770A}" type="presParOf" srcId="{74A50D6B-B889-4005-B23F-98365636F625}" destId="{5C2C76EB-EB54-497C-BF49-C87303454234}" srcOrd="0" destOrd="0" presId="urn:microsoft.com/office/officeart/2005/8/layout/chevron1"/>
    <dgm:cxn modelId="{E3DFD678-0C73-4061-A1C2-0C9840112E1B}" type="presParOf" srcId="{5C2C76EB-EB54-497C-BF49-C87303454234}" destId="{0235785C-23BB-4F85-9929-7DF330C28A0D}" srcOrd="0" destOrd="0" presId="urn:microsoft.com/office/officeart/2005/8/layout/chevron1"/>
    <dgm:cxn modelId="{E4F52A65-8CCA-4BBA-BAA0-7DB02558D383}" type="presParOf" srcId="{5C2C76EB-EB54-497C-BF49-C87303454234}" destId="{3C713D56-2978-4258-8A42-E62227A6DB41}" srcOrd="1" destOrd="0" presId="urn:microsoft.com/office/officeart/2005/8/layout/chevron1"/>
    <dgm:cxn modelId="{823DCB50-AA17-45EB-947D-D51A0594BD79}" type="presParOf" srcId="{74A50D6B-B889-4005-B23F-98365636F625}" destId="{55E115BC-E985-4CD9-BFF6-16549695A4B9}" srcOrd="1" destOrd="0" presId="urn:microsoft.com/office/officeart/2005/8/layout/chevron1"/>
    <dgm:cxn modelId="{ACAD41F9-09D6-45FA-A7EA-0E460682A072}" type="presParOf" srcId="{74A50D6B-B889-4005-B23F-98365636F625}" destId="{8EDAF928-487E-4A21-A11E-C2D602F6A19A}" srcOrd="2" destOrd="0" presId="urn:microsoft.com/office/officeart/2005/8/layout/chevron1"/>
    <dgm:cxn modelId="{2C9CD4E7-7D5C-49E6-910C-2563D6987633}" type="presParOf" srcId="{8EDAF928-487E-4A21-A11E-C2D602F6A19A}" destId="{625015C1-3350-4650-A14A-472684589BF3}" srcOrd="0" destOrd="0" presId="urn:microsoft.com/office/officeart/2005/8/layout/chevron1"/>
    <dgm:cxn modelId="{B9E616CB-C254-4322-8227-9D1227A465C4}" type="presParOf" srcId="{8EDAF928-487E-4A21-A11E-C2D602F6A19A}" destId="{1118DBF6-40BE-49E4-96EF-332095224298}" srcOrd="1" destOrd="0" presId="urn:microsoft.com/office/officeart/2005/8/layout/chevron1"/>
    <dgm:cxn modelId="{5004F4C3-9BD7-44CF-8934-398C59C20A3F}" type="presParOf" srcId="{74A50D6B-B889-4005-B23F-98365636F625}" destId="{EDEEACDA-FF1F-47EA-8D5C-D85C4507A0FE}" srcOrd="3" destOrd="0" presId="urn:microsoft.com/office/officeart/2005/8/layout/chevron1"/>
    <dgm:cxn modelId="{F54DFFA9-4605-452B-B948-1666A1F47865}" type="presParOf" srcId="{74A50D6B-B889-4005-B23F-98365636F625}" destId="{41410FA0-AA71-417B-86B4-1CD465371BE1}" srcOrd="4" destOrd="0" presId="urn:microsoft.com/office/officeart/2005/8/layout/chevron1"/>
    <dgm:cxn modelId="{74A96580-6874-4EC5-8A36-DC159EA04CB3}" type="presParOf" srcId="{41410FA0-AA71-417B-86B4-1CD465371BE1}" destId="{AEC290E4-8258-4D07-9749-6EEB7838456B}" srcOrd="0" destOrd="0" presId="urn:microsoft.com/office/officeart/2005/8/layout/chevron1"/>
    <dgm:cxn modelId="{9A7F6453-0D19-4B86-B64A-1EDD7554F5EE}" type="presParOf" srcId="{41410FA0-AA71-417B-86B4-1CD465371BE1}" destId="{ECF85319-ED3D-4334-87B7-5156B634FEDC}" srcOrd="1" destOrd="0" presId="urn:microsoft.com/office/officeart/2005/8/layout/chevron1"/>
    <dgm:cxn modelId="{FA8C6951-1289-4F7E-8361-C3E338750F14}" type="presParOf" srcId="{74A50D6B-B889-4005-B23F-98365636F625}" destId="{F93E1F97-9E04-4BEA-8B97-7F4EBFB336D5}" srcOrd="5" destOrd="0" presId="urn:microsoft.com/office/officeart/2005/8/layout/chevron1"/>
    <dgm:cxn modelId="{958803B3-E8E7-48AB-8155-46D1E1F217F9}" type="presParOf" srcId="{74A50D6B-B889-4005-B23F-98365636F625}" destId="{194BE516-319D-4C85-B560-EACED146AD3B}" srcOrd="6" destOrd="0" presId="urn:microsoft.com/office/officeart/2005/8/layout/chevron1"/>
    <dgm:cxn modelId="{77B63CD4-F6C4-48CF-AF10-CF6496042247}" type="presParOf" srcId="{194BE516-319D-4C85-B560-EACED146AD3B}" destId="{A104CEEC-F6E1-4AC4-B789-E39E1E6AC551}" srcOrd="0" destOrd="0" presId="urn:microsoft.com/office/officeart/2005/8/layout/chevron1"/>
    <dgm:cxn modelId="{E081BBAC-BFA1-4B12-8216-AAC1BA394236}" type="presParOf" srcId="{194BE516-319D-4C85-B560-EACED146AD3B}" destId="{AB40C6FF-0F5D-4E8F-B062-D81C827BD548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/>
      <dgm:t>
        <a:bodyPr/>
        <a:lstStyle/>
        <a:p>
          <a:pPr rtl="0"/>
          <a:r>
            <a:rPr lang="en-US" b="1" dirty="0"/>
            <a:t>Software</a:t>
          </a:r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 sequence of codes or instructions</a:t>
          </a:r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Part of the hardware interprets each instruction and generates control signals</a:t>
          </a:r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a new sequence of codes for each new program instead of rewiring the hardware</a:t>
          </a:r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b="1" dirty="0"/>
            <a:t>Major components:</a:t>
          </a:r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Means of reporting results</a:t>
          </a:r>
        </a:p>
      </dgm:t>
    </dgm:pt>
    <dgm:pt modelId="{24FAF873-5FB9-624E-A49D-5B08A05DCBF5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Output module</a:t>
          </a:r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Contains basic components for accepting data and instructions and converting them into an internal form of signals usable by the system</a:t>
          </a:r>
        </a:p>
      </dgm:t>
    </dgm:pt>
    <dgm:pt modelId="{948C7C32-FC71-034A-A9D1-2D2E150E1953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Input module</a:t>
          </a:r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I/O Components</a:t>
          </a:r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Module of general-purpose arithmetic and logic functions</a:t>
          </a:r>
        </a:p>
      </dgm:t>
    </dgm:pt>
    <dgm:pt modelId="{C19AC66C-2A37-8644-927E-F197C32A21CF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Instruction interpreter</a:t>
          </a:r>
        </a:p>
      </dgm:t>
    </dgm:pt>
    <dgm:pt modelId="{CE0386A9-076E-F94F-A620-AD660D7C9972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CPU	</a:t>
          </a:r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E7EB61-D7F6-C840-8532-5709134193A0}">
      <dgm:prSet custT="1"/>
      <dgm:spPr/>
      <dgm:t>
        <a:bodyPr/>
        <a:lstStyle/>
        <a:p>
          <a:pPr rtl="0"/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Memory address register (MAR)</a:t>
          </a: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Specifies the address in memory for the next read or write</a:t>
          </a:r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 custT="1"/>
      <dgm:spPr/>
      <dgm:t>
        <a:bodyPr/>
        <a:lstStyle/>
        <a:p>
          <a:pPr rtl="0"/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Memory buffer register (MBR)</a:t>
          </a: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Contains the data to be written into memory or receives the data read from memory</a:t>
          </a:r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 custT="1"/>
      <dgm:spPr/>
      <dgm:t>
        <a:bodyPr/>
        <a:lstStyle/>
        <a:p>
          <a:pPr rtl="0"/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I/O address register (I/OAR)</a:t>
          </a: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Specifies a particular I/O device</a:t>
          </a:r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 custT="1"/>
      <dgm:spPr/>
      <dgm:t>
        <a:bodyPr/>
        <a:lstStyle/>
        <a:p>
          <a:pPr rtl="0"/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I/O buffer register (I/OBR)</a:t>
          </a: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 custT="1"/>
      <dgm:spPr/>
      <dgm:t>
        <a:bodyPr/>
        <a:lstStyle/>
        <a:p>
          <a:pPr rtl="0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Used for the exchange of data between an I/O module and the CPU</a:t>
          </a:r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</dgm:pt>
    <dgm:pt modelId="{A933435A-1843-9E4D-86D0-607B7423AE6C}" type="pres">
      <dgm:prSet presAssocID="{FD840D2F-108C-BC46-9136-A088744CBC36}" presName="axisShape" presStyleLbl="bgShp" presStyleIdx="0" presStyleCnt="1"/>
      <dgm:spPr/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#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 custT="1"/>
      <dgm:spPr/>
      <dgm:t>
        <a:bodyPr/>
        <a:lstStyle/>
        <a:p>
          <a:pPr rtl="0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transferred from processor to memory or from memory to processor</a:t>
          </a:r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transferred to or from a peripheral device by transferring between the processor and an I/O module</a:t>
          </a:r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The processor may perform some arithmetic or logic operation on data</a:t>
          </a:r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An instruction may specify that the sequence of execution be altered</a:t>
          </a:r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</dgm:pt>
  </dgm:ptLst>
  <dgm:cxnLst>
    <dgm:cxn modelId="{7A752305-7C80-1540-B2FB-727220A5B12C}" type="presOf" srcId="{1C91299F-D68C-9C4C-8BF1-0C6C2FB8035E}" destId="{B6D267FD-09DA-104F-871C-15256C7ADB06}" srcOrd="0" destOrd="0" presId="urn:microsoft.com/office/officeart/2005/8/layout/cycle4#2"/>
    <dgm:cxn modelId="{8C407C0D-A9D8-5D44-8231-9DD120B1B0D3}" type="presOf" srcId="{0D06A67A-239C-4541-B776-902577A3BA9C}" destId="{FB9FD6F2-BE77-E846-84E9-9675E89A206D}" srcOrd="0" destOrd="0" presId="urn:microsoft.com/office/officeart/2005/8/layout/cycle4#2"/>
    <dgm:cxn modelId="{BFE4660F-2DB8-B74F-8891-6433CE762F5F}" type="presOf" srcId="{EEE5115B-CAE8-F943-B4E4-FAB5123A0074}" destId="{9F8AAC68-863D-194A-94BC-958615861BE8}" srcOrd="0" destOrd="0" presId="urn:microsoft.com/office/officeart/2005/8/layout/cycle4#2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93F16417-D8E9-1940-B69E-8EF2DD406196}" type="presOf" srcId="{371D24A7-74FB-C64E-AE86-03FDE598AB8E}" destId="{2255D29E-98A3-2841-959C-001A2E7769D2}" srcOrd="0" destOrd="0" presId="urn:microsoft.com/office/officeart/2005/8/layout/cycle4#2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63914F5F-66B2-1846-844E-799A0D829B25}" type="presOf" srcId="{56D2CB20-CC23-684C-8655-4FCB8BAFA7DF}" destId="{FA7231E4-FE93-2E44-B26F-43C0B0662DE3}" srcOrd="0" destOrd="0" presId="urn:microsoft.com/office/officeart/2005/8/layout/cycle4#2"/>
    <dgm:cxn modelId="{DA1C0643-D727-504B-BAC7-92AB1BFCC012}" type="presOf" srcId="{44BDB83A-6BE0-DD4E-B589-C1A1B2EDE82A}" destId="{E542AEEC-33F8-D74A-9237-79BE96E8F29F}" srcOrd="1" destOrd="0" presId="urn:microsoft.com/office/officeart/2005/8/layout/cycle4#2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698FE556-5753-D842-882A-5B10CD47477D}" type="presOf" srcId="{95800EDA-E360-9B46-86CD-A41851E5E674}" destId="{2776F45E-5FC5-CA43-9A50-D05A48CD1AFA}" srcOrd="0" destOrd="0" presId="urn:microsoft.com/office/officeart/2005/8/layout/cycle4#2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B73B7B97-AFED-5144-9C3A-16AA136C6B7E}" type="presOf" srcId="{44BDB83A-6BE0-DD4E-B589-C1A1B2EDE82A}" destId="{D4B4A3D9-04BB-FF44-A8A8-6AB4DC697EE2}" srcOrd="0" destOrd="0" presId="urn:microsoft.com/office/officeart/2005/8/layout/cycle4#2"/>
    <dgm:cxn modelId="{20BDF09A-E0B2-4543-B281-CB966D66564E}" type="presOf" srcId="{95800EDA-E360-9B46-86CD-A41851E5E674}" destId="{D6C3FA06-5991-2B4C-B5E5-5702BC1D6275}" srcOrd="1" destOrd="0" presId="urn:microsoft.com/office/officeart/2005/8/layout/cycle4#2"/>
    <dgm:cxn modelId="{31B9ED9B-7E55-4640-9FE3-F35FF6AA3F06}" type="presOf" srcId="{56085E4A-5C29-A540-9D55-CE6E6A2B5B2E}" destId="{AB84E314-BABC-734B-A008-40716B08F420}" srcOrd="0" destOrd="0" presId="urn:microsoft.com/office/officeart/2005/8/layout/cycle4#2"/>
    <dgm:cxn modelId="{EFA092A0-7623-D548-B96D-1FFA3F09A22A}" type="presOf" srcId="{A9CC95F7-454C-2046-A231-E04268ABBD1D}" destId="{31728101-0A4A-C148-9CC0-7B417D851487}" srcOrd="0" destOrd="0" presId="urn:microsoft.com/office/officeart/2005/8/layout/cycle4#2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4A106DB6-1D01-0946-AFF9-38C9D01BE88C}" type="presOf" srcId="{EEE5115B-CAE8-F943-B4E4-FAB5123A0074}" destId="{05AADD49-61D9-8140-AE00-C44A70E0E84F}" srcOrd="1" destOrd="0" presId="urn:microsoft.com/office/officeart/2005/8/layout/cycle4#2"/>
    <dgm:cxn modelId="{501121C3-D5BC-1B46-8445-2992FCAD6F21}" type="presOf" srcId="{56D2CB20-CC23-684C-8655-4FCB8BAFA7DF}" destId="{BD2ACE57-62A0-C64E-BB52-93C7869D86BC}" srcOrd="1" destOrd="0" presId="urn:microsoft.com/office/officeart/2005/8/layout/cycle4#2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7E3A6DC6-77E7-2440-B499-99834709B54B}" type="presParOf" srcId="{B6D267FD-09DA-104F-871C-15256C7ADB06}" destId="{93853970-7B39-A749-B247-29573B129C76}" srcOrd="0" destOrd="0" presId="urn:microsoft.com/office/officeart/2005/8/layout/cycle4#2"/>
    <dgm:cxn modelId="{B7AA9606-93C3-E147-8880-EB6D3609674E}" type="presParOf" srcId="{93853970-7B39-A749-B247-29573B129C76}" destId="{D0A02F44-6D2D-E146-BE0D-6F1132160A42}" srcOrd="0" destOrd="0" presId="urn:microsoft.com/office/officeart/2005/8/layout/cycle4#2"/>
    <dgm:cxn modelId="{B14593DA-62A3-F947-9E3D-6ACCFF641C8B}" type="presParOf" srcId="{D0A02F44-6D2D-E146-BE0D-6F1132160A42}" destId="{9F8AAC68-863D-194A-94BC-958615861BE8}" srcOrd="0" destOrd="0" presId="urn:microsoft.com/office/officeart/2005/8/layout/cycle4#2"/>
    <dgm:cxn modelId="{69247437-B2E1-864E-8723-F68430045C8A}" type="presParOf" srcId="{D0A02F44-6D2D-E146-BE0D-6F1132160A42}" destId="{05AADD49-61D9-8140-AE00-C44A70E0E84F}" srcOrd="1" destOrd="0" presId="urn:microsoft.com/office/officeart/2005/8/layout/cycle4#2"/>
    <dgm:cxn modelId="{0382EC10-B2BD-0C4C-95B7-6BE9AD7191CE}" type="presParOf" srcId="{93853970-7B39-A749-B247-29573B129C76}" destId="{62F450E4-2274-264B-BC72-058FC73AD90A}" srcOrd="1" destOrd="0" presId="urn:microsoft.com/office/officeart/2005/8/layout/cycle4#2"/>
    <dgm:cxn modelId="{5D84A803-F0BA-5E4A-A99B-B5404A7ADDE8}" type="presParOf" srcId="{62F450E4-2274-264B-BC72-058FC73AD90A}" destId="{FA7231E4-FE93-2E44-B26F-43C0B0662DE3}" srcOrd="0" destOrd="0" presId="urn:microsoft.com/office/officeart/2005/8/layout/cycle4#2"/>
    <dgm:cxn modelId="{E0651100-2B89-DF48-B4DC-844BE4FAD89E}" type="presParOf" srcId="{62F450E4-2274-264B-BC72-058FC73AD90A}" destId="{BD2ACE57-62A0-C64E-BB52-93C7869D86BC}" srcOrd="1" destOrd="0" presId="urn:microsoft.com/office/officeart/2005/8/layout/cycle4#2"/>
    <dgm:cxn modelId="{9BDFB4DA-BCDD-A94D-A8F8-93BFCB4411EA}" type="presParOf" srcId="{93853970-7B39-A749-B247-29573B129C76}" destId="{55FC0761-B9D6-4B46-BF3A-053217CC174B}" srcOrd="2" destOrd="0" presId="urn:microsoft.com/office/officeart/2005/8/layout/cycle4#2"/>
    <dgm:cxn modelId="{FD2EA69E-66B0-4E45-8691-C8AF95A840D7}" type="presParOf" srcId="{55FC0761-B9D6-4B46-BF3A-053217CC174B}" destId="{D4B4A3D9-04BB-FF44-A8A8-6AB4DC697EE2}" srcOrd="0" destOrd="0" presId="urn:microsoft.com/office/officeart/2005/8/layout/cycle4#2"/>
    <dgm:cxn modelId="{9313B752-6E89-0540-BA5B-2C0D7D9F644E}" type="presParOf" srcId="{55FC0761-B9D6-4B46-BF3A-053217CC174B}" destId="{E542AEEC-33F8-D74A-9237-79BE96E8F29F}" srcOrd="1" destOrd="0" presId="urn:microsoft.com/office/officeart/2005/8/layout/cycle4#2"/>
    <dgm:cxn modelId="{61CA8A5D-3B1E-194F-BE93-01C4C9D216B0}" type="presParOf" srcId="{93853970-7B39-A749-B247-29573B129C76}" destId="{6B38CA4B-4999-B548-B216-AD0083C90448}" srcOrd="3" destOrd="0" presId="urn:microsoft.com/office/officeart/2005/8/layout/cycle4#2"/>
    <dgm:cxn modelId="{88CFFE6F-C36E-224D-9ACC-4E5BA098D6FB}" type="presParOf" srcId="{6B38CA4B-4999-B548-B216-AD0083C90448}" destId="{2776F45E-5FC5-CA43-9A50-D05A48CD1AFA}" srcOrd="0" destOrd="0" presId="urn:microsoft.com/office/officeart/2005/8/layout/cycle4#2"/>
    <dgm:cxn modelId="{28A2609F-2899-EA4C-B00E-15BE69EAECBA}" type="presParOf" srcId="{6B38CA4B-4999-B548-B216-AD0083C90448}" destId="{D6C3FA06-5991-2B4C-B5E5-5702BC1D6275}" srcOrd="1" destOrd="0" presId="urn:microsoft.com/office/officeart/2005/8/layout/cycle4#2"/>
    <dgm:cxn modelId="{472D821B-10C0-7849-B5CD-7409CCEEC401}" type="presParOf" srcId="{93853970-7B39-A749-B247-29573B129C76}" destId="{B415FCCA-89C1-9341-AC53-0F0BCC825EF9}" srcOrd="4" destOrd="0" presId="urn:microsoft.com/office/officeart/2005/8/layout/cycle4#2"/>
    <dgm:cxn modelId="{B41E98BE-2839-ED47-ADB1-2B471CC3D271}" type="presParOf" srcId="{B6D267FD-09DA-104F-871C-15256C7ADB06}" destId="{1DFE690F-4A75-9A42-807D-CD4EAFA70E3B}" srcOrd="1" destOrd="0" presId="urn:microsoft.com/office/officeart/2005/8/layout/cycle4#2"/>
    <dgm:cxn modelId="{5A174453-2D33-6C40-BE9D-BDDF37A844EA}" type="presParOf" srcId="{1DFE690F-4A75-9A42-807D-CD4EAFA70E3B}" destId="{31728101-0A4A-C148-9CC0-7B417D851487}" srcOrd="0" destOrd="0" presId="urn:microsoft.com/office/officeart/2005/8/layout/cycle4#2"/>
    <dgm:cxn modelId="{E455D0BB-999A-E347-951C-F20A59E979E6}" type="presParOf" srcId="{1DFE690F-4A75-9A42-807D-CD4EAFA70E3B}" destId="{FB9FD6F2-BE77-E846-84E9-9675E89A206D}" srcOrd="1" destOrd="0" presId="urn:microsoft.com/office/officeart/2005/8/layout/cycle4#2"/>
    <dgm:cxn modelId="{E7741AB5-AF72-4148-98C6-275779DA5AF4}" type="presParOf" srcId="{1DFE690F-4A75-9A42-807D-CD4EAFA70E3B}" destId="{2255D29E-98A3-2841-959C-001A2E7769D2}" srcOrd="2" destOrd="0" presId="urn:microsoft.com/office/officeart/2005/8/layout/cycle4#2"/>
    <dgm:cxn modelId="{A4383747-58A8-A74B-8503-012016CEF2C8}" type="presParOf" srcId="{1DFE690F-4A75-9A42-807D-CD4EAFA70E3B}" destId="{AB84E314-BABC-734B-A008-40716B08F420}" srcOrd="3" destOrd="0" presId="urn:microsoft.com/office/officeart/2005/8/layout/cycle4#2"/>
    <dgm:cxn modelId="{A5CAA3B4-AA7D-FC48-9D60-150D40C46A40}" type="presParOf" srcId="{1DFE690F-4A75-9A42-807D-CD4EAFA70E3B}" destId="{64B9AD24-1873-5F4F-8C9E-25478E85FA2F}" srcOrd="4" destOrd="0" presId="urn:microsoft.com/office/officeart/2005/8/layout/cycle4#2"/>
    <dgm:cxn modelId="{B56FEBBF-84B8-E848-B121-77178A52560A}" type="presParOf" srcId="{B6D267FD-09DA-104F-871C-15256C7ADB06}" destId="{860CA274-597B-3442-8D13-FB3B68E98947}" srcOrd="2" destOrd="0" presId="urn:microsoft.com/office/officeart/2005/8/layout/cycle4#2"/>
    <dgm:cxn modelId="{BDD6090F-9E61-1A46-B73E-10D24856EEE5}" type="presParOf" srcId="{B6D267FD-09DA-104F-871C-15256C7ADB06}" destId="{49BA8253-F2D2-2C49-AA5B-CEAA3BE354E5}" srcOrd="3" destOrd="0" presId="urn:microsoft.com/office/officeart/2005/8/layout/cycle4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Memory to processor</a:t>
          </a:r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memory</a:t>
          </a:r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processor</a:t>
          </a:r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I/O</a:t>
          </a:r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or from memory</a:t>
          </a:r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</dgm:pt>
    <dgm:pt modelId="{8D70B0D6-0FC4-4B4B-B3A6-877C0FF37A51}" type="pres">
      <dgm:prSet presAssocID="{17553587-2D3D-FC4F-8137-B6F55B24A175}" presName="textNode" presStyleLbl="bgShp" presStyleIdx="0" presStyleCnt="5"/>
      <dgm:spPr/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</dgm:pt>
    <dgm:pt modelId="{7ABC80D2-827C-C244-8E22-58D79F96E4BC}" type="pres">
      <dgm:prSet presAssocID="{0C55DB15-68B7-6846-9986-2C88DD67F02C}" presName="textNode" presStyleLbl="bgShp" presStyleIdx="1" presStyleCnt="5"/>
      <dgm:spPr/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</dgm:pt>
    <dgm:pt modelId="{9FA69D95-BE40-EC4E-979A-EAF928AA7B0B}" type="pres">
      <dgm:prSet presAssocID="{64B1C973-0182-0343-888C-8B1FBF55A968}" presName="textNode" presStyleLbl="bgShp" presStyleIdx="2" presStyleCnt="5"/>
      <dgm:spPr/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</dgm:pt>
    <dgm:pt modelId="{4F4B6C10-CD58-DB43-A37F-24A6FD08ED0F}" type="pres">
      <dgm:prSet presAssocID="{D2A707C6-0E91-8144-BDBE-B55204826D27}" presName="textNode" presStyleLbl="bgShp" presStyleIdx="3" presStyleCnt="5"/>
      <dgm:spPr/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</dgm:pt>
    <dgm:pt modelId="{08CEF94A-E93E-574E-989A-04C40BF07E2B}" type="pres">
      <dgm:prSet presAssocID="{CF04471B-2672-AC42-B681-E03987162B5B}" presName="textNode" presStyleLbl="bgShp" presStyleIdx="4" presStyleCnt="5"/>
      <dgm:spPr/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5785C-23BB-4F85-9929-7DF330C28A0D}">
      <dsp:nvSpPr>
        <dsp:cNvPr id="0" name=""/>
        <dsp:cNvSpPr/>
      </dsp:nvSpPr>
      <dsp:spPr>
        <a:xfrm>
          <a:off x="2531" y="945639"/>
          <a:ext cx="2218134" cy="88725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Program Counter (PC)</a:t>
          </a:r>
        </a:p>
      </dsp:txBody>
      <dsp:txXfrm>
        <a:off x="446158" y="945639"/>
        <a:ext cx="1330881" cy="887253"/>
      </dsp:txXfrm>
    </dsp:sp>
    <dsp:sp modelId="{3C713D56-2978-4258-8A42-E62227A6DB41}">
      <dsp:nvSpPr>
        <dsp:cNvPr id="0" name=""/>
        <dsp:cNvSpPr/>
      </dsp:nvSpPr>
      <dsp:spPr>
        <a:xfrm>
          <a:off x="2531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Holds address of next instruction to fetch</a:t>
          </a:r>
        </a:p>
      </dsp:txBody>
      <dsp:txXfrm>
        <a:off x="2531" y="1943800"/>
        <a:ext cx="1774507" cy="1636523"/>
      </dsp:txXfrm>
    </dsp:sp>
    <dsp:sp modelId="{625015C1-3350-4650-A14A-472684589BF3}">
      <dsp:nvSpPr>
        <dsp:cNvPr id="0" name=""/>
        <dsp:cNvSpPr/>
      </dsp:nvSpPr>
      <dsp:spPr>
        <a:xfrm>
          <a:off x="2004665" y="945639"/>
          <a:ext cx="2218134" cy="88725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Processor</a:t>
          </a:r>
        </a:p>
      </dsp:txBody>
      <dsp:txXfrm>
        <a:off x="2448292" y="945639"/>
        <a:ext cx="1330881" cy="887253"/>
      </dsp:txXfrm>
    </dsp:sp>
    <dsp:sp modelId="{1118DBF6-40BE-49E4-96EF-332095224298}">
      <dsp:nvSpPr>
        <dsp:cNvPr id="0" name=""/>
        <dsp:cNvSpPr/>
      </dsp:nvSpPr>
      <dsp:spPr>
        <a:xfrm>
          <a:off x="2004665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Fetch instruction from memory location pointed to by PC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Increment PC</a:t>
          </a:r>
        </a:p>
      </dsp:txBody>
      <dsp:txXfrm>
        <a:off x="2004665" y="1943800"/>
        <a:ext cx="1774507" cy="1636523"/>
      </dsp:txXfrm>
    </dsp:sp>
    <dsp:sp modelId="{AEC290E4-8258-4D07-9749-6EEB7838456B}">
      <dsp:nvSpPr>
        <dsp:cNvPr id="0" name=""/>
        <dsp:cNvSpPr/>
      </dsp:nvSpPr>
      <dsp:spPr>
        <a:xfrm>
          <a:off x="4006800" y="945639"/>
          <a:ext cx="2218134" cy="88725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Instruction Register (IR)</a:t>
          </a:r>
        </a:p>
      </dsp:txBody>
      <dsp:txXfrm>
        <a:off x="4450427" y="945639"/>
        <a:ext cx="1330881" cy="887253"/>
      </dsp:txXfrm>
    </dsp:sp>
    <dsp:sp modelId="{ECF85319-ED3D-4334-87B7-5156B634FEDC}">
      <dsp:nvSpPr>
        <dsp:cNvPr id="0" name=""/>
        <dsp:cNvSpPr/>
      </dsp:nvSpPr>
      <dsp:spPr>
        <a:xfrm>
          <a:off x="4006800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Load the instruction</a:t>
          </a:r>
        </a:p>
      </dsp:txBody>
      <dsp:txXfrm>
        <a:off x="4006800" y="1943800"/>
        <a:ext cx="1774507" cy="1636523"/>
      </dsp:txXfrm>
    </dsp:sp>
    <dsp:sp modelId="{A104CEEC-F6E1-4AC4-B789-E39E1E6AC551}">
      <dsp:nvSpPr>
        <dsp:cNvPr id="0" name=""/>
        <dsp:cNvSpPr/>
      </dsp:nvSpPr>
      <dsp:spPr>
        <a:xfrm>
          <a:off x="6008934" y="945639"/>
          <a:ext cx="2218134" cy="88725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Processor</a:t>
          </a:r>
        </a:p>
      </dsp:txBody>
      <dsp:txXfrm>
        <a:off x="6452561" y="945639"/>
        <a:ext cx="1330881" cy="887253"/>
      </dsp:txXfrm>
    </dsp:sp>
    <dsp:sp modelId="{AB40C6FF-0F5D-4E8F-B062-D81C827BD548}">
      <dsp:nvSpPr>
        <dsp:cNvPr id="0" name=""/>
        <dsp:cNvSpPr/>
      </dsp:nvSpPr>
      <dsp:spPr>
        <a:xfrm>
          <a:off x="6008934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Interprets instruction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Perform required actions</a:t>
          </a:r>
        </a:p>
      </dsp:txBody>
      <dsp:txXfrm>
        <a:off x="6008934" y="1943800"/>
        <a:ext cx="1774507" cy="1636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41931"/>
          <a:ext cx="6174432" cy="57563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Software</a:t>
          </a:r>
        </a:p>
      </dsp:txBody>
      <dsp:txXfrm>
        <a:off x="28100" y="70031"/>
        <a:ext cx="6118232" cy="519439"/>
      </dsp:txXfrm>
    </dsp:sp>
    <dsp:sp modelId="{13B14588-5A20-EA4F-979E-F796522A9FDC}">
      <dsp:nvSpPr>
        <dsp:cNvPr id="0" name=""/>
        <dsp:cNvSpPr/>
      </dsp:nvSpPr>
      <dsp:spPr>
        <a:xfrm>
          <a:off x="0" y="617571"/>
          <a:ext cx="6174432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038" tIns="25400" rIns="142240" bIns="2540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sequence of codes or instructions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Part of the hardware interprets each instruction and generates control signals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a new sequence of codes for each new program instead of rewiring the hardware</a:t>
          </a:r>
        </a:p>
      </dsp:txBody>
      <dsp:txXfrm>
        <a:off x="0" y="617571"/>
        <a:ext cx="6174432" cy="1490400"/>
      </dsp:txXfrm>
    </dsp:sp>
    <dsp:sp modelId="{759BB5A2-667B-D94C-B06E-5A570D0844D7}">
      <dsp:nvSpPr>
        <dsp:cNvPr id="0" name=""/>
        <dsp:cNvSpPr/>
      </dsp:nvSpPr>
      <dsp:spPr>
        <a:xfrm>
          <a:off x="0" y="2107971"/>
          <a:ext cx="6174432" cy="575639"/>
        </a:xfrm>
        <a:prstGeom prst="round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Major components:</a:t>
          </a:r>
        </a:p>
      </dsp:txBody>
      <dsp:txXfrm>
        <a:off x="28100" y="2136071"/>
        <a:ext cx="6118232" cy="519439"/>
      </dsp:txXfrm>
    </dsp:sp>
    <dsp:sp modelId="{71A7FB0B-C6BF-A948-80B4-3819DEC8407E}">
      <dsp:nvSpPr>
        <dsp:cNvPr id="0" name=""/>
        <dsp:cNvSpPr/>
      </dsp:nvSpPr>
      <dsp:spPr>
        <a:xfrm>
          <a:off x="0" y="2683611"/>
          <a:ext cx="6174432" cy="337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038" tIns="25400" rIns="142240" bIns="2540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CPU	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Instruction interpreter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Module of general-purpose arithmetic and logic functions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I/O Components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 module</a:t>
          </a:r>
        </a:p>
        <a:p>
          <a:pPr marL="685800" lvl="3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Contains basic components for accepting data and instructions and converting them into an internal form of signals usable by the system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 module</a:t>
          </a:r>
        </a:p>
        <a:p>
          <a:pPr marL="685800" lvl="3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Means of reporting results</a:t>
          </a:r>
        </a:p>
      </dsp:txBody>
      <dsp:txXfrm>
        <a:off x="0" y="2683611"/>
        <a:ext cx="6174432" cy="3378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478296" y="0"/>
          <a:ext cx="6172199" cy="617219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879489" y="401192"/>
          <a:ext cx="2468879" cy="24688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Memory address register (MAR)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Specifies the address in memory for the next read or write</a:t>
          </a:r>
        </a:p>
      </dsp:txBody>
      <dsp:txXfrm>
        <a:off x="1000010" y="521713"/>
        <a:ext cx="2227837" cy="2227837"/>
      </dsp:txXfrm>
    </dsp:sp>
    <dsp:sp modelId="{97999900-43C2-D54D-B582-06A49E5B2881}">
      <dsp:nvSpPr>
        <dsp:cNvPr id="0" name=""/>
        <dsp:cNvSpPr/>
      </dsp:nvSpPr>
      <dsp:spPr>
        <a:xfrm>
          <a:off x="3780422" y="401192"/>
          <a:ext cx="2468879" cy="246887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Memory buffer register (MBR)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Contains the data to be written into memory or receives the data read from memory</a:t>
          </a:r>
        </a:p>
      </dsp:txBody>
      <dsp:txXfrm>
        <a:off x="3900943" y="521713"/>
        <a:ext cx="2227837" cy="2227837"/>
      </dsp:txXfrm>
    </dsp:sp>
    <dsp:sp modelId="{FE6EC989-1B64-3F42-878F-156D7B406D89}">
      <dsp:nvSpPr>
        <dsp:cNvPr id="0" name=""/>
        <dsp:cNvSpPr/>
      </dsp:nvSpPr>
      <dsp:spPr>
        <a:xfrm>
          <a:off x="879489" y="3302126"/>
          <a:ext cx="2468879" cy="246887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I/O address register (I/OAR)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Specifies a particular I/O device</a:t>
          </a:r>
        </a:p>
      </dsp:txBody>
      <dsp:txXfrm>
        <a:off x="1000010" y="3422647"/>
        <a:ext cx="2227837" cy="2227837"/>
      </dsp:txXfrm>
    </dsp:sp>
    <dsp:sp modelId="{646D4236-03AD-7E41-8503-EF196816C95A}">
      <dsp:nvSpPr>
        <dsp:cNvPr id="0" name=""/>
        <dsp:cNvSpPr/>
      </dsp:nvSpPr>
      <dsp:spPr>
        <a:xfrm>
          <a:off x="3780422" y="3302126"/>
          <a:ext cx="2468879" cy="24688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I/O buffer register (I/OBR)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for the exchange of data between an I/O module and the CPU</a:t>
          </a:r>
        </a:p>
      </dsp:txBody>
      <dsp:txXfrm>
        <a:off x="3900943" y="3422647"/>
        <a:ext cx="2227837" cy="2227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6649421" y="3769614"/>
          <a:ext cx="2738513" cy="1773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processor may perform some arithmetic or logic operation on data</a:t>
          </a:r>
        </a:p>
      </dsp:txBody>
      <dsp:txXfrm>
        <a:off x="7509943" y="4252065"/>
        <a:ext cx="1839023" cy="1252516"/>
      </dsp:txXfrm>
    </dsp:sp>
    <dsp:sp modelId="{2776F45E-5FC5-CA43-9A50-D05A48CD1AFA}">
      <dsp:nvSpPr>
        <dsp:cNvPr id="0" name=""/>
        <dsp:cNvSpPr/>
      </dsp:nvSpPr>
      <dsp:spPr>
        <a:xfrm>
          <a:off x="1929130" y="3769614"/>
          <a:ext cx="2738513" cy="1773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 instruction may specify that the sequence of execution be altered</a:t>
          </a:r>
        </a:p>
      </dsp:txBody>
      <dsp:txXfrm>
        <a:off x="1968098" y="4252065"/>
        <a:ext cx="1839023" cy="1252516"/>
      </dsp:txXfrm>
    </dsp:sp>
    <dsp:sp modelId="{FA7231E4-FE93-2E44-B26F-43C0B0662DE3}">
      <dsp:nvSpPr>
        <dsp:cNvPr id="0" name=""/>
        <dsp:cNvSpPr/>
      </dsp:nvSpPr>
      <dsp:spPr>
        <a:xfrm>
          <a:off x="6397231" y="0"/>
          <a:ext cx="2738513" cy="1773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transferred to or from a peripheral device by transferring between the processor and an I/O module</a:t>
          </a:r>
        </a:p>
      </dsp:txBody>
      <dsp:txXfrm>
        <a:off x="7257753" y="38968"/>
        <a:ext cx="1839023" cy="1252516"/>
      </dsp:txXfrm>
    </dsp:sp>
    <dsp:sp modelId="{9F8AAC68-863D-194A-94BC-958615861BE8}">
      <dsp:nvSpPr>
        <dsp:cNvPr id="0" name=""/>
        <dsp:cNvSpPr/>
      </dsp:nvSpPr>
      <dsp:spPr>
        <a:xfrm>
          <a:off x="1929130" y="0"/>
          <a:ext cx="2738513" cy="1773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transferred from processor to memory or from memory to processor</a:t>
          </a:r>
        </a:p>
      </dsp:txBody>
      <dsp:txXfrm>
        <a:off x="1968098" y="38968"/>
        <a:ext cx="1839023" cy="1252516"/>
      </dsp:txXfrm>
    </dsp:sp>
    <dsp:sp modelId="{31728101-0A4A-C148-9CC0-7B417D851487}">
      <dsp:nvSpPr>
        <dsp:cNvPr id="0" name=""/>
        <dsp:cNvSpPr/>
      </dsp:nvSpPr>
      <dsp:spPr>
        <a:xfrm>
          <a:off x="3076644" y="315982"/>
          <a:ext cx="2400357" cy="2400357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sp:txBody>
      <dsp:txXfrm>
        <a:off x="3779692" y="1019030"/>
        <a:ext cx="1697309" cy="1697309"/>
      </dsp:txXfrm>
    </dsp:sp>
    <dsp:sp modelId="{FB9FD6F2-BE77-E846-84E9-9675E89A206D}">
      <dsp:nvSpPr>
        <dsp:cNvPr id="0" name=""/>
        <dsp:cNvSpPr/>
      </dsp:nvSpPr>
      <dsp:spPr>
        <a:xfrm rot="5400000">
          <a:off x="5587873" y="315982"/>
          <a:ext cx="2400357" cy="2400357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sp:txBody>
      <dsp:txXfrm rot="-5400000">
        <a:off x="5587873" y="1019030"/>
        <a:ext cx="1697309" cy="1697309"/>
      </dsp:txXfrm>
    </dsp:sp>
    <dsp:sp modelId="{2255D29E-98A3-2841-959C-001A2E7769D2}">
      <dsp:nvSpPr>
        <dsp:cNvPr id="0" name=""/>
        <dsp:cNvSpPr/>
      </dsp:nvSpPr>
      <dsp:spPr>
        <a:xfrm rot="10800000">
          <a:off x="5587873" y="2827210"/>
          <a:ext cx="2400357" cy="2400357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5587873" y="2827210"/>
        <a:ext cx="1697309" cy="1697309"/>
      </dsp:txXfrm>
    </dsp:sp>
    <dsp:sp modelId="{AB84E314-BABC-734B-A008-40716B08F420}">
      <dsp:nvSpPr>
        <dsp:cNvPr id="0" name=""/>
        <dsp:cNvSpPr/>
      </dsp:nvSpPr>
      <dsp:spPr>
        <a:xfrm rot="16200000">
          <a:off x="3076644" y="2827210"/>
          <a:ext cx="2400357" cy="2400357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5400000">
        <a:off x="3779692" y="2827210"/>
        <a:ext cx="1697309" cy="1697309"/>
      </dsp:txXfrm>
    </dsp:sp>
    <dsp:sp modelId="{860CA274-597B-3442-8D13-FB3B68E98947}">
      <dsp:nvSpPr>
        <dsp:cNvPr id="0" name=""/>
        <dsp:cNvSpPr/>
      </dsp:nvSpPr>
      <dsp:spPr>
        <a:xfrm>
          <a:off x="5118057" y="2272855"/>
          <a:ext cx="828760" cy="720661"/>
        </a:xfrm>
        <a:prstGeom prst="circularArrow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5118057" y="2550033"/>
          <a:ext cx="828760" cy="720661"/>
        </a:xfrm>
        <a:prstGeom prst="circularArrow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872" y="0"/>
          <a:ext cx="1709965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Memory to processor</a:t>
          </a:r>
        </a:p>
      </dsp:txBody>
      <dsp:txXfrm>
        <a:off x="4872" y="0"/>
        <a:ext cx="1709965" cy="1554480"/>
      </dsp:txXfrm>
    </dsp:sp>
    <dsp:sp modelId="{7A289841-0DFA-DC40-B41C-1ABB1BB9507C}">
      <dsp:nvSpPr>
        <dsp:cNvPr id="0" name=""/>
        <dsp:cNvSpPr/>
      </dsp:nvSpPr>
      <dsp:spPr>
        <a:xfrm>
          <a:off x="175869" y="1554480"/>
          <a:ext cx="1367972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sp:txBody>
      <dsp:txXfrm>
        <a:off x="215936" y="1594547"/>
        <a:ext cx="1287838" cy="3287906"/>
      </dsp:txXfrm>
    </dsp:sp>
    <dsp:sp modelId="{B2BA994D-30F9-6C41-A55D-ED7B7441E20B}">
      <dsp:nvSpPr>
        <dsp:cNvPr id="0" name=""/>
        <dsp:cNvSpPr/>
      </dsp:nvSpPr>
      <dsp:spPr>
        <a:xfrm>
          <a:off x="1843085" y="0"/>
          <a:ext cx="1709965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Processor to memory</a:t>
          </a:r>
        </a:p>
      </dsp:txBody>
      <dsp:txXfrm>
        <a:off x="1843085" y="0"/>
        <a:ext cx="1709965" cy="1554480"/>
      </dsp:txXfrm>
    </dsp:sp>
    <dsp:sp modelId="{FFF01117-2D73-4C4A-8AA2-26B5E57EA22A}">
      <dsp:nvSpPr>
        <dsp:cNvPr id="0" name=""/>
        <dsp:cNvSpPr/>
      </dsp:nvSpPr>
      <dsp:spPr>
        <a:xfrm>
          <a:off x="2014082" y="1554480"/>
          <a:ext cx="1367972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sp:txBody>
      <dsp:txXfrm>
        <a:off x="2054149" y="1594547"/>
        <a:ext cx="1287838" cy="3287906"/>
      </dsp:txXfrm>
    </dsp:sp>
    <dsp:sp modelId="{723A76A5-AF66-704D-89E4-E12C687128C3}">
      <dsp:nvSpPr>
        <dsp:cNvPr id="0" name=""/>
        <dsp:cNvSpPr/>
      </dsp:nvSpPr>
      <dsp:spPr>
        <a:xfrm>
          <a:off x="3681298" y="0"/>
          <a:ext cx="1709965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I/O to processor</a:t>
          </a:r>
        </a:p>
      </dsp:txBody>
      <dsp:txXfrm>
        <a:off x="3681298" y="0"/>
        <a:ext cx="1709965" cy="1554480"/>
      </dsp:txXfrm>
    </dsp:sp>
    <dsp:sp modelId="{F3794D44-2421-604F-9FD1-6C436C8561DE}">
      <dsp:nvSpPr>
        <dsp:cNvPr id="0" name=""/>
        <dsp:cNvSpPr/>
      </dsp:nvSpPr>
      <dsp:spPr>
        <a:xfrm>
          <a:off x="3852294" y="1554480"/>
          <a:ext cx="1367972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sp:txBody>
      <dsp:txXfrm>
        <a:off x="3892361" y="1594547"/>
        <a:ext cx="1287838" cy="3287906"/>
      </dsp:txXfrm>
    </dsp:sp>
    <dsp:sp modelId="{9E9C8D55-3148-6340-864D-ABBC62D922A9}">
      <dsp:nvSpPr>
        <dsp:cNvPr id="0" name=""/>
        <dsp:cNvSpPr/>
      </dsp:nvSpPr>
      <dsp:spPr>
        <a:xfrm>
          <a:off x="5519511" y="0"/>
          <a:ext cx="1709965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Processor to I/O</a:t>
          </a:r>
        </a:p>
      </dsp:txBody>
      <dsp:txXfrm>
        <a:off x="5519511" y="0"/>
        <a:ext cx="1709965" cy="1554480"/>
      </dsp:txXfrm>
    </dsp:sp>
    <dsp:sp modelId="{548D6EDE-B8B3-C746-B02A-81D3EAD378CC}">
      <dsp:nvSpPr>
        <dsp:cNvPr id="0" name=""/>
        <dsp:cNvSpPr/>
      </dsp:nvSpPr>
      <dsp:spPr>
        <a:xfrm>
          <a:off x="5690507" y="1554480"/>
          <a:ext cx="1367972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sp:txBody>
      <dsp:txXfrm>
        <a:off x="5730574" y="1594547"/>
        <a:ext cx="1287838" cy="3287906"/>
      </dsp:txXfrm>
    </dsp:sp>
    <dsp:sp modelId="{D2904A41-28E5-B841-BDD0-D02AAA21D5D0}">
      <dsp:nvSpPr>
        <dsp:cNvPr id="0" name=""/>
        <dsp:cNvSpPr/>
      </dsp:nvSpPr>
      <dsp:spPr>
        <a:xfrm>
          <a:off x="7357723" y="0"/>
          <a:ext cx="1709965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I/O to or from memory</a:t>
          </a:r>
        </a:p>
      </dsp:txBody>
      <dsp:txXfrm>
        <a:off x="7357723" y="0"/>
        <a:ext cx="1709965" cy="1554480"/>
      </dsp:txXfrm>
    </dsp:sp>
    <dsp:sp modelId="{CB75F928-42A8-694A-BAC0-2BC29682B0C3}">
      <dsp:nvSpPr>
        <dsp:cNvPr id="0" name=""/>
        <dsp:cNvSpPr/>
      </dsp:nvSpPr>
      <dsp:spPr>
        <a:xfrm>
          <a:off x="7528720" y="1554480"/>
          <a:ext cx="1367972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68787" y="1594547"/>
        <a:ext cx="1287838" cy="3287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#2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96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847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85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consider this alternative. Suppose we construct a general-purpose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arithmetic and logic functions. This set of hardware will perform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various functions on data depending on control signals applied to the hardware.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original case of customized hardware, the system accepts data and produces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results (Figure 3.1a). With general-purpose hardware, the system accepts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and produces results. Thus,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the programmer merely needs to supply a new set of control signals.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shall control signals be supplied? The answer is simple but subtle.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entire program is actually a sequence of steps. At each step, some arithmetic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logical operation is performed on some data. For each step, a new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 is needed. Let us provide a unique code for each possible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signals, and let us add to the general-purpose hardware a segment that can accept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and generate control signals (Figure 3.1b).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8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Programming is now much easier.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all we need to do is provide a new sequence of codes. Each code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is, in effect, an instruction, and part of the hardware interprets each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generates control signals. To distinguish this new method of programming,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codes or instructions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software.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3.1b indicates two major components of the system: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interpreter and a module of general-purpose arithmetic and logic functions.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constitute the CPU. Several other components are needed to yield a functioning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computer. Data and instructions must be put into the system. For this we need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sort of input module. This module contains basic components for accepting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instructions in some form and converting them into an internal form of signals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usable by the system. A means of reporting results is needed, and this is in the 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an output module. Taken together, these are referred to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78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more component is needed. An input device will bring instructions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in sequentially. But a program is not invariably executed sequentially; it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jump around (e.g., the IAS jump instruction). Similarly, operations on data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 access to more than just one element at a time in a predetermined sequence.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there must be a place to store temporarily both instructions and data.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or main memory,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distinguish it from external storage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devices. Von Neumann pointed out that the same memory could be used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store both instructions and data.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CPU exchanges data with memory. For this purpose, it typically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makes use of two internal (to the CPU) registers: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 register (MAR),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specifies the address in memory for the next read or write, and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register (MBR),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contains the data to be written into memory or receives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read from memory. Similarly, an I/O address register (I/OAR) specifies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particular I/O device. An I/O buffer (I/OBR) register is used for the exchange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between an I/O module and the CPU.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58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beginning of each instruction cycle, the processor fetches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 In a typical processor, a register called the program counter (PC)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holds the address of the instruction to be fetched next. Unless told otherwise,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always increments the PC after each instruction fetch so that it will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next instruction in sequence (i.e., the instruction located at the next higher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address). So, for example, consider a computer in which each instruction occupies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16-bit word of memory. Assume that the program counter is set to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300, where the location address refers to a 16-bit word.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fetch the instruction at location 300. On succeeding instruction cycles, it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instructions from locations 301, 302, 303, and so on. This sequence may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altered, as explained presently.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fetched instruction is loaded into a register in the processor known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instruction register (IR). The instruction contains bits that specify the action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is to take. The processor interprets the instruction and performs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action.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965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 illustrates these top-level components and suggests the interactions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among them.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module consists of a set of locations, defined by sequentially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numbered addresses. Each location contains a binary number that can be interpreted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either an instruction or data. An I/O module transfers data from external devices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CPU and memory, and vice versa. It contains internal buffers for temporarily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holding these data until they can be sent 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5362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The basic function performed by a computer is execution of a program, which consists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set of instructions stored in memory. The processor does the actual work by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executing instructions specified in the program. This section provides an overview of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key elements of program execution. In its simplest form, instruction processing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steps: The processor reads (fetches ) instructions from memory one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and executes each instruction. Program execution consists of repeating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 of instruction fetch and instruction execution. The instruction execution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involve several operations and depends on the nature of the instruction (see, for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example, the lower portion of Figure 2.4).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processing required for a single instruction is called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cycle.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 simplified two-step description given previously, the instruction cycle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depicted in Figure 3.3. The two steps are referred to as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execution halts only if the machine is turned off, some sort of unrecoverable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occurs, or a program instruction that halts the computer is encountered.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5878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these actions fall into four categories: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from processor to memory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 to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to or from a peripheral device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transferring between the processor and an I/O 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may perform some arithmetic or logic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data.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 may specify that the sequence of execution be altered.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the processor may fetch an instruction from location 149, which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specifies that the next instruction be from location 182.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remember this fact by setting the program counter to 182. Thus, on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cycle, the instruction will be fetched from location 182 rather than 150.</a:t>
            </a:r>
            <a:endParaRPr lang="en-GB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instruction’s execution may involve a combination of these 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09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a simple example using a hypothetical machine that includes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characteristics listed in Figure 3.4. The processor contains a single data register,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an accumulator (AC). Both instructions and data are 16 bits long. Thus,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convenient to organize memory using 16-bit words. The instruction format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bits for the opcode, so that there can be as many as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16 different opcodes,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 to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4096 (4K) words of memory can be directly addressed.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201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3.5 illustrates a partial program execution, showing the relevant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portions of memory and processor registers. The program fragment shown adds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contents of the memory word at address 940 to the contents of the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at address 941 and stores the result in the latter location. Three instructions,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can be described as three fetch and three execute cycles, are required: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The PC contains 300, the address of the first instruction. This instruction (the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1940 in hexadecimal) is loaded into the instruction register IR,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PC is incremented. Note that this process involves the use of a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register and a memory buffer register. For simplicity, these intermediate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are ignored.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The first 4 bits (first hexadecimal digit) in the IR indicate that the AC is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loaded. The remaining 12 bits (three hexadecimal digits) specify the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(940) from which data are to be loaded.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The next instruction (5941) is fetched from location 301,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4. The old contents of the AC and the contents of location 941 are added, and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stored in the AC.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5. The next instruction (2941) is fetched from location 302,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6. The contents of the AC are stored in location 941.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example, three instruction cycles, each consisting of a fetch cycle and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cycle, are needed to add the contents of location 940 to the contents of 941.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a more complex set of instructions, fewer cycles would be needed. Some older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processors, for example, included instructions that contain more than one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Thus, the execution cycle for a particular instruction on such processors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more than one reference to memory. Also, instead of memory references,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may specify an I/O operation.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619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03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cycle for a particular instruction may involve more than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reference to memory. Also, instead of memory references, an instruction may specify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operation. With these additional considerations in mind, Figure 3.6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detailed look at the basic instruction cycle of Figure 3.3. The figure is in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 of a state diagram.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any given instruction cycle, some states may be null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others may be visited more than once. The states can be described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address calculation (iac):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 the address of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be executed. Usually, this involves adding a fixed number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the previous instruction. For example, if each instruction is 16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long and memory is organized into 16-bit words, then add 1 to the previous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If, instead, memory is organized as individually addressable 8-bit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bytes, then add 2 to the previous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fetch (if):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instruction from its memory location into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operation decoding (iod):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Analyze instruction to determine type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operation to be performed and operand(s) to be used.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address calculation (oac):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the operation involves reference to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in memory or available via I/O, then determine the address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fetch (of):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the operand from memory or read it in from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operation (do):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the operation indicated in the instruction.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store (os):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the result into memory or out to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States in the upper part of Figure 3.6 involve an exchange between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and either memory or an I/O module. States in the lower part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involve only internal processor operations. The oac state appears twice,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an instruction may involve a read, a write, or both. However, the action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that state is fundamentally the same in both cases, and so only a single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identifier is needed.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note that the diagram allows for multiple operands and multiple results,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some instructions on some machines require this. For example, the PDP-11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 A,B results in the following sequence of states: iac, if, iod, oac, of,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oac, of, do, oac, os.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on some machines, a single instruction can specify an operation to be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vector (one-dimensional array) of numbers or a string (one-dimensional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array) of characters. As Figure 3.6 indicates, this would involve repetitive operand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and/or store operations.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3503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874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Virtually all computers provide a mechanism by which other modules (I/O, memory)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normal processing of the processor. Table 3.1 lists the most common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classes of interrupts. The specific nature of these interrupts is examined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later in this book, especially in Chapters 7 and 14. However, we need to introduce the concept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to understand more clearly the nature of the instruction cycle and the implications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interrupts on the interconnection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86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the point of view of the user program, an interrupt is just that: an interruption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normal sequence of execution. When the interrupt processing is completed,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resumes (Figure 3.8). Thus, the user program does not have to contain any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special code to accommodate interrupts; the processor and the operating system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suspending the user program and then resuming it at the same point.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43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provided primarily as a way to improve processing efficiency.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most external devices are much slower than the processor. Suppose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the processor is transferring data to a printer using the instruction cycle scheme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Figure 3.3. After each write operation, the processor must pause and remain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idle until the printer catches up. The length of this pause may be on the order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hundreds or even thousands of instruction cycles that do not involve memory.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this is a very wasteful use of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3.7a illustrates this state of affairs. The user program performs a series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WRITE calls interleaved with processing. Code segments 1, 2, and 3 refer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sequences of instructions that do not involve I/O. The WRITE calls are to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that is a system utility and that will perform the actual I/O operation.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consists of three sections: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4 in the figure, to prepare for the actual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operation. This may include copying the data to be output into a special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and preparing the parameters for a device command.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actual I/O command. Without the use of interrupts, once this command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issued, the program must wait for the I/O device to perform the requested function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(or periodically poll the device). The program might wait by simply repeatedly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performing a test operation to determine if the I/O operation is done.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5 in the figure, to complete the operation.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may include setting a flag indicating the success or failure of the operation.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I/O operation may take a relatively long time to complete,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is hung up waiting for the operation to complete; hence, the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stopped at the point of the WRITE call for some considerable period of time.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interrupts, the processor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engaged in executing other instructions while an I/O operation is in progress.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the flow of control in Figure 3.7b. As before, the user program reaches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 at which it makes a system call in the form of a WRITE call. The I/O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is invoked in this case consists only of the preparation code and the actual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command. After these few instructions have been executed, control returns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program. Meanwhile, the external device is busy accepting data from computer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and printing it. This I/O operation is conducted concurrently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of instructions in the user program.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external device becomes ready to be serviced—that is, when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ready to accept more data from the processor—the I/O module for that external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sends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 to the processor. The processor responds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suspending operation of the current program, branching off to a program to service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particular I/O device, known as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resuming the original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after the device is serviced. The points at which such interrupts occur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indicated by an asterisk in Figure 3.7b.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Let us try to clarify what is happening in Figure 3.7. We have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contains two WRITE commands. There is a segment of code at the beginning,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then one WRITE command, then a second segment of code, then a second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command, then a third and final segment of code. The WRITE command invokes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provided by the OS. Similarly, the I/O program consists of a segment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code, followed by an I/O command, followed by another segment of code.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invokes a hardware I/O operation.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393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079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accommodate interrupts,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added to the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as shown in Figure 3.9. In the interrupt cycle, the processor checks to see if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any interrupts have occurred, indicated by the presence of an interrupt signal. If no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pending, the processor proceeds to the fetch cycle and fetches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instruction of the current program. If an interrupt is pending,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does the following: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suspends execution of the current program being executed and saves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context. This means saving the address of the next instruction to be executed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(current contents of the program counter) and any other data relevant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processor’s current activity.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sets the program counter to the starting address of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now proceeds to the fetch cycle and fetches the first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interrupt handler program, which will service the interrupt.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handler program is generally part of the operating system. Typically, this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nature of the interrupt and performs whatever actions are needed.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example we have been using, the handler determines which I/O module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generated the interrupt and may branch to a program that will write more data 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that I/O module. When the interrupt handler routine is completed,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resume execution of the user program at the point of interruption.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clear that there is some overhead involved in this process. Extra instructions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executed (in the interrupt handler) to determine the nature of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to decide on the appropriate action. Nevertheless, because of the relatively large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amount of time that would be wasted by simply waiting on an I/O operation,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can be employed much more efficiently with the use of interrupts.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87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3.12 shows a revised instruction cycle state diagram that includes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processing.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2686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682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approaches can be taken to dealing with multiple interrupts. The first is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 interrupts while an interrupt is being processed.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disabled 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means that the processor can and will ignore that interrupt request signal. If an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during this time, it generally remains pending and will be checked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after the processor has enabled interrupts. Thus, when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executing and an interrupt occurs, interrupts are disabled immediately. After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 completes, interrupts are enabled before resuming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program, and the processor checks to see if additional interrupts have occurred.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approach is nice and simple, as interrupts are handled in strict sequential order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 3.13a).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drawback to the preceding approach is that it does not take into account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 priority or time-critical needs. For example, when input arrives from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line, it may need to be absorbed rapidly to make room for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input. If the first batch of input has not been processed before the second batch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arrives, data may be lost.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second approach is to define priorities for interrupts and to allow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of higher priority to cause a lower-priority interrupt handler to be itself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interrupted (Figure 3.13b).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914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example of this second approach, consider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with three I/O devices: a printer, a disk, and a communications line,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increasing priorities of 2, 4, and 5, respectively. Figure 3.14 illustrates a possible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sequence. A user program begins at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0. At t = 10,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printer interrupt occurs; user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is placed on the system stack and execution continues at the printer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service routine (ISR).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While this routine is still executing, at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15,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interrupt occurs. Because the communications line has higher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priority than the printer, the interrupt is honored. The printer ISR is interrupted,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state is pushed onto the stack, and execution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continues at the communications ISR. While this routine is executing, a disk interrupt 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20). Because this 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is of lower priority, it is simply held, and the communications ISR runs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completion.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communications ISR is complete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25), the previous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is restored, which is the execution of the printer ISR. However, before even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 instruction in that routine can be executed, the processor honors the higher priority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disk interrupt and control transfers to the disk ISR. Only when that routine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complete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35) is the printer ISR resumed. When that routine completes (t = 40),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finally returns to the user program.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4956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7189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098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computer consists of a set of components or modules of three basic types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(processor, memory, I/O) that communicate with each other. In effect, a computer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network of basic modules. Thus, there must be paths for connecting the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collection of paths connecting the various modules is called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of this structure will depend on the exchanges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made among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3.15 suggests the types of exchanges that are needed by indicating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major forms of input and output for each module type: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memory module will consist of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words of equal length.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word is assigned a unique numerical address (0,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- 1). A word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can be read from or written into the memory. The nature of the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indicated by read and write control signals. The location for the operation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specified by an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module: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an internal (to the computer system) point of view,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functionally similar to memory. There are two operations, read and write.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Further, an I/O module may control more than one external device. We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 to each of the interfaces to an external device as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give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unique address (e.g., 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- 1)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In addition, there are external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paths for the input and output of data with an external device. Finally,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may be able to send interrupt signals to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in instructions and data, writes out data after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processing, and uses control signals to control the overall operation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system. It also receives interrupt signals.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810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preceding list defines the data to be exchanged.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must support the following types of transfers: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an instruction or a unit of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writes a unit of data to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data from an I/O device via an I/O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sends data to the I/O device.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or from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two cases, an I/O module is allowed to exchange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directly with memory, without going through the processor, 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memory access.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the years, a number of interconnection structures have been tried.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far the most common are (1) the bus and various multiple-bus structures, and (2)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 with packetized data transfer. We devote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remainder of this chapter for a discussion of these structures.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5248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99929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line is assigned a particular meaning or function. Although there are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different bus designs, on any bus the lines can be classified into three functional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groups (Figure 3.16): data, address, and control lines. In addition, there may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power distribution lines that supply power to the attached modules.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operation of the bus is as follows. If one module wishes to send data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another, it must do two things: (1) obtain the use of the bus, and (2) transfer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via the bus. If one module wishes to request data from another module, it must (1)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obtain the use of the bus, and (2) transfer a request to the other module over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appropriate control and address lines. It must then wait for that second module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send the data.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6557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528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Chapter </a:t>
            </a:r>
            <a:r>
              <a:rPr lang="en-GB"/>
              <a:t>3 homework.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891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7D64E-63B5-46AF-BA2C-646E925248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C79A-6C27-4DAE-80A0-D4EF0CCC9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7D64E-63B5-46AF-BA2C-646E925248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C79A-6C27-4DAE-80A0-D4EF0CCC9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1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7D64E-63B5-46AF-BA2C-646E925248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C79A-6C27-4DAE-80A0-D4EF0CCC9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5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6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622D0-2813-48E2-B5F2-1A6868F3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0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90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4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2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7D64E-63B5-46AF-BA2C-646E925248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2C79A-6C27-4DAE-80A0-D4EF0CCC918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7" y="1"/>
            <a:ext cx="695457" cy="52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1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5975" y="1380530"/>
            <a:ext cx="8115300" cy="1790700"/>
          </a:xfrm>
        </p:spPr>
        <p:txBody>
          <a:bodyPr>
            <a:normAutofit/>
          </a:bodyPr>
          <a:lstStyle/>
          <a:p>
            <a:r>
              <a:rPr lang="en-US" sz="3000" dirty="0"/>
              <a:t>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&amp; Assembly Language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/>
              <a:t> </a:t>
            </a:r>
            <a:br>
              <a:rPr lang="en-US" sz="3000" dirty="0"/>
            </a:br>
            <a:r>
              <a:rPr lang="en-US" sz="3000" b="1" dirty="0"/>
              <a:t>CSC-250</a:t>
            </a:r>
            <a:endParaRPr lang="en-US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571280"/>
            <a:ext cx="6858000" cy="1241822"/>
          </a:xfrm>
        </p:spPr>
        <p:txBody>
          <a:bodyPr>
            <a:normAutofit fontScale="70000" lnSpcReduction="2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LECTURE </a:t>
            </a:r>
          </a:p>
          <a:p>
            <a:endParaRPr lang="en-US" dirty="0"/>
          </a:p>
          <a:p>
            <a:r>
              <a:rPr lang="en-US" sz="2100" dirty="0"/>
              <a:t>COMPUTER SCIENCE DEPARTMENT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SIBAU KANDHKOT CAMPUS</a:t>
            </a:r>
          </a:p>
        </p:txBody>
      </p:sp>
    </p:spTree>
    <p:extLst>
      <p:ext uri="{BB962C8B-B14F-4D97-AF65-F5344CB8AC3E}">
        <p14:creationId xmlns:p14="http://schemas.microsoft.com/office/powerpoint/2010/main" val="307708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450" y="2226469"/>
            <a:ext cx="7581900" cy="361235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Computer Components</a:t>
            </a:r>
          </a:p>
          <a:p>
            <a:endParaRPr lang="en-US" dirty="0"/>
          </a:p>
          <a:p>
            <a:r>
              <a:rPr lang="en-US" dirty="0"/>
              <a:t>Computer Function </a:t>
            </a:r>
          </a:p>
          <a:p>
            <a:endParaRPr lang="en-US" dirty="0"/>
          </a:p>
          <a:p>
            <a:r>
              <a:rPr lang="en-US" dirty="0"/>
              <a:t>Interconnection Structure</a:t>
            </a:r>
          </a:p>
          <a:p>
            <a:endParaRPr lang="en-US" dirty="0"/>
          </a:p>
          <a:p>
            <a:r>
              <a:rPr lang="en-US" dirty="0"/>
              <a:t>BUS Interconnection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PCI </a:t>
            </a:r>
          </a:p>
        </p:txBody>
      </p:sp>
    </p:spTree>
    <p:extLst>
      <p:ext uri="{BB962C8B-B14F-4D97-AF65-F5344CB8AC3E}">
        <p14:creationId xmlns:p14="http://schemas.microsoft.com/office/powerpoint/2010/main" val="232084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450" y="365127"/>
            <a:ext cx="7581900" cy="831626"/>
          </a:xfrm>
        </p:spPr>
        <p:txBody>
          <a:bodyPr/>
          <a:lstStyle/>
          <a:p>
            <a:r>
              <a:rPr lang="en-US" dirty="0"/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1305256" cy="5472607"/>
          </a:xfrm>
        </p:spPr>
        <p:txBody>
          <a:bodyPr>
            <a:noAutofit/>
          </a:bodyPr>
          <a:lstStyle/>
          <a:p>
            <a:r>
              <a:rPr lang="en-US" sz="2000" dirty="0"/>
              <a:t>A computer is a complex device containing many sub-systems. Each sub-system is a piece of computer hardware (or part of a piece of computer hardware.) </a:t>
            </a:r>
          </a:p>
          <a:p>
            <a:endParaRPr lang="en-US" sz="2000" dirty="0"/>
          </a:p>
          <a:p>
            <a:r>
              <a:rPr lang="en-US" sz="2000" dirty="0"/>
              <a:t>How these pieces interact is called the "Computer Architecture". The hard of a computer includes: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CPU - the ?brain? of the computer</a:t>
            </a:r>
          </a:p>
          <a:p>
            <a:r>
              <a:rPr lang="en-US" sz="2000" dirty="0"/>
              <a:t>Motherboard - The spine of the computer</a:t>
            </a:r>
          </a:p>
          <a:p>
            <a:r>
              <a:rPr lang="en-US" sz="2000" dirty="0"/>
              <a:t>Power Supply - the ?stomach? of the computer</a:t>
            </a:r>
          </a:p>
          <a:p>
            <a:r>
              <a:rPr lang="en-US" sz="2000" dirty="0"/>
              <a:t>BUS - "trucks" data around the computer</a:t>
            </a:r>
          </a:p>
          <a:p>
            <a:r>
              <a:rPr lang="en-US" sz="2000" dirty="0"/>
              <a:t>Clock - tells the CPU to start the next instruction</a:t>
            </a:r>
          </a:p>
          <a:p>
            <a:r>
              <a:rPr lang="en-US" sz="2000" dirty="0"/>
              <a:t>Network Card - the ?cell phone? of the computer</a:t>
            </a:r>
          </a:p>
          <a:p>
            <a:r>
              <a:rPr lang="en-US" sz="2000" dirty="0"/>
              <a:t>Monitor - the ?face? of the computer</a:t>
            </a:r>
          </a:p>
          <a:p>
            <a:r>
              <a:rPr lang="en-US" sz="2000" dirty="0"/>
              <a:t>Fans - computers can cook food, they are so hot. We must cool them down.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674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8191822" cy="903634"/>
          </a:xfrm>
        </p:spPr>
        <p:txBody>
          <a:bodyPr/>
          <a:lstStyle/>
          <a:p>
            <a:r>
              <a:rPr lang="en-US" dirty="0"/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412777"/>
            <a:ext cx="9793088" cy="5112567"/>
          </a:xfrm>
        </p:spPr>
        <p:txBody>
          <a:bodyPr>
            <a:normAutofit/>
          </a:bodyPr>
          <a:lstStyle/>
          <a:p>
            <a:r>
              <a:rPr lang="en-US" sz="2000" dirty="0"/>
              <a:t>virtually all contemporary computer designs are based on concepts developed by John von Neumann at the Institute for Advanced Studies, Princeton. Such a design is referred to as the </a:t>
            </a:r>
            <a:r>
              <a:rPr lang="en-US" sz="2000" i="1" dirty="0"/>
              <a:t>von Neumann architecture </a:t>
            </a:r>
            <a:r>
              <a:rPr lang="en-US" sz="2000" dirty="0"/>
              <a:t>and is based on three key concepts:</a:t>
            </a:r>
          </a:p>
          <a:p>
            <a:endParaRPr lang="en-US" sz="2000" dirty="0"/>
          </a:p>
          <a:p>
            <a:r>
              <a:rPr lang="en-US" sz="2000" dirty="0"/>
              <a:t> Data and instructions are stored in a single read–write memory.</a:t>
            </a:r>
          </a:p>
          <a:p>
            <a:endParaRPr lang="en-US" sz="2000" dirty="0"/>
          </a:p>
          <a:p>
            <a:r>
              <a:rPr lang="en-US" sz="2000" dirty="0"/>
              <a:t> The contents of this memory are addressable by location, without regard to the type of data contained there.</a:t>
            </a:r>
          </a:p>
          <a:p>
            <a:endParaRPr lang="en-US" sz="2000" dirty="0"/>
          </a:p>
          <a:p>
            <a:r>
              <a:rPr lang="en-US" sz="2000" dirty="0"/>
              <a:t>Execution occurs in a sequential fashion (unless explicitly modified) from </a:t>
            </a:r>
            <a:r>
              <a:rPr lang="en-US" sz="2000" dirty="0" err="1"/>
              <a:t>oneinstruction</a:t>
            </a:r>
            <a:r>
              <a:rPr lang="en-US" sz="2000" dirty="0"/>
              <a:t> to the next.</a:t>
            </a:r>
          </a:p>
        </p:txBody>
      </p:sp>
    </p:spTree>
    <p:extLst>
      <p:ext uri="{BB962C8B-B14F-4D97-AF65-F5344CB8AC3E}">
        <p14:creationId xmlns:p14="http://schemas.microsoft.com/office/powerpoint/2010/main" val="378152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700808"/>
            <a:ext cx="8590012" cy="4248472"/>
          </a:xfrm>
        </p:spPr>
        <p:txBody>
          <a:bodyPr>
            <a:noAutofit/>
          </a:bodyPr>
          <a:lstStyle/>
          <a:p>
            <a:r>
              <a:rPr lang="en-US" sz="2000" dirty="0"/>
              <a:t>Memory</a:t>
            </a:r>
          </a:p>
          <a:p>
            <a:r>
              <a:rPr lang="en-US" sz="2000" dirty="0"/>
              <a:t> Memory Layers</a:t>
            </a:r>
          </a:p>
          <a:p>
            <a:r>
              <a:rPr lang="en-US" sz="2000" dirty="0"/>
              <a:t>Registers (1 clock cycle)</a:t>
            </a:r>
          </a:p>
          <a:p>
            <a:r>
              <a:rPr lang="en-US" sz="2000" dirty="0"/>
              <a:t>Primary Cache: ~1 </a:t>
            </a:r>
            <a:r>
              <a:rPr lang="en-US" sz="2000" dirty="0" err="1"/>
              <a:t>nano</a:t>
            </a:r>
            <a:r>
              <a:rPr lang="en-US" sz="2000" dirty="0"/>
              <a:t>-second cache primary</a:t>
            </a:r>
          </a:p>
          <a:p>
            <a:r>
              <a:rPr lang="en-US" sz="2000" dirty="0"/>
              <a:t>Secondary Cache: 10 </a:t>
            </a:r>
            <a:r>
              <a:rPr lang="en-US" sz="2000" dirty="0" err="1"/>
              <a:t>nano</a:t>
            </a:r>
            <a:r>
              <a:rPr lang="en-US" sz="2000" dirty="0"/>
              <a:t>-seconds</a:t>
            </a:r>
          </a:p>
          <a:p>
            <a:r>
              <a:rPr lang="en-US" sz="2000" dirty="0"/>
              <a:t>fast RAM: 70 nanoseconds or less</a:t>
            </a:r>
          </a:p>
          <a:p>
            <a:r>
              <a:rPr lang="en-US" sz="2000" dirty="0"/>
              <a:t>fast disk: 10 milliseconds (10,000,000 nanoseconds)</a:t>
            </a:r>
          </a:p>
          <a:p>
            <a:r>
              <a:rPr lang="en-US" sz="2000" dirty="0"/>
              <a:t>CD/DVD: 160 milliseconds (160,000,000 </a:t>
            </a:r>
            <a:r>
              <a:rPr lang="en-US" dirty="0"/>
              <a:t>nanoseconds)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4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25952" cy="4351338"/>
          </a:xfrm>
        </p:spPr>
        <p:txBody>
          <a:bodyPr/>
          <a:lstStyle/>
          <a:p>
            <a:r>
              <a:rPr lang="en-US" sz="2400" dirty="0"/>
              <a:t>IO Devices</a:t>
            </a:r>
          </a:p>
          <a:p>
            <a:r>
              <a:rPr lang="en-US" sz="2400" dirty="0"/>
              <a:t>CPU</a:t>
            </a:r>
          </a:p>
          <a:p>
            <a:r>
              <a:rPr lang="en-US" sz="2400" dirty="0"/>
              <a:t>Memory</a:t>
            </a:r>
          </a:p>
          <a:p>
            <a:r>
              <a:rPr lang="en-US" sz="2400" dirty="0"/>
              <a:t>Graphics Card / Monitor</a:t>
            </a:r>
          </a:p>
          <a:p>
            <a:r>
              <a:rPr lang="en-US" sz="2400" dirty="0"/>
              <a:t>Keyboard</a:t>
            </a:r>
          </a:p>
          <a:p>
            <a:r>
              <a:rPr lang="en-US" sz="2400" dirty="0"/>
              <a:t>Disk Drive</a:t>
            </a:r>
          </a:p>
          <a:p>
            <a:r>
              <a:rPr lang="en-US" sz="2400" dirty="0"/>
              <a:t>Tape Backup</a:t>
            </a:r>
          </a:p>
          <a:p>
            <a:r>
              <a:rPr lang="en-US" sz="2400" dirty="0"/>
              <a:t>CD ROM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01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332656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676400"/>
            <a:ext cx="10513168" cy="4724400"/>
          </a:xfrm>
        </p:spPr>
        <p:txBody>
          <a:bodyPr>
            <a:normAutofit lnSpcReduction="10000"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200" dirty="0"/>
              <a:t>Originally computers used a </a:t>
            </a:r>
            <a:r>
              <a:rPr lang="en-US" sz="2200" i="1" dirty="0"/>
              <a:t>Hardwired program</a:t>
            </a:r>
          </a:p>
          <a:p>
            <a:pPr lvl="1"/>
            <a:r>
              <a:rPr lang="en-US" sz="2200" dirty="0"/>
              <a:t>The result of the process of connecting the various components in the desired configuration</a:t>
            </a:r>
          </a:p>
          <a:p>
            <a:pPr lvl="1"/>
            <a:r>
              <a:rPr lang="en-US" sz="2200" dirty="0"/>
              <a:t>The computer must be rewired to run a different program</a:t>
            </a:r>
          </a:p>
          <a:p>
            <a:pPr marL="342900" lvl="1" indent="0">
              <a:buNone/>
            </a:pPr>
            <a:endParaRPr lang="en-US" sz="2200" dirty="0"/>
          </a:p>
          <a:p>
            <a:r>
              <a:rPr lang="en-US" sz="2200" dirty="0"/>
              <a:t>Contemporary computer designs are based on concepts developed by John von Neumann at the Institute for Advanced Studies, Princeton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Referred to as the </a:t>
            </a:r>
            <a:r>
              <a:rPr lang="en-US" sz="2200" i="1" dirty="0"/>
              <a:t>von Neumann architecture </a:t>
            </a:r>
            <a:r>
              <a:rPr lang="en-US" sz="2200" dirty="0"/>
              <a:t>it has three key concepts:</a:t>
            </a:r>
          </a:p>
          <a:p>
            <a:pPr lvl="1"/>
            <a:r>
              <a:rPr lang="en-US" sz="2200" dirty="0"/>
              <a:t>Data and instructions are stored in a single read-write memory</a:t>
            </a:r>
          </a:p>
          <a:p>
            <a:pPr lvl="1"/>
            <a:r>
              <a:rPr lang="en-US" sz="2200" dirty="0"/>
              <a:t>The contents of this memory are addressable by location, without regard to the type of data contained there</a:t>
            </a:r>
          </a:p>
          <a:p>
            <a:pPr lvl="1"/>
            <a:r>
              <a:rPr lang="en-US" sz="2200" dirty="0"/>
              <a:t>Execution occurs in a sequential fashion (unless explicitly modified) from one instruction to the next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program?</a:t>
            </a:r>
          </a:p>
        </p:txBody>
      </p:sp>
      <p:sp>
        <p:nvSpPr>
          <p:cNvPr id="7" name="Rectangle 6"/>
          <p:cNvSpPr/>
          <p:nvPr/>
        </p:nvSpPr>
        <p:spPr>
          <a:xfrm>
            <a:off x="3137612" y="1828800"/>
            <a:ext cx="6006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sequence of </a:t>
            </a:r>
            <a:r>
              <a:rPr lang="en-US" sz="5400" b="1" u="sng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accent1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steps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5271212" y="3048000"/>
            <a:ext cx="3352800" cy="1219200"/>
          </a:xfrm>
          <a:prstGeom prst="borderCallout1">
            <a:avLst>
              <a:gd name="adj1" fmla="val -1705"/>
              <a:gd name="adj2" fmla="val 93712"/>
              <a:gd name="adj3" fmla="val -36526"/>
              <a:gd name="adj4" fmla="val 935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arithmetic or logical </a:t>
            </a:r>
            <a:r>
              <a:rPr lang="en-US" sz="2800" u="sng" dirty="0"/>
              <a:t>operation</a:t>
            </a:r>
            <a:r>
              <a:rPr lang="en-US" sz="2800" dirty="0"/>
              <a:t> is done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2971800" y="4495800"/>
            <a:ext cx="3886200" cy="1219200"/>
          </a:xfrm>
          <a:prstGeom prst="borderCallout1">
            <a:avLst>
              <a:gd name="adj1" fmla="val -1705"/>
              <a:gd name="adj2" fmla="val 93712"/>
              <a:gd name="adj3" fmla="val -36526"/>
              <a:gd name="adj4" fmla="val 93502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 different set of </a:t>
            </a:r>
          </a:p>
          <a:p>
            <a:pPr algn="ctr"/>
            <a:r>
              <a:rPr lang="en-US" sz="2800" u="sng" dirty="0">
                <a:solidFill>
                  <a:schemeClr val="tx1"/>
                </a:solidFill>
              </a:rPr>
              <a:t>control signals</a:t>
            </a:r>
            <a:r>
              <a:rPr lang="en-US" sz="2800" dirty="0">
                <a:solidFill>
                  <a:schemeClr val="tx1"/>
                </a:solidFill>
              </a:rPr>
              <a:t> is needed</a:t>
            </a:r>
          </a:p>
        </p:txBody>
      </p:sp>
    </p:spTree>
    <p:extLst>
      <p:ext uri="{BB962C8B-B14F-4D97-AF65-F5344CB8AC3E}">
        <p14:creationId xmlns:p14="http://schemas.microsoft.com/office/powerpoint/2010/main" val="190169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of Control Unit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219200"/>
          </a:xfrm>
        </p:spPr>
        <p:txBody>
          <a:bodyPr/>
          <a:lstStyle/>
          <a:p>
            <a:r>
              <a:rPr lang="en-US" dirty="0"/>
              <a:t>A unique code for each operation</a:t>
            </a:r>
          </a:p>
          <a:p>
            <a:pPr lvl="1"/>
            <a:r>
              <a:rPr lang="en-US" dirty="0"/>
              <a:t>Example: ADD,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0" y="3200400"/>
            <a:ext cx="1447800" cy="212370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 Segment</a:t>
            </a:r>
          </a:p>
        </p:txBody>
      </p:sp>
      <p:sp>
        <p:nvSpPr>
          <p:cNvPr id="9" name="Left Arrow 8"/>
          <p:cNvSpPr/>
          <p:nvPr/>
        </p:nvSpPr>
        <p:spPr>
          <a:xfrm flipH="1">
            <a:off x="6934200" y="3686175"/>
            <a:ext cx="2978224" cy="13270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Issues control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7648" y="3695700"/>
            <a:ext cx="2253952" cy="1133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 codes </a:t>
            </a:r>
          </a:p>
        </p:txBody>
      </p:sp>
    </p:spTree>
    <p:extLst>
      <p:ext uri="{BB962C8B-B14F-4D97-AF65-F5344CB8AC3E}">
        <p14:creationId xmlns:p14="http://schemas.microsoft.com/office/powerpoint/2010/main" val="365676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/>
          <a:lstStyle/>
          <a:p>
            <a:r>
              <a:rPr lang="en-US" dirty="0"/>
              <a:t>Computer Components</a:t>
            </a:r>
          </a:p>
        </p:txBody>
      </p:sp>
      <p:sp>
        <p:nvSpPr>
          <p:cNvPr id="66" name="Content Placeholder 65"/>
          <p:cNvSpPr>
            <a:spLocks noGrp="1"/>
          </p:cNvSpPr>
          <p:nvPr>
            <p:ph idx="4294967295"/>
          </p:nvPr>
        </p:nvSpPr>
        <p:spPr>
          <a:xfrm>
            <a:off x="10363200" y="1600200"/>
            <a:ext cx="1828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PC</a:t>
            </a:r>
            <a:r>
              <a:rPr lang="en-US" sz="1800" dirty="0"/>
              <a:t> = Program Counter</a:t>
            </a:r>
          </a:p>
          <a:p>
            <a:pPr marL="0" indent="0">
              <a:buNone/>
            </a:pPr>
            <a:r>
              <a:rPr lang="en-US" sz="1800" b="1" dirty="0"/>
              <a:t>IR</a:t>
            </a:r>
            <a:r>
              <a:rPr lang="en-US" sz="1800" dirty="0"/>
              <a:t> = Instruction Register</a:t>
            </a:r>
          </a:p>
          <a:p>
            <a:pPr marL="0" indent="0">
              <a:buNone/>
            </a:pPr>
            <a:r>
              <a:rPr lang="en-US" sz="1800" b="1" dirty="0"/>
              <a:t>MAR</a:t>
            </a:r>
            <a:r>
              <a:rPr lang="en-US" sz="1800" dirty="0"/>
              <a:t> = Memory Address Register</a:t>
            </a:r>
          </a:p>
          <a:p>
            <a:pPr marL="0" indent="0">
              <a:buNone/>
            </a:pPr>
            <a:r>
              <a:rPr lang="en-US" sz="1800" b="1" dirty="0"/>
              <a:t>MBR</a:t>
            </a:r>
            <a:r>
              <a:rPr lang="en-US" sz="1800" dirty="0"/>
              <a:t> = Memory Buffer Register</a:t>
            </a:r>
          </a:p>
          <a:p>
            <a:pPr marL="0" indent="0">
              <a:buNone/>
            </a:pPr>
            <a:r>
              <a:rPr lang="en-US" sz="1800" b="1" dirty="0"/>
              <a:t>I/O AR </a:t>
            </a:r>
            <a:r>
              <a:rPr lang="en-US" sz="1800" dirty="0"/>
              <a:t>= Input/Output Address Register</a:t>
            </a:r>
          </a:p>
          <a:p>
            <a:pPr marL="0" indent="0">
              <a:buNone/>
            </a:pPr>
            <a:r>
              <a:rPr lang="en-US" sz="1800" b="1" dirty="0"/>
              <a:t>I/O BR </a:t>
            </a:r>
            <a:r>
              <a:rPr lang="en-US" sz="1800" dirty="0"/>
              <a:t>= Input/Output Buffer Register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55441" y="1196752"/>
            <a:ext cx="7065304" cy="5400600"/>
            <a:chOff x="152400" y="1752600"/>
            <a:chExt cx="3823368" cy="4191000"/>
          </a:xfrm>
        </p:grpSpPr>
        <p:sp>
          <p:nvSpPr>
            <p:cNvPr id="9" name="Oval 5" descr="50%"/>
            <p:cNvSpPr>
              <a:spLocks noChangeArrowheads="1"/>
            </p:cNvSpPr>
            <p:nvPr/>
          </p:nvSpPr>
          <p:spPr bwMode="auto">
            <a:xfrm>
              <a:off x="152400" y="1752600"/>
              <a:ext cx="3823368" cy="41910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lIns="90000" tIns="46800" rIns="90000" bIns="46800" anchor="ctr"/>
            <a:lstStyle/>
            <a:p>
              <a:pPr algn="ctr" eaLnBrk="0" hangingPunct="0"/>
              <a:endParaRPr lang="en-GB" sz="1600" dirty="0">
                <a:latin typeface="Arial" charset="0"/>
              </a:endParaRP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2785738" y="1982244"/>
              <a:ext cx="788186" cy="337639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r"/>
              <a:r>
                <a:rPr lang="en-US" sz="2000" dirty="0">
                  <a:latin typeface="Arial" charset="0"/>
                </a:rPr>
                <a:t>Computer</a:t>
              </a:r>
              <a:endParaRPr lang="en-US" sz="1600" dirty="0">
                <a:latin typeface="Arial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188972" y="1727276"/>
            <a:ext cx="3105028" cy="2481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800" dirty="0"/>
              <a:t>Central Processing Unit (CPU)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8972" y="4638800"/>
            <a:ext cx="2916427" cy="15739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Module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Buffers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5943601" y="2373607"/>
            <a:ext cx="2071759" cy="3262812"/>
            <a:chOff x="4419600" y="2373607"/>
            <a:chExt cx="2177143" cy="3262812"/>
          </a:xfrm>
        </p:grpSpPr>
        <p:sp>
          <p:nvSpPr>
            <p:cNvPr id="11" name="Rectangle 10"/>
            <p:cNvSpPr/>
            <p:nvPr/>
          </p:nvSpPr>
          <p:spPr>
            <a:xfrm>
              <a:off x="4419600" y="2373607"/>
              <a:ext cx="1752600" cy="32628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Main Memory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19600" y="3505200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Instruction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463143" y="2590800"/>
              <a:ext cx="1752600" cy="533400"/>
              <a:chOff x="6400800" y="2514600"/>
              <a:chExt cx="1752600" cy="5334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4455720" y="3733800"/>
              <a:ext cx="1752600" cy="533400"/>
              <a:chOff x="6400800" y="2514600"/>
              <a:chExt cx="1752600" cy="5334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sp>
          <p:nvSpPr>
            <p:cNvPr id="42" name="Rectangle 41"/>
            <p:cNvSpPr/>
            <p:nvPr/>
          </p:nvSpPr>
          <p:spPr>
            <a:xfrm>
              <a:off x="4419600" y="3124200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Instruction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419600" y="4257799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19600" y="4638799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Data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4443351" y="5019799"/>
              <a:ext cx="1752600" cy="533400"/>
              <a:chOff x="6400800" y="2514600"/>
              <a:chExt cx="1752600" cy="533400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6215742" y="2857500"/>
              <a:ext cx="381001" cy="21622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2438402" y="22364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86200" y="22364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73335" y="2731298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MBR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2" y="3193506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86201" y="3673407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BR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8402" y="27698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8401" y="3384006"/>
            <a:ext cx="990599" cy="6337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Execution Unit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3124200" y="5181600"/>
            <a:ext cx="1752600" cy="533400"/>
            <a:chOff x="6400800" y="2514600"/>
            <a:chExt cx="1752600" cy="533400"/>
          </a:xfrm>
        </p:grpSpPr>
        <p:sp>
          <p:nvSpPr>
            <p:cNvPr id="63" name="Rectangle 62"/>
            <p:cNvSpPr/>
            <p:nvPr/>
          </p:nvSpPr>
          <p:spPr>
            <a:xfrm>
              <a:off x="6400800" y="25908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.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00800" y="25146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.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400800" y="26670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105398" y="2967784"/>
            <a:ext cx="838202" cy="2457976"/>
            <a:chOff x="3581398" y="2967784"/>
            <a:chExt cx="838202" cy="2457976"/>
          </a:xfrm>
        </p:grpSpPr>
        <p:cxnSp>
          <p:nvCxnSpPr>
            <p:cNvPr id="69" name="Elbow Connector 68"/>
            <p:cNvCxnSpPr>
              <a:stCxn id="12" idx="3"/>
              <a:endCxn id="42" idx="1"/>
            </p:cNvCxnSpPr>
            <p:nvPr/>
          </p:nvCxnSpPr>
          <p:spPr>
            <a:xfrm>
              <a:off x="3770000" y="2967784"/>
              <a:ext cx="649600" cy="346916"/>
            </a:xfrm>
            <a:prstGeom prst="bentConnector3">
              <a:avLst/>
            </a:prstGeom>
            <a:ln w="76200"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>
              <a:stCxn id="42" idx="1"/>
              <a:endCxn id="13" idx="3"/>
            </p:cNvCxnSpPr>
            <p:nvPr/>
          </p:nvCxnSpPr>
          <p:spPr>
            <a:xfrm rot="10800000" flipV="1">
              <a:off x="3581398" y="3314700"/>
              <a:ext cx="838202" cy="2111060"/>
            </a:xfrm>
            <a:prstGeom prst="bentConnector3">
              <a:avLst/>
            </a:prstGeom>
            <a:ln w="76200"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5167670" y="2236494"/>
            <a:ext cx="713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System</a:t>
            </a:r>
          </a:p>
          <a:p>
            <a:pPr algn="ctr"/>
            <a:r>
              <a:rPr lang="en-US" sz="1400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305969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  <p:bldP spid="12" grpId="0" animBg="1"/>
      <p:bldP spid="1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Cycle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586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>
            <a:stCxn id="12" idx="2"/>
            <a:endCxn id="3" idx="3"/>
          </p:cNvCxnSpPr>
          <p:nvPr/>
        </p:nvCxnSpPr>
        <p:spPr>
          <a:xfrm flipH="1">
            <a:off x="4038600" y="3994769"/>
            <a:ext cx="83820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0"/>
            <a:endCxn id="21" idx="2"/>
          </p:cNvCxnSpPr>
          <p:nvPr/>
        </p:nvCxnSpPr>
        <p:spPr>
          <a:xfrm flipH="1" flipV="1">
            <a:off x="6063217" y="2514600"/>
            <a:ext cx="1" cy="52193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2" idx="6"/>
            <a:endCxn id="22" idx="1"/>
          </p:cNvCxnSpPr>
          <p:nvPr/>
        </p:nvCxnSpPr>
        <p:spPr>
          <a:xfrm>
            <a:off x="7249634" y="3994769"/>
            <a:ext cx="75136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23" idx="0"/>
          </p:cNvCxnSpPr>
          <p:nvPr/>
        </p:nvCxnSpPr>
        <p:spPr>
          <a:xfrm>
            <a:off x="6063217" y="4953000"/>
            <a:ext cx="0" cy="4572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3537569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-Memory</a:t>
            </a:r>
          </a:p>
        </p:txBody>
      </p:sp>
      <p:sp>
        <p:nvSpPr>
          <p:cNvPr id="12" name="Oval 11"/>
          <p:cNvSpPr/>
          <p:nvPr/>
        </p:nvSpPr>
        <p:spPr>
          <a:xfrm>
            <a:off x="4876801" y="3036538"/>
            <a:ext cx="2372833" cy="191646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Execution 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4516" y="1600200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 I/O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537569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4517" y="5410200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6874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601292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p:blipFill>
          <a:blip r:embed="rId3"/>
          <a:srcRect l="16471" t="9091" r="15294" b="8182"/>
          <a:stretch>
            <a:fillRect/>
          </a:stretch>
        </p:blipFill>
        <p:spPr>
          <a:xfrm>
            <a:off x="3647728" y="332656"/>
            <a:ext cx="7416824" cy="628193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5800" y="2667000"/>
            <a:ext cx="2057400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838281464"/>
              </p:ext>
            </p:extLst>
          </p:nvPr>
        </p:nvGraphicFramePr>
        <p:xfrm>
          <a:off x="2207568" y="404664"/>
          <a:ext cx="6174432" cy="6103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8305800" y="990601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628379" y="4724402"/>
            <a:ext cx="429021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1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05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  <p:graphicFrame>
        <p:nvGraphicFramePr>
          <p:cNvPr id="51" name="Diagram 50"/>
          <p:cNvGraphicFramePr/>
          <p:nvPr>
            <p:extLst>
              <p:ext uri="{D42A27DB-BD31-4B8C-83A1-F6EECF244321}">
                <p14:modId xmlns:p14="http://schemas.microsoft.com/office/powerpoint/2010/main" val="3751090584"/>
              </p:ext>
            </p:extLst>
          </p:nvPr>
        </p:nvGraphicFramePr>
        <p:xfrm>
          <a:off x="1055440" y="203201"/>
          <a:ext cx="7128792" cy="6172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8305800" y="3048001"/>
            <a:ext cx="2057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2600" y="914402"/>
            <a:ext cx="159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8544272" y="4437112"/>
            <a:ext cx="20162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MBR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1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905000"/>
            <a:ext cx="9762158" cy="4953000"/>
          </a:xfrm>
        </p:spPr>
        <p:txBody>
          <a:bodyPr>
            <a:normAutofit/>
          </a:bodyPr>
          <a:lstStyle/>
          <a:p>
            <a:r>
              <a:rPr lang="en-US" sz="2000" dirty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increments the PC after each instruction fetch so that it will fetch the next instruction in sequence</a:t>
            </a:r>
          </a:p>
          <a:p>
            <a:r>
              <a:rPr lang="en-US" sz="2000" dirty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interprets the instruction and performs the required 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800" y="5016500"/>
            <a:ext cx="18542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0" b="17677"/>
          <a:stretch/>
        </p:blipFill>
        <p:spPr>
          <a:xfrm>
            <a:off x="2495601" y="-73088"/>
            <a:ext cx="6923453" cy="674244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3" b="28787"/>
          <a:stretch/>
        </p:blipFill>
        <p:spPr>
          <a:xfrm>
            <a:off x="1524000" y="2708921"/>
            <a:ext cx="9036496" cy="3456384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8793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Cycle/Execute Cycle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022474" y="1600200"/>
            <a:ext cx="7426326" cy="495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</a:rPr>
              <a:t>We will expand and add details to these basic fetch and execute cycles throughout the lecture</a:t>
            </a:r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27448" y="116632"/>
            <a:ext cx="4897438" cy="744538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86827325"/>
              </p:ext>
            </p:extLst>
          </p:nvPr>
        </p:nvGraphicFramePr>
        <p:xfrm>
          <a:off x="0" y="981075"/>
          <a:ext cx="11064875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7" b="29967"/>
          <a:stretch/>
        </p:blipFill>
        <p:spPr>
          <a:xfrm>
            <a:off x="1559496" y="476672"/>
            <a:ext cx="9649072" cy="6014786"/>
          </a:xfrm>
          <a:prstGeom prst="rect">
            <a:avLst/>
          </a:prstGeom>
        </p:spPr>
      </p:pic>
    </p:spTree>
  </p:cSld>
  <p:clrMapOvr>
    <a:masterClrMapping/>
  </p:clrMapOvr>
  <p:transition spd="med">
    <p:diamond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5" b="18856"/>
          <a:stretch/>
        </p:blipFill>
        <p:spPr>
          <a:xfrm>
            <a:off x="1775520" y="3286"/>
            <a:ext cx="8280920" cy="697692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663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Program Execution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99456" y="1600201"/>
            <a:ext cx="10729192" cy="475615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PC contains 300, the address of the first instruction.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at address 300 is loaded (1940) into IR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digit (1) is the op code (Load AC)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three digits are the address (940)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instruction is implemented (0003 loaded to AC) and PC is incremented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instruction (address 301) is loaded (5941) into IR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digit (5) is the op code (Add to AC)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three are the address (941)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at address 941 are added to the AC and the PC is incremented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instruction (address 302) is loaded (2941) into IR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digit (2) is the op code (Store AC)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three are the address (941)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the AC are written to memory and the PC is incremented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10853"/>
      </p:ext>
    </p:extLst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48680"/>
            <a:ext cx="8928992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33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4" b="24242"/>
          <a:stretch/>
        </p:blipFill>
        <p:spPr>
          <a:xfrm>
            <a:off x="623392" y="548680"/>
            <a:ext cx="11017224" cy="6107974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cycle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Instruction fetch (if): </a:t>
            </a:r>
            <a:r>
              <a:rPr lang="en-US" sz="2000" dirty="0"/>
              <a:t>Read instruction from its memory location into the</a:t>
            </a:r>
          </a:p>
          <a:p>
            <a:r>
              <a:rPr lang="en-US" sz="2000" dirty="0"/>
              <a:t>processor.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Instruction operation decoding (</a:t>
            </a:r>
            <a:r>
              <a:rPr lang="en-US" sz="2000" dirty="0" err="1">
                <a:solidFill>
                  <a:srgbClr val="FF0000"/>
                </a:solidFill>
              </a:rPr>
              <a:t>iod</a:t>
            </a:r>
            <a:r>
              <a:rPr lang="en-US" sz="2000" dirty="0">
                <a:solidFill>
                  <a:srgbClr val="FF0000"/>
                </a:solidFill>
              </a:rPr>
              <a:t>): </a:t>
            </a:r>
            <a:r>
              <a:rPr lang="en-US" sz="2000" dirty="0"/>
              <a:t>Analyze instruction to determine type</a:t>
            </a:r>
          </a:p>
          <a:p>
            <a:pPr marL="0" indent="0">
              <a:buNone/>
            </a:pPr>
            <a:r>
              <a:rPr lang="en-US" sz="2000" dirty="0"/>
              <a:t>of operation to be performed and operand(s) to be used.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Operand address calculation (</a:t>
            </a:r>
            <a:r>
              <a:rPr lang="en-US" sz="2000" dirty="0" err="1">
                <a:solidFill>
                  <a:srgbClr val="FF0000"/>
                </a:solidFill>
              </a:rPr>
              <a:t>oac</a:t>
            </a:r>
            <a:r>
              <a:rPr lang="en-US" sz="2000" dirty="0">
                <a:solidFill>
                  <a:srgbClr val="FF0000"/>
                </a:solidFill>
              </a:rPr>
              <a:t>): </a:t>
            </a:r>
            <a:r>
              <a:rPr lang="en-US" sz="2000" dirty="0"/>
              <a:t>If the operation involves reference to an</a:t>
            </a:r>
          </a:p>
          <a:p>
            <a:pPr marL="0" indent="0">
              <a:buNone/>
            </a:pPr>
            <a:r>
              <a:rPr lang="en-US" sz="2000" dirty="0"/>
              <a:t>operand in memory or available via I/O, then determine the address of the</a:t>
            </a:r>
          </a:p>
          <a:p>
            <a:pPr marL="0" indent="0">
              <a:buNone/>
            </a:pPr>
            <a:r>
              <a:rPr lang="en-US" sz="2000" dirty="0"/>
              <a:t>operand.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Operand fetch (of):</a:t>
            </a:r>
            <a:r>
              <a:rPr lang="en-US" sz="2000" dirty="0"/>
              <a:t> Fetch the operand from memory or read it in from I/O.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Data operation (do):</a:t>
            </a:r>
            <a:r>
              <a:rPr lang="en-US" sz="2000" dirty="0"/>
              <a:t> Perform the operation indicated in the instruction.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Operand store (</a:t>
            </a:r>
            <a:r>
              <a:rPr lang="en-US" sz="2000" dirty="0" err="1">
                <a:solidFill>
                  <a:srgbClr val="FF0000"/>
                </a:solidFill>
              </a:rPr>
              <a:t>os</a:t>
            </a:r>
            <a:r>
              <a:rPr lang="en-US" sz="2000" dirty="0">
                <a:solidFill>
                  <a:srgbClr val="FF0000"/>
                </a:solidFill>
              </a:rPr>
              <a:t>): </a:t>
            </a:r>
            <a:r>
              <a:rPr lang="en-US" sz="2000" dirty="0"/>
              <a:t>Write the result into memory or out to I/O.</a:t>
            </a:r>
          </a:p>
        </p:txBody>
      </p:sp>
    </p:spTree>
    <p:extLst>
      <p:ext uri="{BB962C8B-B14F-4D97-AF65-F5344CB8AC3E}">
        <p14:creationId xmlns:p14="http://schemas.microsoft.com/office/powerpoint/2010/main" val="3530977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8985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99456" y="1600200"/>
            <a:ext cx="10441160" cy="4637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some module (I/O, memory) to stop the normal processing of the processor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may or may not resume processing after handling the interrupt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 are a way to improve processing efficiency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devices are slower than the processor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don’t want the processor to wait for the printer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printer can interrupt the processor when it needs attention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 are also used to stop a process when some type of error has occurred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error may or may not be recoverable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15439"/>
      </p:ext>
    </p:extLst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412776"/>
            <a:ext cx="8928992" cy="331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0" y="486916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Table 3.1 </a:t>
            </a:r>
          </a:p>
          <a:p>
            <a:pPr algn="ctr"/>
            <a:r>
              <a:rPr lang="en-US" dirty="0">
                <a:latin typeface="+mn-lt"/>
              </a:rPr>
              <a:t>    </a:t>
            </a:r>
          </a:p>
          <a:p>
            <a:pPr algn="ctr"/>
            <a:r>
              <a:rPr lang="en-US" dirty="0">
                <a:latin typeface="+mn-lt"/>
              </a:rPr>
              <a:t>Classes of Interrupts</a:t>
            </a:r>
          </a:p>
          <a:p>
            <a:pPr algn="ctr"/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8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4" b="27104"/>
          <a:stretch/>
        </p:blipFill>
        <p:spPr>
          <a:xfrm>
            <a:off x="1415480" y="-99392"/>
            <a:ext cx="9496384" cy="674470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t="5893" r="5425" b="8922"/>
          <a:stretch/>
        </p:blipFill>
        <p:spPr>
          <a:xfrm>
            <a:off x="1847528" y="332656"/>
            <a:ext cx="8425440" cy="6232856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11161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95400" y="1600201"/>
            <a:ext cx="11305256" cy="47561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these examples a “write” involves three steps: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write itself which takes place on a peripheral device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processing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system, without interrupts, must wait during each write operation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second system, with interrupts, can initiate the write and then proceed with normal operations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write is complete the processor is interrupted do the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postprocessing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necessary at the end of the write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third system the processor tries to initiate a second write before the first is completed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Again, even with interrupts, the processor must wait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069895"/>
      </p:ext>
    </p:extLst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9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3" b="26263"/>
          <a:stretch/>
        </p:blipFill>
        <p:spPr>
          <a:xfrm>
            <a:off x="931848" y="2276872"/>
            <a:ext cx="9736153" cy="5472608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8985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 Cycle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022474" y="1600200"/>
            <a:ext cx="8177982" cy="495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An interrupt cycle is added to the instruction cycle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" t="14478" r="4905" b="16667"/>
          <a:stretch/>
        </p:blipFill>
        <p:spPr>
          <a:xfrm>
            <a:off x="1528509" y="692697"/>
            <a:ext cx="10040099" cy="5663655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8985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Interrupts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022474" y="1600200"/>
            <a:ext cx="7426326" cy="495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91544" y="1484784"/>
            <a:ext cx="9577064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interrupts are introduced, it become possible (likely?) that a interrupt will be thrown while the system is processing the handler for an earlier interrupt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strategies to handle this situation.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 interrupts – once the processor begins handling an interrupt, it will ignore further interrupts.</a:t>
            </a:r>
          </a:p>
          <a:p>
            <a:pPr lvl="1"/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further interrupt occurs it will usually remain pending so it can be handled once the current handler completes</a:t>
            </a:r>
          </a:p>
          <a:p>
            <a:pPr lvl="1"/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an interrupt queue</a:t>
            </a:r>
          </a:p>
          <a:p>
            <a:pPr lvl="1"/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does not take into account priority or time-critical needs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interrupt priorities – a higher priority interrupt can interrupt the handler of one with a lower priority</a:t>
            </a:r>
          </a:p>
        </p:txBody>
      </p:sp>
    </p:spTree>
    <p:extLst>
      <p:ext uri="{BB962C8B-B14F-4D97-AF65-F5344CB8AC3E}">
        <p14:creationId xmlns:p14="http://schemas.microsoft.com/office/powerpoint/2010/main" val="4179302877"/>
      </p:ext>
    </p:extLst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TextBox 6"/>
          <p:cNvSpPr txBox="1"/>
          <p:nvPr/>
        </p:nvSpPr>
        <p:spPr>
          <a:xfrm>
            <a:off x="1784946" y="4487925"/>
            <a:ext cx="348654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332656"/>
            <a:ext cx="8066856" cy="6408712"/>
          </a:xfrm>
          <a:prstGeom prst="rect">
            <a:avLst/>
          </a:prstGeom>
        </p:spPr>
      </p:pic>
    </p:spTree>
  </p:cSld>
  <p:clrMapOvr>
    <a:masterClrMapping/>
  </p:clrMapOvr>
  <p:transition spd="med">
    <p:pull dir="r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9" b="21212"/>
          <a:stretch/>
        </p:blipFill>
        <p:spPr>
          <a:xfrm>
            <a:off x="1667000" y="-171400"/>
            <a:ext cx="9001000" cy="67850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1" y="533400"/>
            <a:ext cx="7556313" cy="11161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 Interrupts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022474" y="1600200"/>
            <a:ext cx="7426326" cy="495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91545" y="1484784"/>
            <a:ext cx="7556313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79376" y="1293168"/>
            <a:ext cx="11593288" cy="54482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example of this second approach, consider a system with three I/O devices: a printer, a disk, and a communications line, with increasing priorities of 2, 4, and 5, respectively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 program begins at 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 = 10, </a:t>
            </a:r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printer interrupt occurs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printer interrupt service routine (ISR) is still executing, at 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15, a </a:t>
            </a:r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interrupt occurs.</a:t>
            </a:r>
          </a:p>
          <a:p>
            <a:pPr lvl="2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the communications line has higher priority than the printer, the interrupt is honored. The printer ISR is interrupted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this routine is executing, a disk interrupt occurs (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20)</a:t>
            </a:r>
          </a:p>
          <a:p>
            <a:pPr lvl="2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this interrupt is of lower priority, it is simply held, and the communications ISR runs to completion.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communications ISR is complete (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25), </a:t>
            </a:r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the disk ISR because it has a higher priority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when that routine is complete (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35) </a:t>
            </a:r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printer ISR resumed. </a:t>
            </a:r>
          </a:p>
          <a:p>
            <a:pPr lvl="1"/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that routine completes</a:t>
            </a:r>
            <a:r>
              <a:rPr kumimoji="1"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 = 40), </a:t>
            </a:r>
            <a:r>
              <a:rPr kumimoji="1"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finally returns to the user program.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779372"/>
      </p:ext>
    </p:extLst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1" y="533400"/>
            <a:ext cx="7556313" cy="591492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196752"/>
            <a:ext cx="11305256" cy="5328592"/>
          </a:xfrm>
        </p:spPr>
        <p:txBody>
          <a:bodyPr>
            <a:normAutofit/>
          </a:bodyPr>
          <a:lstStyle/>
          <a:p>
            <a:r>
              <a:rPr lang="en-GB" sz="2000" dirty="0"/>
              <a:t>In addition to exchanging data with memory, the processor can exchange data directly with I/O modules</a:t>
            </a:r>
          </a:p>
          <a:p>
            <a:endParaRPr lang="en-GB" sz="2000" dirty="0"/>
          </a:p>
          <a:p>
            <a:r>
              <a:rPr lang="en-GB" sz="2000" dirty="0"/>
              <a:t>I/O modules control one or more devices</a:t>
            </a:r>
          </a:p>
          <a:p>
            <a:endParaRPr lang="en-GB" sz="2000" dirty="0"/>
          </a:p>
          <a:p>
            <a:r>
              <a:rPr lang="en-GB" sz="2000" dirty="0"/>
              <a:t>Processor can read data from or write data to an I/O module</a:t>
            </a:r>
          </a:p>
          <a:p>
            <a:r>
              <a:rPr lang="en-GB" sz="2000" dirty="0"/>
              <a:t>Processor identifies a specific device that is controlled by a particular I/O module</a:t>
            </a:r>
          </a:p>
          <a:p>
            <a:pPr marL="342900" lvl="1" indent="0">
              <a:buNone/>
            </a:pPr>
            <a:endParaRPr lang="en-GB" sz="2000" dirty="0"/>
          </a:p>
          <a:p>
            <a:r>
              <a:rPr lang="en-GB" sz="2000" dirty="0"/>
              <a:t>I/O instructions rather than memory referencing instructions</a:t>
            </a:r>
          </a:p>
          <a:p>
            <a:r>
              <a:rPr lang="en-GB" sz="2000" dirty="0"/>
              <a:t>In some cases it is desirable to allow I/O exchanges to occur directly with memory</a:t>
            </a:r>
          </a:p>
          <a:p>
            <a:r>
              <a:rPr lang="en-GB" sz="2000" dirty="0"/>
              <a:t>The processor grants to an I/O module the authority to read from or write to memory so that the I/O memory transfer can occur without tying up the processor</a:t>
            </a:r>
          </a:p>
          <a:p>
            <a:r>
              <a:rPr lang="en-GB" sz="2000" dirty="0"/>
              <a:t>The I/O module issues read or write commands to memory relieving the processor of responsibility for the exchange</a:t>
            </a:r>
          </a:p>
          <a:p>
            <a:r>
              <a:rPr lang="en-GB" sz="2000" dirty="0"/>
              <a:t>This operation is known as direct memory access (DMA)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TextBox 16"/>
          <p:cNvSpPr txBox="1"/>
          <p:nvPr/>
        </p:nvSpPr>
        <p:spPr>
          <a:xfrm>
            <a:off x="2514600" y="228601"/>
            <a:ext cx="22860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7010400" y="1"/>
            <a:ext cx="22860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7239" r="18758" b="5892"/>
          <a:stretch/>
        </p:blipFill>
        <p:spPr>
          <a:xfrm>
            <a:off x="1919536" y="476672"/>
            <a:ext cx="7200800" cy="5907378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7988" y="228600"/>
            <a:ext cx="10514012" cy="803275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The interconnection structure must support the following types of transfers</a:t>
            </a:r>
            <a:r>
              <a:rPr lang="en-GB" sz="1800" dirty="0"/>
              <a:t>:</a:t>
            </a:r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57233634"/>
              </p:ext>
            </p:extLst>
          </p:nvPr>
        </p:nvGraphicFramePr>
        <p:xfrm>
          <a:off x="1700286" y="1340768"/>
          <a:ext cx="9072562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1" y="533400"/>
            <a:ext cx="7556313" cy="519336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83433" y="1988840"/>
            <a:ext cx="10225136" cy="4372744"/>
          </a:xfrm>
        </p:spPr>
        <p:txBody>
          <a:bodyPr>
            <a:normAutofit/>
          </a:bodyPr>
          <a:lstStyle/>
          <a:p>
            <a:r>
              <a:rPr lang="en-GB" sz="2000" dirty="0"/>
              <a:t>There needs to be a means for the different components of a computer system to communicate</a:t>
            </a:r>
          </a:p>
          <a:p>
            <a:r>
              <a:rPr lang="en-GB" sz="2000" dirty="0"/>
              <a:t>Modern general-purpose computers use various specialized point-to-point interconnection structures</a:t>
            </a:r>
          </a:p>
          <a:p>
            <a:r>
              <a:rPr lang="en-GB" sz="2000" dirty="0"/>
              <a:t>A common bus structure was previously dominant and is still used for many embedded systems</a:t>
            </a:r>
          </a:p>
          <a:p>
            <a:pPr lvl="1"/>
            <a:r>
              <a:rPr lang="en-GB" sz="2000" dirty="0"/>
              <a:t>Multiple devices connect to the bus</a:t>
            </a:r>
          </a:p>
          <a:p>
            <a:pPr lvl="1"/>
            <a:r>
              <a:rPr lang="en-GB" sz="2000" dirty="0"/>
              <a:t>A signal transmitted by one device can be received by any device on the bus</a:t>
            </a:r>
          </a:p>
          <a:p>
            <a:pPr lvl="1"/>
            <a:r>
              <a:rPr lang="en-GB" sz="2000" dirty="0"/>
              <a:t>The devices must be synchronized so that signals do not </a:t>
            </a:r>
            <a:r>
              <a:rPr lang="en-GB" dirty="0"/>
              <a:t>overlap</a:t>
            </a:r>
          </a:p>
        </p:txBody>
      </p:sp>
    </p:spTree>
    <p:extLst>
      <p:ext uri="{BB962C8B-B14F-4D97-AF65-F5344CB8AC3E}">
        <p14:creationId xmlns:p14="http://schemas.microsoft.com/office/powerpoint/2010/main" val="554062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784"/>
            <a:ext cx="10515600" cy="469217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bus</a:t>
            </a:r>
            <a:r>
              <a:rPr lang="en-US" dirty="0"/>
              <a:t> is a communication system that transfers data between different components of a computer (CPU, memory, and I/O devices). </a:t>
            </a:r>
            <a:r>
              <a:rPr lang="en-US" b="1" dirty="0"/>
              <a:t>Bus Interconnection</a:t>
            </a:r>
            <a:r>
              <a:rPr lang="en-US" dirty="0"/>
              <a:t> refers to the way these buses are linked together to allow communication. Bus Speed=Clock Rate (MHz/GHz)</a:t>
            </a:r>
          </a:p>
          <a:p>
            <a:r>
              <a:rPr lang="en-US" dirty="0"/>
              <a:t>M-One Million and G= One Billion</a:t>
            </a:r>
          </a:p>
          <a:p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Types of Buses:</a:t>
            </a:r>
            <a:endParaRPr lang="en-US" dirty="0"/>
          </a:p>
          <a:p>
            <a:r>
              <a:rPr lang="en-US" sz="2400" b="1" dirty="0"/>
              <a:t>Data Bus</a:t>
            </a:r>
            <a:r>
              <a:rPr lang="en-US" sz="2400" dirty="0"/>
              <a:t> – Transfers actual data (e.g., from RAM to CPU).</a:t>
            </a:r>
          </a:p>
          <a:p>
            <a:r>
              <a:rPr lang="en-US" sz="2400" b="1" dirty="0"/>
              <a:t>Address Bus</a:t>
            </a:r>
            <a:r>
              <a:rPr lang="en-US" sz="2400" dirty="0"/>
              <a:t> – Carries memory addresses (e.g., where data should be stored).</a:t>
            </a:r>
          </a:p>
          <a:p>
            <a:r>
              <a:rPr lang="en-US" sz="2400" b="1" dirty="0"/>
              <a:t>Control Bus</a:t>
            </a:r>
            <a:r>
              <a:rPr lang="en-US" sz="2400" dirty="0"/>
              <a:t> – Sends control signals (e.g., read/write operations)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4479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784"/>
            <a:ext cx="10515600" cy="4351338"/>
          </a:xfrm>
        </p:spPr>
        <p:txBody>
          <a:bodyPr/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Imagine a school bus 🚌 picking up students (data) from different stops (memory, storage) and dropping them at school (CPU). The </a:t>
            </a:r>
            <a:r>
              <a:rPr lang="en-US" b="1" dirty="0"/>
              <a:t>bus system</a:t>
            </a:r>
            <a:r>
              <a:rPr lang="en-US" dirty="0"/>
              <a:t> ensures everything reaches the right place.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3140968"/>
            <a:ext cx="5904656" cy="3240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3156465"/>
            <a:ext cx="4561994" cy="322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43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</p:spPr>
        <p:txBody>
          <a:bodyPr/>
          <a:lstStyle/>
          <a:p>
            <a:r>
              <a:rPr lang="en-US" b="1" dirty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412776"/>
            <a:ext cx="11233248" cy="48965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US" sz="1800" dirty="0"/>
            </a:br>
            <a:r>
              <a:rPr lang="en-US" sz="1800" dirty="0"/>
              <a:t>✔ The </a:t>
            </a:r>
            <a:r>
              <a:rPr lang="en-US" sz="1800" b="1" dirty="0"/>
              <a:t>wider the data bus</a:t>
            </a:r>
            <a:r>
              <a:rPr lang="en-US" sz="1800" dirty="0"/>
              <a:t>, the more data can be transferred at once.</a:t>
            </a:r>
            <a:br>
              <a:rPr lang="en-US" sz="1800" dirty="0"/>
            </a:br>
            <a:r>
              <a:rPr lang="en-US" sz="1800" dirty="0"/>
              <a:t>✔ If a CPU has a </a:t>
            </a:r>
            <a:r>
              <a:rPr lang="en-US" sz="1800" b="1" dirty="0"/>
              <a:t>32-bit data bus</a:t>
            </a:r>
            <a:r>
              <a:rPr lang="en-US" sz="1800" dirty="0"/>
              <a:t>, it can transfer </a:t>
            </a:r>
            <a:r>
              <a:rPr lang="en-US" sz="1800" b="1" dirty="0"/>
              <a:t>32 bits of data at a time</a:t>
            </a:r>
            <a:r>
              <a:rPr lang="en-US" sz="1800" dirty="0"/>
              <a:t>. (It can be more)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/>
              <a:t>Think of the </a:t>
            </a:r>
            <a:r>
              <a:rPr lang="en-US" sz="1800" b="1" dirty="0"/>
              <a:t>address bus like a GPS navigation system</a:t>
            </a:r>
            <a:r>
              <a:rPr lang="en-US" sz="1800" dirty="0"/>
              <a:t>. Before fetching data, the CPU needs to </a:t>
            </a:r>
            <a:r>
              <a:rPr lang="en-US" sz="1800" b="1" dirty="0"/>
              <a:t>know the exact memory location</a:t>
            </a:r>
            <a:r>
              <a:rPr lang="en-US" sz="1800" dirty="0"/>
              <a:t> where the data is stored, just like entering an address into a GPS before driving.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width of the address bus</a:t>
            </a:r>
            <a:r>
              <a:rPr lang="en-US" sz="1800" dirty="0"/>
              <a:t> determines how much memory the CPU can access.</a:t>
            </a:r>
            <a:br>
              <a:rPr lang="en-US" sz="1800" dirty="0"/>
            </a:br>
            <a:r>
              <a:rPr lang="en-US" sz="1800" dirty="0"/>
              <a:t>✔ If the CPU has a </a:t>
            </a:r>
            <a:r>
              <a:rPr lang="en-US" sz="1800" b="1" dirty="0"/>
              <a:t>16-bit address bus</a:t>
            </a:r>
            <a:r>
              <a:rPr lang="en-US" sz="1800" dirty="0"/>
              <a:t>, it can access </a:t>
            </a:r>
            <a:r>
              <a:rPr lang="en-US" sz="1800" b="1" dirty="0"/>
              <a:t>2¹⁶ = 65,536 memory locations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✔ A </a:t>
            </a:r>
            <a:r>
              <a:rPr lang="en-US" sz="1800" b="1" dirty="0"/>
              <a:t>32-bit address bus</a:t>
            </a:r>
            <a:r>
              <a:rPr lang="en-US" sz="1800" dirty="0"/>
              <a:t> can access </a:t>
            </a:r>
            <a:r>
              <a:rPr lang="en-US" sz="1800" b="1" dirty="0"/>
              <a:t>2³² = 4GB of memory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800" dirty="0"/>
              <a:t>Think of the </a:t>
            </a:r>
            <a:r>
              <a:rPr lang="en-US" sz="1800" b="1" dirty="0"/>
              <a:t>control bus like traffic lights</a:t>
            </a:r>
            <a:r>
              <a:rPr lang="en-US" sz="1800" dirty="0"/>
              <a:t> 🚦. It controls when data should move (green light), when it should stop (red light), and what type of action should happen.</a:t>
            </a:r>
          </a:p>
          <a:p>
            <a:r>
              <a:rPr lang="en-US" sz="1800" b="1" dirty="0"/>
              <a:t>Key Control Signals: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Read signal</a:t>
            </a:r>
            <a:r>
              <a:rPr lang="en-US" sz="1800" dirty="0"/>
              <a:t> – Tells memory to send data to the CPU.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Write signal</a:t>
            </a:r>
            <a:r>
              <a:rPr lang="en-US" sz="1800" dirty="0"/>
              <a:t> – Tells memory to store data.</a:t>
            </a:r>
            <a:br>
              <a:rPr lang="en-US" sz="1800" dirty="0"/>
            </a:br>
            <a:r>
              <a:rPr lang="en-US" sz="1800" dirty="0"/>
              <a:t>✔ </a:t>
            </a:r>
            <a:r>
              <a:rPr lang="en-US" sz="1800" b="1" dirty="0"/>
              <a:t>Interrupt signal</a:t>
            </a:r>
            <a:r>
              <a:rPr lang="en-US" sz="1800" dirty="0"/>
              <a:t> – Notifies the CPU of an urgent task (e.g., keyboard input).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922292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" t="16162" r="3474" b="28282"/>
          <a:stretch/>
        </p:blipFill>
        <p:spPr>
          <a:xfrm>
            <a:off x="335360" y="836712"/>
            <a:ext cx="5400600" cy="5544616"/>
          </a:xfrm>
          <a:prstGeom prst="rect">
            <a:avLst/>
          </a:prstGeom>
        </p:spPr>
      </p:pic>
      <p:pic>
        <p:nvPicPr>
          <p:cNvPr id="1026" name="Picture 2" descr="https://www.itrelease.com/wp-content/uploads/2021/11/Types-of-computer-buses-768x56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390" y="692696"/>
            <a:ext cx="5803258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PCI (Peripheral Component Interconnect)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045" y="1412776"/>
            <a:ext cx="10515600" cy="48965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PCI is a high-speed </a:t>
            </a:r>
            <a:r>
              <a:rPr lang="en-US" b="1" dirty="0"/>
              <a:t>hardware bus standard</a:t>
            </a:r>
            <a:r>
              <a:rPr lang="en-US" dirty="0"/>
              <a:t> that connects peripheral devices like </a:t>
            </a:r>
            <a:r>
              <a:rPr lang="en-US" b="1" dirty="0"/>
              <a:t>graphics cards, sound cards, network cards, and SSDs</a:t>
            </a:r>
            <a:r>
              <a:rPr lang="en-US" dirty="0"/>
              <a:t> to the motherboard. </a:t>
            </a:r>
            <a:r>
              <a:rPr lang="fr-FR" b="1" dirty="0"/>
              <a:t>PCI </a:t>
            </a:r>
            <a:r>
              <a:rPr lang="fr-FR" dirty="0"/>
              <a:t>uses </a:t>
            </a:r>
            <a:r>
              <a:rPr lang="fr-FR" b="1" dirty="0" err="1"/>
              <a:t>asynchronous</a:t>
            </a:r>
            <a:r>
              <a:rPr lang="fr-FR" b="1" dirty="0"/>
              <a:t> communication</a:t>
            </a:r>
            <a:endParaRPr lang="en-US" dirty="0"/>
          </a:p>
          <a:p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sz="2400" dirty="0"/>
              <a:t>Think of PCI like </a:t>
            </a:r>
            <a:r>
              <a:rPr lang="en-US" sz="2400" b="1" dirty="0"/>
              <a:t>a power strip</a:t>
            </a:r>
            <a:r>
              <a:rPr lang="en-US" sz="2400" dirty="0"/>
              <a:t> 🔌 where multiple devices (GPU, </a:t>
            </a:r>
            <a:r>
              <a:rPr lang="en-US" sz="2400" dirty="0" err="1"/>
              <a:t>WiFi</a:t>
            </a:r>
            <a:r>
              <a:rPr lang="en-US" sz="2400" dirty="0"/>
              <a:t> adapter) can be plugged in. Each slot provides a pathway for communication between the </a:t>
            </a:r>
            <a:r>
              <a:rPr lang="en-US" sz="2400" b="1" dirty="0"/>
              <a:t>CPU and the device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Motherboard</a:t>
            </a:r>
            <a:r>
              <a:rPr lang="en-US" sz="2400" dirty="0"/>
              <a:t> has PCI slots.</a:t>
            </a:r>
          </a:p>
          <a:p>
            <a:r>
              <a:rPr lang="en-US" sz="2400" dirty="0"/>
              <a:t>Devices (GPU, sound card) plug into these slots.</a:t>
            </a:r>
          </a:p>
          <a:p>
            <a:r>
              <a:rPr lang="en-US" sz="2400" dirty="0"/>
              <a:t>The PCI bus transfers data between CPU and devices.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18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711624" y="332656"/>
            <a:ext cx="4534272" cy="73955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 Layers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7408" y="1072208"/>
            <a:ext cx="11089232" cy="5284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PCIe is described by a three layer architecture</a:t>
            </a:r>
          </a:p>
          <a:p>
            <a:pPr marL="0" indent="0">
              <a:buNone/>
            </a:pPr>
            <a:endParaRPr lang="en-GB" sz="2200" dirty="0"/>
          </a:p>
          <a:p>
            <a:r>
              <a:rPr lang="en-GB" sz="2200" dirty="0"/>
              <a:t>Physical Layer – the physical wires that carry the data</a:t>
            </a:r>
          </a:p>
          <a:p>
            <a:pPr lvl="1"/>
            <a:r>
              <a:rPr lang="en-GB" sz="2200" dirty="0"/>
              <a:t>Also includes the circuitry and logic to support the transmission and receipt of 1’s and 0’s</a:t>
            </a:r>
          </a:p>
          <a:p>
            <a:pPr marL="342900" lvl="1" indent="0">
              <a:buNone/>
            </a:pPr>
            <a:endParaRPr lang="en-GB" sz="2200" dirty="0"/>
          </a:p>
          <a:p>
            <a:r>
              <a:rPr lang="en-GB" sz="2200" dirty="0"/>
              <a:t>Data Link Layer – responsible for reliable transmission and flow control</a:t>
            </a:r>
          </a:p>
          <a:p>
            <a:pPr lvl="1"/>
            <a:r>
              <a:rPr lang="en-GB" sz="2200" dirty="0"/>
              <a:t>Data packets at the data link layer are called DLLPs</a:t>
            </a:r>
          </a:p>
          <a:p>
            <a:pPr marL="342900" lvl="1" indent="0">
              <a:buNone/>
            </a:pPr>
            <a:endParaRPr lang="en-GB" sz="2200" dirty="0"/>
          </a:p>
          <a:p>
            <a:r>
              <a:rPr lang="en-GB" sz="2200" dirty="0"/>
              <a:t>Transaction Layer – generates and consumes data packets and manages the flow between two components</a:t>
            </a:r>
          </a:p>
          <a:p>
            <a:endParaRPr lang="en-GB" sz="2200" dirty="0"/>
          </a:p>
          <a:p>
            <a:pPr lvl="1"/>
            <a:r>
              <a:rPr lang="en-GB" sz="2200" dirty="0"/>
              <a:t>Data packets at the transaction layer are called TLPs</a:t>
            </a:r>
          </a:p>
          <a:p>
            <a:endParaRPr lang="en-GB" sz="2200" dirty="0"/>
          </a:p>
          <a:p>
            <a:endParaRPr lang="en-GB" sz="1765" dirty="0"/>
          </a:p>
          <a:p>
            <a:pPr marL="457200" lvl="2">
              <a:spcBef>
                <a:spcPts val="2000"/>
              </a:spcBef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21261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QPI (Quick Path Interconnect)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1233248" cy="51845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QPI is </a:t>
            </a:r>
            <a:r>
              <a:rPr lang="en-US" b="1" dirty="0"/>
              <a:t>Intel’s high-speed point-to-point interconnection</a:t>
            </a:r>
            <a:r>
              <a:rPr lang="en-US" dirty="0"/>
              <a:t> between processors and memory controllers, replacing the old Front-Side Bus (FSB). </a:t>
            </a:r>
            <a:r>
              <a:rPr lang="en-US" dirty="0">
                <a:solidFill>
                  <a:srgbClr val="FF0000"/>
                </a:solidFill>
              </a:rPr>
              <a:t>Introduced in 2008, Multi Directional</a:t>
            </a:r>
          </a:p>
          <a:p>
            <a:r>
              <a:rPr lang="en-US" b="1" dirty="0"/>
              <a:t>Front Side Bus (FSB)</a:t>
            </a:r>
            <a:r>
              <a:rPr lang="en-US" dirty="0"/>
              <a:t> in older computers used synchronous communication between the </a:t>
            </a:r>
            <a:r>
              <a:rPr lang="en-US" b="1" dirty="0"/>
              <a:t>CPU and memory</a:t>
            </a:r>
            <a:r>
              <a:rPr lang="en-US" dirty="0"/>
              <a:t> with a shared clock signal.</a:t>
            </a:r>
          </a:p>
          <a:p>
            <a:r>
              <a:rPr lang="en-US" dirty="0"/>
              <a:t> </a:t>
            </a:r>
            <a:r>
              <a:rPr lang="en-US" b="1" dirty="0"/>
              <a:t>Advantages:</a:t>
            </a:r>
            <a:br>
              <a:rPr lang="en-US" dirty="0"/>
            </a:br>
            <a:r>
              <a:rPr lang="en-US" dirty="0"/>
              <a:t>✔ Faster and more predictable.</a:t>
            </a:r>
            <a:br>
              <a:rPr lang="en-US" dirty="0"/>
            </a:br>
            <a:r>
              <a:rPr lang="en-US" dirty="0"/>
              <a:t>✔ Efficient when transmitting </a:t>
            </a:r>
            <a:r>
              <a:rPr lang="en-US" b="1" dirty="0"/>
              <a:t>continuous data</a:t>
            </a:r>
            <a:r>
              <a:rPr lang="en-US" dirty="0"/>
              <a:t>.</a:t>
            </a:r>
          </a:p>
          <a:p>
            <a:r>
              <a:rPr lang="en-US" b="1" dirty="0"/>
              <a:t>Disadvantages:</a:t>
            </a:r>
            <a:br>
              <a:rPr lang="en-US" dirty="0"/>
            </a:br>
            <a:r>
              <a:rPr lang="en-US" dirty="0"/>
              <a:t>❌ Limited by the clock speed – all devices must operate at the same rate.</a:t>
            </a:r>
            <a:br>
              <a:rPr lang="en-US" dirty="0"/>
            </a:br>
            <a:r>
              <a:rPr lang="en-US" dirty="0"/>
              <a:t>❌ Difficult to scale across long distances.</a:t>
            </a:r>
          </a:p>
          <a:p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Imagine </a:t>
            </a:r>
            <a:r>
              <a:rPr lang="en-US" b="1" dirty="0"/>
              <a:t>a multi-lane highway:</a:t>
            </a:r>
            <a:r>
              <a:rPr lang="en-US" dirty="0"/>
              <a:t> Where cars (data) move faster because they don't need to stop at intersections (FSB bottlenecks).</a:t>
            </a:r>
          </a:p>
          <a:p>
            <a:r>
              <a:rPr lang="en-US" dirty="0"/>
              <a:t>📌 </a:t>
            </a:r>
            <a:r>
              <a:rPr lang="en-US" b="1" dirty="0"/>
              <a:t>Key Features:</a:t>
            </a:r>
          </a:p>
          <a:p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Faster data transfer</a:t>
            </a:r>
            <a:r>
              <a:rPr lang="en-US" dirty="0"/>
              <a:t> between CPU and memory.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Point-to-point connection</a:t>
            </a:r>
            <a:r>
              <a:rPr lang="en-US" dirty="0"/>
              <a:t> (dedicated lanes for data).</a:t>
            </a:r>
            <a:br>
              <a:rPr lang="en-US" dirty="0"/>
            </a:br>
            <a:r>
              <a:rPr lang="en-US" dirty="0"/>
              <a:t>✔ Used in </a:t>
            </a:r>
            <a:r>
              <a:rPr lang="en-US" b="1" dirty="0"/>
              <a:t>multi-processor systems</a:t>
            </a:r>
            <a:r>
              <a:rPr lang="en-US" dirty="0"/>
              <a:t> like </a:t>
            </a:r>
            <a:r>
              <a:rPr lang="en-US" b="1" dirty="0"/>
              <a:t>Intel Xeon servers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181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737" t="23422" r="14027" b="37203"/>
          <a:stretch/>
        </p:blipFill>
        <p:spPr>
          <a:xfrm>
            <a:off x="1343472" y="404664"/>
            <a:ext cx="9001000" cy="3312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1736" t="24406" r="13474" b="34250"/>
          <a:stretch/>
        </p:blipFill>
        <p:spPr>
          <a:xfrm>
            <a:off x="1343472" y="3861048"/>
            <a:ext cx="915821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13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736" t="22438" r="13835" b="30313"/>
          <a:stretch/>
        </p:blipFill>
        <p:spPr>
          <a:xfrm>
            <a:off x="823537" y="1052736"/>
            <a:ext cx="10297144" cy="42484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03557" y="332656"/>
            <a:ext cx="9937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Other Interconnection Structures Used for Communication Inside a Computer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3556" y="5301208"/>
            <a:ext cx="10277019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Switching is the process of directing data </a:t>
            </a:r>
            <a:r>
              <a:rPr lang="en-US" sz="1800" b="1" dirty="0"/>
              <a:t>from a source to a destination</a:t>
            </a:r>
            <a:r>
              <a:rPr lang="en-US" sz="1800" dirty="0"/>
              <a:t> across a network. It determines </a:t>
            </a:r>
            <a:r>
              <a:rPr lang="en-US" sz="1800" b="1" dirty="0"/>
              <a:t>how data moves efficiently</a:t>
            </a:r>
            <a:r>
              <a:rPr lang="en-US" sz="1800" dirty="0"/>
              <a:t> between devices.</a:t>
            </a:r>
          </a:p>
          <a:p>
            <a:r>
              <a:rPr lang="en-US" sz="1800" dirty="0"/>
              <a:t>📌 </a:t>
            </a:r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600" dirty="0"/>
              <a:t>Imagine a </a:t>
            </a:r>
            <a:r>
              <a:rPr lang="en-US" sz="1600" b="1" dirty="0"/>
              <a:t>postal system</a:t>
            </a:r>
            <a:r>
              <a:rPr lang="en-US" sz="1600" dirty="0"/>
              <a:t> where letters (data) are sent through different post offices (switches) to reach their final destination.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60631" y="3933056"/>
            <a:ext cx="193136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Latency refers to the </a:t>
            </a:r>
            <a:r>
              <a:rPr lang="en-US" sz="1100" b="1" dirty="0">
                <a:solidFill>
                  <a:srgbClr val="FF0000"/>
                </a:solidFill>
              </a:rPr>
              <a:t>time delay</a:t>
            </a:r>
            <a:r>
              <a:rPr lang="en-US" sz="1100" dirty="0">
                <a:solidFill>
                  <a:srgbClr val="FF0000"/>
                </a:solidFill>
              </a:rPr>
              <a:t> between a request and a response in a computer system</a:t>
            </a:r>
          </a:p>
        </p:txBody>
      </p:sp>
    </p:spTree>
    <p:extLst>
      <p:ext uri="{BB962C8B-B14F-4D97-AF65-F5344CB8AC3E}">
        <p14:creationId xmlns:p14="http://schemas.microsoft.com/office/powerpoint/2010/main" val="199593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8017" y="367543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/>
              <a:t>Assignment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483649"/>
            <a:ext cx="3657600" cy="1098177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3200" dirty="0"/>
              <a:t>Chapter 3</a:t>
            </a:r>
          </a:p>
          <a:p>
            <a:endParaRPr lang="en-US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953716" y="2852936"/>
            <a:ext cx="3657600" cy="232717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Review Questions:</a:t>
            </a:r>
          </a:p>
          <a:p>
            <a:pPr>
              <a:spcBef>
                <a:spcPts val="600"/>
              </a:spcBef>
            </a:pPr>
            <a:r>
              <a:rPr lang="en-US" dirty="0"/>
              <a:t>3.2, 3.3, 3.5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5867400" y="228600"/>
            <a:ext cx="3657600" cy="1707776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Top-Level View of Computer Function and Interconnection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960924" y="4016524"/>
            <a:ext cx="3810000" cy="1641376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/>
              <a:t>Problems:</a:t>
            </a:r>
          </a:p>
          <a:p>
            <a:pPr marL="0" lvl="1" indent="0">
              <a:spcBef>
                <a:spcPts val="1800"/>
              </a:spcBef>
              <a:buClr>
                <a:schemeClr val="accent1"/>
              </a:buClr>
              <a:buNone/>
            </a:pPr>
            <a:r>
              <a:rPr lang="en-US" dirty="0"/>
              <a:t>3.1, 3.3, 3.5, 3.11, 3.12, 3.14</a:t>
            </a:r>
          </a:p>
        </p:txBody>
      </p:sp>
    </p:spTree>
    <p:extLst>
      <p:ext uri="{BB962C8B-B14F-4D97-AF65-F5344CB8AC3E}">
        <p14:creationId xmlns:p14="http://schemas.microsoft.com/office/powerpoint/2010/main" val="216208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18332</TotalTime>
  <Words>8176</Words>
  <Application>Microsoft Office PowerPoint</Application>
  <PresentationFormat>Widescreen</PresentationFormat>
  <Paragraphs>776</Paragraphs>
  <Slides>50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Times New Roman</vt:lpstr>
      <vt:lpstr>Office Theme</vt:lpstr>
      <vt:lpstr>  Computer Architecture &amp; Assembly Language   CSC-250</vt:lpstr>
      <vt:lpstr>Top Level Architecture </vt:lpstr>
      <vt:lpstr>Computer Components</vt:lpstr>
      <vt:lpstr>Computer Components</vt:lpstr>
      <vt:lpstr>Computer Components</vt:lpstr>
      <vt:lpstr>Computer Components</vt:lpstr>
      <vt:lpstr>Computer Components</vt:lpstr>
      <vt:lpstr>What is a program?</vt:lpstr>
      <vt:lpstr>Function of Control Unit</vt:lpstr>
      <vt:lpstr>Computer Components</vt:lpstr>
      <vt:lpstr>Fetch Cycle</vt:lpstr>
      <vt:lpstr>Execute Cycle</vt:lpstr>
      <vt:lpstr>Hardware  and Software Approaches</vt:lpstr>
      <vt:lpstr>I/O  Components</vt:lpstr>
      <vt:lpstr>MEMORY</vt:lpstr>
      <vt:lpstr>Fetch Cycle</vt:lpstr>
      <vt:lpstr>PowerPoint Presentation</vt:lpstr>
      <vt:lpstr>PowerPoint Presentation</vt:lpstr>
      <vt:lpstr>Action Categories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Instruction cycle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I/O Function</vt:lpstr>
      <vt:lpstr>PowerPoint Presentation</vt:lpstr>
      <vt:lpstr>The interconnection structure must support the following types of transfers:</vt:lpstr>
      <vt:lpstr>Bus Interconnection</vt:lpstr>
      <vt:lpstr>BUS</vt:lpstr>
      <vt:lpstr>Con…</vt:lpstr>
      <vt:lpstr>Key Points</vt:lpstr>
      <vt:lpstr>PowerPoint Presentation</vt:lpstr>
      <vt:lpstr>PCI (Peripheral Component Interconnect) </vt:lpstr>
      <vt:lpstr>PCI Layers</vt:lpstr>
      <vt:lpstr>QPI (Quick Path Interconnect) </vt:lpstr>
      <vt:lpstr>PowerPoint Presentation</vt:lpstr>
      <vt:lpstr>PowerPoint Presentation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Tushal Kumar Dawani</cp:lastModifiedBy>
  <cp:revision>248</cp:revision>
  <cp:lastPrinted>1999-09-24T09:11:31Z</cp:lastPrinted>
  <dcterms:created xsi:type="dcterms:W3CDTF">2012-06-16T23:28:52Z</dcterms:created>
  <dcterms:modified xsi:type="dcterms:W3CDTF">2026-05-17T12:40:03Z</dcterms:modified>
</cp:coreProperties>
</file>