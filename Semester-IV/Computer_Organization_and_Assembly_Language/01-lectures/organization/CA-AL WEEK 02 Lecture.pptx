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0"/>
  </p:notesMasterIdLst>
  <p:sldIdLst>
    <p:sldId id="311" r:id="rId2"/>
    <p:sldId id="31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320" r:id="rId41"/>
    <p:sldId id="322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06979-738F-46BA-8B14-25A72579DDE3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88525-D220-40CD-9037-9DDF76AF3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2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7D0BCD-E87C-4EA1-8C27-CBE9692248AE}" type="slidenum">
              <a:rPr lang="en-US" altLang="en-US" sz="1200" smtClean="0">
                <a:latin typeface="Arial" panose="020B0604020202020204" pitchFamily="34" charset="0"/>
              </a:rPr>
              <a:pPr/>
              <a:t>9</a:t>
            </a:fld>
            <a:endParaRPr lang="en-US" altLang="en-US" sz="1200" smtClean="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439345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B6C0EE-111C-4600-8A42-FB0EDD69A31A}" type="slidenum">
              <a:rPr lang="en-US" altLang="en-US" sz="1200" smtClean="0">
                <a:latin typeface="Arial" panose="020B0604020202020204" pitchFamily="34" charset="0"/>
              </a:rPr>
              <a:pPr/>
              <a:t>10</a:t>
            </a:fld>
            <a:endParaRPr lang="en-US" altLang="en-US" sz="1200" smtClean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002669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7A24ED-2A3C-45C2-9A78-E2B8BDB60D1A}" type="slidenum">
              <a:rPr lang="en-US" altLang="en-US" sz="1200" smtClean="0">
                <a:latin typeface="Arial" panose="020B0604020202020204" pitchFamily="34" charset="0"/>
              </a:rPr>
              <a:pPr/>
              <a:t>11</a:t>
            </a:fld>
            <a:endParaRPr lang="en-US" altLang="en-US" sz="1200" smtClean="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522767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412D54-D512-4FD8-BE54-3B30D34028DC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ar-JO" altLang="en-US" smtClean="0"/>
          </a:p>
        </p:txBody>
      </p:sp>
    </p:spTree>
    <p:extLst>
      <p:ext uri="{BB962C8B-B14F-4D97-AF65-F5344CB8AC3E}">
        <p14:creationId xmlns:p14="http://schemas.microsoft.com/office/powerpoint/2010/main" val="2463090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AA257AA-2EA1-44D6-A646-1A273A734EC2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ar-JO" altLang="en-US" smtClean="0"/>
          </a:p>
        </p:txBody>
      </p:sp>
    </p:spTree>
    <p:extLst>
      <p:ext uri="{BB962C8B-B14F-4D97-AF65-F5344CB8AC3E}">
        <p14:creationId xmlns:p14="http://schemas.microsoft.com/office/powerpoint/2010/main" val="251255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4B8F27-450F-4954-AF00-C355ED85225D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ar-JO" altLang="en-US" smtClean="0"/>
          </a:p>
        </p:txBody>
      </p:sp>
    </p:spTree>
    <p:extLst>
      <p:ext uri="{BB962C8B-B14F-4D97-AF65-F5344CB8AC3E}">
        <p14:creationId xmlns:p14="http://schemas.microsoft.com/office/powerpoint/2010/main" val="3076277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D17D4B-5A81-4339-AE9D-1DFD5847AD36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ar-JO" altLang="en-US" smtClean="0"/>
          </a:p>
        </p:txBody>
      </p:sp>
    </p:spTree>
    <p:extLst>
      <p:ext uri="{BB962C8B-B14F-4D97-AF65-F5344CB8AC3E}">
        <p14:creationId xmlns:p14="http://schemas.microsoft.com/office/powerpoint/2010/main" val="1295399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F93689D-EBFA-44FB-B00A-CF84FF0CCABC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ar-JO" altLang="en-US" smtClean="0"/>
          </a:p>
        </p:txBody>
      </p:sp>
    </p:spTree>
    <p:extLst>
      <p:ext uri="{BB962C8B-B14F-4D97-AF65-F5344CB8AC3E}">
        <p14:creationId xmlns:p14="http://schemas.microsoft.com/office/powerpoint/2010/main" val="3167677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12059B5-78CE-41A2-BBF8-6B153972350C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ar-JO" altLang="en-US" smtClean="0"/>
          </a:p>
        </p:txBody>
      </p:sp>
    </p:spTree>
    <p:extLst>
      <p:ext uri="{BB962C8B-B14F-4D97-AF65-F5344CB8AC3E}">
        <p14:creationId xmlns:p14="http://schemas.microsoft.com/office/powerpoint/2010/main" val="257230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93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4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4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11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2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93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2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DA125-A832-4272-A319-C01AAA892F3A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69A8B-FBC3-49B1-9F2D-B04927C4AF5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2" y="0"/>
            <a:ext cx="788748" cy="78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5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300" y="697707"/>
            <a:ext cx="10820400" cy="23876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Computer Architecture &amp; Assembly Language</a:t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CSC-250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18707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 LECTURE </a:t>
            </a:r>
          </a:p>
          <a:p>
            <a:endParaRPr lang="en-US" dirty="0"/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DEPARTMENT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SIBAU KANDHKOT CAMPUS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671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computer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MECHANICAL</a:t>
            </a:r>
          </a:p>
          <a:p>
            <a:endParaRPr lang="en-US" dirty="0"/>
          </a:p>
          <a:p>
            <a:r>
              <a:rPr lang="en-US" dirty="0" smtClean="0"/>
              <a:t>ELOCTRO MECHANICAL</a:t>
            </a:r>
          </a:p>
          <a:p>
            <a:endParaRPr lang="en-US" dirty="0"/>
          </a:p>
          <a:p>
            <a:r>
              <a:rPr lang="en-US" dirty="0" smtClean="0"/>
              <a:t>ELECTRONIC</a:t>
            </a:r>
          </a:p>
          <a:p>
            <a:endParaRPr lang="en-US" dirty="0"/>
          </a:p>
          <a:p>
            <a:r>
              <a:rPr lang="en-US" dirty="0" smtClean="0"/>
              <a:t>MODREN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ENIAC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en-US" dirty="0"/>
              <a:t>Electronic Numerical Integrator And </a:t>
            </a:r>
            <a:r>
              <a:rPr lang="en-GB" altLang="en-US" dirty="0" smtClean="0"/>
              <a:t>Computer</a:t>
            </a:r>
            <a:endParaRPr lang="en-US" dirty="0" smtClean="0"/>
          </a:p>
          <a:p>
            <a:r>
              <a:rPr lang="en-US" dirty="0" smtClean="0"/>
              <a:t>Decimal </a:t>
            </a:r>
            <a:r>
              <a:rPr lang="en-US" dirty="0"/>
              <a:t>(not binary)</a:t>
            </a:r>
          </a:p>
          <a:p>
            <a:r>
              <a:rPr lang="en-US" dirty="0" smtClean="0"/>
              <a:t>20 </a:t>
            </a:r>
            <a:r>
              <a:rPr lang="en-US" dirty="0"/>
              <a:t>accumulators of 10 </a:t>
            </a:r>
            <a:r>
              <a:rPr lang="en-US" dirty="0" smtClean="0"/>
              <a:t>digits   (</a:t>
            </a:r>
            <a:r>
              <a:rPr lang="en-US" sz="1800" dirty="0" smtClean="0">
                <a:solidFill>
                  <a:srgbClr val="FF0000"/>
                </a:solidFill>
              </a:rPr>
              <a:t>ACCUMULATOR</a:t>
            </a:r>
            <a:r>
              <a:rPr lang="en-US" dirty="0" smtClean="0"/>
              <a:t>: </a:t>
            </a:r>
            <a:endParaRPr lang="en-US" dirty="0"/>
          </a:p>
          <a:p>
            <a:r>
              <a:rPr lang="en-US" dirty="0" smtClean="0"/>
              <a:t>Programmed </a:t>
            </a:r>
            <a:r>
              <a:rPr lang="en-US" dirty="0"/>
              <a:t>manually by switches</a:t>
            </a:r>
          </a:p>
          <a:p>
            <a:r>
              <a:rPr lang="en-US" dirty="0" smtClean="0"/>
              <a:t>18,000 </a:t>
            </a:r>
            <a:r>
              <a:rPr lang="en-US" dirty="0"/>
              <a:t>vacuum tubes</a:t>
            </a:r>
          </a:p>
          <a:p>
            <a:r>
              <a:rPr lang="en-US" dirty="0" smtClean="0"/>
              <a:t>30 </a:t>
            </a:r>
            <a:r>
              <a:rPr lang="en-US" dirty="0"/>
              <a:t>tons</a:t>
            </a:r>
          </a:p>
          <a:p>
            <a:r>
              <a:rPr lang="en-US" dirty="0" smtClean="0"/>
              <a:t>15,000 </a:t>
            </a:r>
            <a:r>
              <a:rPr lang="en-US" dirty="0"/>
              <a:t>square feet</a:t>
            </a:r>
          </a:p>
          <a:p>
            <a:r>
              <a:rPr lang="en-US" dirty="0" smtClean="0"/>
              <a:t>140 </a:t>
            </a:r>
            <a:r>
              <a:rPr lang="en-US" dirty="0"/>
              <a:t>kW power consumption</a:t>
            </a:r>
          </a:p>
          <a:p>
            <a:r>
              <a:rPr lang="en-US" dirty="0" smtClean="0"/>
              <a:t>5,000 </a:t>
            </a:r>
            <a:r>
              <a:rPr lang="en-US" dirty="0"/>
              <a:t>additions per second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91400" y="2147094"/>
            <a:ext cx="4356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 accumulator is a register for short-term, intermediate storage of arithmetic and logic data in a computer's CPU </a:t>
            </a:r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term "accumulator" is rarely used in reference to contemporary CPUs, having been replaced around the turn of the millennium by the term "register." In a modern computers, any register can function as an </a:t>
            </a:r>
            <a:r>
              <a:rPr lang="en-US" dirty="0" smtClean="0">
                <a:solidFill>
                  <a:srgbClr val="FF0000"/>
                </a:solidFill>
              </a:rPr>
              <a:t>accumulator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2195" y="4602044"/>
            <a:ext cx="4457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0070C0"/>
                </a:solidFill>
              </a:rPr>
              <a:t>Eckert and Mauchly</a:t>
            </a:r>
            <a:endParaRPr lang="en-GB" altLang="en-US" dirty="0">
              <a:solidFill>
                <a:srgbClr val="0070C0"/>
              </a:solidFill>
            </a:endParaRPr>
          </a:p>
          <a:p>
            <a:r>
              <a:rPr lang="en-GB" altLang="en-US" dirty="0">
                <a:solidFill>
                  <a:srgbClr val="0070C0"/>
                </a:solidFill>
              </a:rPr>
              <a:t>University of Pennsylvania</a:t>
            </a:r>
          </a:p>
          <a:p>
            <a:r>
              <a:rPr lang="en-GB" altLang="en-US" dirty="0">
                <a:solidFill>
                  <a:srgbClr val="0070C0"/>
                </a:solidFill>
              </a:rPr>
              <a:t>Trajectory tables for weapons </a:t>
            </a:r>
          </a:p>
          <a:p>
            <a:r>
              <a:rPr lang="en-GB" altLang="en-US" dirty="0">
                <a:solidFill>
                  <a:srgbClr val="0070C0"/>
                </a:solidFill>
              </a:rPr>
              <a:t>Started 1943</a:t>
            </a:r>
          </a:p>
          <a:p>
            <a:r>
              <a:rPr lang="en-GB" altLang="en-US" dirty="0">
                <a:solidFill>
                  <a:srgbClr val="0070C0"/>
                </a:solidFill>
              </a:rPr>
              <a:t>Finished 1946</a:t>
            </a:r>
          </a:p>
          <a:p>
            <a:pPr lvl="1"/>
            <a:r>
              <a:rPr lang="en-GB" altLang="en-US" dirty="0">
                <a:solidFill>
                  <a:srgbClr val="0070C0"/>
                </a:solidFill>
              </a:rPr>
              <a:t>Too late for war effort</a:t>
            </a:r>
          </a:p>
          <a:p>
            <a:r>
              <a:rPr lang="en-GB" altLang="en-US" dirty="0">
                <a:solidFill>
                  <a:srgbClr val="0070C0"/>
                </a:solidFill>
              </a:rPr>
              <a:t>Used until 1955</a:t>
            </a:r>
          </a:p>
        </p:txBody>
      </p:sp>
    </p:spTree>
    <p:extLst>
      <p:ext uri="{BB962C8B-B14F-4D97-AF65-F5344CB8AC3E}">
        <p14:creationId xmlns:p14="http://schemas.microsoft.com/office/powerpoint/2010/main" val="396174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von </a:t>
            </a:r>
            <a:r>
              <a:rPr lang="en-US" b="1" dirty="0"/>
              <a:t>Neumann/Turing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Stored Program concept</a:t>
            </a:r>
          </a:p>
          <a:p>
            <a:r>
              <a:rPr lang="en-US" b="1" dirty="0" smtClean="0"/>
              <a:t>Main </a:t>
            </a:r>
            <a:r>
              <a:rPr lang="en-US" b="1" dirty="0"/>
              <a:t>memory storing programs and data</a:t>
            </a:r>
            <a:endParaRPr lang="en-US" dirty="0"/>
          </a:p>
          <a:p>
            <a:r>
              <a:rPr lang="en-US" dirty="0" smtClean="0"/>
              <a:t>ALU </a:t>
            </a:r>
            <a:r>
              <a:rPr lang="en-US" dirty="0"/>
              <a:t>operating on binary data</a:t>
            </a:r>
          </a:p>
          <a:p>
            <a:r>
              <a:rPr lang="en-US" dirty="0" smtClean="0"/>
              <a:t>Control </a:t>
            </a:r>
            <a:r>
              <a:rPr lang="en-US" dirty="0"/>
              <a:t>unit interpreting instructions from memory and executing</a:t>
            </a:r>
          </a:p>
          <a:p>
            <a:r>
              <a:rPr lang="en-US" dirty="0" smtClean="0"/>
              <a:t>Input </a:t>
            </a:r>
            <a:r>
              <a:rPr lang="en-US" dirty="0"/>
              <a:t>and output equipment operated by control unit</a:t>
            </a:r>
          </a:p>
          <a:p>
            <a:r>
              <a:rPr lang="en-US" dirty="0" smtClean="0"/>
              <a:t>Princeton </a:t>
            </a:r>
            <a:r>
              <a:rPr lang="en-US" dirty="0"/>
              <a:t>Institute for Advanced Studies (</a:t>
            </a:r>
            <a:r>
              <a:rPr lang="en-US" b="1" dirty="0"/>
              <a:t>IAS</a:t>
            </a:r>
            <a:r>
              <a:rPr lang="en-US" dirty="0"/>
              <a:t>) computer</a:t>
            </a:r>
          </a:p>
          <a:p>
            <a:r>
              <a:rPr lang="en-US" dirty="0" smtClean="0"/>
              <a:t>Completed </a:t>
            </a:r>
            <a:r>
              <a:rPr lang="en-US" dirty="0"/>
              <a:t>1952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of von Neumann machine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800" y="1498600"/>
            <a:ext cx="8483599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5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von Neumann and the IAS machine, 1952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236200" cy="480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2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Commercial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1947 -Eckert-</a:t>
            </a:r>
            <a:r>
              <a:rPr lang="en-US" dirty="0" err="1"/>
              <a:t>Mauchly</a:t>
            </a:r>
            <a:r>
              <a:rPr lang="en-US" dirty="0"/>
              <a:t> Computer Corporation</a:t>
            </a:r>
          </a:p>
          <a:p>
            <a:r>
              <a:rPr lang="en-US" b="1" dirty="0" smtClean="0"/>
              <a:t>UNIVAC </a:t>
            </a:r>
            <a:r>
              <a:rPr lang="en-US" b="1" dirty="0"/>
              <a:t>I</a:t>
            </a:r>
            <a:r>
              <a:rPr lang="en-US" dirty="0"/>
              <a:t>(Universal Automatic Computer)</a:t>
            </a:r>
          </a:p>
          <a:p>
            <a:r>
              <a:rPr lang="en-US" dirty="0" smtClean="0"/>
              <a:t>US </a:t>
            </a:r>
            <a:r>
              <a:rPr lang="en-US" dirty="0"/>
              <a:t>Bureau of Census 1950 calculations</a:t>
            </a:r>
          </a:p>
          <a:p>
            <a:r>
              <a:rPr lang="en-US" dirty="0" smtClean="0"/>
              <a:t>Became </a:t>
            </a:r>
            <a:r>
              <a:rPr lang="en-US" dirty="0"/>
              <a:t>part of Sperry-Rand Corporation</a:t>
            </a:r>
          </a:p>
          <a:p>
            <a:r>
              <a:rPr lang="en-US" dirty="0" smtClean="0"/>
              <a:t>Late </a:t>
            </a:r>
            <a:r>
              <a:rPr lang="en-US" dirty="0"/>
              <a:t>1950s -UNIVAC II</a:t>
            </a:r>
          </a:p>
          <a:p>
            <a:r>
              <a:rPr lang="en-US" dirty="0"/>
              <a:t>—Faster</a:t>
            </a:r>
          </a:p>
          <a:p>
            <a:r>
              <a:rPr lang="en-US" dirty="0"/>
              <a:t>—More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42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IBM (</a:t>
            </a:r>
            <a:r>
              <a:rPr lang="en-US" sz="3600" dirty="0"/>
              <a:t>International Business Machines Corporation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Punched-card processing equipment</a:t>
            </a:r>
          </a:p>
          <a:p>
            <a:r>
              <a:rPr lang="en-US" dirty="0" smtClean="0"/>
              <a:t>1953 </a:t>
            </a:r>
            <a:r>
              <a:rPr lang="en-US" dirty="0"/>
              <a:t>-the 701</a:t>
            </a:r>
          </a:p>
          <a:p>
            <a:r>
              <a:rPr lang="en-US" dirty="0" smtClean="0"/>
              <a:t>IBM’s </a:t>
            </a:r>
            <a:r>
              <a:rPr lang="en-US" dirty="0"/>
              <a:t>first stored program computer</a:t>
            </a:r>
          </a:p>
          <a:p>
            <a:r>
              <a:rPr lang="en-US" dirty="0" smtClean="0"/>
              <a:t>Scientific </a:t>
            </a:r>
            <a:r>
              <a:rPr lang="en-US" dirty="0"/>
              <a:t>calculations</a:t>
            </a:r>
          </a:p>
          <a:p>
            <a:r>
              <a:rPr lang="en-US" dirty="0" smtClean="0"/>
              <a:t>1955 </a:t>
            </a:r>
            <a:r>
              <a:rPr lang="en-US" dirty="0"/>
              <a:t>-the 702</a:t>
            </a:r>
          </a:p>
          <a:p>
            <a:r>
              <a:rPr lang="en-US" dirty="0" smtClean="0"/>
              <a:t>Business </a:t>
            </a:r>
            <a:r>
              <a:rPr lang="en-US" dirty="0"/>
              <a:t>applications</a:t>
            </a:r>
          </a:p>
          <a:p>
            <a:r>
              <a:rPr lang="en-US" dirty="0" smtClean="0"/>
              <a:t>Lead </a:t>
            </a:r>
            <a:r>
              <a:rPr lang="en-US" dirty="0"/>
              <a:t>to 700/7000 series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075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Transistors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Replaced vacuum tubes</a:t>
            </a:r>
          </a:p>
          <a:p>
            <a:r>
              <a:rPr lang="en-US" altLang="en-US" dirty="0" smtClean="0"/>
              <a:t>Smaller</a:t>
            </a:r>
          </a:p>
          <a:p>
            <a:r>
              <a:rPr lang="en-US" altLang="en-US" dirty="0" smtClean="0"/>
              <a:t>Cheaper</a:t>
            </a:r>
          </a:p>
          <a:p>
            <a:r>
              <a:rPr lang="en-US" altLang="en-US" dirty="0" smtClean="0"/>
              <a:t>Less heat dissipation</a:t>
            </a:r>
          </a:p>
          <a:p>
            <a:r>
              <a:rPr lang="en-US" altLang="en-US" dirty="0" smtClean="0"/>
              <a:t>Solid State device</a:t>
            </a:r>
          </a:p>
          <a:p>
            <a:r>
              <a:rPr lang="en-US" altLang="en-US" dirty="0" smtClean="0"/>
              <a:t>Made from Silicon (Sand)</a:t>
            </a:r>
          </a:p>
          <a:p>
            <a:r>
              <a:rPr lang="en-US" altLang="en-US" dirty="0" smtClean="0"/>
              <a:t>Invented 1947 at Bell Labs</a:t>
            </a:r>
          </a:p>
          <a:p>
            <a:r>
              <a:rPr lang="en-US" altLang="en-US" dirty="0" smtClean="0"/>
              <a:t>William Shockley et al.</a:t>
            </a:r>
          </a:p>
        </p:txBody>
      </p:sp>
    </p:spTree>
    <p:extLst>
      <p:ext uri="{BB962C8B-B14F-4D97-AF65-F5344CB8AC3E}">
        <p14:creationId xmlns:p14="http://schemas.microsoft.com/office/powerpoint/2010/main" val="2449916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Transistor Based Computers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Second generation machines</a:t>
            </a:r>
          </a:p>
          <a:p>
            <a:r>
              <a:rPr lang="en-US" altLang="en-US" dirty="0" smtClean="0"/>
              <a:t>NCR &amp; RCA produced small transistor machines</a:t>
            </a:r>
          </a:p>
          <a:p>
            <a:r>
              <a:rPr lang="en-US" altLang="en-US" dirty="0" smtClean="0"/>
              <a:t>IBM 7000</a:t>
            </a:r>
          </a:p>
          <a:p>
            <a:r>
              <a:rPr lang="en-US" altLang="en-US" dirty="0" smtClean="0"/>
              <a:t>DEC - 1957</a:t>
            </a:r>
          </a:p>
          <a:p>
            <a:pPr lvl="1"/>
            <a:r>
              <a:rPr lang="en-US" altLang="en-US" dirty="0" smtClean="0"/>
              <a:t>Produced PDP-1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2009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Microelectronics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Literally - “small electronics”</a:t>
            </a:r>
          </a:p>
          <a:p>
            <a:r>
              <a:rPr lang="en-US" altLang="en-US" dirty="0" smtClean="0"/>
              <a:t>A computer is made up of gates, memory cells and interconnections</a:t>
            </a:r>
          </a:p>
          <a:p>
            <a:r>
              <a:rPr lang="en-US" altLang="en-US" dirty="0" smtClean="0"/>
              <a:t>These can be manufactured on a semiconductor</a:t>
            </a:r>
          </a:p>
          <a:p>
            <a:r>
              <a:rPr lang="en-US" altLang="en-US" dirty="0" smtClean="0"/>
              <a:t>e.g. silicon wafer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85125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Generations of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Vacuum tube -1946-1957</a:t>
            </a:r>
          </a:p>
          <a:p>
            <a:r>
              <a:rPr lang="en-US" dirty="0" smtClean="0"/>
              <a:t>Transistor </a:t>
            </a:r>
            <a:r>
              <a:rPr lang="en-US" dirty="0"/>
              <a:t>-1958-1964</a:t>
            </a:r>
          </a:p>
          <a:p>
            <a:r>
              <a:rPr lang="en-US" dirty="0" smtClean="0"/>
              <a:t>Small </a:t>
            </a:r>
            <a:r>
              <a:rPr lang="en-US" dirty="0"/>
              <a:t>scale integration -1965 on</a:t>
            </a:r>
          </a:p>
          <a:p>
            <a:r>
              <a:rPr lang="en-US" dirty="0" smtClean="0"/>
              <a:t>Up </a:t>
            </a:r>
            <a:r>
              <a:rPr lang="en-US" dirty="0"/>
              <a:t>to 100 devices on a chip</a:t>
            </a:r>
          </a:p>
          <a:p>
            <a:r>
              <a:rPr lang="en-US" dirty="0" smtClean="0"/>
              <a:t>Medium </a:t>
            </a:r>
            <a:r>
              <a:rPr lang="en-US" dirty="0"/>
              <a:t>scale integration -to 1971</a:t>
            </a:r>
          </a:p>
          <a:p>
            <a:r>
              <a:rPr lang="en-US" dirty="0" smtClean="0"/>
              <a:t>100-3,000 </a:t>
            </a:r>
            <a:r>
              <a:rPr lang="en-US" dirty="0"/>
              <a:t>devices on a chip</a:t>
            </a:r>
          </a:p>
          <a:p>
            <a:r>
              <a:rPr lang="en-US" dirty="0" smtClean="0"/>
              <a:t>Large </a:t>
            </a:r>
            <a:r>
              <a:rPr lang="en-US" dirty="0"/>
              <a:t>scale integration -1971-1977</a:t>
            </a:r>
          </a:p>
          <a:p>
            <a:r>
              <a:rPr lang="en-US" dirty="0" smtClean="0"/>
              <a:t>3,000 </a:t>
            </a:r>
            <a:r>
              <a:rPr lang="en-US" dirty="0"/>
              <a:t>-100,000 devices on a chip</a:t>
            </a:r>
          </a:p>
          <a:p>
            <a:r>
              <a:rPr lang="en-US" dirty="0" smtClean="0"/>
              <a:t>Very </a:t>
            </a:r>
            <a:r>
              <a:rPr lang="en-US" dirty="0"/>
              <a:t>large scale integration -1978 -1991</a:t>
            </a:r>
          </a:p>
          <a:p>
            <a:r>
              <a:rPr lang="en-US" dirty="0" smtClean="0"/>
              <a:t>100,000 </a:t>
            </a:r>
            <a:r>
              <a:rPr lang="en-US" dirty="0"/>
              <a:t>-100,000,000 devices on a chip</a:t>
            </a:r>
          </a:p>
          <a:p>
            <a:r>
              <a:rPr lang="en-US" dirty="0" smtClean="0"/>
              <a:t>Ultra </a:t>
            </a:r>
            <a:r>
              <a:rPr lang="en-US" dirty="0"/>
              <a:t>large scale integration –1991 -</a:t>
            </a:r>
          </a:p>
          <a:p>
            <a:r>
              <a:rPr lang="en-US" dirty="0" smtClean="0"/>
              <a:t>Over </a:t>
            </a:r>
            <a:r>
              <a:rPr lang="en-US" dirty="0"/>
              <a:t>100,000,000 devices on a chip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803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Moore’s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Increased density of components on chip</a:t>
            </a:r>
          </a:p>
          <a:p>
            <a:r>
              <a:rPr lang="en-US" dirty="0" smtClean="0"/>
              <a:t>Gordon </a:t>
            </a:r>
            <a:r>
              <a:rPr lang="en-US" dirty="0"/>
              <a:t>Moore –co-founder of Intel</a:t>
            </a:r>
          </a:p>
          <a:p>
            <a:r>
              <a:rPr lang="en-US" dirty="0" smtClean="0"/>
              <a:t>Number </a:t>
            </a:r>
            <a:r>
              <a:rPr lang="en-US" dirty="0"/>
              <a:t>of transistors on a chip will double every year</a:t>
            </a:r>
          </a:p>
          <a:p>
            <a:r>
              <a:rPr lang="en-US" dirty="0" smtClean="0"/>
              <a:t>Since </a:t>
            </a:r>
            <a:r>
              <a:rPr lang="en-US" dirty="0"/>
              <a:t>1970’s development has slowed a little</a:t>
            </a:r>
          </a:p>
          <a:p>
            <a:r>
              <a:rPr lang="en-US" dirty="0" smtClean="0"/>
              <a:t>Number </a:t>
            </a:r>
            <a:r>
              <a:rPr lang="en-US" dirty="0"/>
              <a:t>of transistors doubles every 18 months</a:t>
            </a:r>
          </a:p>
          <a:p>
            <a:r>
              <a:rPr lang="en-US" dirty="0" smtClean="0"/>
              <a:t>Cost </a:t>
            </a:r>
            <a:r>
              <a:rPr lang="en-US" dirty="0"/>
              <a:t>of a chip has remained almost unchanged</a:t>
            </a:r>
          </a:p>
          <a:p>
            <a:r>
              <a:rPr lang="en-US" dirty="0" smtClean="0"/>
              <a:t>Higher </a:t>
            </a:r>
            <a:r>
              <a:rPr lang="en-US" dirty="0"/>
              <a:t>packing density means shorter electrical paths, giving higher performance</a:t>
            </a:r>
          </a:p>
          <a:p>
            <a:r>
              <a:rPr lang="en-US" dirty="0" smtClean="0"/>
              <a:t>Smaller </a:t>
            </a:r>
            <a:r>
              <a:rPr lang="en-US" dirty="0"/>
              <a:t>size gives increased flexibility</a:t>
            </a:r>
          </a:p>
          <a:p>
            <a:r>
              <a:rPr lang="en-US" dirty="0" smtClean="0"/>
              <a:t>Reduced </a:t>
            </a:r>
            <a:r>
              <a:rPr lang="en-US" dirty="0"/>
              <a:t>power and cooling requirements</a:t>
            </a:r>
          </a:p>
          <a:p>
            <a:r>
              <a:rPr lang="en-US" dirty="0" smtClean="0"/>
              <a:t>Fewer </a:t>
            </a:r>
            <a:r>
              <a:rPr lang="en-US" dirty="0"/>
              <a:t>interconnections increases reliability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73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1371600" y="404814"/>
            <a:ext cx="8229600" cy="814387"/>
          </a:xfrm>
        </p:spPr>
        <p:txBody>
          <a:bodyPr>
            <a:normAutofit/>
          </a:bodyPr>
          <a:lstStyle/>
          <a:p>
            <a:r>
              <a:rPr lang="en-US" altLang="en-US" sz="3200" b="1" dirty="0"/>
              <a:t>Rock’s Law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1219200" y="1433512"/>
            <a:ext cx="10756900" cy="4776787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Arthur </a:t>
            </a:r>
            <a:r>
              <a:rPr lang="en-US" altLang="en-US" sz="2400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Rock, is a corollary to Moore’s law</a:t>
            </a:r>
            <a:r>
              <a:rPr lang="en-US" altLang="en-US" sz="2400" dirty="0" smtClean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2500" b="1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en-US" b="1" dirty="0" smtClean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b="1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of capital equipment to build semiconductor will 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en-US" b="1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b="1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en-US" altLang="en-US" b="1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b="1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lang="en-US" altLang="en-US" sz="2400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”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Rock’s Law arises from the observations of a financier who has seen the price tag of new chip facilities escalate from about $12,000 in 1968 to $12 million in the late 1990s.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At this rate, by the year 2035, not only will the size of a memory element be smaller than an atom, but it would also require the entire wealth of the world to build a single chip!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So even if we continue to make chips smaller and faster, the ultimate question may be whether we can afford to build them</a:t>
            </a:r>
          </a:p>
        </p:txBody>
      </p:sp>
    </p:spTree>
    <p:extLst>
      <p:ext uri="{BB962C8B-B14F-4D97-AF65-F5344CB8AC3E}">
        <p14:creationId xmlns:p14="http://schemas.microsoft.com/office/powerpoint/2010/main" val="423767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1411310" y="30909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1</a:t>
            </a:r>
            <a:r>
              <a:rPr lang="en-US" altLang="en-US" sz="3600" b="1" baseline="30000" dirty="0"/>
              <a:t>st</a:t>
            </a:r>
            <a:r>
              <a:rPr lang="en-US" altLang="en-US" sz="3600" b="1" dirty="0"/>
              <a:t> Generation Computers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965200" y="1574800"/>
            <a:ext cx="9144000" cy="39624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vacuum tubes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logic and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(very little storage available)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vacuum-tube circuit storing 1 byte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Programmed in machine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programmed by physical connection (hardwiring)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Slow, unreliable, expensive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ENIAC – often thought of as the first programmable electronic computer – 1946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17468 vacuum tubes, 1800 square feet, 30 tons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1800" dirty="0"/>
          </a:p>
        </p:txBody>
      </p:sp>
      <p:pic>
        <p:nvPicPr>
          <p:cNvPr id="44037" name="Picture 8" descr="TUB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601" y="4686300"/>
            <a:ext cx="147796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614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1" y="179387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2</a:t>
            </a:r>
            <a:r>
              <a:rPr lang="en-US" altLang="en-US" sz="3600" b="1" baseline="30000" dirty="0"/>
              <a:t>nd</a:t>
            </a:r>
            <a:r>
              <a:rPr lang="en-US" altLang="en-US" sz="3600" b="1" dirty="0"/>
              <a:t> Generation Computers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xfrm>
            <a:off x="1295401" y="1501775"/>
            <a:ext cx="9144000" cy="4495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Transistors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replaced vacuum tubes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core memory introduced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technology brought about cheaper and more reliable computers (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vacuum tubes were very unreliable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these units were smaller, they were closer together providing a speedup over vacuum tubes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programming languages introduced (assembly, high-level)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Rudimentary OS developed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supercomputer was introduced, CDC 6600 ($10 million)</a:t>
            </a:r>
          </a:p>
        </p:txBody>
      </p:sp>
      <p:pic>
        <p:nvPicPr>
          <p:cNvPr id="45061" name="Picture 8" descr="TRA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6"/>
          <a:stretch>
            <a:fillRect/>
          </a:stretch>
        </p:blipFill>
        <p:spPr bwMode="auto">
          <a:xfrm>
            <a:off x="10146507" y="4805363"/>
            <a:ext cx="12938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73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Second generation of computers Transistors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Replaced vacuum tubes</a:t>
            </a:r>
          </a:p>
          <a:p>
            <a:r>
              <a:rPr lang="en-US" dirty="0" smtClean="0"/>
              <a:t>Smaller</a:t>
            </a:r>
            <a:endParaRPr lang="en-US" dirty="0"/>
          </a:p>
          <a:p>
            <a:r>
              <a:rPr lang="en-US" dirty="0" smtClean="0"/>
              <a:t>Cheaper</a:t>
            </a:r>
            <a:endParaRPr lang="en-US" dirty="0"/>
          </a:p>
          <a:p>
            <a:r>
              <a:rPr lang="en-US" dirty="0" smtClean="0"/>
              <a:t>Less </a:t>
            </a:r>
            <a:r>
              <a:rPr lang="en-US" dirty="0"/>
              <a:t>heat dissipation</a:t>
            </a:r>
          </a:p>
          <a:p>
            <a:r>
              <a:rPr lang="en-US" dirty="0" smtClean="0"/>
              <a:t>Solid </a:t>
            </a:r>
            <a:r>
              <a:rPr lang="en-US" dirty="0"/>
              <a:t>State device</a:t>
            </a:r>
          </a:p>
          <a:p>
            <a:r>
              <a:rPr lang="en-US" dirty="0" smtClean="0"/>
              <a:t>Made </a:t>
            </a:r>
            <a:r>
              <a:rPr lang="en-US" dirty="0"/>
              <a:t>from Silicon (Sand)</a:t>
            </a:r>
          </a:p>
          <a:p>
            <a:r>
              <a:rPr lang="en-US" dirty="0" smtClean="0"/>
              <a:t>Invented </a:t>
            </a:r>
            <a:r>
              <a:rPr lang="en-US" dirty="0"/>
              <a:t>1947 at Bell Labs by William Shockley et 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1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1417391" y="3238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 Computers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706012" y="1312303"/>
            <a:ext cx="10485728" cy="5105400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b="1" dirty="0" smtClean="0"/>
              <a:t>ability </a:t>
            </a:r>
            <a:r>
              <a:rPr lang="en-US" sz="2400" b="1" dirty="0"/>
              <a:t>to place circuits onto silicon </a:t>
            </a:r>
            <a:r>
              <a:rPr lang="en-US" sz="2400" b="1" dirty="0" smtClean="0"/>
              <a:t>chips  </a:t>
            </a: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endParaRPr lang="en-US" sz="2400" b="1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both transistors and magnetic core memory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was easily mass-produced components reducing the cost of computer manufacturing significantly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increased speed and memory capacity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families introduced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Minicomputers introduced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sophisticated programming languages and OS developed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computers included PDP-8, PDP-11, IBM 360 and Cray produced their first supercomputer, Cray-1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chips now contained  both logic (CPU) and  memory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computer usage led to time-sharing OS</a:t>
            </a:r>
          </a:p>
          <a:p>
            <a:pPr marL="457200" lvl="1" indent="0"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defRPr/>
            </a:pPr>
            <a:endParaRPr lang="en-US" sz="1800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45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535" y="5969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Third generation of </a:t>
            </a:r>
            <a:r>
              <a:rPr lang="en-US" sz="3200" b="1" dirty="0" smtClean="0"/>
              <a:t>computers</a:t>
            </a:r>
            <a:r>
              <a:rPr lang="en-US" sz="3200" b="1" dirty="0"/>
              <a:t> </a:t>
            </a:r>
            <a:r>
              <a:rPr lang="en-US" sz="3200" b="1" dirty="0" smtClean="0"/>
              <a:t>Integrated </a:t>
            </a:r>
            <a:r>
              <a:rPr lang="en-US" sz="3200" b="1" dirty="0"/>
              <a:t>Circuits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6090" y="2333625"/>
            <a:ext cx="10515600" cy="4351338"/>
          </a:xfrm>
        </p:spPr>
        <p:txBody>
          <a:bodyPr/>
          <a:lstStyle/>
          <a:p>
            <a:r>
              <a:rPr lang="en-US" dirty="0"/>
              <a:t>A computer is made up of gates, memory cells and interconnections</a:t>
            </a:r>
          </a:p>
          <a:p>
            <a:r>
              <a:rPr lang="en-US" dirty="0" smtClean="0"/>
              <a:t>All </a:t>
            </a:r>
            <a:r>
              <a:rPr lang="en-US" dirty="0"/>
              <a:t>these can be manufactured either separately (discrete components) or</a:t>
            </a:r>
          </a:p>
          <a:p>
            <a:r>
              <a:rPr lang="en-US" dirty="0" smtClean="0"/>
              <a:t>on </a:t>
            </a:r>
            <a:r>
              <a:rPr lang="en-US" dirty="0"/>
              <a:t>the same piece of semiconductor (a.k.a. silicon wafer)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3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1650999" y="355600"/>
            <a:ext cx="7802093" cy="1143000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4</a:t>
            </a:r>
            <a:r>
              <a:rPr lang="en-US" altLang="en-US" sz="3600" b="1" baseline="30000" dirty="0"/>
              <a:t>th</a:t>
            </a:r>
            <a:r>
              <a:rPr lang="en-US" altLang="en-US" sz="3600" b="1" dirty="0"/>
              <a:t> Generation Computers</a:t>
            </a:r>
            <a:br>
              <a:rPr lang="en-US" altLang="en-US" sz="3600" b="1" dirty="0"/>
            </a:br>
            <a:r>
              <a:rPr lang="en-US" altLang="en-US" sz="3600" b="1" dirty="0"/>
              <a:t>1971-Present: Microprocessors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876300" y="1765300"/>
            <a:ext cx="10210800" cy="4470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Miniaturization took over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(10-100 components per chip) to (10,000+)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ICs were built onto a single silicon chip(VLSI), which allowed Intel, in 1971, to 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world’s first microprocessor, the 4004, which was a fully functional, 4-bit system that ran at 108KHz. 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also introduced the RAM chip, accommodating 4Kb of memory on a single chip. This allowed computers of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to become smaller and faster than their solid-state predecessors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also saw the development of </a:t>
            </a:r>
            <a:r>
              <a:rPr lang="en-US" alt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handheld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</p:txBody>
      </p:sp>
    </p:spTree>
    <p:extLst>
      <p:ext uri="{BB962C8B-B14F-4D97-AF65-F5344CB8AC3E}">
        <p14:creationId xmlns:p14="http://schemas.microsoft.com/office/powerpoint/2010/main" val="179448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Microprocessors -Intel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1971 -4004 </a:t>
            </a:r>
          </a:p>
          <a:p>
            <a:r>
              <a:rPr lang="en-US" dirty="0" smtClean="0"/>
              <a:t>First </a:t>
            </a:r>
            <a:r>
              <a:rPr lang="en-US" dirty="0"/>
              <a:t>microprocessor</a:t>
            </a:r>
          </a:p>
          <a:p>
            <a:r>
              <a:rPr lang="en-US" dirty="0" smtClean="0"/>
              <a:t>All </a:t>
            </a:r>
            <a:r>
              <a:rPr lang="en-US" dirty="0"/>
              <a:t>CPU components on a single chip</a:t>
            </a:r>
          </a:p>
          <a:p>
            <a:r>
              <a:rPr lang="en-US" dirty="0" smtClean="0"/>
              <a:t>4 </a:t>
            </a:r>
            <a:r>
              <a:rPr lang="en-US" dirty="0"/>
              <a:t>bit</a:t>
            </a:r>
          </a:p>
          <a:p>
            <a:r>
              <a:rPr lang="en-US" dirty="0" smtClean="0"/>
              <a:t>Multiplication </a:t>
            </a:r>
            <a:r>
              <a:rPr lang="en-US" dirty="0"/>
              <a:t>by repeated addition, no hardware multiplier!</a:t>
            </a:r>
          </a:p>
          <a:p>
            <a:r>
              <a:rPr lang="en-US" dirty="0" smtClean="0"/>
              <a:t>Followed </a:t>
            </a:r>
            <a:r>
              <a:rPr lang="en-US" dirty="0"/>
              <a:t>in 1972 by 8008</a:t>
            </a:r>
          </a:p>
          <a:p>
            <a:r>
              <a:rPr lang="en-US" dirty="0" smtClean="0"/>
              <a:t>8 </a:t>
            </a:r>
            <a:r>
              <a:rPr lang="en-US" dirty="0"/>
              <a:t>bit</a:t>
            </a:r>
          </a:p>
          <a:p>
            <a:r>
              <a:rPr lang="en-US" dirty="0" smtClean="0"/>
              <a:t>Both </a:t>
            </a:r>
            <a:r>
              <a:rPr lang="en-US" dirty="0"/>
              <a:t>designed for specific applications</a:t>
            </a:r>
          </a:p>
          <a:p>
            <a:r>
              <a:rPr lang="en-US" dirty="0" smtClean="0"/>
              <a:t>1974 </a:t>
            </a:r>
            <a:r>
              <a:rPr lang="en-US" dirty="0"/>
              <a:t>-8080</a:t>
            </a:r>
          </a:p>
          <a:p>
            <a:r>
              <a:rPr lang="en-US" dirty="0" smtClean="0"/>
              <a:t>Intel’s </a:t>
            </a:r>
            <a:r>
              <a:rPr lang="en-US" dirty="0"/>
              <a:t>first general purpose microprocessor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1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ChangeArrowheads="1"/>
          </p:cNvSpPr>
          <p:nvPr>
            <p:ph type="title"/>
          </p:nvPr>
        </p:nvSpPr>
        <p:spPr>
          <a:xfrm>
            <a:off x="1943100" y="0"/>
            <a:ext cx="82296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sz="3400" b="1" dirty="0" smtClean="0"/>
              <a:t>Computer </a:t>
            </a:r>
            <a:r>
              <a:rPr lang="en-US" altLang="en-US" sz="3400" b="1" dirty="0"/>
              <a:t>Level Hierarchy</a:t>
            </a:r>
            <a:endParaRPr lang="en-US" altLang="en-US" sz="3400" dirty="0"/>
          </a:p>
        </p:txBody>
      </p:sp>
      <p:pic>
        <p:nvPicPr>
          <p:cNvPr id="52229" name="Picture 6" descr="Lay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" y="1285875"/>
            <a:ext cx="9575800" cy="492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126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altLang="en-US" smtClean="0"/>
              <a:t>The Von Neumann Architecture</a:t>
            </a:r>
          </a:p>
        </p:txBody>
      </p:sp>
      <p:sp>
        <p:nvSpPr>
          <p:cNvPr id="60419" name="Content Placeholder 3"/>
          <p:cNvSpPr>
            <a:spLocks noGrp="1"/>
          </p:cNvSpPr>
          <p:nvPr>
            <p:ph idx="1"/>
          </p:nvPr>
        </p:nvSpPr>
        <p:spPr>
          <a:xfrm>
            <a:off x="1714500" y="1612901"/>
            <a:ext cx="9588500" cy="4830763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Named after John von Neumann, Princeton, he designed a computer architecture whereby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data and instructions would be retrieved from memory</a:t>
            </a:r>
            <a:r>
              <a:rPr lang="en-US" altLang="en-US" dirty="0" smtClean="0">
                <a:latin typeface="Times New Roman" panose="02020603050405020304" pitchFamily="18" charset="0"/>
              </a:rPr>
              <a:t>,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dirty="0" smtClean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operated on by an ALU, and moved back to memory (or I/O</a:t>
            </a:r>
            <a:r>
              <a:rPr lang="en-US" altLang="en-US" dirty="0" smtClean="0">
                <a:latin typeface="Times New Roman" panose="02020603050405020304" pitchFamily="18" charset="0"/>
              </a:rPr>
              <a:t>)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This architecture is the basis for most modern computers (only parallel processors and a few other unique architectures use a different model)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28106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Content Placeholder 8"/>
          <p:cNvSpPr>
            <a:spLocks noGrp="1"/>
          </p:cNvSpPr>
          <p:nvPr>
            <p:ph idx="1"/>
          </p:nvPr>
        </p:nvSpPr>
        <p:spPr>
          <a:xfrm>
            <a:off x="1171977" y="558800"/>
            <a:ext cx="10367493" cy="5567364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Hardware consists of 3 </a:t>
            </a:r>
            <a:r>
              <a:rPr lang="en-US" altLang="en-US" dirty="0" smtClean="0">
                <a:latin typeface="Times New Roman" panose="02020603050405020304" pitchFamily="18" charset="0"/>
              </a:rPr>
              <a:t>units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</a:rPr>
              <a:t> CPU (control unit, ALU, registers) </a:t>
            </a:r>
          </a:p>
          <a:p>
            <a:pPr marL="914400" lvl="1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dirty="0" smtClean="0">
                <a:latin typeface="Times New Roman" panose="02020603050405020304" pitchFamily="18" charset="0"/>
              </a:rPr>
              <a:t> Memory </a:t>
            </a:r>
            <a:r>
              <a:rPr lang="en-US" altLang="en-US" dirty="0">
                <a:latin typeface="Times New Roman" panose="02020603050405020304" pitchFamily="18" charset="0"/>
              </a:rPr>
              <a:t>(stores programs and data)</a:t>
            </a:r>
          </a:p>
          <a:p>
            <a:pPr marL="914400" lvl="1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</a:rPr>
              <a:t> I/O System (including secondary storage)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dirty="0" smtClean="0">
                <a:latin typeface="Times New Roman" panose="02020603050405020304" pitchFamily="18" charset="0"/>
              </a:rPr>
              <a:t>Instructions </a:t>
            </a:r>
            <a:r>
              <a:rPr lang="en-US" altLang="en-US" dirty="0">
                <a:latin typeface="Times New Roman" panose="02020603050405020304" pitchFamily="18" charset="0"/>
              </a:rPr>
              <a:t>in memory are executed sequentially unless a program instruction explicitly changes the order</a:t>
            </a:r>
          </a:p>
          <a:p>
            <a:pPr marL="0" indent="0">
              <a:buNone/>
            </a:pPr>
            <a:endParaRPr lang="en-US" altLang="en-US" dirty="0" smtClean="0"/>
          </a:p>
        </p:txBody>
      </p:sp>
      <p:grpSp>
        <p:nvGrpSpPr>
          <p:cNvPr id="61444" name="Group 5"/>
          <p:cNvGrpSpPr>
            <a:grpSpLocks/>
          </p:cNvGrpSpPr>
          <p:nvPr/>
        </p:nvGrpSpPr>
        <p:grpSpPr bwMode="auto">
          <a:xfrm>
            <a:off x="5410200" y="3593206"/>
            <a:ext cx="6781800" cy="2960844"/>
            <a:chOff x="144" y="593"/>
            <a:chExt cx="3397" cy="3266"/>
          </a:xfrm>
        </p:grpSpPr>
        <p:graphicFrame>
          <p:nvGraphicFramePr>
            <p:cNvPr id="61445" name="Object 6"/>
            <p:cNvGraphicFramePr>
              <a:graphicFrameLocks noChangeAspect="1"/>
            </p:cNvGraphicFramePr>
            <p:nvPr/>
          </p:nvGraphicFramePr>
          <p:xfrm>
            <a:off x="144" y="593"/>
            <a:ext cx="3397" cy="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" name="Bitmap Image" r:id="rId3" imgW="6200000" imgH="5904762" progId="Paint.Picture">
                    <p:embed/>
                  </p:oleObj>
                </mc:Choice>
                <mc:Fallback>
                  <p:oleObj name="Bitmap Image" r:id="rId3" imgW="6200000" imgH="590476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b="25812"/>
                        <a:stretch>
                          <a:fillRect/>
                        </a:stretch>
                      </p:blipFill>
                      <p:spPr bwMode="auto">
                        <a:xfrm>
                          <a:off x="144" y="593"/>
                          <a:ext cx="3397" cy="2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46" name="Object 7"/>
            <p:cNvGraphicFramePr>
              <a:graphicFrameLocks noChangeAspect="1"/>
            </p:cNvGraphicFramePr>
            <p:nvPr/>
          </p:nvGraphicFramePr>
          <p:xfrm>
            <a:off x="144" y="3072"/>
            <a:ext cx="1632" cy="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" name="Bitmap Image" r:id="rId5" imgW="6200000" imgH="5904762" progId="Paint.Picture">
                    <p:embed/>
                  </p:oleObj>
                </mc:Choice>
                <mc:Fallback>
                  <p:oleObj name="Bitmap Image" r:id="rId5" imgW="6200000" imgH="590476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75673" r="51958"/>
                        <a:stretch>
                          <a:fillRect/>
                        </a:stretch>
                      </p:blipFill>
                      <p:spPr bwMode="auto">
                        <a:xfrm>
                          <a:off x="144" y="3072"/>
                          <a:ext cx="1632" cy="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6394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Von Neumann Architectures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1600201"/>
            <a:ext cx="88392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There is a single pathway used to move both data and instructions between memory, I/O and CPU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pathway is implemented as a bus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single pathway creates a bottleneck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known as the </a:t>
            </a:r>
            <a:r>
              <a:rPr lang="en-US" altLang="en-US" i="1" dirty="0"/>
              <a:t>von Neumann bottleneck</a:t>
            </a:r>
          </a:p>
          <a:p>
            <a:pPr lvl="2" eaLnBrk="1" hangingPunct="1">
              <a:lnSpc>
                <a:spcPct val="80000"/>
              </a:lnSpc>
            </a:pPr>
            <a:endParaRPr lang="en-US" altLang="en-US" i="1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 </a:t>
            </a:r>
            <a:r>
              <a:rPr lang="en-US" altLang="en-US" b="1" dirty="0"/>
              <a:t>variation</a:t>
            </a:r>
            <a:r>
              <a:rPr lang="en-US" altLang="en-US" dirty="0"/>
              <a:t> of this architecture is the </a:t>
            </a:r>
            <a:r>
              <a:rPr lang="en-US" altLang="en-US" i="1" dirty="0">
                <a:solidFill>
                  <a:srgbClr val="FF0000"/>
                </a:solidFill>
              </a:rPr>
              <a:t>Harvard architecture </a:t>
            </a:r>
            <a:r>
              <a:rPr lang="en-US" altLang="en-US" dirty="0"/>
              <a:t>which separates data and instructions into </a:t>
            </a:r>
            <a:r>
              <a:rPr lang="en-US" altLang="en-US" b="1" dirty="0">
                <a:solidFill>
                  <a:srgbClr val="FF0000"/>
                </a:solidFill>
              </a:rPr>
              <a:t>two pathways</a:t>
            </a:r>
            <a:endParaRPr lang="en-US" altLang="en-US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b="1" dirty="0"/>
              <a:t>Another variation</a:t>
            </a:r>
            <a:r>
              <a:rPr lang="en-US" altLang="en-US" dirty="0"/>
              <a:t>, used in most computers, </a:t>
            </a:r>
            <a:r>
              <a:rPr lang="en-US" altLang="en-US" b="1" dirty="0"/>
              <a:t>is the system bus version</a:t>
            </a:r>
            <a:r>
              <a:rPr lang="en-US" altLang="en-US" dirty="0"/>
              <a:t> in which there are different buses between CPU and memory and memory and I/O</a:t>
            </a:r>
          </a:p>
        </p:txBody>
      </p:sp>
    </p:spTree>
    <p:extLst>
      <p:ext uri="{BB962C8B-B14F-4D97-AF65-F5344CB8AC3E}">
        <p14:creationId xmlns:p14="http://schemas.microsoft.com/office/powerpoint/2010/main" val="363599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954110" y="500062"/>
            <a:ext cx="10515600" cy="1325563"/>
          </a:xfrm>
        </p:spPr>
        <p:txBody>
          <a:bodyPr/>
          <a:lstStyle/>
          <a:p>
            <a:r>
              <a:rPr lang="en-US" altLang="en-US" dirty="0" smtClean="0"/>
              <a:t>Fetch-execute cycle</a:t>
            </a:r>
          </a:p>
        </p:txBody>
      </p:sp>
      <p:sp>
        <p:nvSpPr>
          <p:cNvPr id="6349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von Neumann architecture operates on the </a:t>
            </a:r>
            <a:r>
              <a:rPr lang="en-US" altLang="en-US" i="1" dirty="0"/>
              <a:t>fetch-execute cycle</a:t>
            </a:r>
          </a:p>
          <a:p>
            <a:pPr lvl="1" eaLnBrk="1" hangingPunct="1"/>
            <a:r>
              <a:rPr lang="en-US" altLang="en-US" dirty="0"/>
              <a:t>Fetch an instruction from memory as indicated by the Program Counter register</a:t>
            </a:r>
          </a:p>
          <a:p>
            <a:pPr lvl="1" eaLnBrk="1" hangingPunct="1"/>
            <a:r>
              <a:rPr lang="en-US" altLang="en-US" dirty="0"/>
              <a:t>Decode the instruction in the control unit</a:t>
            </a:r>
          </a:p>
          <a:p>
            <a:pPr lvl="1" eaLnBrk="1" hangingPunct="1"/>
            <a:r>
              <a:rPr lang="en-US" altLang="en-US" dirty="0"/>
              <a:t>Data operands needed for the instruction are fetched from memory</a:t>
            </a:r>
          </a:p>
          <a:p>
            <a:pPr lvl="1" eaLnBrk="1" hangingPunct="1"/>
            <a:r>
              <a:rPr lang="en-US" altLang="en-US" dirty="0"/>
              <a:t>Execute the instruction in the ALU storing the result in a register</a:t>
            </a:r>
          </a:p>
          <a:p>
            <a:pPr lvl="1" eaLnBrk="1" hangingPunct="1"/>
            <a:r>
              <a:rPr lang="en-US" altLang="en-US" dirty="0"/>
              <a:t>Move the result back to memory if needed</a:t>
            </a:r>
          </a:p>
        </p:txBody>
      </p:sp>
    </p:spTree>
    <p:extLst>
      <p:ext uri="{BB962C8B-B14F-4D97-AF65-F5344CB8AC3E}">
        <p14:creationId xmlns:p14="http://schemas.microsoft.com/office/powerpoint/2010/main" val="23471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7200900" cy="547688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000" dirty="0" smtClean="0"/>
              <a:t> </a:t>
            </a:r>
            <a:r>
              <a:rPr lang="en-US" altLang="en-US" sz="4000" dirty="0"/>
              <a:t>The von Neumann Model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905000" y="1295400"/>
            <a:ext cx="2971800" cy="3352800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2200" dirty="0"/>
              <a:t>This is a general depiction of a von Neumann system:</a:t>
            </a:r>
          </a:p>
          <a:p>
            <a:pPr>
              <a:lnSpc>
                <a:spcPct val="90000"/>
              </a:lnSpc>
              <a:spcBef>
                <a:spcPct val="15000"/>
              </a:spcBef>
            </a:pPr>
            <a:endParaRPr lang="en-US" altLang="en-US" sz="2200" dirty="0"/>
          </a:p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2200" dirty="0"/>
              <a:t>These computers employ a fetch-decode-execute cycle to run programs as follows . . . </a:t>
            </a:r>
          </a:p>
        </p:txBody>
      </p:sp>
      <p:pic>
        <p:nvPicPr>
          <p:cNvPr id="64516" name="Picture 4" descr="AL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19200"/>
            <a:ext cx="5257800" cy="419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059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3" name="Picture 6" descr="ALU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1" y="2257426"/>
            <a:ext cx="5667375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Rectangle 8"/>
          <p:cNvSpPr>
            <a:spLocks noGrp="1" noChangeArrowheads="1"/>
          </p:cNvSpPr>
          <p:nvPr>
            <p:ph type="title"/>
          </p:nvPr>
        </p:nvSpPr>
        <p:spPr>
          <a:xfrm>
            <a:off x="3009900" y="228600"/>
            <a:ext cx="6743700" cy="547688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mtClean="0">
                <a:solidFill>
                  <a:schemeClr val="tx1"/>
                </a:solidFill>
              </a:rPr>
              <a:t>The von Neumann Model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828800" y="1190625"/>
            <a:ext cx="8686800" cy="990600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2000" dirty="0"/>
              <a:t>The </a:t>
            </a:r>
            <a:r>
              <a:rPr lang="en-US" altLang="en-US" sz="2400" dirty="0">
                <a:solidFill>
                  <a:srgbClr val="FF0000"/>
                </a:solidFill>
              </a:rPr>
              <a:t>control unit </a:t>
            </a:r>
            <a:r>
              <a:rPr lang="en-US" altLang="en-US" sz="2000" dirty="0"/>
              <a:t>fetches the next instruction from memory using the program counter to determine where the instruction is located</a:t>
            </a:r>
          </a:p>
        </p:txBody>
      </p:sp>
    </p:spTree>
    <p:extLst>
      <p:ext uri="{BB962C8B-B14F-4D97-AF65-F5344CB8AC3E}">
        <p14:creationId xmlns:p14="http://schemas.microsoft.com/office/powerpoint/2010/main" val="322376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6" descr="ALU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1" y="2257426"/>
            <a:ext cx="5667375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3" name="Rectangle 9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6972300" cy="547688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mtClean="0">
                <a:solidFill>
                  <a:schemeClr val="tx1"/>
                </a:solidFill>
              </a:rPr>
              <a:t>The von Neumann Model</a:t>
            </a:r>
          </a:p>
        </p:txBody>
      </p:sp>
      <p:sp>
        <p:nvSpPr>
          <p:cNvPr id="68612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1828800" y="1065213"/>
            <a:ext cx="8459788" cy="762000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2200" dirty="0"/>
              <a:t>The instruction is </a:t>
            </a:r>
            <a:r>
              <a:rPr lang="en-US" altLang="en-US" sz="2200" dirty="0">
                <a:solidFill>
                  <a:srgbClr val="FF0000"/>
                </a:solidFill>
              </a:rPr>
              <a:t>decoded</a:t>
            </a:r>
            <a:r>
              <a:rPr lang="en-US" altLang="en-US" sz="2200" dirty="0"/>
              <a:t> into a language that the ALU can understand.</a:t>
            </a:r>
          </a:p>
        </p:txBody>
      </p:sp>
    </p:spTree>
    <p:extLst>
      <p:ext uri="{BB962C8B-B14F-4D97-AF65-F5344CB8AC3E}">
        <p14:creationId xmlns:p14="http://schemas.microsoft.com/office/powerpoint/2010/main" val="236959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Picture 5" descr="ALU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1" y="2257426"/>
            <a:ext cx="5667375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7"/>
          <p:cNvSpPr>
            <a:spLocks noGrp="1" noChangeArrowheads="1"/>
          </p:cNvSpPr>
          <p:nvPr>
            <p:ph type="title"/>
          </p:nvPr>
        </p:nvSpPr>
        <p:spPr>
          <a:xfrm>
            <a:off x="2514600" y="177800"/>
            <a:ext cx="6667500" cy="547688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000"/>
              <a:t>The von Neumann Model</a:t>
            </a:r>
          </a:p>
        </p:txBody>
      </p:sp>
      <p:sp>
        <p:nvSpPr>
          <p:cNvPr id="26628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2133600" y="1143000"/>
            <a:ext cx="8153400" cy="990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5000"/>
              </a:spcBef>
              <a:defRPr/>
            </a:pPr>
            <a:r>
              <a:rPr lang="en-US" sz="2200" dirty="0"/>
              <a:t>Any </a:t>
            </a:r>
            <a:r>
              <a:rPr lang="en-US" sz="2200" dirty="0">
                <a:solidFill>
                  <a:srgbClr val="FF0000"/>
                </a:solidFill>
              </a:rPr>
              <a:t>data operands </a:t>
            </a:r>
            <a:r>
              <a:rPr lang="en-US" sz="2200" dirty="0"/>
              <a:t>required to execute the instruction are </a:t>
            </a:r>
            <a:r>
              <a:rPr lang="en-US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fetched from memory </a:t>
            </a:r>
            <a:r>
              <a:rPr lang="en-US" sz="2200" dirty="0"/>
              <a:t>and placed into registers within the CPU.</a:t>
            </a:r>
          </a:p>
        </p:txBody>
      </p:sp>
    </p:spTree>
    <p:extLst>
      <p:ext uri="{BB962C8B-B14F-4D97-AF65-F5344CB8AC3E}">
        <p14:creationId xmlns:p14="http://schemas.microsoft.com/office/powerpoint/2010/main" val="44556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6" descr="ALU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257425"/>
            <a:ext cx="5657850" cy="367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9" name="Rectangle 8"/>
          <p:cNvSpPr>
            <a:spLocks noGrp="1" noChangeArrowheads="1"/>
          </p:cNvSpPr>
          <p:nvPr>
            <p:ph type="title"/>
          </p:nvPr>
        </p:nvSpPr>
        <p:spPr>
          <a:xfrm>
            <a:off x="3009900" y="177800"/>
            <a:ext cx="6172200" cy="547688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3600" dirty="0"/>
              <a:t>The von Neumann Model</a:t>
            </a:r>
          </a:p>
        </p:txBody>
      </p:sp>
      <p:sp>
        <p:nvSpPr>
          <p:cNvPr id="72708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1905000" y="1143000"/>
            <a:ext cx="8534400" cy="990600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2200" dirty="0"/>
              <a:t>The ALU </a:t>
            </a:r>
            <a:r>
              <a:rPr lang="en-US" altLang="en-US" sz="2200" dirty="0">
                <a:solidFill>
                  <a:srgbClr val="FF0000"/>
                </a:solidFill>
              </a:rPr>
              <a:t>executes</a:t>
            </a:r>
            <a:r>
              <a:rPr lang="en-US" altLang="en-US" sz="2200" dirty="0"/>
              <a:t> the instruction and places results in registers or memory.</a:t>
            </a:r>
          </a:p>
        </p:txBody>
      </p:sp>
    </p:spTree>
    <p:extLst>
      <p:ext uri="{BB962C8B-B14F-4D97-AF65-F5344CB8AC3E}">
        <p14:creationId xmlns:p14="http://schemas.microsoft.com/office/powerpoint/2010/main" val="170155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5"/>
          <p:cNvSpPr>
            <a:spLocks noGrp="1"/>
          </p:cNvSpPr>
          <p:nvPr>
            <p:ph type="title"/>
          </p:nvPr>
        </p:nvSpPr>
        <p:spPr>
          <a:xfrm>
            <a:off x="2146300" y="403226"/>
            <a:ext cx="8229600" cy="803275"/>
          </a:xfrm>
        </p:spPr>
        <p:txBody>
          <a:bodyPr>
            <a:normAutofit/>
          </a:bodyPr>
          <a:lstStyle/>
          <a:p>
            <a:r>
              <a:rPr lang="en-US" altLang="en-US" sz="3600" b="1" dirty="0" smtClean="0"/>
              <a:t>Non-</a:t>
            </a:r>
            <a:r>
              <a:rPr lang="en-US" altLang="en-US" sz="3600" b="1" dirty="0"/>
              <a:t>von </a:t>
            </a:r>
            <a:r>
              <a:rPr lang="en-US" altLang="en-US" sz="3600" b="1" dirty="0" smtClean="0"/>
              <a:t>Neumann Models</a:t>
            </a:r>
            <a:endParaRPr lang="en-US" altLang="en-US" sz="3600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689100" y="1447801"/>
            <a:ext cx="9144000" cy="5211763"/>
          </a:xfrm>
        </p:spPr>
        <p:txBody>
          <a:bodyPr/>
          <a:lstStyle/>
          <a:p>
            <a:pPr>
              <a:defRPr/>
            </a:pPr>
            <a:r>
              <a:rPr lang="en-US" dirty="0"/>
              <a:t>Conventional stored-program computers have undergone many incremental improvements over the years</a:t>
            </a:r>
          </a:p>
          <a:p>
            <a:pPr lvl="1">
              <a:defRPr/>
            </a:pPr>
            <a:r>
              <a:rPr lang="en-US" dirty="0"/>
              <a:t>specialized buses</a:t>
            </a:r>
          </a:p>
          <a:p>
            <a:pPr lvl="1">
              <a:defRPr/>
            </a:pPr>
            <a:r>
              <a:rPr lang="en-US" dirty="0"/>
              <a:t>floating-point units</a:t>
            </a:r>
          </a:p>
          <a:p>
            <a:pPr lvl="1">
              <a:defRPr/>
            </a:pPr>
            <a:r>
              <a:rPr lang="en-US" dirty="0"/>
              <a:t>cache memories</a:t>
            </a:r>
            <a:endParaRPr lang="ar-JO" dirty="0"/>
          </a:p>
          <a:p>
            <a:pPr>
              <a:defRPr/>
            </a:pPr>
            <a:r>
              <a:rPr lang="en-US" dirty="0"/>
              <a:t>But enormous improvements in computational power require departure from the classic von Neumann architecture</a:t>
            </a:r>
          </a:p>
          <a:p>
            <a:pPr marL="342900" lvl="1" indent="-342900">
              <a:defRPr/>
            </a:pPr>
            <a:r>
              <a:rPr lang="en-US" dirty="0"/>
              <a:t>Adding processors is one approach</a:t>
            </a:r>
          </a:p>
          <a:p>
            <a:pPr>
              <a:defRPr/>
            </a:pPr>
            <a:endParaRPr lang="en-US" dirty="0">
              <a:latin typeface="Times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7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chemeClr val="tx1"/>
                </a:solidFill>
              </a:rPr>
              <a:t>Non-von Neumann Models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1752600" y="1447801"/>
            <a:ext cx="8763000" cy="4678363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altLang="en-US" dirty="0"/>
              <a:t>In the late 1960s, high-performance computer systems were equipped with </a:t>
            </a:r>
            <a:r>
              <a:rPr lang="en-US" altLang="en-US" dirty="0">
                <a:solidFill>
                  <a:srgbClr val="FF3300"/>
                </a:solidFill>
              </a:rPr>
              <a:t>dual processors</a:t>
            </a:r>
            <a:r>
              <a:rPr lang="en-US" altLang="en-US" dirty="0"/>
              <a:t> to increase computational throughput.</a:t>
            </a:r>
          </a:p>
          <a:p>
            <a:pPr>
              <a:spcBef>
                <a:spcPct val="40000"/>
              </a:spcBef>
            </a:pPr>
            <a:r>
              <a:rPr lang="en-US" altLang="en-US" dirty="0"/>
              <a:t>In the 1970s supercomputer systems were introduced with </a:t>
            </a:r>
            <a:r>
              <a:rPr lang="en-US" altLang="en-US" dirty="0">
                <a:solidFill>
                  <a:srgbClr val="FF3300"/>
                </a:solidFill>
              </a:rPr>
              <a:t>32 processors</a:t>
            </a:r>
            <a:r>
              <a:rPr lang="en-US" altLang="en-US" dirty="0"/>
              <a:t>.</a:t>
            </a:r>
          </a:p>
          <a:p>
            <a:pPr>
              <a:spcBef>
                <a:spcPct val="40000"/>
              </a:spcBef>
            </a:pPr>
            <a:r>
              <a:rPr lang="en-US" altLang="en-US" dirty="0"/>
              <a:t>Supercomputers with </a:t>
            </a:r>
            <a:r>
              <a:rPr lang="en-US" altLang="en-US" dirty="0">
                <a:solidFill>
                  <a:srgbClr val="FF3300"/>
                </a:solidFill>
              </a:rPr>
              <a:t>1,000 processors</a:t>
            </a:r>
            <a:r>
              <a:rPr lang="en-US" altLang="en-US" dirty="0"/>
              <a:t> were built in the 1980s.</a:t>
            </a:r>
          </a:p>
          <a:p>
            <a:pPr>
              <a:spcBef>
                <a:spcPct val="40000"/>
              </a:spcBef>
            </a:pPr>
            <a:r>
              <a:rPr lang="en-US" altLang="en-US" dirty="0"/>
              <a:t>In 1999, IBM announced its Blue Gene system containing over </a:t>
            </a:r>
            <a:r>
              <a:rPr lang="en-US" altLang="en-US" dirty="0">
                <a:solidFill>
                  <a:srgbClr val="FF3300"/>
                </a:solidFill>
              </a:rPr>
              <a:t>1 million </a:t>
            </a:r>
            <a:r>
              <a:rPr lang="en-US" altLang="en-US" dirty="0"/>
              <a:t>processors</a:t>
            </a:r>
            <a:r>
              <a:rPr lang="en-US" altLang="en-US" dirty="0" smtClean="0">
                <a:solidFill>
                  <a:srgbClr val="FF3300"/>
                </a:solidFill>
              </a:rPr>
              <a:t>.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2101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عنوان 1"/>
          <p:cNvSpPr>
            <a:spLocks noGrp="1"/>
          </p:cNvSpPr>
          <p:nvPr>
            <p:ph type="title"/>
          </p:nvPr>
        </p:nvSpPr>
        <p:spPr>
          <a:xfrm>
            <a:off x="2108200" y="139700"/>
            <a:ext cx="8229600" cy="609600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Parallel Computing</a:t>
            </a:r>
            <a:endParaRPr lang="ar-JO" altLang="en-US" sz="3600" dirty="0"/>
          </a:p>
        </p:txBody>
      </p:sp>
      <p:sp>
        <p:nvSpPr>
          <p:cNvPr id="76803" name="عنصر نائب للمحتوى 2"/>
          <p:cNvSpPr>
            <a:spLocks noGrp="1"/>
          </p:cNvSpPr>
          <p:nvPr>
            <p:ph idx="1"/>
          </p:nvPr>
        </p:nvSpPr>
        <p:spPr>
          <a:xfrm>
            <a:off x="1130300" y="1120775"/>
            <a:ext cx="10477500" cy="5867400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Parallel processing </a:t>
            </a:r>
            <a:r>
              <a:rPr lang="en-US" altLang="en-US" sz="2400" dirty="0"/>
              <a:t>allows a computer to </a:t>
            </a:r>
            <a:r>
              <a:rPr lang="en-US" altLang="en-US" sz="2400" dirty="0">
                <a:solidFill>
                  <a:srgbClr val="FF0000"/>
                </a:solidFill>
              </a:rPr>
              <a:t>simultaneously</a:t>
            </a:r>
            <a:r>
              <a:rPr lang="en-US" altLang="en-US" sz="2400" dirty="0"/>
              <a:t> work on subparts of a problem.</a:t>
            </a:r>
          </a:p>
          <a:p>
            <a:pPr>
              <a:spcBef>
                <a:spcPct val="400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Multicore</a:t>
            </a:r>
            <a:r>
              <a:rPr lang="en-US" altLang="en-US" sz="2400" dirty="0"/>
              <a:t> processors have 2 or more processor cores sharing a single die. </a:t>
            </a:r>
          </a:p>
          <a:p>
            <a:pPr>
              <a:spcBef>
                <a:spcPct val="40000"/>
              </a:spcBef>
            </a:pPr>
            <a:r>
              <a:rPr lang="en-US" altLang="en-US" sz="2400" dirty="0"/>
              <a:t>Each core has its own ALU and set of registers, but all processors share memory and other resources. </a:t>
            </a:r>
          </a:p>
          <a:p>
            <a:pPr>
              <a:spcBef>
                <a:spcPct val="40000"/>
              </a:spcBef>
            </a:pPr>
            <a:r>
              <a:rPr lang="en-US" altLang="en-US" sz="2400" dirty="0"/>
              <a:t>“Dual core” differs from “dual processor.” </a:t>
            </a:r>
          </a:p>
          <a:p>
            <a:pPr lvl="1">
              <a:spcBef>
                <a:spcPct val="40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Dual-processor </a:t>
            </a:r>
            <a:r>
              <a:rPr lang="en-US" altLang="en-US" dirty="0"/>
              <a:t>machines, have two processors, but </a:t>
            </a:r>
            <a:r>
              <a:rPr lang="en-US" altLang="en-US" dirty="0">
                <a:solidFill>
                  <a:srgbClr val="0033CC"/>
                </a:solidFill>
              </a:rPr>
              <a:t>each processor plugs into the motherboard separately</a:t>
            </a:r>
            <a:r>
              <a:rPr lang="en-US" altLang="en-US" dirty="0"/>
              <a:t>. </a:t>
            </a:r>
          </a:p>
          <a:p>
            <a:pPr>
              <a:spcBef>
                <a:spcPct val="40000"/>
              </a:spcBef>
            </a:pPr>
            <a:r>
              <a:rPr lang="en-US" altLang="en-US" sz="2400" dirty="0"/>
              <a:t>Multi-core systems provide the ability to multitask</a:t>
            </a:r>
          </a:p>
          <a:p>
            <a:pPr lvl="1">
              <a:spcBef>
                <a:spcPct val="40000"/>
              </a:spcBef>
            </a:pPr>
            <a:r>
              <a:rPr lang="en-US" altLang="en-US" dirty="0">
                <a:solidFill>
                  <a:srgbClr val="0033CC"/>
                </a:solidFill>
              </a:rPr>
              <a:t>E.g., browse the Web while burning a CD</a:t>
            </a:r>
          </a:p>
          <a:p>
            <a:pPr>
              <a:spcBef>
                <a:spcPct val="400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Multithreaded</a:t>
            </a:r>
            <a:r>
              <a:rPr lang="en-US" altLang="en-US" sz="2400" dirty="0"/>
              <a:t> applications spread mini-processes, threads, across one or more processors for increased throughput.</a:t>
            </a:r>
          </a:p>
        </p:txBody>
      </p:sp>
    </p:spTree>
    <p:extLst>
      <p:ext uri="{BB962C8B-B14F-4D97-AF65-F5344CB8AC3E}">
        <p14:creationId xmlns:p14="http://schemas.microsoft.com/office/powerpoint/2010/main" val="370811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عنوان 1"/>
          <p:cNvSpPr>
            <a:spLocks noGrp="1"/>
          </p:cNvSpPr>
          <p:nvPr>
            <p:ph type="title"/>
          </p:nvPr>
        </p:nvSpPr>
        <p:spPr>
          <a:xfrm>
            <a:off x="1803400" y="457200"/>
            <a:ext cx="8229600" cy="635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600" dirty="0"/>
              <a:t>Computing as a Service </a:t>
            </a:r>
            <a:r>
              <a:rPr lang="en-US" altLang="en-US" sz="3600" dirty="0" smtClean="0"/>
              <a:t>Cloud </a:t>
            </a:r>
            <a:r>
              <a:rPr lang="en-US" altLang="en-US" sz="3600" dirty="0"/>
              <a:t>Computing</a:t>
            </a:r>
            <a:endParaRPr lang="ar-JO" sz="3600" dirty="0"/>
          </a:p>
        </p:txBody>
      </p:sp>
      <p:sp>
        <p:nvSpPr>
          <p:cNvPr id="77827" name="عنصر نائب للمحتوى 2"/>
          <p:cNvSpPr>
            <a:spLocks noGrp="1"/>
          </p:cNvSpPr>
          <p:nvPr>
            <p:ph idx="1"/>
          </p:nvPr>
        </p:nvSpPr>
        <p:spPr>
          <a:xfrm>
            <a:off x="679450" y="1504950"/>
            <a:ext cx="10833100" cy="4362450"/>
          </a:xfrm>
        </p:spPr>
        <p:txBody>
          <a:bodyPr/>
          <a:lstStyle/>
          <a:p>
            <a:r>
              <a:rPr lang="en-US" altLang="en-US" sz="2400" b="1" dirty="0"/>
              <a:t>The ultimate aim of every computer system </a:t>
            </a:r>
            <a:r>
              <a:rPr lang="en-US" altLang="en-US" sz="2400" dirty="0"/>
              <a:t>is to deliver functionality to its users. </a:t>
            </a:r>
          </a:p>
          <a:p>
            <a:r>
              <a:rPr lang="en-US" altLang="en-US" sz="2400" b="1" dirty="0"/>
              <a:t>Computer users </a:t>
            </a:r>
            <a:r>
              <a:rPr lang="en-US" altLang="en-US" sz="2400" dirty="0"/>
              <a:t>typically do not care about terabytes of storage and gigahertz of processor speed.</a:t>
            </a:r>
          </a:p>
          <a:p>
            <a:r>
              <a:rPr lang="en-US" altLang="en-US" sz="2400" dirty="0"/>
              <a:t>Many companies  </a:t>
            </a:r>
            <a:r>
              <a:rPr lang="en-US" altLang="en-US" sz="2400" b="1" dirty="0"/>
              <a:t>outsource</a:t>
            </a:r>
            <a:r>
              <a:rPr lang="en-US" altLang="en-US" sz="2400" dirty="0"/>
              <a:t> their data centers to 3rd-party specialists, who agree to provide computing services for a fee.</a:t>
            </a:r>
          </a:p>
          <a:p>
            <a:r>
              <a:rPr lang="en-US" altLang="en-US" sz="2400" dirty="0"/>
              <a:t>These arrangements are managed through </a:t>
            </a:r>
            <a:r>
              <a:rPr lang="en-US" altLang="en-US" sz="2000" i="1" dirty="0"/>
              <a:t>service-level agreements </a:t>
            </a:r>
            <a:r>
              <a:rPr lang="en-US" altLang="en-US" sz="2000" dirty="0"/>
              <a:t>(</a:t>
            </a:r>
            <a:r>
              <a:rPr lang="en-US" altLang="en-US" sz="2000" i="1" dirty="0"/>
              <a:t>SLAs</a:t>
            </a:r>
            <a:r>
              <a:rPr lang="en-US" altLang="en-US" sz="2000" dirty="0"/>
              <a:t>).</a:t>
            </a:r>
            <a:endParaRPr lang="en-US" altLang="en-US" sz="2400" dirty="0"/>
          </a:p>
          <a:p>
            <a:r>
              <a:rPr lang="en-US" altLang="en-US" sz="2400" dirty="0"/>
              <a:t>Rather than pay a third party to run a company-owned data center, another approach is to buy computing services from someone else’s data center and connect to it via the Internet.</a:t>
            </a:r>
          </a:p>
          <a:p>
            <a:r>
              <a:rPr lang="en-US" altLang="en-US" sz="2400" dirty="0"/>
              <a:t>This is the idea behind a collection of service models known as Cloud computing.</a:t>
            </a:r>
          </a:p>
          <a:p>
            <a:endParaRPr lang="ar-JO" alt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58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600" dirty="0"/>
              <a:t>Cloud Computing</a:t>
            </a:r>
            <a:endParaRPr lang="en-US" sz="3600" dirty="0">
              <a:latin typeface="Cooper Black" pitchFamily="18" charset="0"/>
              <a:ea typeface="+mn-ea"/>
              <a:cs typeface="+mn-cs"/>
            </a:endParaRP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1752600" y="1828800"/>
            <a:ext cx="9296400" cy="2463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Enabling on-demand network access  to a shared pool of configurable computing resources (e.g., networks, servers, applications, and services) that can be rapidly provisioned and released with minimal management effort or service provider interaction</a:t>
            </a:r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1752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3600" dirty="0"/>
              <a:t>Cloud Computing</a:t>
            </a:r>
            <a:endParaRPr lang="ar-JO" sz="3600" dirty="0"/>
          </a:p>
        </p:txBody>
      </p:sp>
      <p:sp>
        <p:nvSpPr>
          <p:cNvPr id="55299" name="عنصر نائب للمحتوى 2"/>
          <p:cNvSpPr>
            <a:spLocks noGrp="1"/>
          </p:cNvSpPr>
          <p:nvPr>
            <p:ph idx="1"/>
          </p:nvPr>
        </p:nvSpPr>
        <p:spPr>
          <a:xfrm>
            <a:off x="1524000" y="1447800"/>
            <a:ext cx="9144000" cy="4876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defRPr/>
            </a:pPr>
            <a:r>
              <a:rPr lang="en-US" altLang="en-US" dirty="0"/>
              <a:t>Cloud computing models:</a:t>
            </a:r>
          </a:p>
          <a:p>
            <a:pPr lvl="1">
              <a:spcBef>
                <a:spcPts val="1200"/>
              </a:spcBef>
              <a:defRPr/>
            </a:pPr>
            <a:r>
              <a:rPr lang="en-US" altLang="en-US" b="1" dirty="0"/>
              <a:t>Software as a Service</a:t>
            </a:r>
            <a:r>
              <a:rPr lang="en-US" altLang="en-US" i="1" dirty="0"/>
              <a:t>,</a:t>
            </a:r>
          </a:p>
          <a:p>
            <a:pPr lvl="2">
              <a:spcBef>
                <a:spcPts val="1200"/>
              </a:spcBef>
              <a:defRPr/>
            </a:pPr>
            <a:r>
              <a:rPr lang="en-US" altLang="en-US" dirty="0"/>
              <a:t>The consumer of this service buy application services</a:t>
            </a:r>
          </a:p>
          <a:p>
            <a:pPr lvl="1">
              <a:spcBef>
                <a:spcPts val="1200"/>
              </a:spcBef>
              <a:defRPr/>
            </a:pPr>
            <a:r>
              <a:rPr lang="en-US" altLang="en-US" b="1" dirty="0"/>
              <a:t>Platform as a Service</a:t>
            </a:r>
            <a:r>
              <a:rPr lang="en-US" altLang="en-US" i="1" dirty="0"/>
              <a:t>, </a:t>
            </a:r>
          </a:p>
          <a:p>
            <a:pPr lvl="2">
              <a:spcBef>
                <a:spcPts val="1200"/>
              </a:spcBef>
              <a:defRPr/>
            </a:pPr>
            <a:r>
              <a:rPr lang="en-US" altLang="en-US" dirty="0"/>
              <a:t>Provides server hardware, operating systems, database services, security components, and backup and recovery services</a:t>
            </a:r>
          </a:p>
          <a:p>
            <a:pPr lvl="1">
              <a:spcBef>
                <a:spcPts val="1200"/>
              </a:spcBef>
              <a:defRPr/>
            </a:pPr>
            <a:r>
              <a:rPr lang="en-US" altLang="en-US" b="1" dirty="0"/>
              <a:t>Infrastructure as a Service </a:t>
            </a:r>
          </a:p>
          <a:p>
            <a:pPr lvl="2">
              <a:spcBef>
                <a:spcPts val="1200"/>
              </a:spcBef>
              <a:defRPr/>
            </a:pPr>
            <a:r>
              <a:rPr lang="en-US" altLang="en-US" dirty="0"/>
              <a:t>provides only server hardware, secure network access to the servers, and backup and recovery services. The customer is responsible for all system software including the operating system and databases</a:t>
            </a:r>
            <a:endParaRPr lang="ar-JO" dirty="0" smtClean="0"/>
          </a:p>
        </p:txBody>
      </p:sp>
    </p:spTree>
    <p:extLst>
      <p:ext uri="{BB962C8B-B14F-4D97-AF65-F5344CB8AC3E}">
        <p14:creationId xmlns:p14="http://schemas.microsoft.com/office/powerpoint/2010/main" val="22569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62100" y="355600"/>
            <a:ext cx="8229600" cy="990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 smtClean="0">
                <a:solidFill>
                  <a:srgbClr val="002060"/>
                </a:solidFill>
              </a:rPr>
              <a:t>Grid computing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>
          <a:xfrm>
            <a:off x="1562100" y="1346200"/>
            <a:ext cx="9144000" cy="5181600"/>
          </a:xfrm>
        </p:spPr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computer resources from multiple administrative domains to reach a common goal.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distinguishes grid computing from conventional high performance computing systems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 computing is that grids tend to be more loosely coupled, heterogeneous, and geographically dispersed.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a grid can be dedicated to a specialized application, it is more common that a single grid will be used for a variety of different purposes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693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 smtClean="0">
                <a:solidFill>
                  <a:srgbClr val="002060"/>
                </a:solidFill>
              </a:rPr>
              <a:t>Cluster computing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1524000" y="1066801"/>
            <a:ext cx="8991600" cy="50593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group of linked computers, working together closely thus in many respects forming a single computer. The components of a cluster are commonly, but not always, connected to each other through fast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LANs</a:t>
            </a:r>
          </a:p>
          <a:p>
            <a:pPr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are usually deployed to improve performance and availability over that of a single computer, while typically being much more cost-effective than single computers of comparable speed or availability</a:t>
            </a:r>
          </a:p>
        </p:txBody>
      </p:sp>
    </p:spTree>
    <p:extLst>
      <p:ext uri="{BB962C8B-B14F-4D97-AF65-F5344CB8AC3E}">
        <p14:creationId xmlns:p14="http://schemas.microsoft.com/office/powerpoint/2010/main" val="33660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CORE VS PROCESSOR</a:t>
            </a:r>
            <a:endParaRPr lang="en-US" dirty="0"/>
          </a:p>
        </p:txBody>
      </p:sp>
      <p:pic>
        <p:nvPicPr>
          <p:cNvPr id="2050" name="Picture 2" descr="Difference Between CPU and Core - Pediaa.C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887" y="1481071"/>
            <a:ext cx="9375819" cy="504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6123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ifference between core and processor - Stack Over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06" y="334850"/>
            <a:ext cx="10831131" cy="620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9992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MEASURE THE PERFORMANCE OF SYSTEM INSTRUCTION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pPr>
              <a:defRPr/>
            </a:pPr>
            <a:r>
              <a:rPr lang="en-US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Computer Performance Measures</a:t>
            </a:r>
            <a:br>
              <a:rPr lang="en-US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 Execution Time</a:t>
            </a:r>
            <a:endParaRPr lang="ar-JO" sz="2800" dirty="0">
              <a:solidFill>
                <a:srgbClr val="0033CC"/>
              </a:solidFill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>
          <a:xfrm>
            <a:off x="1524000" y="1447800"/>
            <a:ext cx="9144000" cy="4876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r>
              <a:rPr lang="en-US" altLang="en-US" sz="2400" dirty="0">
                <a:latin typeface="Arial Narrow" pitchFamily="34" charset="0"/>
              </a:rPr>
              <a:t>For a specific program compiled to run on a specific machine “A”, the following parameters are provided: </a:t>
            </a:r>
          </a:p>
          <a:p>
            <a:pPr>
              <a:defRPr/>
            </a:pPr>
            <a:endParaRPr lang="en-US" altLang="en-US" sz="300" dirty="0">
              <a:latin typeface="Arial Narrow" pitchFamily="34" charset="0"/>
            </a:endParaRPr>
          </a:p>
          <a:p>
            <a:pPr>
              <a:buFontTx/>
              <a:buNone/>
              <a:defRPr/>
            </a:pPr>
            <a:endParaRPr lang="en-US" altLang="en-US" sz="500" dirty="0">
              <a:latin typeface="Arial Narrow" pitchFamily="34" charset="0"/>
            </a:endParaRPr>
          </a:p>
          <a:p>
            <a:pPr lvl="1">
              <a:spcBef>
                <a:spcPct val="0"/>
              </a:spcBef>
              <a:defRPr/>
            </a:pPr>
            <a:r>
              <a:rPr lang="en-US" altLang="en-US" sz="2000" dirty="0">
                <a:latin typeface="Arial Narrow" pitchFamily="34" charset="0"/>
              </a:rPr>
              <a:t>The total instruction count of the program.</a:t>
            </a:r>
          </a:p>
          <a:p>
            <a:pPr lvl="1">
              <a:spcBef>
                <a:spcPct val="0"/>
              </a:spcBef>
              <a:defRPr/>
            </a:pPr>
            <a:r>
              <a:rPr lang="en-US" altLang="en-US" sz="2000" dirty="0">
                <a:latin typeface="Arial Narrow" pitchFamily="34" charset="0"/>
              </a:rPr>
              <a:t>The average number of cycles per instruction (average CPI).</a:t>
            </a:r>
          </a:p>
          <a:p>
            <a:pPr lvl="1">
              <a:spcBef>
                <a:spcPct val="0"/>
              </a:spcBef>
              <a:defRPr/>
            </a:pPr>
            <a:r>
              <a:rPr lang="en-US" altLang="en-US" sz="2000" dirty="0">
                <a:latin typeface="Arial Narrow" pitchFamily="34" charset="0"/>
              </a:rPr>
              <a:t>Clock cycle of machine “A”</a:t>
            </a:r>
          </a:p>
          <a:p>
            <a:pPr lvl="1">
              <a:spcBef>
                <a:spcPct val="0"/>
              </a:spcBef>
              <a:defRPr/>
            </a:pPr>
            <a:endParaRPr lang="en-US" altLang="en-US" sz="400" dirty="0">
              <a:latin typeface="Arial Narrow" pitchFamily="34" charset="0"/>
            </a:endParaRPr>
          </a:p>
          <a:p>
            <a:pPr>
              <a:buFontTx/>
              <a:buNone/>
              <a:defRPr/>
            </a:pPr>
            <a:r>
              <a:rPr lang="en-US" altLang="en-US" sz="2000" dirty="0">
                <a:latin typeface="Arial Narrow" pitchFamily="34" charset="0"/>
              </a:rPr>
              <a:t>How can one measure the performance of this machine running this program?</a:t>
            </a:r>
          </a:p>
          <a:p>
            <a:pPr lvl="1">
              <a:defRPr/>
            </a:pPr>
            <a:r>
              <a:rPr lang="en-US" altLang="en-US" sz="2000" dirty="0">
                <a:latin typeface="Arial Narrow" pitchFamily="34" charset="0"/>
              </a:rPr>
              <a:t>The machine is said to be faster or has better performance running this program if the total execution time is shorter. </a:t>
            </a:r>
          </a:p>
          <a:p>
            <a:pPr lvl="1">
              <a:defRPr/>
            </a:pPr>
            <a:r>
              <a:rPr lang="en-US" altLang="en-US" sz="2000" dirty="0">
                <a:latin typeface="Arial Narrow" pitchFamily="34" charset="0"/>
              </a:rPr>
              <a:t>Thus the inverse of the total measured program execution time is  a possible performance measure or metric:</a:t>
            </a:r>
          </a:p>
          <a:p>
            <a:pPr lvl="1">
              <a:defRPr/>
            </a:pPr>
            <a:endParaRPr lang="en-US" altLang="en-US" sz="900" dirty="0">
              <a:latin typeface="Arial Narrow" pitchFamily="34" charset="0"/>
            </a:endParaRPr>
          </a:p>
          <a:p>
            <a:pPr lvl="1">
              <a:buFontTx/>
              <a:buNone/>
              <a:defRPr/>
            </a:pPr>
            <a:r>
              <a:rPr lang="en-US" altLang="en-US" dirty="0">
                <a:latin typeface="Arial Narrow" pitchFamily="34" charset="0"/>
              </a:rPr>
              <a:t>                 </a:t>
            </a:r>
            <a:r>
              <a:rPr lang="en-US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Performance</a:t>
            </a:r>
            <a:r>
              <a:rPr lang="en-US" altLang="en-US" sz="2000" b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A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 =   1  /   Execution </a:t>
            </a:r>
            <a:r>
              <a:rPr lang="en-US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Time</a:t>
            </a:r>
            <a:r>
              <a:rPr lang="en-US" altLang="en-US" sz="2000" b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A</a:t>
            </a:r>
            <a:endParaRPr lang="en-US" altLang="en-US" sz="2000" b="1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 lvl="1">
              <a:buFontTx/>
              <a:buNone/>
              <a:defRPr/>
            </a:pPr>
            <a:endParaRPr lang="en-US" altLang="en-US" sz="900" baseline="-25000" dirty="0">
              <a:latin typeface="Arial Narrow" pitchFamily="34" charset="0"/>
            </a:endParaRPr>
          </a:p>
          <a:p>
            <a:pPr lvl="1">
              <a:defRPr/>
            </a:pPr>
            <a:r>
              <a:rPr lang="en-US" altLang="en-US" dirty="0">
                <a:solidFill>
                  <a:srgbClr val="FF0000"/>
                </a:solidFill>
                <a:latin typeface="Arial Narrow" pitchFamily="34" charset="0"/>
              </a:rPr>
              <a:t>How to compare performance of different machines?</a:t>
            </a:r>
          </a:p>
          <a:p>
            <a:pPr lvl="1">
              <a:defRPr/>
            </a:pPr>
            <a:r>
              <a:rPr lang="en-US" altLang="en-US" dirty="0">
                <a:solidFill>
                  <a:srgbClr val="FF0000"/>
                </a:solidFill>
                <a:latin typeface="Arial Narrow" pitchFamily="34" charset="0"/>
              </a:rPr>
              <a:t>What factors affect performance?  How to improve performance?</a:t>
            </a:r>
          </a:p>
        </p:txBody>
      </p:sp>
      <p:sp>
        <p:nvSpPr>
          <p:cNvPr id="87043" name="عنصر نائب لرقم الشريحة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7A2125-9289-4838-BF56-8BE2C86E3422}" type="slidenum">
              <a:rPr lang="en-US" altLang="en-US" sz="1200">
                <a:latin typeface="Times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6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905000" y="0"/>
            <a:ext cx="8382000" cy="1066800"/>
          </a:xfrm>
        </p:spPr>
        <p:txBody>
          <a:bodyPr/>
          <a:lstStyle/>
          <a:p>
            <a:pPr>
              <a:defRPr/>
            </a:pPr>
            <a:r>
              <a:rPr lang="en-US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Comparing Computer Performance Using Execution Time</a:t>
            </a:r>
            <a:endParaRPr lang="ar-JO" sz="2800" dirty="0">
              <a:solidFill>
                <a:srgbClr val="0033CC"/>
              </a:solidFill>
            </a:endParaRPr>
          </a:p>
        </p:txBody>
      </p:sp>
      <p:sp>
        <p:nvSpPr>
          <p:cNvPr id="88067" name="عنصر نائب للمحتوى 2"/>
          <p:cNvSpPr>
            <a:spLocks noGrp="1"/>
          </p:cNvSpPr>
          <p:nvPr>
            <p:ph idx="1"/>
          </p:nvPr>
        </p:nvSpPr>
        <p:spPr>
          <a:xfrm>
            <a:off x="1524000" y="1143000"/>
            <a:ext cx="9144000" cy="5257800"/>
          </a:xfrm>
        </p:spPr>
        <p:txBody>
          <a:bodyPr>
            <a:normAutofit lnSpcReduction="10000"/>
          </a:bodyPr>
          <a:lstStyle/>
          <a:p>
            <a:pPr>
              <a:spcBef>
                <a:spcPct val="10000"/>
              </a:spcBef>
            </a:pPr>
            <a:r>
              <a:rPr lang="en-US" altLang="en-US" sz="1900"/>
              <a:t>To compare the performance of two machines “A”, “B” running a </a:t>
            </a:r>
            <a:r>
              <a:rPr lang="en-US" altLang="en-US" sz="1900" u="sng"/>
              <a:t>given specific program</a:t>
            </a:r>
            <a:endParaRPr lang="en-US" altLang="en-US" sz="190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900"/>
              <a:t>			Performance</a:t>
            </a:r>
            <a:r>
              <a:rPr lang="en-US" altLang="en-US" sz="1900" baseline="-25000"/>
              <a:t>A</a:t>
            </a:r>
            <a:r>
              <a:rPr lang="en-US" altLang="en-US" sz="1900"/>
              <a:t>  =   1  /   Execution Time</a:t>
            </a:r>
            <a:r>
              <a:rPr lang="en-US" altLang="en-US" sz="1900" baseline="-25000"/>
              <a:t>A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1900"/>
              <a:t>			Performance</a:t>
            </a:r>
            <a:r>
              <a:rPr lang="en-US" altLang="en-US" sz="1900" baseline="-25000"/>
              <a:t>B</a:t>
            </a:r>
            <a:r>
              <a:rPr lang="en-US" altLang="en-US" sz="1900"/>
              <a:t>  =   1  /   Execution Time</a:t>
            </a:r>
            <a:r>
              <a:rPr lang="en-US" altLang="en-US" sz="1900" baseline="-25000"/>
              <a:t>B</a:t>
            </a:r>
          </a:p>
          <a:p>
            <a:pPr>
              <a:spcBef>
                <a:spcPct val="10000"/>
              </a:spcBef>
              <a:buFontTx/>
              <a:buNone/>
            </a:pPr>
            <a:endParaRPr lang="en-US" altLang="en-US" sz="500"/>
          </a:p>
          <a:p>
            <a:r>
              <a:rPr lang="en-US" altLang="en-US" sz="1900"/>
              <a:t>Machine A is  n times faster than machine B means:</a:t>
            </a:r>
          </a:p>
          <a:p>
            <a:pPr>
              <a:buFontTx/>
              <a:buNone/>
            </a:pPr>
            <a:r>
              <a:rPr lang="en-US" altLang="en-US" sz="1900"/>
              <a:t>    </a:t>
            </a:r>
          </a:p>
          <a:p>
            <a:pPr>
              <a:buFontTx/>
              <a:buNone/>
            </a:pPr>
            <a:endParaRPr lang="en-US" altLang="en-US" sz="1000" baseline="-25000"/>
          </a:p>
          <a:p>
            <a:pPr>
              <a:buFontTx/>
              <a:buNone/>
            </a:pPr>
            <a:endParaRPr lang="en-US" altLang="en-US" sz="1000" baseline="-25000"/>
          </a:p>
          <a:p>
            <a:pPr>
              <a:buFontTx/>
              <a:buNone/>
            </a:pPr>
            <a:endParaRPr lang="en-US" altLang="en-US" sz="1000" baseline="-25000"/>
          </a:p>
          <a:p>
            <a:pPr>
              <a:buFontTx/>
              <a:buNone/>
            </a:pPr>
            <a:endParaRPr lang="en-US" altLang="en-US" sz="1000" baseline="-25000"/>
          </a:p>
          <a:p>
            <a:r>
              <a:rPr lang="en-US" altLang="en-US" sz="1900"/>
              <a:t>Example:  </a:t>
            </a:r>
          </a:p>
          <a:p>
            <a:pPr>
              <a:buFontTx/>
              <a:buNone/>
            </a:pPr>
            <a:r>
              <a:rPr lang="en-US" altLang="en-US" sz="1900"/>
              <a:t>      For a given program:</a:t>
            </a:r>
          </a:p>
          <a:p>
            <a:pPr lvl="1">
              <a:buFontTx/>
              <a:buNone/>
            </a:pPr>
            <a:r>
              <a:rPr lang="en-US" altLang="en-US" sz="2300"/>
              <a:t>   </a:t>
            </a:r>
            <a:r>
              <a:rPr lang="en-US" altLang="en-US" sz="1900" b="1"/>
              <a:t>Execution time on machine A:    Execution</a:t>
            </a:r>
            <a:r>
              <a:rPr lang="en-US" altLang="en-US" sz="1900" b="1" baseline="-25000"/>
              <a:t>A</a:t>
            </a:r>
            <a:r>
              <a:rPr lang="en-US" altLang="en-US" sz="1900" b="1"/>
              <a:t> =  1  second</a:t>
            </a:r>
          </a:p>
          <a:p>
            <a:pPr lvl="1">
              <a:buFontTx/>
              <a:buNone/>
            </a:pPr>
            <a:r>
              <a:rPr lang="en-US" altLang="en-US" sz="1900" b="1"/>
              <a:t>   Execution time on machine B:   Execution</a:t>
            </a:r>
            <a:r>
              <a:rPr lang="en-US" altLang="en-US" sz="1900" b="1" baseline="-25000"/>
              <a:t>B</a:t>
            </a:r>
            <a:r>
              <a:rPr lang="en-US" altLang="en-US" sz="1900" b="1"/>
              <a:t> =  10  seconds</a:t>
            </a:r>
          </a:p>
          <a:p>
            <a:pPr lvl="1">
              <a:buFontTx/>
              <a:buNone/>
            </a:pPr>
            <a:r>
              <a:rPr lang="en-US" altLang="en-US" sz="1900" b="1"/>
              <a:t>   Performance</a:t>
            </a:r>
            <a:r>
              <a:rPr lang="en-US" altLang="en-US" sz="1900" b="1" baseline="-25000"/>
              <a:t>A</a:t>
            </a:r>
            <a:r>
              <a:rPr lang="en-US" altLang="en-US" sz="1900" b="1"/>
              <a:t> /  Performance</a:t>
            </a:r>
            <a:r>
              <a:rPr lang="en-US" altLang="en-US" sz="1900" b="1" baseline="-25000"/>
              <a:t>B   </a:t>
            </a:r>
            <a:r>
              <a:rPr lang="en-US" altLang="en-US" sz="1900" b="1"/>
              <a:t>=  Execution Time</a:t>
            </a:r>
            <a:r>
              <a:rPr lang="en-US" altLang="en-US" sz="1900" b="1" baseline="-25000"/>
              <a:t>B </a:t>
            </a:r>
            <a:r>
              <a:rPr lang="en-US" altLang="en-US" sz="1900" b="1"/>
              <a:t> /  Execution Time</a:t>
            </a:r>
            <a:r>
              <a:rPr lang="en-US" altLang="en-US" sz="1900" b="1" baseline="-25000"/>
              <a:t>A</a:t>
            </a:r>
          </a:p>
          <a:p>
            <a:pPr lvl="1">
              <a:buFontTx/>
              <a:buNone/>
            </a:pPr>
            <a:r>
              <a:rPr lang="en-US" altLang="en-US" sz="1900" b="1" baseline="-25000"/>
              <a:t>                                                                                    </a:t>
            </a:r>
            <a:r>
              <a:rPr lang="en-US" altLang="en-US" sz="1900" b="1"/>
              <a:t>=  10 / 1 = 10</a:t>
            </a:r>
          </a:p>
          <a:p>
            <a:pPr lvl="1">
              <a:buFontTx/>
              <a:buNone/>
            </a:pPr>
            <a:endParaRPr lang="en-US" altLang="en-US" sz="600"/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700" b="1"/>
              <a:t>The performance of machine A  is 10 times the performance of  machine B when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700" b="1"/>
              <a:t>running this program, or:  Machine A is said to be 10 times faster than machine B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1700" b="1"/>
              <a:t>when running this program. </a:t>
            </a:r>
          </a:p>
          <a:p>
            <a:endParaRPr lang="ar-JO" altLang="en-US" smtClean="0"/>
          </a:p>
        </p:txBody>
      </p:sp>
      <p:sp>
        <p:nvSpPr>
          <p:cNvPr id="88068" name="عنصر نائب لرقم الشريحة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0E8FF9-FF46-41F4-9D86-DF8FF4B33442}" type="slidenum">
              <a:rPr lang="en-US" altLang="en-US" sz="1200">
                <a:latin typeface="Times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200">
              <a:latin typeface="Times" panose="02020603050405020304" pitchFamily="18" charset="0"/>
            </a:endParaRPr>
          </a:p>
        </p:txBody>
      </p:sp>
      <p:grpSp>
        <p:nvGrpSpPr>
          <p:cNvPr id="88069" name="Group 9"/>
          <p:cNvGrpSpPr>
            <a:grpSpLocks/>
          </p:cNvGrpSpPr>
          <p:nvPr/>
        </p:nvGrpSpPr>
        <p:grpSpPr bwMode="auto">
          <a:xfrm>
            <a:off x="3200400" y="2971801"/>
            <a:ext cx="6781800" cy="695325"/>
            <a:chOff x="1008" y="1042"/>
            <a:chExt cx="3360" cy="438"/>
          </a:xfrm>
        </p:grpSpPr>
        <p:sp>
          <p:nvSpPr>
            <p:cNvPr id="88070" name="Rectangle 10"/>
            <p:cNvSpPr>
              <a:spLocks noChangeArrowheads="1"/>
            </p:cNvSpPr>
            <p:nvPr/>
          </p:nvSpPr>
          <p:spPr bwMode="auto">
            <a:xfrm>
              <a:off x="1008" y="1152"/>
              <a:ext cx="22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800" b="1"/>
                <a:t>Speedup = n =                                        =</a:t>
              </a:r>
              <a:endParaRPr lang="en-US" altLang="en-US" sz="1800" b="1" baseline="-25000"/>
            </a:p>
          </p:txBody>
        </p:sp>
        <p:sp>
          <p:nvSpPr>
            <p:cNvPr id="88071" name="Text Box 11"/>
            <p:cNvSpPr txBox="1">
              <a:spLocks noChangeArrowheads="1"/>
            </p:cNvSpPr>
            <p:nvPr/>
          </p:nvSpPr>
          <p:spPr bwMode="auto">
            <a:xfrm>
              <a:off x="1968" y="1042"/>
              <a:ext cx="8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800" b="1"/>
                <a:t>Performance</a:t>
              </a:r>
              <a:r>
                <a:rPr lang="en-US" altLang="en-US" sz="1800" b="1" baseline="-25000"/>
                <a:t>A</a:t>
              </a:r>
            </a:p>
          </p:txBody>
        </p:sp>
        <p:sp>
          <p:nvSpPr>
            <p:cNvPr id="88072" name="Text Box 12"/>
            <p:cNvSpPr txBox="1">
              <a:spLocks noChangeArrowheads="1"/>
            </p:cNvSpPr>
            <p:nvPr/>
          </p:nvSpPr>
          <p:spPr bwMode="auto">
            <a:xfrm>
              <a:off x="1962" y="1239"/>
              <a:ext cx="8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800" b="1"/>
                <a:t>Performance</a:t>
              </a:r>
              <a:r>
                <a:rPr lang="en-US" altLang="en-US" sz="1800" b="1" baseline="-25000"/>
                <a:t>B</a:t>
              </a:r>
            </a:p>
          </p:txBody>
        </p:sp>
        <p:sp>
          <p:nvSpPr>
            <p:cNvPr id="88073" name="Text Box 13"/>
            <p:cNvSpPr txBox="1">
              <a:spLocks noChangeArrowheads="1"/>
            </p:cNvSpPr>
            <p:nvPr/>
          </p:nvSpPr>
          <p:spPr bwMode="auto">
            <a:xfrm>
              <a:off x="3168" y="1056"/>
              <a:ext cx="9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800" b="1"/>
                <a:t>Execution Time</a:t>
              </a:r>
              <a:r>
                <a:rPr lang="en-US" altLang="en-US" sz="1800" b="1" baseline="-25000"/>
                <a:t>B</a:t>
              </a:r>
            </a:p>
          </p:txBody>
        </p:sp>
        <p:sp>
          <p:nvSpPr>
            <p:cNvPr id="88074" name="Text Box 14"/>
            <p:cNvSpPr txBox="1">
              <a:spLocks noChangeArrowheads="1"/>
            </p:cNvSpPr>
            <p:nvPr/>
          </p:nvSpPr>
          <p:spPr bwMode="auto">
            <a:xfrm>
              <a:off x="3168" y="1247"/>
              <a:ext cx="9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800" b="1"/>
                <a:t>Execution Time</a:t>
              </a:r>
              <a:r>
                <a:rPr lang="en-US" altLang="en-US" sz="1800" b="1" baseline="-25000"/>
                <a:t>A</a:t>
              </a:r>
              <a:endParaRPr lang="en-US" altLang="en-US" sz="1800" baseline="-25000"/>
            </a:p>
          </p:txBody>
        </p:sp>
        <p:sp>
          <p:nvSpPr>
            <p:cNvPr id="88075" name="Line 15"/>
            <p:cNvSpPr>
              <a:spLocks noChangeShapeType="1"/>
            </p:cNvSpPr>
            <p:nvPr/>
          </p:nvSpPr>
          <p:spPr bwMode="auto">
            <a:xfrm>
              <a:off x="1968" y="1282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076" name="Line 16"/>
            <p:cNvSpPr>
              <a:spLocks noChangeShapeType="1"/>
            </p:cNvSpPr>
            <p:nvPr/>
          </p:nvSpPr>
          <p:spPr bwMode="auto">
            <a:xfrm>
              <a:off x="3216" y="1282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957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عنوان 1"/>
          <p:cNvSpPr>
            <a:spLocks noGrp="1"/>
          </p:cNvSpPr>
          <p:nvPr>
            <p:ph type="title"/>
          </p:nvPr>
        </p:nvSpPr>
        <p:spPr>
          <a:xfrm>
            <a:off x="2057400" y="338139"/>
            <a:ext cx="8229600" cy="7921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CPU Execution </a:t>
            </a:r>
            <a:r>
              <a:rPr lang="en-US" alt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Time The </a:t>
            </a:r>
            <a:r>
              <a:rPr lang="en-US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CPU Equation</a:t>
            </a:r>
            <a:endParaRPr lang="ar-JO" sz="3200" dirty="0"/>
          </a:p>
        </p:txBody>
      </p:sp>
      <p:sp>
        <p:nvSpPr>
          <p:cNvPr id="60419" name="عنصر نائب للمحتوى 2"/>
          <p:cNvSpPr>
            <a:spLocks noGrp="1"/>
          </p:cNvSpPr>
          <p:nvPr>
            <p:ph idx="1"/>
          </p:nvPr>
        </p:nvSpPr>
        <p:spPr>
          <a:xfrm>
            <a:off x="1524000" y="1143001"/>
            <a:ext cx="9144000" cy="4983163"/>
          </a:xfrm>
        </p:spPr>
        <p:txBody>
          <a:bodyPr/>
          <a:lstStyle/>
          <a:p>
            <a:pPr>
              <a:spcBef>
                <a:spcPct val="10000"/>
              </a:spcBef>
              <a:defRPr/>
            </a:pPr>
            <a:r>
              <a:rPr lang="en-US" altLang="en-US" sz="2100" dirty="0"/>
              <a:t>A program is comprised of a number of instructions executed ,  </a:t>
            </a:r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endParaRPr lang="en-US" altLang="en-US" sz="21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ct val="10000"/>
              </a:spcBef>
              <a:defRPr/>
            </a:pPr>
            <a:r>
              <a:rPr lang="en-US" altLang="en-US" sz="2100" b="1" dirty="0"/>
              <a:t>Measured in:	instructions/program</a:t>
            </a:r>
          </a:p>
          <a:p>
            <a:pPr lvl="1">
              <a:spcBef>
                <a:spcPct val="10000"/>
              </a:spcBef>
              <a:buFontTx/>
              <a:buNone/>
              <a:defRPr/>
            </a:pPr>
            <a:endParaRPr lang="en-US" altLang="en-US" sz="1300" dirty="0"/>
          </a:p>
          <a:p>
            <a:pPr>
              <a:spcBef>
                <a:spcPct val="10000"/>
              </a:spcBef>
              <a:defRPr/>
            </a:pPr>
            <a:r>
              <a:rPr lang="en-US" altLang="en-US" sz="2100" dirty="0"/>
              <a:t>The average instruction takes a number of </a:t>
            </a:r>
            <a:r>
              <a:rPr lang="en-US" altLang="en-US" sz="2100" i="1" dirty="0"/>
              <a:t>cycles per instruction (CPI)</a:t>
            </a:r>
            <a:r>
              <a:rPr lang="en-US" altLang="en-US" sz="2100" dirty="0"/>
              <a:t> to be completed.   </a:t>
            </a:r>
          </a:p>
          <a:p>
            <a:pPr lvl="1">
              <a:spcBef>
                <a:spcPct val="10000"/>
              </a:spcBef>
              <a:defRPr/>
            </a:pPr>
            <a:r>
              <a:rPr lang="en-US" altLang="en-US" sz="2100" b="1" dirty="0"/>
              <a:t>Measured in:    cycles/instruction,  </a:t>
            </a:r>
            <a:r>
              <a:rPr lang="en-US" altLang="en-US" sz="2100" b="1" dirty="0">
                <a:solidFill>
                  <a:srgbClr val="FF0000"/>
                </a:solidFill>
              </a:rPr>
              <a:t>CPI</a:t>
            </a:r>
          </a:p>
          <a:p>
            <a:pPr lvl="1">
              <a:spcBef>
                <a:spcPct val="10000"/>
              </a:spcBef>
              <a:defRPr/>
            </a:pPr>
            <a:endParaRPr lang="en-US" altLang="en-US" sz="1300" dirty="0"/>
          </a:p>
          <a:p>
            <a:pPr>
              <a:spcBef>
                <a:spcPct val="10000"/>
              </a:spcBef>
              <a:defRPr/>
            </a:pPr>
            <a:r>
              <a:rPr lang="en-US" altLang="en-US" sz="2100" dirty="0"/>
              <a:t>CPU has a fixed clock cycle time  </a:t>
            </a:r>
            <a:r>
              <a:rPr lang="en-US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 = 1/clock rate </a:t>
            </a:r>
          </a:p>
          <a:p>
            <a:pPr lvl="1">
              <a:spcBef>
                <a:spcPct val="10000"/>
              </a:spcBef>
              <a:defRPr/>
            </a:pPr>
            <a:r>
              <a:rPr lang="en-US" altLang="en-US" sz="2100" b="1" dirty="0"/>
              <a:t>Measured in:	 seconds/cycle </a:t>
            </a:r>
          </a:p>
          <a:p>
            <a:pPr lvl="1">
              <a:spcBef>
                <a:spcPct val="10000"/>
              </a:spcBef>
              <a:defRPr/>
            </a:pPr>
            <a:endParaRPr lang="en-US" altLang="en-US" sz="1300" dirty="0"/>
          </a:p>
          <a:p>
            <a:pPr>
              <a:spcBef>
                <a:spcPct val="10000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 execution time is the product of the above three parameters as follows</a:t>
            </a:r>
            <a:r>
              <a:rPr lang="en-US" altLang="en-US" sz="2000" dirty="0"/>
              <a:t>:</a:t>
            </a:r>
          </a:p>
          <a:p>
            <a:pPr>
              <a:defRPr/>
            </a:pPr>
            <a:endParaRPr lang="ar-JO" dirty="0" smtClean="0"/>
          </a:p>
        </p:txBody>
      </p:sp>
      <p:sp>
        <p:nvSpPr>
          <p:cNvPr id="89092" name="عنصر نائب لرقم الشريحة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981AFD-67C1-44C0-9B74-CADCE1B846AF}" type="slidenum">
              <a:rPr lang="en-US" altLang="en-US" sz="1200">
                <a:latin typeface="Times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latin typeface="Times" panose="02020603050405020304" pitchFamily="18" charset="0"/>
            </a:endParaRPr>
          </a:p>
        </p:txBody>
      </p:sp>
      <p:grpSp>
        <p:nvGrpSpPr>
          <p:cNvPr id="89093" name="Group 23"/>
          <p:cNvGrpSpPr>
            <a:grpSpLocks/>
          </p:cNvGrpSpPr>
          <p:nvPr/>
        </p:nvGrpSpPr>
        <p:grpSpPr bwMode="auto">
          <a:xfrm>
            <a:off x="2286000" y="4762501"/>
            <a:ext cx="7772400" cy="646113"/>
            <a:chOff x="480" y="3120"/>
            <a:chExt cx="4896" cy="364"/>
          </a:xfrm>
        </p:grpSpPr>
        <p:sp>
          <p:nvSpPr>
            <p:cNvPr id="89095" name="Rectangle 24"/>
            <p:cNvSpPr>
              <a:spLocks noChangeArrowheads="1"/>
            </p:cNvSpPr>
            <p:nvPr/>
          </p:nvSpPr>
          <p:spPr bwMode="auto">
            <a:xfrm>
              <a:off x="480" y="3120"/>
              <a:ext cx="4896" cy="3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63500" tIns="25400" rIns="63500" bIns="25400">
              <a:spAutoFit/>
            </a:bodyPr>
            <a:lstStyle>
              <a:lvl1pPr marL="342900" indent="-34290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en-US" sz="1800" b="1"/>
                <a:t>CPU time	=  Seconds	= Instructions  x  Cycles       x   Seconds</a:t>
              </a:r>
            </a:p>
            <a:p>
              <a:pPr eaLnBrk="1" hangingPunct="1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en-US" sz="1800" b="1"/>
                <a:t>		    Program	    Program          Instruction       Cycle</a:t>
              </a:r>
            </a:p>
          </p:txBody>
        </p:sp>
        <p:sp>
          <p:nvSpPr>
            <p:cNvPr id="89096" name="Line 25"/>
            <p:cNvSpPr>
              <a:spLocks noChangeShapeType="1"/>
            </p:cNvSpPr>
            <p:nvPr/>
          </p:nvSpPr>
          <p:spPr bwMode="auto">
            <a:xfrm>
              <a:off x="1552" y="3312"/>
              <a:ext cx="5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7" name="Line 26"/>
            <p:cNvSpPr>
              <a:spLocks noChangeShapeType="1"/>
            </p:cNvSpPr>
            <p:nvPr/>
          </p:nvSpPr>
          <p:spPr bwMode="auto">
            <a:xfrm>
              <a:off x="2512" y="3312"/>
              <a:ext cx="8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8" name="Line 27"/>
            <p:cNvSpPr>
              <a:spLocks noChangeShapeType="1"/>
            </p:cNvSpPr>
            <p:nvPr/>
          </p:nvSpPr>
          <p:spPr bwMode="auto">
            <a:xfrm>
              <a:off x="3568" y="3312"/>
              <a:ext cx="6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9" name="Line 28"/>
            <p:cNvSpPr>
              <a:spLocks noChangeShapeType="1"/>
            </p:cNvSpPr>
            <p:nvPr/>
          </p:nvSpPr>
          <p:spPr bwMode="auto">
            <a:xfrm>
              <a:off x="4584" y="3312"/>
              <a:ext cx="5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094" name="Text Box 29"/>
          <p:cNvSpPr txBox="1">
            <a:spLocks noChangeArrowheads="1"/>
          </p:cNvSpPr>
          <p:nvPr/>
        </p:nvSpPr>
        <p:spPr bwMode="auto">
          <a:xfrm>
            <a:off x="2971800" y="5554663"/>
            <a:ext cx="7005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b="1"/>
              <a:t>T   =                     I   x      CPI    x     C</a:t>
            </a:r>
          </a:p>
        </p:txBody>
      </p:sp>
    </p:spTree>
    <p:extLst>
      <p:ext uri="{BB962C8B-B14F-4D97-AF65-F5344CB8AC3E}">
        <p14:creationId xmlns:p14="http://schemas.microsoft.com/office/powerpoint/2010/main" val="18414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عنوان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ar-JO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443" name="عنصر نائب للمحتوى 2"/>
          <p:cNvSpPr>
            <a:spLocks noGrp="1"/>
          </p:cNvSpPr>
          <p:nvPr>
            <p:ph idx="1"/>
          </p:nvPr>
        </p:nvSpPr>
        <p:spPr>
          <a:xfrm>
            <a:off x="1676400" y="1371601"/>
            <a:ext cx="8991600" cy="4525963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A Program is running on a specific machine with the following parameters:</a:t>
            </a:r>
          </a:p>
          <a:p>
            <a:pPr lvl="1">
              <a:defRPr/>
            </a:pPr>
            <a:r>
              <a:rPr lang="en-US" altLang="en-US" sz="1800" b="1" dirty="0"/>
              <a:t>Total executed instruction count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10,000,000  </a:t>
            </a:r>
            <a:r>
              <a:rPr lang="en-US" altLang="en-US" sz="1800" b="1" dirty="0"/>
              <a:t>instructions </a:t>
            </a:r>
          </a:p>
          <a:p>
            <a:pPr lvl="1">
              <a:defRPr/>
            </a:pPr>
            <a:r>
              <a:rPr lang="en-US" altLang="en-US" sz="1800" b="1" dirty="0"/>
              <a:t>Average CPI for the program:   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</a:t>
            </a:r>
            <a:r>
              <a:rPr lang="en-US" altLang="en-US" sz="1800" b="1" dirty="0"/>
              <a:t>  cycles/instruction.</a:t>
            </a:r>
          </a:p>
          <a:p>
            <a:pPr lvl="1">
              <a:defRPr/>
            </a:pPr>
            <a:r>
              <a:rPr lang="en-US" altLang="en-US" sz="1800" b="1" dirty="0"/>
              <a:t>CPU clock rate</a:t>
            </a:r>
            <a:r>
              <a:rPr lang="en-US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200 </a:t>
            </a:r>
            <a:r>
              <a:rPr lang="en-US" alt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MHz</a:t>
            </a:r>
            <a:r>
              <a:rPr lang="en-US" altLang="en-US" sz="1800" b="1" dirty="0" err="1"/>
              <a:t>.</a:t>
            </a:r>
            <a:endParaRPr lang="en-US" altLang="en-US" sz="1800" b="1" dirty="0"/>
          </a:p>
          <a:p>
            <a:pPr>
              <a:buFontTx/>
              <a:buNone/>
              <a:defRPr/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What is the execution time for this program?</a:t>
            </a:r>
          </a:p>
          <a:p>
            <a:pPr>
              <a:buFontTx/>
              <a:buNone/>
              <a:defRPr/>
            </a:pPr>
            <a:endParaRPr lang="en-US" altLang="en-US" sz="1050" dirty="0"/>
          </a:p>
          <a:p>
            <a:pPr>
              <a:buFontTx/>
              <a:buNone/>
              <a:defRPr/>
            </a:pPr>
            <a:r>
              <a:rPr lang="en-US" altLang="en-US" sz="2400" dirty="0"/>
              <a:t>CPU time =  Instruction count  x  CPI</a:t>
            </a:r>
            <a:r>
              <a:rPr lang="en-US" altLang="en-US" sz="2400" baseline="-25000" dirty="0"/>
              <a:t>  </a:t>
            </a:r>
            <a:r>
              <a:rPr lang="en-US" altLang="en-US" sz="2400" dirty="0"/>
              <a:t>x  Clock cycle</a:t>
            </a:r>
          </a:p>
          <a:p>
            <a:pPr>
              <a:buFontTx/>
              <a:buNone/>
              <a:defRPr/>
            </a:pPr>
            <a:r>
              <a:rPr lang="en-US" altLang="en-US" sz="2400" dirty="0"/>
              <a:t>                  =     10,000,000          x   2.5  x   1 / clock rate </a:t>
            </a:r>
          </a:p>
          <a:p>
            <a:pPr>
              <a:buFontTx/>
              <a:buNone/>
              <a:defRPr/>
            </a:pPr>
            <a:r>
              <a:rPr lang="en-US" altLang="en-US" sz="2400" dirty="0"/>
              <a:t>                  =     10,000,000          x   2.5  x    5x10</a:t>
            </a:r>
            <a:r>
              <a:rPr lang="en-US" altLang="en-US" sz="2400" baseline="30000" dirty="0"/>
              <a:t>-9</a:t>
            </a:r>
          </a:p>
          <a:p>
            <a:pPr>
              <a:buFontTx/>
              <a:buNone/>
              <a:defRPr/>
            </a:pPr>
            <a:r>
              <a:rPr lang="en-US" altLang="en-US" sz="2400" baseline="30000" dirty="0"/>
              <a:t>                          </a:t>
            </a:r>
            <a:r>
              <a:rPr lang="en-US" altLang="en-US" sz="2400" dirty="0"/>
              <a:t>=     .125  seconds</a:t>
            </a:r>
            <a:endParaRPr lang="ar-JO" sz="2400" dirty="0"/>
          </a:p>
        </p:txBody>
      </p:sp>
      <p:sp>
        <p:nvSpPr>
          <p:cNvPr id="90116" name="عنصر نائب لرقم الشريحة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5AE080-3C92-41DE-BBBD-80FD8DBDCC77}" type="slidenum">
              <a:rPr lang="en-US" altLang="en-US" sz="1200">
                <a:latin typeface="Times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20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43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عنوان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pPr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ar-JO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139" name="عنصر نائب للمحتوى 2"/>
          <p:cNvSpPr>
            <a:spLocks noGrp="1"/>
          </p:cNvSpPr>
          <p:nvPr>
            <p:ph idx="1"/>
          </p:nvPr>
        </p:nvSpPr>
        <p:spPr>
          <a:xfrm>
            <a:off x="1524000" y="1143000"/>
            <a:ext cx="91440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000"/>
              <a:t>From the previous example:  A Program is running on a specific machine with the following parameters:</a:t>
            </a:r>
          </a:p>
          <a:p>
            <a:pPr lvl="1"/>
            <a:r>
              <a:rPr lang="en-US" altLang="en-US" sz="1800" b="1"/>
              <a:t>Total executed instruction count, I:     10,000,000 instructions</a:t>
            </a:r>
          </a:p>
          <a:p>
            <a:pPr lvl="1"/>
            <a:r>
              <a:rPr lang="en-US" altLang="en-US" sz="1800" b="1"/>
              <a:t>Average CPI for the program:   2.5  cycles/instruction.</a:t>
            </a:r>
          </a:p>
          <a:p>
            <a:pPr lvl="1"/>
            <a:r>
              <a:rPr lang="en-US" altLang="en-US" sz="1800" b="1"/>
              <a:t>CPU clock rate:  200 MHz.</a:t>
            </a:r>
          </a:p>
          <a:p>
            <a:r>
              <a:rPr lang="en-US" altLang="en-US" sz="1800"/>
              <a:t>Using the same program with these changes: </a:t>
            </a:r>
          </a:p>
          <a:p>
            <a:pPr lvl="1"/>
            <a:r>
              <a:rPr lang="en-US" altLang="en-US" sz="1800" b="1"/>
              <a:t>A new compiler used:  New instruction count 9,500,000</a:t>
            </a:r>
          </a:p>
          <a:p>
            <a:pPr lvl="1">
              <a:buFontTx/>
              <a:buNone/>
            </a:pPr>
            <a:r>
              <a:rPr lang="en-US" altLang="en-US" sz="1800" b="1"/>
              <a:t>                                           New CPI:  3.0</a:t>
            </a:r>
          </a:p>
          <a:p>
            <a:pPr lvl="1"/>
            <a:r>
              <a:rPr lang="en-US" altLang="en-US" sz="1800" b="1"/>
              <a:t>Faster CPU implementation:  New clock rate = 300 MHZ</a:t>
            </a:r>
          </a:p>
          <a:p>
            <a:r>
              <a:rPr lang="en-US" altLang="en-US" sz="1800"/>
              <a:t>What is the speedup with the changes?</a:t>
            </a:r>
            <a:endParaRPr lang="en-US" altLang="en-US"/>
          </a:p>
          <a:p>
            <a:pPr>
              <a:buFontTx/>
              <a:buNone/>
            </a:pPr>
            <a:endParaRPr lang="en-US" altLang="en-US" sz="1100"/>
          </a:p>
          <a:p>
            <a:pPr>
              <a:buFontTx/>
              <a:buNone/>
            </a:pPr>
            <a:endParaRPr lang="en-US" altLang="en-US" sz="1100"/>
          </a:p>
          <a:p>
            <a:pPr>
              <a:buFontTx/>
              <a:buNone/>
            </a:pPr>
            <a:endParaRPr lang="en-US" altLang="en-US" sz="1100"/>
          </a:p>
          <a:p>
            <a:pPr>
              <a:buFontTx/>
              <a:buNone/>
            </a:pPr>
            <a:endParaRPr lang="en-US" altLang="en-US" sz="1100"/>
          </a:p>
          <a:p>
            <a:pPr>
              <a:buFontTx/>
              <a:buNone/>
            </a:pPr>
            <a:endParaRPr lang="en-US" altLang="en-US" sz="1100"/>
          </a:p>
          <a:p>
            <a:pPr>
              <a:buFontTx/>
              <a:buNone/>
            </a:pPr>
            <a:r>
              <a:rPr lang="en-US" altLang="en-US" sz="1800"/>
              <a:t>Speedup  =     (10,000,000  x   2.5  x  5x10</a:t>
            </a:r>
            <a:r>
              <a:rPr lang="en-US" altLang="en-US" sz="1800" baseline="30000"/>
              <a:t>-9</a:t>
            </a:r>
            <a:r>
              <a:rPr lang="en-US" altLang="en-US" sz="1800"/>
              <a:t>) / (9,500,000  x 3  x  3.33x10</a:t>
            </a:r>
            <a:r>
              <a:rPr lang="en-US" altLang="en-US" sz="1800" baseline="30000"/>
              <a:t>-9 </a:t>
            </a:r>
            <a:r>
              <a:rPr lang="en-US" altLang="en-US" sz="1800"/>
              <a:t>)</a:t>
            </a:r>
            <a:endParaRPr lang="en-US" altLang="en-US" sz="1800" baseline="30000"/>
          </a:p>
          <a:p>
            <a:pPr>
              <a:buFontTx/>
              <a:buNone/>
            </a:pPr>
            <a:r>
              <a:rPr lang="en-US" altLang="en-US" sz="1800" baseline="30000"/>
              <a:t>                          </a:t>
            </a:r>
            <a:r>
              <a:rPr lang="en-US" altLang="en-US" sz="1800"/>
              <a:t>=     .125 /  .095 = 1.32</a:t>
            </a:r>
          </a:p>
          <a:p>
            <a:pPr>
              <a:buFontTx/>
              <a:buNone/>
            </a:pPr>
            <a:r>
              <a:rPr lang="en-US" altLang="en-US" sz="1800"/>
              <a:t>               or 32 % faster after changes.</a:t>
            </a:r>
          </a:p>
          <a:p>
            <a:endParaRPr lang="ar-JO" altLang="en-US" sz="2400"/>
          </a:p>
        </p:txBody>
      </p:sp>
      <p:sp>
        <p:nvSpPr>
          <p:cNvPr id="91140" name="عنصر نائب لرقم الشريحة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321D45-01F5-40AF-8D9F-5D3BE0A40691}" type="slidenum">
              <a:rPr lang="en-US" altLang="en-US" sz="1200">
                <a:latin typeface="Times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200">
              <a:latin typeface="Times" panose="02020603050405020304" pitchFamily="18" charset="0"/>
            </a:endParaRPr>
          </a:p>
        </p:txBody>
      </p:sp>
      <p:grpSp>
        <p:nvGrpSpPr>
          <p:cNvPr id="91141" name="Group 6"/>
          <p:cNvGrpSpPr>
            <a:grpSpLocks/>
          </p:cNvGrpSpPr>
          <p:nvPr/>
        </p:nvGrpSpPr>
        <p:grpSpPr bwMode="auto">
          <a:xfrm>
            <a:off x="2057400" y="4648200"/>
            <a:ext cx="7848600" cy="573088"/>
            <a:chOff x="384" y="2736"/>
            <a:chExt cx="4944" cy="361"/>
          </a:xfrm>
        </p:grpSpPr>
        <p:sp>
          <p:nvSpPr>
            <p:cNvPr id="91142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4944" cy="3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63500" tIns="25400" rIns="63500" bIns="25400">
              <a:spAutoFit/>
            </a:bodyPr>
            <a:lstStyle>
              <a:lvl1pPr marL="342900" indent="-34290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tabLst>
                  <a:tab pos="1371600" algn="l"/>
                  <a:tab pos="3073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6000"/>
                </a:lnSpc>
                <a:spcBef>
                  <a:spcPct val="40000"/>
                </a:spcBef>
              </a:pPr>
              <a:r>
                <a:rPr lang="en-US" altLang="en-US" sz="1600" b="1"/>
                <a:t>Speedup	=   Old Execution Time 	=  I</a:t>
              </a:r>
              <a:r>
                <a:rPr lang="en-US" altLang="en-US" sz="1600" b="1" baseline="-25000"/>
                <a:t>old</a:t>
              </a:r>
              <a:r>
                <a:rPr lang="en-US" altLang="en-US" sz="1600" b="1"/>
                <a:t>  x      CPI</a:t>
              </a:r>
              <a:r>
                <a:rPr lang="en-US" altLang="en-US" sz="1600" b="1" baseline="-25000"/>
                <a:t>old</a:t>
              </a:r>
              <a:r>
                <a:rPr lang="en-US" altLang="en-US" sz="1600" b="1"/>
                <a:t>       x   Clock cycle</a:t>
              </a:r>
              <a:r>
                <a:rPr lang="en-US" altLang="en-US" sz="1600" b="1" baseline="-25000"/>
                <a:t>old</a:t>
              </a:r>
              <a:endParaRPr lang="en-US" altLang="en-US" sz="1600" b="1"/>
            </a:p>
            <a:p>
              <a:pPr eaLnBrk="1" hangingPunct="1">
                <a:lnSpc>
                  <a:spcPct val="86000"/>
                </a:lnSpc>
                <a:spcBef>
                  <a:spcPct val="40000"/>
                </a:spcBef>
                <a:buFontTx/>
                <a:buNone/>
              </a:pPr>
              <a:r>
                <a:rPr lang="en-US" altLang="en-US" sz="1600" b="1"/>
                <a:t>        	     New Execution Time	    I</a:t>
              </a:r>
              <a:r>
                <a:rPr lang="en-US" altLang="en-US" sz="1600" b="1" baseline="-25000"/>
                <a:t>new</a:t>
              </a:r>
              <a:r>
                <a:rPr lang="en-US" altLang="en-US" sz="1600" b="1"/>
                <a:t>   x    CPI</a:t>
              </a:r>
              <a:r>
                <a:rPr lang="en-US" altLang="en-US" sz="1600" b="1" baseline="-25000"/>
                <a:t>new</a:t>
              </a:r>
              <a:r>
                <a:rPr lang="en-US" altLang="en-US" sz="1600" b="1"/>
                <a:t>     x   Clock Cycle</a:t>
              </a:r>
              <a:r>
                <a:rPr lang="en-US" altLang="en-US" sz="1600" b="1" baseline="-25000"/>
                <a:t>new</a:t>
              </a:r>
              <a:endParaRPr lang="en-US" altLang="en-US" sz="1600" b="1"/>
            </a:p>
          </p:txBody>
        </p:sp>
        <p:sp>
          <p:nvSpPr>
            <p:cNvPr id="91143" name="Line 8"/>
            <p:cNvSpPr>
              <a:spLocks noChangeShapeType="1"/>
            </p:cNvSpPr>
            <p:nvPr/>
          </p:nvSpPr>
          <p:spPr bwMode="auto">
            <a:xfrm>
              <a:off x="1446" y="2922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4" name="Line 9"/>
            <p:cNvSpPr>
              <a:spLocks noChangeShapeType="1"/>
            </p:cNvSpPr>
            <p:nvPr/>
          </p:nvSpPr>
          <p:spPr bwMode="auto">
            <a:xfrm>
              <a:off x="2832" y="2928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596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عنصر نائب لرقم الشريحة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74D87F-79CF-4167-86AA-54B6123D2D9B}" type="slidenum">
              <a:rPr lang="en-US" altLang="en-US" sz="1200">
                <a:latin typeface="Times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200">
              <a:latin typeface="Times" panose="02020603050405020304" pitchFamily="18" charset="0"/>
            </a:endParaRPr>
          </a:p>
        </p:txBody>
      </p:sp>
      <p:pic>
        <p:nvPicPr>
          <p:cNvPr id="9216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533400"/>
            <a:ext cx="78486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063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2415</Words>
  <Application>Microsoft Office PowerPoint</Application>
  <PresentationFormat>Widescreen</PresentationFormat>
  <Paragraphs>361</Paragraphs>
  <Slides>48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Arial</vt:lpstr>
      <vt:lpstr>Arial Narrow</vt:lpstr>
      <vt:lpstr>Arial Rounded MT Bold</vt:lpstr>
      <vt:lpstr>Calibri</vt:lpstr>
      <vt:lpstr>Calibri Light</vt:lpstr>
      <vt:lpstr>Cooper Black</vt:lpstr>
      <vt:lpstr>Times</vt:lpstr>
      <vt:lpstr>Times New Roman</vt:lpstr>
      <vt:lpstr>Wingdings</vt:lpstr>
      <vt:lpstr>Office Theme</vt:lpstr>
      <vt:lpstr>Bitmap Image</vt:lpstr>
      <vt:lpstr>  Computer Architecture &amp; Assembly Language   CSC-250</vt:lpstr>
      <vt:lpstr>History of computer</vt:lpstr>
      <vt:lpstr>ENIAC</vt:lpstr>
      <vt:lpstr> von Neumann/Turing </vt:lpstr>
      <vt:lpstr>Structure of von Neumann machine</vt:lpstr>
      <vt:lpstr>John von Neumann and the IAS machine, 1952</vt:lpstr>
      <vt:lpstr>Commercial Computers</vt:lpstr>
      <vt:lpstr>IBM (International Business Machines Corporation)</vt:lpstr>
      <vt:lpstr>Transistors</vt:lpstr>
      <vt:lpstr>Transistor Based Computers</vt:lpstr>
      <vt:lpstr>Microelectronics</vt:lpstr>
      <vt:lpstr>Generations of Computers</vt:lpstr>
      <vt:lpstr>Moore’s Law</vt:lpstr>
      <vt:lpstr>Rock’s Law</vt:lpstr>
      <vt:lpstr>1st Generation Computers</vt:lpstr>
      <vt:lpstr>2nd Generation Computers</vt:lpstr>
      <vt:lpstr>Second generation of computers Transistors</vt:lpstr>
      <vt:lpstr>3rd Generation Computers</vt:lpstr>
      <vt:lpstr>Third generation of computers Integrated Circuits</vt:lpstr>
      <vt:lpstr>4th Generation Computers 1971-Present: Microprocessors</vt:lpstr>
      <vt:lpstr>Microprocessors -Intel</vt:lpstr>
      <vt:lpstr>Computer Level Hierarchy</vt:lpstr>
      <vt:lpstr>The Von Neumann Architecture</vt:lpstr>
      <vt:lpstr>PowerPoint Presentation</vt:lpstr>
      <vt:lpstr>Von Neumann Architectures</vt:lpstr>
      <vt:lpstr>Fetch-execute cycle</vt:lpstr>
      <vt:lpstr> The von Neumann Model</vt:lpstr>
      <vt:lpstr>The von Neumann Model</vt:lpstr>
      <vt:lpstr>The von Neumann Model</vt:lpstr>
      <vt:lpstr>The von Neumann Model</vt:lpstr>
      <vt:lpstr>The von Neumann Model</vt:lpstr>
      <vt:lpstr>Non-von Neumann Models</vt:lpstr>
      <vt:lpstr>Non-von Neumann Models</vt:lpstr>
      <vt:lpstr>Parallel Computing</vt:lpstr>
      <vt:lpstr>Computing as a Service Cloud Computing</vt:lpstr>
      <vt:lpstr>Cloud Computing</vt:lpstr>
      <vt:lpstr>Cloud Computing</vt:lpstr>
      <vt:lpstr>Grid computing</vt:lpstr>
      <vt:lpstr>Cluster computing</vt:lpstr>
      <vt:lpstr> CORE VS PROCESSOR</vt:lpstr>
      <vt:lpstr>PowerPoint Presentation</vt:lpstr>
      <vt:lpstr>                       ASSIGNMENT</vt:lpstr>
      <vt:lpstr>Computer Performance Measures Program Execution Time</vt:lpstr>
      <vt:lpstr>Comparing Computer Performance Using Execution Time</vt:lpstr>
      <vt:lpstr>CPU Execution Time The CPU Equation</vt:lpstr>
      <vt:lpstr>Example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Computer Architecture &amp; Assembly Language   CSC-250</dc:title>
  <dc:creator>Noor Nabi</dc:creator>
  <cp:lastModifiedBy>PC</cp:lastModifiedBy>
  <cp:revision>37</cp:revision>
  <dcterms:created xsi:type="dcterms:W3CDTF">2020-01-22T06:30:36Z</dcterms:created>
  <dcterms:modified xsi:type="dcterms:W3CDTF">2025-02-11T13:29:35Z</dcterms:modified>
</cp:coreProperties>
</file>