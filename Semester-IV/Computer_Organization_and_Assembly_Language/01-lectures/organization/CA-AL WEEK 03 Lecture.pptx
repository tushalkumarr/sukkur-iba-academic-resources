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33"/>
  </p:notesMasterIdLst>
  <p:sldIdLst>
    <p:sldId id="257" r:id="rId2"/>
    <p:sldId id="300" r:id="rId3"/>
    <p:sldId id="301" r:id="rId4"/>
    <p:sldId id="260" r:id="rId5"/>
    <p:sldId id="268" r:id="rId6"/>
    <p:sldId id="267" r:id="rId7"/>
    <p:sldId id="266" r:id="rId8"/>
    <p:sldId id="270" r:id="rId9"/>
    <p:sldId id="271" r:id="rId10"/>
    <p:sldId id="274" r:id="rId11"/>
    <p:sldId id="269" r:id="rId12"/>
    <p:sldId id="272" r:id="rId13"/>
    <p:sldId id="258" r:id="rId14"/>
    <p:sldId id="275" r:id="rId15"/>
    <p:sldId id="264" r:id="rId16"/>
    <p:sldId id="276" r:id="rId17"/>
    <p:sldId id="265" r:id="rId18"/>
    <p:sldId id="302" r:id="rId19"/>
    <p:sldId id="294" r:id="rId20"/>
    <p:sldId id="273" r:id="rId21"/>
    <p:sldId id="290" r:id="rId22"/>
    <p:sldId id="292" r:id="rId23"/>
    <p:sldId id="295" r:id="rId24"/>
    <p:sldId id="296" r:id="rId25"/>
    <p:sldId id="298" r:id="rId26"/>
    <p:sldId id="261" r:id="rId27"/>
    <p:sldId id="262" r:id="rId28"/>
    <p:sldId id="263" r:id="rId29"/>
    <p:sldId id="278" r:id="rId30"/>
    <p:sldId id="279" r:id="rId31"/>
    <p:sldId id="280"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23B05E-B804-4E35-9C58-47B339D0DDA8}" type="datetimeFigureOut">
              <a:rPr lang="en-US" smtClean="0"/>
              <a:t>3/25/2025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A8BE4E-5C27-4286-879B-B23203C46728}" type="slidenum">
              <a:rPr lang="en-US" smtClean="0"/>
              <a:t>‹#›</a:t>
            </a:fld>
            <a:endParaRPr lang="en-US"/>
          </a:p>
        </p:txBody>
      </p:sp>
    </p:spTree>
    <p:extLst>
      <p:ext uri="{BB962C8B-B14F-4D97-AF65-F5344CB8AC3E}">
        <p14:creationId xmlns:p14="http://schemas.microsoft.com/office/powerpoint/2010/main" val="667994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31.xml"/><Relationship Id="rId2" Type="http://schemas.openxmlformats.org/officeDocument/2006/relationships/notesMaster" Target="../notesMasters/notesMaster1.xml"/><Relationship Id="rId1" Type="http://schemas.openxmlformats.org/officeDocument/2006/relationships/vmlDrawing" Target="../drawings/vmlDrawing2.vml"/><Relationship Id="rId5" Type="http://schemas.openxmlformats.org/officeDocument/2006/relationships/image" Target="../media/image16.png"/><Relationship Id="rId4" Type="http://schemas.openxmlformats.org/officeDocument/2006/relationships/oleObject" Target="../embeddings/oleObject2.bin"/></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97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8893EF6-B09F-4D84-862F-376EB69E4C7A}" type="slidenum">
              <a:rPr lang="en-US" altLang="en-US">
                <a:latin typeface="Calibri" panose="020F0502020204030204" pitchFamily="34" charset="0"/>
              </a:rPr>
              <a:pPr/>
              <a:t>23</a:t>
            </a:fld>
            <a:endParaRPr lang="en-US" altLang="en-US">
              <a:latin typeface="Calibri" panose="020F0502020204030204" pitchFamily="34" charset="0"/>
            </a:endParaRPr>
          </a:p>
        </p:txBody>
      </p:sp>
    </p:spTree>
    <p:extLst>
      <p:ext uri="{BB962C8B-B14F-4D97-AF65-F5344CB8AC3E}">
        <p14:creationId xmlns:p14="http://schemas.microsoft.com/office/powerpoint/2010/main" val="1376509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317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780A9BF-BA86-4598-A3C1-FB6218DCE74F}" type="slidenum">
              <a:rPr lang="en-US" altLang="en-US">
                <a:latin typeface="Calibri" panose="020F0502020204030204" pitchFamily="34" charset="0"/>
              </a:rPr>
              <a:pPr/>
              <a:t>24</a:t>
            </a:fld>
            <a:endParaRPr lang="en-US" altLang="en-US">
              <a:latin typeface="Calibri" panose="020F0502020204030204" pitchFamily="34" charset="0"/>
            </a:endParaRPr>
          </a:p>
        </p:txBody>
      </p:sp>
    </p:spTree>
    <p:extLst>
      <p:ext uri="{BB962C8B-B14F-4D97-AF65-F5344CB8AC3E}">
        <p14:creationId xmlns:p14="http://schemas.microsoft.com/office/powerpoint/2010/main" val="38774587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358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B5B485B-86F3-47AF-9432-039A4AC773E1}" type="slidenum">
              <a:rPr lang="en-US" altLang="en-US">
                <a:latin typeface="Calibri" panose="020F0502020204030204" pitchFamily="34" charset="0"/>
              </a:rPr>
              <a:pPr/>
              <a:t>25</a:t>
            </a:fld>
            <a:endParaRPr lang="en-US" altLang="en-US">
              <a:latin typeface="Calibri" panose="020F0502020204030204" pitchFamily="34" charset="0"/>
            </a:endParaRPr>
          </a:p>
        </p:txBody>
      </p:sp>
    </p:spTree>
    <p:extLst>
      <p:ext uri="{BB962C8B-B14F-4D97-AF65-F5344CB8AC3E}">
        <p14:creationId xmlns:p14="http://schemas.microsoft.com/office/powerpoint/2010/main" val="30934432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p:cNvSpPr>
            <a:spLocks noGrp="1" noChangeArrowheads="1"/>
          </p:cNvSpPr>
          <p:nvPr>
            <p:ph type="body" idx="1"/>
          </p:nvPr>
        </p:nvSpPr>
        <p:spPr>
          <a:noFill/>
        </p:spPr>
        <p:txBody>
          <a:bodyPr/>
          <a:lstStyle/>
          <a:p>
            <a:r>
              <a:rPr lang="en-US" altLang="en-US" smtClean="0"/>
              <a:t>The ARM processor core originates within a British computer company called Acorn. In the mid-1980s they were looking for replacement for the 6502 processor used in their BBC computer range, which were widely used in UK schools. None of the 16-bit architectures becoming available at that time met their requirements, so they designed their own 32-bit processor.</a:t>
            </a:r>
          </a:p>
          <a:p>
            <a:r>
              <a:rPr lang="en-US" altLang="en-US" smtClean="0"/>
              <a:t>Other companies became interested in this processor, including Apple who were looking for a processor for their PDA project (which became the Newton). After much discussion this led to Acorn’s processor design team splitting off from Acorn at the end of 1990 to become Advanced RISC Machines Ltd, now just ARM Ltd.</a:t>
            </a:r>
          </a:p>
          <a:p>
            <a:r>
              <a:rPr lang="en-US" altLang="en-US" smtClean="0"/>
              <a:t>Thus ARM Ltd now designs the ARM family of RISC processor cores, together with a range of other supporting technologies.</a:t>
            </a:r>
          </a:p>
          <a:p>
            <a:r>
              <a:rPr lang="en-US" altLang="en-US" smtClean="0"/>
              <a:t>One important point about ARM is that it does not fabricate silicon itself, but instead just produces the design - we are an Intellectual Property (or IP) company. Instead silicon is produced by companies who license the ARM processor design.</a:t>
            </a:r>
          </a:p>
        </p:txBody>
      </p:sp>
      <p:sp>
        <p:nvSpPr>
          <p:cNvPr id="8195" name="Rectangle 4"/>
          <p:cNvSpPr>
            <a:spLocks noGrp="1" noRot="1" noChangeAspect="1" noChangeArrowheads="1" noTextEdit="1"/>
          </p:cNvSpPr>
          <p:nvPr>
            <p:ph type="sldImg"/>
          </p:nvPr>
        </p:nvSpPr>
        <p:spPr>
          <a:xfrm>
            <a:off x="354013" y="949325"/>
            <a:ext cx="6361112" cy="3579813"/>
          </a:xfrm>
          <a:noFill/>
          <a:ln w="12700">
            <a:solidFill>
              <a:schemeClr val="tx1"/>
            </a:solidFill>
          </a:ln>
        </p:spPr>
      </p:sp>
    </p:spTree>
    <p:extLst>
      <p:ext uri="{BB962C8B-B14F-4D97-AF65-F5344CB8AC3E}">
        <p14:creationId xmlns:p14="http://schemas.microsoft.com/office/powerpoint/2010/main" val="16686216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a:ln/>
        </p:spPr>
      </p:sp>
      <p:sp>
        <p:nvSpPr>
          <p:cNvPr id="10243" name="Rectangle 3"/>
          <p:cNvSpPr>
            <a:spLocks noGrp="1" noChangeArrowheads="1"/>
          </p:cNvSpPr>
          <p:nvPr>
            <p:ph type="body" idx="1"/>
          </p:nvPr>
        </p:nvSpPr>
        <p:spPr>
          <a:noFill/>
        </p:spPr>
        <p:txBody>
          <a:bodyPr/>
          <a:lstStyle/>
          <a:p>
            <a:r>
              <a:rPr lang="en-US" altLang="en-US" smtClean="0"/>
              <a:t>ARM’s business model centres around the principle of partnership. At the centre of this are ARM’s semiconductor partners who design,  manufacture and market ARM-compliant products. </a:t>
            </a:r>
          </a:p>
          <a:p>
            <a:r>
              <a:rPr lang="en-US" altLang="en-US" smtClean="0"/>
              <a:t>Having so many partner companies producing silicon executing the same instruction set is a very important part of ARM’s strength in the market place.</a:t>
            </a:r>
          </a:p>
          <a:p>
            <a:r>
              <a:rPr lang="en-US" altLang="en-US" smtClean="0"/>
              <a:t>However each of our semiconductor partners bring their own unique strengths to the partnership - each having their own technologies, applications knowledge, product focus, culture, geography,  and key customers.</a:t>
            </a:r>
          </a:p>
          <a:p>
            <a:r>
              <a:rPr lang="en-US" altLang="en-US" smtClean="0"/>
              <a:t>In addition to our partnering with semiconductor companies, we also partner with a large number of other third parties to ensure that operating systems, EDA and software development tools, application software and design services are available for doing ARM based designs.</a:t>
            </a:r>
          </a:p>
          <a:p>
            <a:r>
              <a:rPr lang="en-US" altLang="en-US" smtClean="0"/>
              <a:t>“ATAP” stands for ARM Technology Access Program. Creates a network of independent design service companies and equips them to deliver ARM-powered designs. Members get access to ARM technology, expertise and support. Members sometimes referred to as “Approved Design Centers”.</a:t>
            </a:r>
          </a:p>
          <a:p>
            <a:endParaRPr lang="en-US" altLang="en-US" smtClean="0"/>
          </a:p>
        </p:txBody>
      </p:sp>
    </p:spTree>
    <p:extLst>
      <p:ext uri="{BB962C8B-B14F-4D97-AF65-F5344CB8AC3E}">
        <p14:creationId xmlns:p14="http://schemas.microsoft.com/office/powerpoint/2010/main" val="924985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Rot="1" noChangeAspect="1" noChangeArrowheads="1" noTextEdit="1"/>
          </p:cNvSpPr>
          <p:nvPr>
            <p:ph type="sldImg"/>
          </p:nvPr>
        </p:nvSpPr>
        <p:spPr>
          <a:noFill/>
          <a:ln/>
        </p:spPr>
      </p:sp>
      <p:graphicFrame>
        <p:nvGraphicFramePr>
          <p:cNvPr id="12291" name="Object 3"/>
          <p:cNvGraphicFramePr>
            <a:graphicFrameLocks noGrp="1" noChangeAspect="1"/>
          </p:cNvGraphicFramePr>
          <p:nvPr>
            <p:ph type="body" idx="1"/>
          </p:nvPr>
        </p:nvGraphicFramePr>
        <p:xfrm>
          <a:off x="942975" y="5578475"/>
          <a:ext cx="5199063" cy="3208338"/>
        </p:xfrm>
        <a:graphic>
          <a:graphicData uri="http://schemas.openxmlformats.org/presentationml/2006/ole">
            <mc:AlternateContent xmlns:mc="http://schemas.openxmlformats.org/markup-compatibility/2006">
              <mc:Choice xmlns:v="urn:schemas-microsoft-com:vml" Requires="v">
                <p:oleObj spid="_x0000_s2102" name="Photo Editor Photo" r:id="rId4" imgW="9276190" imgH="5723810" progId="MSPhotoEd.3">
                  <p:embed/>
                </p:oleObj>
              </mc:Choice>
              <mc:Fallback>
                <p:oleObj name="Photo Editor Photo" r:id="rId4" imgW="9276190" imgH="5723810" progId="MSPhotoEd.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2975" y="5578475"/>
                        <a:ext cx="5199063" cy="320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7685168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4D47FBA-D751-4CDD-A6F9-5FDD6CD70A8E}" type="datetimeFigureOut">
              <a:rPr lang="en-US" smtClean="0"/>
              <a:t>3/25/2025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04A605-6884-418E-8619-2D28BC767E96}" type="slidenum">
              <a:rPr lang="en-US" smtClean="0"/>
              <a:t>‹#›</a:t>
            </a:fld>
            <a:endParaRPr lang="en-US"/>
          </a:p>
        </p:txBody>
      </p:sp>
    </p:spTree>
    <p:extLst>
      <p:ext uri="{BB962C8B-B14F-4D97-AF65-F5344CB8AC3E}">
        <p14:creationId xmlns:p14="http://schemas.microsoft.com/office/powerpoint/2010/main" val="1103813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4D47FBA-D751-4CDD-A6F9-5FDD6CD70A8E}" type="datetimeFigureOut">
              <a:rPr lang="en-US" smtClean="0"/>
              <a:t>3/25/2025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04A605-6884-418E-8619-2D28BC767E96}" type="slidenum">
              <a:rPr lang="en-US" smtClean="0"/>
              <a:t>‹#›</a:t>
            </a:fld>
            <a:endParaRPr lang="en-US"/>
          </a:p>
        </p:txBody>
      </p:sp>
    </p:spTree>
    <p:extLst>
      <p:ext uri="{BB962C8B-B14F-4D97-AF65-F5344CB8AC3E}">
        <p14:creationId xmlns:p14="http://schemas.microsoft.com/office/powerpoint/2010/main" val="3675793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4D47FBA-D751-4CDD-A6F9-5FDD6CD70A8E}" type="datetimeFigureOut">
              <a:rPr lang="en-US" smtClean="0"/>
              <a:t>3/25/2025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04A605-6884-418E-8619-2D28BC767E96}" type="slidenum">
              <a:rPr lang="en-US" smtClean="0"/>
              <a:t>‹#›</a:t>
            </a:fld>
            <a:endParaRPr lang="en-US"/>
          </a:p>
        </p:txBody>
      </p:sp>
    </p:spTree>
    <p:extLst>
      <p:ext uri="{BB962C8B-B14F-4D97-AF65-F5344CB8AC3E}">
        <p14:creationId xmlns:p14="http://schemas.microsoft.com/office/powerpoint/2010/main" val="3720581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4D47FBA-D751-4CDD-A6F9-5FDD6CD70A8E}" type="datetimeFigureOut">
              <a:rPr lang="en-US" smtClean="0"/>
              <a:t>3/25/2025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04A605-6884-418E-8619-2D28BC767E96}" type="slidenum">
              <a:rPr lang="en-US" smtClean="0"/>
              <a:t>‹#›</a:t>
            </a:fld>
            <a:endParaRPr lang="en-US"/>
          </a:p>
        </p:txBody>
      </p:sp>
    </p:spTree>
    <p:extLst>
      <p:ext uri="{BB962C8B-B14F-4D97-AF65-F5344CB8AC3E}">
        <p14:creationId xmlns:p14="http://schemas.microsoft.com/office/powerpoint/2010/main" val="1557639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4D47FBA-D751-4CDD-A6F9-5FDD6CD70A8E}" type="datetimeFigureOut">
              <a:rPr lang="en-US" smtClean="0"/>
              <a:t>3/25/2025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04A605-6884-418E-8619-2D28BC767E96}" type="slidenum">
              <a:rPr lang="en-US" smtClean="0"/>
              <a:t>‹#›</a:t>
            </a:fld>
            <a:endParaRPr lang="en-US"/>
          </a:p>
        </p:txBody>
      </p:sp>
    </p:spTree>
    <p:extLst>
      <p:ext uri="{BB962C8B-B14F-4D97-AF65-F5344CB8AC3E}">
        <p14:creationId xmlns:p14="http://schemas.microsoft.com/office/powerpoint/2010/main" val="732386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4D47FBA-D751-4CDD-A6F9-5FDD6CD70A8E}" type="datetimeFigureOut">
              <a:rPr lang="en-US" smtClean="0"/>
              <a:t>3/25/2025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04A605-6884-418E-8619-2D28BC767E96}" type="slidenum">
              <a:rPr lang="en-US" smtClean="0"/>
              <a:t>‹#›</a:t>
            </a:fld>
            <a:endParaRPr lang="en-US"/>
          </a:p>
        </p:txBody>
      </p:sp>
    </p:spTree>
    <p:extLst>
      <p:ext uri="{BB962C8B-B14F-4D97-AF65-F5344CB8AC3E}">
        <p14:creationId xmlns:p14="http://schemas.microsoft.com/office/powerpoint/2010/main" val="148170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D47FBA-D751-4CDD-A6F9-5FDD6CD70A8E}" type="datetimeFigureOut">
              <a:rPr lang="en-US" smtClean="0"/>
              <a:t>3/25/2025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04A605-6884-418E-8619-2D28BC767E96}" type="slidenum">
              <a:rPr lang="en-US" smtClean="0"/>
              <a:t>‹#›</a:t>
            </a:fld>
            <a:endParaRPr lang="en-US"/>
          </a:p>
        </p:txBody>
      </p:sp>
    </p:spTree>
    <p:extLst>
      <p:ext uri="{BB962C8B-B14F-4D97-AF65-F5344CB8AC3E}">
        <p14:creationId xmlns:p14="http://schemas.microsoft.com/office/powerpoint/2010/main" val="3095058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4D47FBA-D751-4CDD-A6F9-5FDD6CD70A8E}" type="datetimeFigureOut">
              <a:rPr lang="en-US" smtClean="0"/>
              <a:t>3/25/2025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04A605-6884-418E-8619-2D28BC767E96}" type="slidenum">
              <a:rPr lang="en-US" smtClean="0"/>
              <a:t>‹#›</a:t>
            </a:fld>
            <a:endParaRPr lang="en-US"/>
          </a:p>
        </p:txBody>
      </p:sp>
    </p:spTree>
    <p:extLst>
      <p:ext uri="{BB962C8B-B14F-4D97-AF65-F5344CB8AC3E}">
        <p14:creationId xmlns:p14="http://schemas.microsoft.com/office/powerpoint/2010/main" val="1945249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4D47FBA-D751-4CDD-A6F9-5FDD6CD70A8E}" type="datetimeFigureOut">
              <a:rPr lang="en-US" smtClean="0"/>
              <a:t>3/25/2025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04A605-6884-418E-8619-2D28BC767E96}" type="slidenum">
              <a:rPr lang="en-US" smtClean="0"/>
              <a:t>‹#›</a:t>
            </a:fld>
            <a:endParaRPr lang="en-US"/>
          </a:p>
        </p:txBody>
      </p:sp>
    </p:spTree>
    <p:extLst>
      <p:ext uri="{BB962C8B-B14F-4D97-AF65-F5344CB8AC3E}">
        <p14:creationId xmlns:p14="http://schemas.microsoft.com/office/powerpoint/2010/main" val="2271071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4D47FBA-D751-4CDD-A6F9-5FDD6CD70A8E}" type="datetimeFigureOut">
              <a:rPr lang="en-US" smtClean="0"/>
              <a:t>3/25/2025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04A605-6884-418E-8619-2D28BC767E96}" type="slidenum">
              <a:rPr lang="en-US" smtClean="0"/>
              <a:t>‹#›</a:t>
            </a:fld>
            <a:endParaRPr lang="en-US"/>
          </a:p>
        </p:txBody>
      </p:sp>
    </p:spTree>
    <p:extLst>
      <p:ext uri="{BB962C8B-B14F-4D97-AF65-F5344CB8AC3E}">
        <p14:creationId xmlns:p14="http://schemas.microsoft.com/office/powerpoint/2010/main" val="32126969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4D47FBA-D751-4CDD-A6F9-5FDD6CD70A8E}" type="datetimeFigureOut">
              <a:rPr lang="en-US" smtClean="0"/>
              <a:t>3/25/2025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04A605-6884-418E-8619-2D28BC767E96}" type="slidenum">
              <a:rPr lang="en-US" smtClean="0"/>
              <a:t>‹#›</a:t>
            </a:fld>
            <a:endParaRPr lang="en-US"/>
          </a:p>
        </p:txBody>
      </p:sp>
    </p:spTree>
    <p:extLst>
      <p:ext uri="{BB962C8B-B14F-4D97-AF65-F5344CB8AC3E}">
        <p14:creationId xmlns:p14="http://schemas.microsoft.com/office/powerpoint/2010/main" val="29652203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1371600"/>
          </a:xfrm>
        </p:spPr>
        <p:txBody>
          <a:bodyPr/>
          <a:lstStyle/>
          <a:p>
            <a:r>
              <a:rPr lang="en-US" smtClean="0"/>
              <a:t>Click to edit Master title style</a:t>
            </a:r>
            <a:endParaRPr lang="en-IN"/>
          </a:p>
        </p:txBody>
      </p:sp>
      <p:sp>
        <p:nvSpPr>
          <p:cNvPr id="3" name="Text Placeholder 2"/>
          <p:cNvSpPr>
            <a:spLocks noGrp="1"/>
          </p:cNvSpPr>
          <p:nvPr>
            <p:ph type="body" sz="half" idx="1"/>
          </p:nvPr>
        </p:nvSpPr>
        <p:spPr>
          <a:xfrm>
            <a:off x="609600" y="1981200"/>
            <a:ext cx="53848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97600" y="1981200"/>
            <a:ext cx="53848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pPr>
              <a:defRPr/>
            </a:pPr>
            <a:fld id="{490FD8E2-604A-447F-BB8A-6817CF85E1BD}" type="slidenum">
              <a:rPr lang="en-US" altLang="en-US"/>
              <a:pPr>
                <a:defRPr/>
              </a:pPr>
              <a:t>‹#›</a:t>
            </a:fld>
            <a:endParaRPr lang="en-US" alt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84509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D47FBA-D751-4CDD-A6F9-5FDD6CD70A8E}" type="datetimeFigureOut">
              <a:rPr lang="en-US" smtClean="0"/>
              <a:t>3/25/2025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04A605-6884-418E-8619-2D28BC767E96}" type="slidenum">
              <a:rPr lang="en-US" smtClean="0"/>
              <a:t>‹#›</a:t>
            </a:fld>
            <a:endParaRPr lang="en-US"/>
          </a:p>
        </p:txBody>
      </p:sp>
      <p:pic>
        <p:nvPicPr>
          <p:cNvPr id="7" name="Picture 6"/>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98425"/>
            <a:ext cx="898525" cy="898525"/>
          </a:xfrm>
          <a:prstGeom prst="rect">
            <a:avLst/>
          </a:prstGeom>
        </p:spPr>
      </p:pic>
    </p:spTree>
    <p:extLst>
      <p:ext uri="{BB962C8B-B14F-4D97-AF65-F5344CB8AC3E}">
        <p14:creationId xmlns:p14="http://schemas.microsoft.com/office/powerpoint/2010/main" val="115139416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4" r:id="rId12"/>
  </p:sldLayoutIdLst>
  <p:txStyles>
    <p:titleStyle>
      <a:lvl1pPr algn="l" defTabSz="914400" rtl="0" eaLnBrk="1" latinLnBrk="0" hangingPunct="1">
        <a:lnSpc>
          <a:spcPct val="90000"/>
        </a:lnSpc>
        <a:spcBef>
          <a:spcPct val="0"/>
        </a:spcBef>
        <a:buNone/>
        <a:defRPr sz="4000" kern="1200">
          <a:solidFill>
            <a:srgbClr val="FF0000"/>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rgbClr val="002060"/>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rgbClr val="002060"/>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200" kern="1200">
          <a:solidFill>
            <a:srgbClr val="002060"/>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rgbClr val="002060"/>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200" kern="1200">
          <a:solidFill>
            <a:srgbClr val="002060"/>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google.com/search?rlz=1C1CHBF_enPK848PK848&amp;q=32-bit&amp;stick=H4sIAAAAAAAAAONgVuLQz9U3yC43MV7EymZspJuUWQIADCYhwRUAAAA&amp;sa=X&amp;ved=2ahUKEwiW04zwsa3nAhVAQhUIHXCkDn0QmxMoAjAjegQIDBAQ" TargetMode="External"/><Relationship Id="rId2" Type="http://schemas.openxmlformats.org/officeDocument/2006/relationships/hyperlink" Target="https://www.google.com/search?rlz=1C1CHBF_enPK848PK848&amp;q=16-bit&amp;stick=H4sIAAAAAAAAAONgVuLQz9U3yDA3zlrEymZoppuUWQIA-EL6mBUAAAA&amp;sa=X&amp;ved=2ahUKEwiW04zwsa3nAhVAQhUIHXCkDn0QmxMoATAjegQIDBAP"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en.wikipedia.org/wiki/PowerPC_600" TargetMode="External"/><Relationship Id="rId7" Type="http://schemas.openxmlformats.org/officeDocument/2006/relationships/image" Target="../media/image10.png"/><Relationship Id="rId2" Type="http://schemas.openxmlformats.org/officeDocument/2006/relationships/hyperlink" Target="https://en.wikipedia.org/wiki/List_of_PowerPC_processors" TargetMode="Externa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hyperlink" Target="https://en.wikipedia.org/wiki/PowerPC_5000" TargetMode="External"/><Relationship Id="rId4" Type="http://schemas.openxmlformats.org/officeDocument/2006/relationships/hyperlink" Target="https://en.wikipedia.org/wiki/PowerPC_e700"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vmlDrawing" Target="../drawings/vmlDrawing1.vml"/><Relationship Id="rId5" Type="http://schemas.openxmlformats.org/officeDocument/2006/relationships/image" Target="../media/image15.png"/><Relationship Id="rId4" Type="http://schemas.openxmlformats.org/officeDocument/2006/relationships/oleObject" Target="../embeddings/oleObject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49300" y="697707"/>
            <a:ext cx="10820400" cy="2387600"/>
          </a:xfrm>
        </p:spPr>
        <p:txBody>
          <a:bodyPr>
            <a:normAutofit/>
          </a:bodyPr>
          <a:lstStyle/>
          <a:p>
            <a:r>
              <a:rPr lang="en-US" sz="4000" dirty="0" smtClean="0">
                <a:latin typeface="Times New Roman" panose="02020603050405020304" pitchFamily="18" charset="0"/>
                <a:cs typeface="Times New Roman" panose="02020603050405020304" pitchFamily="18" charset="0"/>
              </a:rPr>
              <a:t>  Computer Architecture &amp; Assembly Language</a:t>
            </a:r>
            <a:br>
              <a:rPr lang="en-US" sz="4000" dirty="0" smtClean="0">
                <a:latin typeface="Times New Roman" panose="02020603050405020304" pitchFamily="18" charset="0"/>
                <a:cs typeface="Times New Roman" panose="02020603050405020304" pitchFamily="18" charset="0"/>
              </a:rPr>
            </a:br>
            <a:r>
              <a:rPr lang="en-US" sz="4000" dirty="0" smtClean="0">
                <a:latin typeface="Times New Roman" panose="02020603050405020304" pitchFamily="18" charset="0"/>
                <a:cs typeface="Times New Roman" panose="02020603050405020304" pitchFamily="18" charset="0"/>
              </a:rPr>
              <a:t> </a:t>
            </a:r>
            <a:br>
              <a:rPr lang="en-US" sz="4000" dirty="0" smtClean="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CSC-250</a:t>
            </a:r>
            <a:endParaRPr lang="en-US" sz="40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524000" y="3618707"/>
            <a:ext cx="9144000" cy="1655762"/>
          </a:xfrm>
        </p:spPr>
        <p:txBody>
          <a:bodyPr>
            <a:normAutofit fontScale="92500" lnSpcReduction="10000"/>
          </a:bodyPr>
          <a:lstStyle/>
          <a:p>
            <a:r>
              <a:rPr lang="en-US" b="1" u="sng" dirty="0" smtClean="0">
                <a:latin typeface="Times New Roman" panose="02020603050405020304" pitchFamily="18" charset="0"/>
                <a:cs typeface="Times New Roman" panose="02020603050405020304" pitchFamily="18" charset="0"/>
              </a:rPr>
              <a:t>COURSE  LECTURE </a:t>
            </a:r>
          </a:p>
          <a:p>
            <a:endParaRPr lang="en-US" dirty="0"/>
          </a:p>
          <a:p>
            <a:r>
              <a:rPr lang="en-US" sz="2800" dirty="0" smtClean="0">
                <a:latin typeface="Times New Roman" panose="02020603050405020304" pitchFamily="18" charset="0"/>
                <a:cs typeface="Times New Roman" panose="02020603050405020304" pitchFamily="18" charset="0"/>
              </a:rPr>
              <a:t>COMPUTER SCIENCE DEPARTMENT </a:t>
            </a:r>
          </a:p>
          <a:p>
            <a:r>
              <a:rPr lang="en-US" dirty="0" smtClean="0">
                <a:latin typeface="Times New Roman" panose="02020603050405020304" pitchFamily="18" charset="0"/>
                <a:cs typeface="Times New Roman" panose="02020603050405020304" pitchFamily="18" charset="0"/>
              </a:rPr>
              <a:t>SIBAU KANDHKOT CAMPUS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99847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1201782" y="365125"/>
            <a:ext cx="10152017" cy="701675"/>
          </a:xfrm>
        </p:spPr>
        <p:txBody>
          <a:bodyPr/>
          <a:lstStyle/>
          <a:p>
            <a:r>
              <a:rPr lang="en-US" altLang="en-US" b="1" dirty="0" smtClean="0"/>
              <a:t>Puzzle</a:t>
            </a:r>
            <a:r>
              <a:rPr lang="en-US" altLang="en-US" dirty="0" smtClean="0"/>
              <a:t>: </a:t>
            </a:r>
          </a:p>
        </p:txBody>
      </p:sp>
      <p:sp>
        <p:nvSpPr>
          <p:cNvPr id="18435" name="Content Placeholder 2"/>
          <p:cNvSpPr>
            <a:spLocks noGrp="1"/>
          </p:cNvSpPr>
          <p:nvPr>
            <p:ph idx="1"/>
          </p:nvPr>
        </p:nvSpPr>
        <p:spPr>
          <a:xfrm>
            <a:off x="609600" y="1219200"/>
            <a:ext cx="11201400" cy="4737463"/>
          </a:xfrm>
        </p:spPr>
        <p:txBody>
          <a:bodyPr/>
          <a:lstStyle/>
          <a:p>
            <a:r>
              <a:rPr lang="en-US" altLang="en-US" dirty="0" smtClean="0"/>
              <a:t>There </a:t>
            </a:r>
            <a:r>
              <a:rPr lang="en-US" altLang="en-US" dirty="0" smtClean="0">
                <a:solidFill>
                  <a:srgbClr val="FF0000"/>
                </a:solidFill>
              </a:rPr>
              <a:t>are four people</a:t>
            </a:r>
            <a:r>
              <a:rPr lang="en-US" altLang="en-US" dirty="0" smtClean="0"/>
              <a:t> who want to cross a rickety bridge; they all begin on the same side. </a:t>
            </a:r>
            <a:r>
              <a:rPr lang="en-US" altLang="en-US" dirty="0" smtClean="0">
                <a:solidFill>
                  <a:srgbClr val="FF0000"/>
                </a:solidFill>
              </a:rPr>
              <a:t>You have 17 minutes to get them all across to the other side</a:t>
            </a:r>
            <a:r>
              <a:rPr lang="en-US" altLang="en-US" dirty="0" smtClean="0"/>
              <a:t>. It is night, and they have one flashlight. </a:t>
            </a:r>
            <a:r>
              <a:rPr lang="en-US" altLang="en-US" dirty="0" smtClean="0">
                <a:solidFill>
                  <a:srgbClr val="FF0000"/>
                </a:solidFill>
              </a:rPr>
              <a:t>A maximum of two people can cross the bridge at one time</a:t>
            </a:r>
            <a:r>
              <a:rPr lang="en-US" altLang="en-US" dirty="0" smtClean="0"/>
              <a:t>. Any party that crosses, either one or two people, </a:t>
            </a:r>
            <a:r>
              <a:rPr lang="en-US" altLang="en-US" dirty="0" smtClean="0">
                <a:solidFill>
                  <a:srgbClr val="FF0000"/>
                </a:solidFill>
              </a:rPr>
              <a:t>must have the flash light with them</a:t>
            </a:r>
            <a:r>
              <a:rPr lang="en-US" altLang="en-US" dirty="0" smtClean="0"/>
              <a:t>. The </a:t>
            </a:r>
            <a:r>
              <a:rPr lang="en-US" altLang="en-US" dirty="0" smtClean="0">
                <a:solidFill>
                  <a:srgbClr val="FF0000"/>
                </a:solidFill>
              </a:rPr>
              <a:t>flash light must be walked back and forth</a:t>
            </a:r>
            <a:r>
              <a:rPr lang="en-US" altLang="en-US" dirty="0" smtClean="0"/>
              <a:t>; it cannot be thrown, for example. </a:t>
            </a:r>
          </a:p>
          <a:p>
            <a:endParaRPr lang="en-US" altLang="en-US" dirty="0" smtClean="0"/>
          </a:p>
          <a:p>
            <a:r>
              <a:rPr lang="en-US" altLang="en-US" dirty="0" smtClean="0">
                <a:solidFill>
                  <a:srgbClr val="00B050"/>
                </a:solidFill>
              </a:rPr>
              <a:t>Person 1 takes 1 minute </a:t>
            </a:r>
            <a:r>
              <a:rPr lang="en-US" altLang="en-US" dirty="0" smtClean="0"/>
              <a:t>to cross the bridge, </a:t>
            </a:r>
            <a:r>
              <a:rPr lang="en-US" altLang="en-US" dirty="0" smtClean="0">
                <a:solidFill>
                  <a:srgbClr val="0070C0"/>
                </a:solidFill>
              </a:rPr>
              <a:t>person 2 takes 2 minutes</a:t>
            </a:r>
            <a:r>
              <a:rPr lang="en-US" altLang="en-US" dirty="0" smtClean="0"/>
              <a:t>, </a:t>
            </a:r>
            <a:r>
              <a:rPr lang="en-US" altLang="en-US" dirty="0" smtClean="0">
                <a:solidFill>
                  <a:srgbClr val="660066"/>
                </a:solidFill>
              </a:rPr>
              <a:t>person 3 takes 5 minutes</a:t>
            </a:r>
            <a:r>
              <a:rPr lang="en-US" altLang="en-US" dirty="0" smtClean="0"/>
              <a:t>, and </a:t>
            </a:r>
            <a:r>
              <a:rPr lang="en-US" altLang="en-US" dirty="0" smtClean="0">
                <a:solidFill>
                  <a:schemeClr val="accent2">
                    <a:lumMod val="75000"/>
                  </a:schemeClr>
                </a:solidFill>
              </a:rPr>
              <a:t>person 4 takes 10 minutes</a:t>
            </a:r>
            <a:r>
              <a:rPr lang="en-US" altLang="en-US" dirty="0" smtClean="0"/>
              <a:t>. </a:t>
            </a:r>
          </a:p>
          <a:p>
            <a:endParaRPr lang="en-US" altLang="en-US" dirty="0" smtClean="0"/>
          </a:p>
          <a:p>
            <a:r>
              <a:rPr lang="en-US" altLang="en-US" dirty="0" smtClean="0"/>
              <a:t>A pair </a:t>
            </a:r>
            <a:r>
              <a:rPr lang="en-US" altLang="en-US" dirty="0" smtClean="0">
                <a:solidFill>
                  <a:srgbClr val="FF0000"/>
                </a:solidFill>
              </a:rPr>
              <a:t>must walk together </a:t>
            </a:r>
            <a:r>
              <a:rPr lang="en-US" altLang="en-US" dirty="0" smtClean="0"/>
              <a:t>at the </a:t>
            </a:r>
            <a:r>
              <a:rPr lang="en-US" altLang="en-US" dirty="0" smtClean="0">
                <a:solidFill>
                  <a:schemeClr val="accent4">
                    <a:lumMod val="75000"/>
                  </a:schemeClr>
                </a:solidFill>
              </a:rPr>
              <a:t>rate of the slower person’s pace</a:t>
            </a:r>
            <a:r>
              <a:rPr lang="en-US" altLang="en-US" dirty="0" smtClean="0"/>
              <a:t>. </a:t>
            </a:r>
          </a:p>
          <a:p>
            <a:r>
              <a:rPr lang="en-US" altLang="en-US" dirty="0" smtClean="0"/>
              <a:t>(Note: According to a rumor on the Internet, interviewers at a well-known software company located near Seattle have given this problem to interviewees.</a:t>
            </a:r>
          </a:p>
          <a:p>
            <a:pPr marL="0" indent="0">
              <a:buNone/>
            </a:pPr>
            <a:endParaRPr lang="en-US" altLang="en-US" dirty="0" smtClean="0"/>
          </a:p>
        </p:txBody>
      </p:sp>
      <p:sp>
        <p:nvSpPr>
          <p:cNvPr id="4" name="Slide Number Placeholder 3"/>
          <p:cNvSpPr>
            <a:spLocks noGrp="1"/>
          </p:cNvSpPr>
          <p:nvPr>
            <p:ph type="sldNum" sz="quarter" idx="12"/>
          </p:nvPr>
        </p:nvSpPr>
        <p:spPr/>
        <p:txBody>
          <a:bodyPr/>
          <a:lstStyle/>
          <a:p>
            <a:pPr>
              <a:defRPr/>
            </a:pPr>
            <a:fld id="{4F0F71AC-60E7-4BB5-9B10-680F3B667A55}" type="slidenum">
              <a:rPr lang="en-US" altLang="en-US" smtClean="0"/>
              <a:pPr>
                <a:defRPr/>
              </a:pPr>
              <a:t>2</a:t>
            </a:fld>
            <a:endParaRPr lang="en-US" altLang="en-US"/>
          </a:p>
        </p:txBody>
      </p:sp>
    </p:spTree>
    <p:extLst>
      <p:ext uri="{BB962C8B-B14F-4D97-AF65-F5344CB8AC3E}">
        <p14:creationId xmlns:p14="http://schemas.microsoft.com/office/powerpoint/2010/main" val="3558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2068" y="119300"/>
            <a:ext cx="11129554" cy="4031873"/>
          </a:xfrm>
          <a:prstGeom prst="rect">
            <a:avLst/>
          </a:prstGeom>
        </p:spPr>
        <p:txBody>
          <a:bodyPr wrap="square">
            <a:spAutoFit/>
          </a:bodyPr>
          <a:lstStyle/>
          <a:p>
            <a:r>
              <a:rPr lang="en-US" sz="2400" b="1" dirty="0" smtClean="0">
                <a:solidFill>
                  <a:srgbClr val="FF0000"/>
                </a:solidFill>
                <a:latin typeface="Times New Roman" panose="02020603050405020304" pitchFamily="18" charset="0"/>
                <a:cs typeface="Times New Roman" panose="02020603050405020304" pitchFamily="18" charset="0"/>
              </a:rPr>
              <a:t>         </a:t>
            </a:r>
            <a:r>
              <a:rPr lang="en-US" sz="2800" b="1" dirty="0" smtClean="0">
                <a:solidFill>
                  <a:srgbClr val="FF0000"/>
                </a:solidFill>
                <a:latin typeface="Times New Roman" panose="02020603050405020304" pitchFamily="18" charset="0"/>
                <a:cs typeface="Times New Roman" panose="02020603050405020304" pitchFamily="18" charset="0"/>
              </a:rPr>
              <a:t>Tricky Travelling Salesman Problem (TSP) - Class Activity</a:t>
            </a:r>
          </a:p>
          <a:p>
            <a:endParaRPr lang="en-US" sz="2400" b="1" dirty="0" smtClean="0">
              <a:solidFill>
                <a:srgbClr val="FF0000"/>
              </a:solidFill>
              <a:latin typeface="Times New Roman" panose="02020603050405020304" pitchFamily="18" charset="0"/>
              <a:cs typeface="Times New Roman" panose="02020603050405020304" pitchFamily="18" charset="0"/>
            </a:endParaRPr>
          </a:p>
          <a:p>
            <a:r>
              <a:rPr lang="en-US" sz="2000" dirty="0" smtClean="0">
                <a:solidFill>
                  <a:srgbClr val="FF0000"/>
                </a:solidFill>
                <a:latin typeface="Times New Roman" panose="02020603050405020304" pitchFamily="18" charset="0"/>
                <a:cs typeface="Times New Roman" panose="02020603050405020304" pitchFamily="18" charset="0"/>
              </a:rPr>
              <a:t>💡 </a:t>
            </a:r>
            <a:r>
              <a:rPr lang="en-US" sz="2000" b="1" dirty="0" smtClean="0">
                <a:solidFill>
                  <a:srgbClr val="FF0000"/>
                </a:solidFill>
                <a:latin typeface="Times New Roman" panose="02020603050405020304" pitchFamily="18" charset="0"/>
                <a:cs typeface="Times New Roman" panose="02020603050405020304" pitchFamily="18" charset="0"/>
              </a:rPr>
              <a:t>Problem Statement:</a:t>
            </a:r>
            <a:endParaRPr lang="en-US" sz="2000" dirty="0" smtClean="0">
              <a:solidFill>
                <a:srgbClr val="FF0000"/>
              </a:solidFill>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A </a:t>
            </a:r>
            <a:r>
              <a:rPr lang="en-US" sz="2000" b="1" dirty="0" smtClean="0">
                <a:latin typeface="Times New Roman" panose="02020603050405020304" pitchFamily="18" charset="0"/>
                <a:cs typeface="Times New Roman" panose="02020603050405020304" pitchFamily="18" charset="0"/>
              </a:rPr>
              <a:t>delivery person</a:t>
            </a:r>
            <a:r>
              <a:rPr lang="en-US" sz="2000" dirty="0" smtClean="0">
                <a:latin typeface="Times New Roman" panose="02020603050405020304" pitchFamily="18" charset="0"/>
                <a:cs typeface="Times New Roman" panose="02020603050405020304" pitchFamily="18" charset="0"/>
              </a:rPr>
              <a:t> named Alex works for </a:t>
            </a:r>
            <a:r>
              <a:rPr lang="en-US" sz="2000" b="1" dirty="0" err="1" smtClean="0">
                <a:latin typeface="Times New Roman" panose="02020603050405020304" pitchFamily="18" charset="0"/>
                <a:cs typeface="Times New Roman" panose="02020603050405020304" pitchFamily="18" charset="0"/>
              </a:rPr>
              <a:t>QuickExpress</a:t>
            </a:r>
            <a:r>
              <a:rPr lang="en-US" sz="2000" b="1" dirty="0" smtClean="0">
                <a:latin typeface="Times New Roman" panose="02020603050405020304" pitchFamily="18" charset="0"/>
                <a:cs typeface="Times New Roman" panose="02020603050405020304" pitchFamily="18" charset="0"/>
              </a:rPr>
              <a:t> Delivery</a:t>
            </a:r>
            <a:r>
              <a:rPr lang="en-US" sz="2000" dirty="0" smtClean="0">
                <a:latin typeface="Times New Roman" panose="02020603050405020304" pitchFamily="18" charset="0"/>
                <a:cs typeface="Times New Roman" panose="02020603050405020304" pitchFamily="18" charset="0"/>
              </a:rPr>
              <a:t>. Alex must deliver packages to </a:t>
            </a:r>
            <a:r>
              <a:rPr lang="en-US" sz="2000" b="1" dirty="0" smtClean="0">
                <a:latin typeface="Times New Roman" panose="02020603050405020304" pitchFamily="18" charset="0"/>
                <a:cs typeface="Times New Roman" panose="02020603050405020304" pitchFamily="18" charset="0"/>
              </a:rPr>
              <a:t>five different cities</a:t>
            </a:r>
            <a:r>
              <a:rPr lang="en-US" sz="2000" dirty="0" smtClean="0">
                <a:latin typeface="Times New Roman" panose="02020603050405020304" pitchFamily="18" charset="0"/>
                <a:cs typeface="Times New Roman" panose="02020603050405020304" pitchFamily="18" charset="0"/>
              </a:rPr>
              <a:t>:</a:t>
            </a:r>
          </a:p>
          <a:p>
            <a:endParaRPr lang="en-US" sz="2000" dirty="0" smtClean="0">
              <a:latin typeface="Times New Roman" panose="02020603050405020304" pitchFamily="18" charset="0"/>
              <a:cs typeface="Times New Roman" panose="02020603050405020304" pitchFamily="18" charset="0"/>
            </a:endParaRPr>
          </a:p>
          <a:p>
            <a:r>
              <a:rPr lang="en-US" sz="2000" b="1" dirty="0" smtClean="0">
                <a:solidFill>
                  <a:srgbClr val="002060"/>
                </a:solidFill>
                <a:latin typeface="Times New Roman" panose="02020603050405020304" pitchFamily="18" charset="0"/>
                <a:cs typeface="Times New Roman" panose="02020603050405020304" pitchFamily="18" charset="0"/>
              </a:rPr>
              <a:t>City A (10 km from the start)</a:t>
            </a:r>
            <a:r>
              <a:rPr lang="en-US" sz="2000" dirty="0" smtClean="0">
                <a:solidFill>
                  <a:srgbClr val="002060"/>
                </a:solidFill>
                <a:latin typeface="Times New Roman" panose="02020603050405020304" pitchFamily="18" charset="0"/>
                <a:cs typeface="Times New Roman" panose="02020603050405020304" pitchFamily="18" charset="0"/>
              </a:rPr>
              <a:t/>
            </a:r>
            <a:br>
              <a:rPr lang="en-US" sz="2000" dirty="0" smtClean="0">
                <a:solidFill>
                  <a:srgbClr val="002060"/>
                </a:solidFill>
                <a:latin typeface="Times New Roman" panose="02020603050405020304" pitchFamily="18" charset="0"/>
                <a:cs typeface="Times New Roman" panose="02020603050405020304" pitchFamily="18" charset="0"/>
              </a:rPr>
            </a:br>
            <a:r>
              <a:rPr lang="en-US" sz="2000" b="1" dirty="0" smtClean="0">
                <a:solidFill>
                  <a:srgbClr val="002060"/>
                </a:solidFill>
                <a:latin typeface="Times New Roman" panose="02020603050405020304" pitchFamily="18" charset="0"/>
                <a:cs typeface="Times New Roman" panose="02020603050405020304" pitchFamily="18" charset="0"/>
              </a:rPr>
              <a:t>City B (15 km from City A, 20 km from the start)</a:t>
            </a:r>
            <a:r>
              <a:rPr lang="en-US" sz="2000" dirty="0" smtClean="0">
                <a:solidFill>
                  <a:srgbClr val="002060"/>
                </a:solidFill>
                <a:latin typeface="Times New Roman" panose="02020603050405020304" pitchFamily="18" charset="0"/>
                <a:cs typeface="Times New Roman" panose="02020603050405020304" pitchFamily="18" charset="0"/>
              </a:rPr>
              <a:t/>
            </a:r>
            <a:br>
              <a:rPr lang="en-US" sz="2000" dirty="0" smtClean="0">
                <a:solidFill>
                  <a:srgbClr val="002060"/>
                </a:solidFill>
                <a:latin typeface="Times New Roman" panose="02020603050405020304" pitchFamily="18" charset="0"/>
                <a:cs typeface="Times New Roman" panose="02020603050405020304" pitchFamily="18" charset="0"/>
              </a:rPr>
            </a:br>
            <a:r>
              <a:rPr lang="en-US" sz="2000" b="1" dirty="0" smtClean="0">
                <a:solidFill>
                  <a:srgbClr val="002060"/>
                </a:solidFill>
                <a:latin typeface="Times New Roman" panose="02020603050405020304" pitchFamily="18" charset="0"/>
                <a:cs typeface="Times New Roman" panose="02020603050405020304" pitchFamily="18" charset="0"/>
              </a:rPr>
              <a:t>City C (30 km from City B, 25 km from City A)</a:t>
            </a:r>
            <a:r>
              <a:rPr lang="en-US" sz="2000" dirty="0" smtClean="0">
                <a:solidFill>
                  <a:srgbClr val="002060"/>
                </a:solidFill>
                <a:latin typeface="Times New Roman" panose="02020603050405020304" pitchFamily="18" charset="0"/>
                <a:cs typeface="Times New Roman" panose="02020603050405020304" pitchFamily="18" charset="0"/>
              </a:rPr>
              <a:t/>
            </a:r>
            <a:br>
              <a:rPr lang="en-US" sz="2000" dirty="0" smtClean="0">
                <a:solidFill>
                  <a:srgbClr val="002060"/>
                </a:solidFill>
                <a:latin typeface="Times New Roman" panose="02020603050405020304" pitchFamily="18" charset="0"/>
                <a:cs typeface="Times New Roman" panose="02020603050405020304" pitchFamily="18" charset="0"/>
              </a:rPr>
            </a:br>
            <a:r>
              <a:rPr lang="en-US" sz="2000" b="1" dirty="0" smtClean="0">
                <a:solidFill>
                  <a:srgbClr val="002060"/>
                </a:solidFill>
                <a:latin typeface="Times New Roman" panose="02020603050405020304" pitchFamily="18" charset="0"/>
                <a:cs typeface="Times New Roman" panose="02020603050405020304" pitchFamily="18" charset="0"/>
              </a:rPr>
              <a:t>City D (5 km from City B, 10 km from City C, 40 km from the start)</a:t>
            </a:r>
            <a:r>
              <a:rPr lang="en-US" sz="2000" dirty="0" smtClean="0">
                <a:solidFill>
                  <a:srgbClr val="002060"/>
                </a:solidFill>
                <a:latin typeface="Times New Roman" panose="02020603050405020304" pitchFamily="18" charset="0"/>
                <a:cs typeface="Times New Roman" panose="02020603050405020304" pitchFamily="18" charset="0"/>
              </a:rPr>
              <a:t/>
            </a:r>
            <a:br>
              <a:rPr lang="en-US" sz="2000" dirty="0" smtClean="0">
                <a:solidFill>
                  <a:srgbClr val="002060"/>
                </a:solidFill>
                <a:latin typeface="Times New Roman" panose="02020603050405020304" pitchFamily="18" charset="0"/>
                <a:cs typeface="Times New Roman" panose="02020603050405020304" pitchFamily="18" charset="0"/>
              </a:rPr>
            </a:br>
            <a:r>
              <a:rPr lang="en-US" sz="2000" b="1" dirty="0" smtClean="0">
                <a:solidFill>
                  <a:srgbClr val="002060"/>
                </a:solidFill>
                <a:latin typeface="Times New Roman" panose="02020603050405020304" pitchFamily="18" charset="0"/>
                <a:cs typeface="Times New Roman" panose="02020603050405020304" pitchFamily="18" charset="0"/>
              </a:rPr>
              <a:t>City E (20 km from City A, 25 km from City C, 35 km from City D, 50 km from the start)</a:t>
            </a:r>
            <a:endParaRPr lang="en-US" sz="2000" dirty="0" smtClean="0">
              <a:solidFill>
                <a:srgbClr val="002060"/>
              </a:solidFill>
              <a:latin typeface="Times New Roman" panose="02020603050405020304" pitchFamily="18" charset="0"/>
              <a:cs typeface="Times New Roman" panose="02020603050405020304" pitchFamily="18" charset="0"/>
            </a:endParaRPr>
          </a:p>
          <a:p>
            <a:r>
              <a:rPr lang="en-US" sz="2400" b="1" i="1" dirty="0" smtClean="0">
                <a:solidFill>
                  <a:srgbClr val="00B050"/>
                </a:solidFill>
                <a:latin typeface="Times New Roman" panose="02020603050405020304" pitchFamily="18" charset="0"/>
                <a:cs typeface="Times New Roman" panose="02020603050405020304" pitchFamily="18" charset="0"/>
              </a:rPr>
              <a:t>Alex must start and end at the warehouse while visiting each city exactly once.</a:t>
            </a:r>
            <a:endParaRPr lang="en-US" sz="2400" b="1" i="1" dirty="0">
              <a:solidFill>
                <a:srgbClr val="00B050"/>
              </a:solidFill>
              <a:latin typeface="Times New Roman" panose="02020603050405020304" pitchFamily="18" charset="0"/>
              <a:cs typeface="Times New Roman" panose="02020603050405020304" pitchFamily="18" charset="0"/>
            </a:endParaRPr>
          </a:p>
        </p:txBody>
      </p:sp>
      <p:sp>
        <p:nvSpPr>
          <p:cNvPr id="3" name="Rectangle 2"/>
          <p:cNvSpPr/>
          <p:nvPr/>
        </p:nvSpPr>
        <p:spPr>
          <a:xfrm>
            <a:off x="330923" y="4114022"/>
            <a:ext cx="11334208" cy="2246769"/>
          </a:xfrm>
          <a:prstGeom prst="rect">
            <a:avLst/>
          </a:prstGeom>
        </p:spPr>
        <p:txBody>
          <a:bodyPr wrap="square">
            <a:spAutoFit/>
          </a:bodyPr>
          <a:lstStyle/>
          <a:p>
            <a:r>
              <a:rPr lang="en-US" sz="2000" b="1" dirty="0" smtClean="0">
                <a:solidFill>
                  <a:srgbClr val="FF0000"/>
                </a:solidFill>
                <a:latin typeface="Times New Roman" panose="02020603050405020304" pitchFamily="18" charset="0"/>
                <a:cs typeface="Times New Roman" panose="02020603050405020304" pitchFamily="18" charset="0"/>
              </a:rPr>
              <a:t>Challenge for Students:</a:t>
            </a:r>
          </a:p>
          <a:p>
            <a:pPr>
              <a:buFont typeface="+mj-lt"/>
              <a:buAutoNum type="arabicPeriod"/>
            </a:pPr>
            <a:r>
              <a:rPr lang="en-US" sz="2000" dirty="0" smtClean="0">
                <a:latin typeface="Times New Roman" panose="02020603050405020304" pitchFamily="18" charset="0"/>
                <a:cs typeface="Times New Roman" panose="02020603050405020304" pitchFamily="18" charset="0"/>
              </a:rPr>
              <a:t>Find the shortest route for Alex to take.</a:t>
            </a:r>
          </a:p>
          <a:p>
            <a:pPr>
              <a:buFont typeface="+mj-lt"/>
              <a:buAutoNum type="arabicPeriod"/>
            </a:pPr>
            <a:r>
              <a:rPr lang="en-US" sz="2000" dirty="0" smtClean="0">
                <a:latin typeface="Times New Roman" panose="02020603050405020304" pitchFamily="18" charset="0"/>
                <a:cs typeface="Times New Roman" panose="02020603050405020304" pitchFamily="18" charset="0"/>
              </a:rPr>
              <a:t>Calculate the </a:t>
            </a:r>
            <a:r>
              <a:rPr lang="en-US" sz="2000" b="1" dirty="0" smtClean="0">
                <a:latin typeface="Times New Roman" panose="02020603050405020304" pitchFamily="18" charset="0"/>
                <a:cs typeface="Times New Roman" panose="02020603050405020304" pitchFamily="18" charset="0"/>
              </a:rPr>
              <a:t>total distance traveled</a:t>
            </a:r>
            <a:r>
              <a:rPr lang="en-US" sz="2000" dirty="0" smtClean="0">
                <a:latin typeface="Times New Roman" panose="02020603050405020304" pitchFamily="18" charset="0"/>
                <a:cs typeface="Times New Roman" panose="02020603050405020304" pitchFamily="18" charset="0"/>
              </a:rPr>
              <a:t> for that route.</a:t>
            </a:r>
          </a:p>
          <a:p>
            <a:pPr>
              <a:buFont typeface="+mj-lt"/>
              <a:buAutoNum type="arabicPeriod"/>
            </a:pPr>
            <a:r>
              <a:rPr lang="en-US" sz="2000" dirty="0" smtClean="0">
                <a:latin typeface="Times New Roman" panose="02020603050405020304" pitchFamily="18" charset="0"/>
                <a:cs typeface="Times New Roman" panose="02020603050405020304" pitchFamily="18" charset="0"/>
              </a:rPr>
              <a:t>Suggest a </a:t>
            </a:r>
            <a:r>
              <a:rPr lang="en-US" sz="2000" b="1" dirty="0" smtClean="0">
                <a:latin typeface="Times New Roman" panose="02020603050405020304" pitchFamily="18" charset="0"/>
                <a:cs typeface="Times New Roman" panose="02020603050405020304" pitchFamily="18" charset="0"/>
              </a:rPr>
              <a:t>real-world strategy</a:t>
            </a:r>
            <a:r>
              <a:rPr lang="en-US" sz="2000" dirty="0" smtClean="0">
                <a:latin typeface="Times New Roman" panose="02020603050405020304" pitchFamily="18" charset="0"/>
                <a:cs typeface="Times New Roman" panose="02020603050405020304" pitchFamily="18" charset="0"/>
              </a:rPr>
              <a:t> (e.g., using a map or software) to optimize the route.</a:t>
            </a:r>
          </a:p>
          <a:p>
            <a:pPr>
              <a:buFont typeface="+mj-lt"/>
              <a:buAutoNum type="arabicPeriod"/>
            </a:pPr>
            <a:r>
              <a:rPr lang="en-US" sz="2000" dirty="0" smtClean="0">
                <a:latin typeface="Times New Roman" panose="02020603050405020304" pitchFamily="18" charset="0"/>
                <a:cs typeface="Times New Roman" panose="02020603050405020304" pitchFamily="18" charset="0"/>
              </a:rPr>
              <a:t>If a </a:t>
            </a:r>
            <a:r>
              <a:rPr lang="en-US" sz="2000" b="1" dirty="0" smtClean="0">
                <a:latin typeface="Times New Roman" panose="02020603050405020304" pitchFamily="18" charset="0"/>
                <a:cs typeface="Times New Roman" panose="02020603050405020304" pitchFamily="18" charset="0"/>
              </a:rPr>
              <a:t>road between two cities is closed</a:t>
            </a:r>
            <a:r>
              <a:rPr lang="en-US" sz="2000" dirty="0" smtClean="0">
                <a:latin typeface="Times New Roman" panose="02020603050405020304" pitchFamily="18" charset="0"/>
                <a:cs typeface="Times New Roman" panose="02020603050405020304" pitchFamily="18" charset="0"/>
              </a:rPr>
              <a:t>, how would you adjust the route?</a:t>
            </a:r>
          </a:p>
          <a:p>
            <a:r>
              <a:rPr lang="en-US" sz="2000" dirty="0" smtClean="0">
                <a:latin typeface="Times New Roman" panose="02020603050405020304" pitchFamily="18" charset="0"/>
                <a:cs typeface="Times New Roman" panose="02020603050405020304" pitchFamily="18" charset="0"/>
              </a:rPr>
              <a:t>🎯 </a:t>
            </a:r>
            <a:r>
              <a:rPr lang="en-US" sz="2000" b="1" dirty="0" smtClean="0">
                <a:latin typeface="Times New Roman" panose="02020603050405020304" pitchFamily="18" charset="0"/>
                <a:cs typeface="Times New Roman" panose="02020603050405020304" pitchFamily="18" charset="0"/>
              </a:rPr>
              <a:t>Goal:</a:t>
            </a:r>
            <a:r>
              <a:rPr lang="en-US" sz="2000" dirty="0" smtClean="0">
                <a:latin typeface="Times New Roman" panose="02020603050405020304" pitchFamily="18" charset="0"/>
                <a:cs typeface="Times New Roman" panose="02020603050405020304" pitchFamily="18" charset="0"/>
              </a:rPr>
              <a:t> Find the most efficient way to minimize Alex’s total travel distance! 🚛💨</a:t>
            </a:r>
          </a:p>
          <a:p>
            <a:r>
              <a:rPr lang="en-US" sz="2000" dirty="0" smtClean="0">
                <a:latin typeface="Times New Roman" panose="02020603050405020304" pitchFamily="18" charset="0"/>
                <a:cs typeface="Times New Roman" panose="02020603050405020304" pitchFamily="18" charset="0"/>
              </a:rPr>
              <a:t>Let me know if you want modifications!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73982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Processor Micro-Processor </a:t>
            </a:r>
            <a:r>
              <a:rPr lang="en-US" dirty="0" smtClean="0"/>
              <a:t>CPU </a:t>
            </a:r>
            <a:endParaRPr lang="en-US" dirty="0"/>
          </a:p>
        </p:txBody>
      </p:sp>
      <p:sp>
        <p:nvSpPr>
          <p:cNvPr id="3" name="Content Placeholder 2"/>
          <p:cNvSpPr>
            <a:spLocks noGrp="1"/>
          </p:cNvSpPr>
          <p:nvPr>
            <p:ph idx="1"/>
          </p:nvPr>
        </p:nvSpPr>
        <p:spPr>
          <a:xfrm>
            <a:off x="838199" y="1825625"/>
            <a:ext cx="10853057" cy="4351338"/>
          </a:xfrm>
        </p:spPr>
        <p:txBody>
          <a:bodyPr>
            <a:normAutofit fontScale="92500" lnSpcReduction="10000"/>
          </a:bodyPr>
          <a:lstStyle/>
          <a:p>
            <a:r>
              <a:rPr lang="en-US" sz="2400" dirty="0" smtClean="0"/>
              <a:t>A processor, or "microprocessor," is a small chip that resides in computers and other electronic devices. Its basic job is to receive input and provide the appropriate output</a:t>
            </a:r>
          </a:p>
          <a:p>
            <a:endParaRPr lang="en-US" sz="2400" dirty="0" smtClean="0"/>
          </a:p>
          <a:p>
            <a:r>
              <a:rPr lang="en-US" sz="2400" dirty="0" smtClean="0"/>
              <a:t>A microprocessor is a programmable electronics chip that has computing and decision making capabilities. </a:t>
            </a:r>
          </a:p>
          <a:p>
            <a:endParaRPr lang="en-US" sz="2400" dirty="0" smtClean="0"/>
          </a:p>
          <a:p>
            <a:r>
              <a:rPr lang="en-US" sz="2400" b="1" dirty="0">
                <a:solidFill>
                  <a:srgbClr val="FF0000"/>
                </a:solidFill>
                <a:latin typeface="Times New Roman" panose="02020603050405020304" pitchFamily="18" charset="0"/>
                <a:cs typeface="Times New Roman" panose="02020603050405020304" pitchFamily="18" charset="0"/>
              </a:rPr>
              <a:t>Are They the Same?</a:t>
            </a:r>
          </a:p>
          <a:p>
            <a:pPr marL="0" indent="0">
              <a:buNone/>
            </a:pPr>
            <a:r>
              <a:rPr lang="en-US" sz="2400" dirty="0"/>
              <a:t>❌ </a:t>
            </a:r>
            <a:r>
              <a:rPr lang="en-US" sz="2400" b="1" dirty="0"/>
              <a:t>No, they are not exactly the same.</a:t>
            </a:r>
            <a:r>
              <a:rPr lang="en-US" sz="2400" dirty="0"/>
              <a:t/>
            </a:r>
            <a:br>
              <a:rPr lang="en-US" sz="2400" dirty="0"/>
            </a:br>
            <a:r>
              <a:rPr lang="en-US" sz="2400" dirty="0"/>
              <a:t>✔ A </a:t>
            </a:r>
            <a:r>
              <a:rPr lang="en-US" sz="2400" b="1" dirty="0"/>
              <a:t>microprocessor is a type of processor</a:t>
            </a:r>
            <a:r>
              <a:rPr lang="en-US" sz="2400" dirty="0"/>
              <a:t>, but not all processors are microprocessors.</a:t>
            </a:r>
            <a:br>
              <a:rPr lang="en-US" sz="2400" dirty="0"/>
            </a:br>
            <a:r>
              <a:rPr lang="en-US" sz="2400" dirty="0"/>
              <a:t>✔ A </a:t>
            </a:r>
            <a:r>
              <a:rPr lang="en-US" sz="2400" b="1" dirty="0"/>
              <a:t>processor</a:t>
            </a:r>
            <a:r>
              <a:rPr lang="en-US" sz="2400" dirty="0"/>
              <a:t> can refer to </a:t>
            </a:r>
            <a:r>
              <a:rPr lang="en-US" sz="2400" b="1" dirty="0"/>
              <a:t>CPUs, GPUs, microcontrollers, and other processing units</a:t>
            </a:r>
            <a:r>
              <a:rPr lang="en-US" sz="2400" dirty="0"/>
              <a:t>.</a:t>
            </a:r>
            <a:br>
              <a:rPr lang="en-US" sz="2400" dirty="0"/>
            </a:br>
            <a:r>
              <a:rPr lang="en-US" sz="2400" dirty="0"/>
              <a:t>✔ A </a:t>
            </a:r>
            <a:r>
              <a:rPr lang="en-US" sz="2400" b="1" dirty="0"/>
              <a:t>microprocessor</a:t>
            </a:r>
            <a:r>
              <a:rPr lang="en-US" sz="2400" dirty="0"/>
              <a:t> is specifically a </a:t>
            </a:r>
            <a:r>
              <a:rPr lang="en-US" sz="2400" b="1" dirty="0"/>
              <a:t>CPU on a single chip</a:t>
            </a:r>
            <a:r>
              <a:rPr lang="en-US" sz="2400" dirty="0"/>
              <a:t>, designed for </a:t>
            </a:r>
            <a:r>
              <a:rPr lang="en-US" sz="2400" b="1" dirty="0"/>
              <a:t>computers, embedded systems, and automation devices</a:t>
            </a:r>
            <a:r>
              <a:rPr lang="en-US" sz="2400" dirty="0"/>
              <a:t>.</a:t>
            </a:r>
          </a:p>
          <a:p>
            <a:pPr marL="0" indent="0">
              <a:buNone/>
            </a:pPr>
            <a:r>
              <a:rPr lang="en-US" sz="2400" dirty="0" smtClean="0"/>
              <a:t>.</a:t>
            </a:r>
            <a:endParaRPr lang="en-US" sz="2400" dirty="0"/>
          </a:p>
        </p:txBody>
      </p:sp>
    </p:spTree>
    <p:extLst>
      <p:ext uri="{BB962C8B-B14F-4D97-AF65-F5344CB8AC3E}">
        <p14:creationId xmlns:p14="http://schemas.microsoft.com/office/powerpoint/2010/main" val="29933910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Processor Micro-Processor CPU</a:t>
            </a:r>
            <a:endParaRPr lang="en-US" dirty="0"/>
          </a:p>
        </p:txBody>
      </p:sp>
      <p:sp>
        <p:nvSpPr>
          <p:cNvPr id="3" name="Content Placeholder 2"/>
          <p:cNvSpPr>
            <a:spLocks noGrp="1"/>
          </p:cNvSpPr>
          <p:nvPr>
            <p:ph idx="1"/>
          </p:nvPr>
        </p:nvSpPr>
        <p:spPr/>
        <p:txBody>
          <a:bodyPr>
            <a:normAutofit/>
          </a:bodyPr>
          <a:lstStyle/>
          <a:p>
            <a:r>
              <a:rPr lang="en-US" sz="2400" dirty="0" smtClean="0"/>
              <a:t>Microprocessor communicates and operates in binary numbers 0 and 1. </a:t>
            </a:r>
          </a:p>
          <a:p>
            <a:endParaRPr lang="en-US" sz="2400" dirty="0" smtClean="0"/>
          </a:p>
          <a:p>
            <a:r>
              <a:rPr lang="en-US" sz="2400" dirty="0" smtClean="0"/>
              <a:t>The set of instructions in the form of binary patterns is called a machine language and it is difficult for us to understand. </a:t>
            </a:r>
          </a:p>
          <a:p>
            <a:endParaRPr lang="en-US" sz="2400" dirty="0" smtClean="0"/>
          </a:p>
          <a:p>
            <a:r>
              <a:rPr lang="en-US" sz="2400" dirty="0" smtClean="0"/>
              <a:t>Therefore, the binary patterns are given abbreviated names, called mnemonics, which forms the assembly language. </a:t>
            </a:r>
          </a:p>
          <a:p>
            <a:endParaRPr lang="en-US" sz="2400" dirty="0" smtClean="0"/>
          </a:p>
          <a:p>
            <a:r>
              <a:rPr lang="en-US" sz="2400" dirty="0" smtClean="0"/>
              <a:t>The conversion of assembly-level language into binary machine-level language is done by using an application called assembler.</a:t>
            </a:r>
            <a:endParaRPr lang="en-US" sz="2400" dirty="0"/>
          </a:p>
        </p:txBody>
      </p:sp>
    </p:spTree>
    <p:extLst>
      <p:ext uri="{BB962C8B-B14F-4D97-AF65-F5344CB8AC3E}">
        <p14:creationId xmlns:p14="http://schemas.microsoft.com/office/powerpoint/2010/main" val="10265868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rot="20064029">
            <a:off x="8830637" y="4211636"/>
            <a:ext cx="2143125" cy="2143125"/>
          </a:xfrm>
          <a:prstGeom prst="rect">
            <a:avLst/>
          </a:prstGeom>
        </p:spPr>
      </p:pic>
      <p:pic>
        <p:nvPicPr>
          <p:cNvPr id="5" name="Picture 4"/>
          <p:cNvPicPr>
            <a:picLocks noChangeAspect="1"/>
          </p:cNvPicPr>
          <p:nvPr/>
        </p:nvPicPr>
        <p:blipFill>
          <a:blip r:embed="rId2"/>
          <a:stretch>
            <a:fillRect/>
          </a:stretch>
        </p:blipFill>
        <p:spPr>
          <a:xfrm>
            <a:off x="1277937" y="3970675"/>
            <a:ext cx="2143125" cy="2143125"/>
          </a:xfrm>
          <a:prstGeom prst="rect">
            <a:avLst/>
          </a:prstGeom>
        </p:spPr>
      </p:pic>
      <p:pic>
        <p:nvPicPr>
          <p:cNvPr id="6" name="Picture 5"/>
          <p:cNvPicPr>
            <a:picLocks noChangeAspect="1"/>
          </p:cNvPicPr>
          <p:nvPr/>
        </p:nvPicPr>
        <p:blipFill>
          <a:blip r:embed="rId3"/>
          <a:stretch>
            <a:fillRect/>
          </a:stretch>
        </p:blipFill>
        <p:spPr>
          <a:xfrm>
            <a:off x="8969372" y="711199"/>
            <a:ext cx="2362200" cy="1933575"/>
          </a:xfrm>
          <a:prstGeom prst="rect">
            <a:avLst/>
          </a:prstGeom>
        </p:spPr>
      </p:pic>
      <p:pic>
        <p:nvPicPr>
          <p:cNvPr id="7" name="Picture 6"/>
          <p:cNvPicPr>
            <a:picLocks noChangeAspect="1"/>
          </p:cNvPicPr>
          <p:nvPr/>
        </p:nvPicPr>
        <p:blipFill>
          <a:blip r:embed="rId4"/>
          <a:stretch>
            <a:fillRect/>
          </a:stretch>
        </p:blipFill>
        <p:spPr>
          <a:xfrm>
            <a:off x="1401761" y="711199"/>
            <a:ext cx="2124075" cy="2152650"/>
          </a:xfrm>
          <a:prstGeom prst="rect">
            <a:avLst/>
          </a:prstGeom>
        </p:spPr>
      </p:pic>
      <p:pic>
        <p:nvPicPr>
          <p:cNvPr id="8" name="Picture 7"/>
          <p:cNvPicPr>
            <a:picLocks noChangeAspect="1"/>
          </p:cNvPicPr>
          <p:nvPr/>
        </p:nvPicPr>
        <p:blipFill>
          <a:blip r:embed="rId5"/>
          <a:stretch>
            <a:fillRect/>
          </a:stretch>
        </p:blipFill>
        <p:spPr>
          <a:xfrm>
            <a:off x="4597398" y="711199"/>
            <a:ext cx="2619375" cy="1743075"/>
          </a:xfrm>
          <a:prstGeom prst="rect">
            <a:avLst/>
          </a:prstGeom>
        </p:spPr>
      </p:pic>
      <p:pic>
        <p:nvPicPr>
          <p:cNvPr id="9" name="Picture 8"/>
          <p:cNvPicPr>
            <a:picLocks noChangeAspect="1"/>
          </p:cNvPicPr>
          <p:nvPr/>
        </p:nvPicPr>
        <p:blipFill>
          <a:blip r:embed="rId6"/>
          <a:stretch>
            <a:fillRect/>
          </a:stretch>
        </p:blipFill>
        <p:spPr>
          <a:xfrm>
            <a:off x="4703450" y="3853825"/>
            <a:ext cx="2651534" cy="2458074"/>
          </a:xfrm>
          <a:prstGeom prst="rect">
            <a:avLst/>
          </a:prstGeom>
        </p:spPr>
      </p:pic>
    </p:spTree>
    <p:extLst>
      <p:ext uri="{BB962C8B-B14F-4D97-AF65-F5344CB8AC3E}">
        <p14:creationId xmlns:p14="http://schemas.microsoft.com/office/powerpoint/2010/main" val="292265289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Processor Required Busses</a:t>
            </a:r>
            <a:endParaRPr lang="en-US" dirty="0"/>
          </a:p>
        </p:txBody>
      </p:sp>
      <p:sp>
        <p:nvSpPr>
          <p:cNvPr id="3" name="Content Placeholder 2"/>
          <p:cNvSpPr>
            <a:spLocks noGrp="1"/>
          </p:cNvSpPr>
          <p:nvPr>
            <p:ph idx="1"/>
          </p:nvPr>
        </p:nvSpPr>
        <p:spPr/>
        <p:txBody>
          <a:bodyPr>
            <a:normAutofit/>
          </a:bodyPr>
          <a:lstStyle/>
          <a:p>
            <a:r>
              <a:rPr lang="en-US" sz="2400" b="1" dirty="0" smtClean="0"/>
              <a:t>Address Bus: </a:t>
            </a:r>
            <a:r>
              <a:rPr lang="en-US" sz="2400" dirty="0" smtClean="0"/>
              <a:t>It carries the address, which is a unique binary pattern used to identify a memory location or an I/O port. The locations in hexadecimal format can be written as 00H – FFH.</a:t>
            </a:r>
          </a:p>
          <a:p>
            <a:pPr marL="0" indent="0">
              <a:buNone/>
            </a:pPr>
            <a:endParaRPr lang="en-US" sz="2400" dirty="0" smtClean="0"/>
          </a:p>
          <a:p>
            <a:r>
              <a:rPr lang="en-US" sz="2400" dirty="0" smtClean="0"/>
              <a:t> </a:t>
            </a:r>
            <a:r>
              <a:rPr lang="en-US" sz="2400" b="1" dirty="0" smtClean="0"/>
              <a:t>Data Bus: </a:t>
            </a:r>
            <a:r>
              <a:rPr lang="en-US" sz="2400" dirty="0" smtClean="0"/>
              <a:t>The data bus is used to transfer data between memory and processor or between I/O device and processor. For example, an 8-bit processor will generally have an 8-bit data bus and a 16-bit processor will have 16-bit data bus.</a:t>
            </a:r>
          </a:p>
          <a:p>
            <a:pPr marL="0" indent="0">
              <a:buNone/>
            </a:pPr>
            <a:endParaRPr lang="en-US" sz="2400" dirty="0" smtClean="0"/>
          </a:p>
          <a:p>
            <a:r>
              <a:rPr lang="en-US" sz="2400" dirty="0" smtClean="0"/>
              <a:t> </a:t>
            </a:r>
            <a:r>
              <a:rPr lang="en-US" sz="2400" b="1" dirty="0" smtClean="0"/>
              <a:t>Control Bus: </a:t>
            </a:r>
            <a:r>
              <a:rPr lang="en-US" sz="2400" dirty="0" smtClean="0"/>
              <a:t>The control bus carry control signals, which consists of signals for selection of memory or I/O device from the given address</a:t>
            </a:r>
            <a:r>
              <a:rPr lang="en-US" sz="2400" dirty="0"/>
              <a:t>.</a:t>
            </a:r>
          </a:p>
        </p:txBody>
      </p:sp>
    </p:spTree>
    <p:extLst>
      <p:ext uri="{BB962C8B-B14F-4D97-AF65-F5344CB8AC3E}">
        <p14:creationId xmlns:p14="http://schemas.microsoft.com/office/powerpoint/2010/main" val="217871414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Evolution of Microprocessors</a:t>
            </a:r>
            <a:endParaRPr lang="en-US" dirty="0"/>
          </a:p>
        </p:txBody>
      </p:sp>
      <p:sp>
        <p:nvSpPr>
          <p:cNvPr id="3" name="Content Placeholder 2"/>
          <p:cNvSpPr>
            <a:spLocks noGrp="1"/>
          </p:cNvSpPr>
          <p:nvPr>
            <p:ph idx="1"/>
          </p:nvPr>
        </p:nvSpPr>
        <p:spPr>
          <a:xfrm>
            <a:off x="733697" y="1690688"/>
            <a:ext cx="10724606" cy="4788489"/>
          </a:xfrm>
        </p:spPr>
        <p:txBody>
          <a:bodyPr>
            <a:normAutofit fontScale="77500" lnSpcReduction="20000"/>
          </a:bodyPr>
          <a:lstStyle/>
          <a:p>
            <a:r>
              <a:rPr lang="en-US" b="1" dirty="0" smtClean="0"/>
              <a:t>4-bit Microprocessors</a:t>
            </a:r>
          </a:p>
          <a:p>
            <a:endParaRPr lang="en-US" b="1" dirty="0" smtClean="0"/>
          </a:p>
          <a:p>
            <a:r>
              <a:rPr lang="en-US" sz="2600" dirty="0" smtClean="0"/>
              <a:t>The first microprocessor was introduced in 1971 by Intel Corp. </a:t>
            </a:r>
          </a:p>
          <a:p>
            <a:endParaRPr lang="en-US" sz="2600" dirty="0" smtClean="0"/>
          </a:p>
          <a:p>
            <a:r>
              <a:rPr lang="en-US" sz="2600" dirty="0" smtClean="0"/>
              <a:t>It was named Intel 4004 as it was a 4 bit processor. </a:t>
            </a:r>
          </a:p>
          <a:p>
            <a:endParaRPr lang="en-US" sz="2600" dirty="0" smtClean="0"/>
          </a:p>
          <a:p>
            <a:r>
              <a:rPr lang="en-US" sz="2600" dirty="0" smtClean="0"/>
              <a:t>It was a processor on a single chip. It could perform simple arithmetic and logic operations such as addition, subtraction, </a:t>
            </a:r>
            <a:r>
              <a:rPr lang="en-US" sz="2600" dirty="0"/>
              <a:t> </a:t>
            </a:r>
            <a:r>
              <a:rPr lang="en-US" sz="2600" dirty="0" smtClean="0"/>
              <a:t>AND - OR</a:t>
            </a:r>
          </a:p>
          <a:p>
            <a:endParaRPr lang="en-US" sz="2600" dirty="0" smtClean="0"/>
          </a:p>
          <a:p>
            <a:r>
              <a:rPr lang="en-US" sz="2600" dirty="0" smtClean="0"/>
              <a:t>It had a control unit capable of performing control functions like fetching an instruction from memory, decoding it, and generating control pulses to execute it. It was able to operate on 4 bits of data at a time. </a:t>
            </a:r>
          </a:p>
          <a:p>
            <a:endParaRPr lang="en-US" sz="2600" dirty="0" smtClean="0"/>
          </a:p>
          <a:p>
            <a:r>
              <a:rPr lang="en-US" sz="2600" dirty="0" smtClean="0"/>
              <a:t>This first microprocessor was quite a success in industry. Soon other microprocessors were also introduced. Intel introduced the enhanced version of 4004</a:t>
            </a:r>
            <a:r>
              <a:rPr lang="en-US" sz="2600" dirty="0"/>
              <a:t>.</a:t>
            </a:r>
            <a:endParaRPr lang="en-US" sz="2600" dirty="0" smtClean="0"/>
          </a:p>
          <a:p>
            <a:endParaRPr lang="en-US" dirty="0" smtClean="0"/>
          </a:p>
        </p:txBody>
      </p:sp>
    </p:spTree>
    <p:extLst>
      <p:ext uri="{BB962C8B-B14F-4D97-AF65-F5344CB8AC3E}">
        <p14:creationId xmlns:p14="http://schemas.microsoft.com/office/powerpoint/2010/main" val="33516898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Evolution of Microprocessors</a:t>
            </a:r>
            <a:endParaRPr lang="en-US" dirty="0"/>
          </a:p>
        </p:txBody>
      </p:sp>
      <p:sp>
        <p:nvSpPr>
          <p:cNvPr id="3" name="Content Placeholder 2"/>
          <p:cNvSpPr>
            <a:spLocks noGrp="1"/>
          </p:cNvSpPr>
          <p:nvPr>
            <p:ph idx="1"/>
          </p:nvPr>
        </p:nvSpPr>
        <p:spPr>
          <a:xfrm>
            <a:off x="838200" y="1690688"/>
            <a:ext cx="10515600" cy="4351338"/>
          </a:xfrm>
        </p:spPr>
        <p:txBody>
          <a:bodyPr>
            <a:normAutofit fontScale="85000" lnSpcReduction="20000"/>
          </a:bodyPr>
          <a:lstStyle/>
          <a:p>
            <a:r>
              <a:rPr lang="en-US" sz="2600" b="1" dirty="0" smtClean="0"/>
              <a:t>8-bit Microprocessors</a:t>
            </a:r>
          </a:p>
          <a:p>
            <a:r>
              <a:rPr lang="en-US" sz="2400" dirty="0" smtClean="0"/>
              <a:t>The first 8 bit microprocessor which could perform arithmetic and logic operations on 8 bit words was introduced in 1973 again by Intel. </a:t>
            </a:r>
          </a:p>
          <a:p>
            <a:r>
              <a:rPr lang="en-US" sz="2400" dirty="0" smtClean="0"/>
              <a:t>This was Intel 8008 and was later followed by an improved version,</a:t>
            </a:r>
          </a:p>
          <a:p>
            <a:r>
              <a:rPr lang="en-US" sz="2400" dirty="0" smtClean="0"/>
              <a:t> Intel 8088. Some other 8 bit processors are Zilog-80 and Motorola M6800.</a:t>
            </a:r>
          </a:p>
          <a:p>
            <a:endParaRPr lang="en-US" sz="2400" dirty="0" smtClean="0"/>
          </a:p>
          <a:p>
            <a:r>
              <a:rPr lang="en-US" sz="2400" b="1" dirty="0" smtClean="0"/>
              <a:t>16-bit Microprocessors</a:t>
            </a:r>
          </a:p>
          <a:p>
            <a:r>
              <a:rPr lang="en-US" sz="2400" dirty="0" smtClean="0"/>
              <a:t>The 8-bit processors were followed by 16 bit processors. </a:t>
            </a:r>
          </a:p>
          <a:p>
            <a:r>
              <a:rPr lang="en-US" sz="2400" dirty="0" smtClean="0"/>
              <a:t>They are Intel 8086 and 80286.</a:t>
            </a:r>
          </a:p>
          <a:p>
            <a:endParaRPr lang="en-US" sz="2400" dirty="0" smtClean="0"/>
          </a:p>
          <a:p>
            <a:r>
              <a:rPr lang="en-US" sz="2400" b="1" dirty="0" smtClean="0"/>
              <a:t>32-bit Microprocessors</a:t>
            </a:r>
          </a:p>
          <a:p>
            <a:r>
              <a:rPr lang="en-US" sz="2400" dirty="0" smtClean="0"/>
              <a:t>The 32 bit microprocessors were introduced by several companies but the most popular one is Intel 80386.</a:t>
            </a:r>
          </a:p>
          <a:p>
            <a:endParaRPr lang="en-US" dirty="0"/>
          </a:p>
        </p:txBody>
      </p:sp>
    </p:spTree>
    <p:extLst>
      <p:ext uri="{BB962C8B-B14F-4D97-AF65-F5344CB8AC3E}">
        <p14:creationId xmlns:p14="http://schemas.microsoft.com/office/powerpoint/2010/main" val="349043886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X86 Processor Family</a:t>
            </a:r>
            <a:endParaRPr lang="en-US" dirty="0"/>
          </a:p>
        </p:txBody>
      </p:sp>
      <p:sp>
        <p:nvSpPr>
          <p:cNvPr id="3" name="Content Placeholder 2"/>
          <p:cNvSpPr>
            <a:spLocks noGrp="1"/>
          </p:cNvSpPr>
          <p:nvPr>
            <p:ph idx="1"/>
          </p:nvPr>
        </p:nvSpPr>
        <p:spPr/>
        <p:txBody>
          <a:bodyPr>
            <a:normAutofit/>
          </a:bodyPr>
          <a:lstStyle/>
          <a:p>
            <a:r>
              <a:rPr lang="en-US" sz="2400" b="1" dirty="0"/>
              <a:t>x86</a:t>
            </a:r>
            <a:r>
              <a:rPr lang="en-US" sz="2400" dirty="0"/>
              <a:t> is a family of instruction set architectures initially developed by Intel based on the Intel 8086 </a:t>
            </a:r>
            <a:r>
              <a:rPr lang="en-US" sz="2400" b="1" dirty="0"/>
              <a:t>microprocessor</a:t>
            </a:r>
            <a:r>
              <a:rPr lang="en-US" sz="2400" dirty="0"/>
              <a:t> and its 8088 variant</a:t>
            </a:r>
            <a:r>
              <a:rPr lang="en-US" sz="2400" dirty="0" smtClean="0"/>
              <a:t>. </a:t>
            </a:r>
            <a:r>
              <a:rPr lang="en-US" sz="2400" dirty="0"/>
              <a:t>The term "</a:t>
            </a:r>
            <a:r>
              <a:rPr lang="en-US" sz="2400" b="1" dirty="0"/>
              <a:t>x86</a:t>
            </a:r>
            <a:r>
              <a:rPr lang="en-US" sz="2400" dirty="0"/>
              <a:t>" came into being because the names of several successors to Intel's 8086 </a:t>
            </a:r>
            <a:r>
              <a:rPr lang="en-US" sz="2400" b="1" dirty="0"/>
              <a:t>processor</a:t>
            </a:r>
            <a:r>
              <a:rPr lang="en-US" sz="2400" dirty="0"/>
              <a:t> end in "86", including the 80186, 80286, 80386 and 80486 </a:t>
            </a:r>
            <a:r>
              <a:rPr lang="en-US" sz="2400" b="1" dirty="0" smtClean="0"/>
              <a:t>processors</a:t>
            </a:r>
          </a:p>
          <a:p>
            <a:endParaRPr lang="en-US" sz="2400" b="1" dirty="0"/>
          </a:p>
          <a:p>
            <a:r>
              <a:rPr lang="sv-SE" sz="2400" dirty="0"/>
              <a:t>1978 (</a:t>
            </a:r>
            <a:r>
              <a:rPr lang="sv-SE" sz="2400" dirty="0">
                <a:hlinkClick r:id="rId2"/>
              </a:rPr>
              <a:t>16-bit</a:t>
            </a:r>
            <a:r>
              <a:rPr lang="sv-SE" sz="2400" dirty="0"/>
              <a:t>), 1985 (</a:t>
            </a:r>
            <a:r>
              <a:rPr lang="sv-SE" sz="2400" dirty="0">
                <a:hlinkClick r:id="rId3"/>
              </a:rPr>
              <a:t>32-bit</a:t>
            </a:r>
            <a:r>
              <a:rPr lang="sv-SE" sz="2400" dirty="0"/>
              <a:t>), 2003 (64-bit)</a:t>
            </a:r>
            <a:endParaRPr lang="en-US" sz="2400" b="1" dirty="0" smtClean="0"/>
          </a:p>
          <a:p>
            <a:endParaRPr lang="en-US" sz="2400" b="1" dirty="0"/>
          </a:p>
          <a:p>
            <a:r>
              <a:rPr lang="en-US" sz="2400" b="1" dirty="0"/>
              <a:t>x86 is</a:t>
            </a:r>
            <a:r>
              <a:rPr lang="en-US" sz="2400" dirty="0"/>
              <a:t> a term used to describe a </a:t>
            </a:r>
            <a:r>
              <a:rPr lang="en-US" sz="2400" b="1" dirty="0"/>
              <a:t>CPU</a:t>
            </a:r>
            <a:r>
              <a:rPr lang="en-US" sz="2400" dirty="0"/>
              <a:t> instruction set compatible with the Intel 8086 and its successors, including the Pentium and others made by Intel and other companies. This </a:t>
            </a:r>
            <a:r>
              <a:rPr lang="en-US" sz="2400" b="1" dirty="0"/>
              <a:t>is</a:t>
            </a:r>
            <a:r>
              <a:rPr lang="en-US" sz="2400" dirty="0"/>
              <a:t> the </a:t>
            </a:r>
            <a:r>
              <a:rPr lang="en-US" sz="2400" b="1" dirty="0"/>
              <a:t>CPU</a:t>
            </a:r>
            <a:r>
              <a:rPr lang="en-US" sz="2400" dirty="0"/>
              <a:t> architecture used in most desktop and laptop computers. Many 21st century workstations and servers also use </a:t>
            </a:r>
            <a:r>
              <a:rPr lang="en-US" sz="2400" b="1" dirty="0"/>
              <a:t>x86 processors</a:t>
            </a:r>
            <a:endParaRPr lang="en-US" sz="2400" dirty="0"/>
          </a:p>
        </p:txBody>
      </p:sp>
    </p:spTree>
    <p:extLst>
      <p:ext uri="{BB962C8B-B14F-4D97-AF65-F5344CB8AC3E}">
        <p14:creationId xmlns:p14="http://schemas.microsoft.com/office/powerpoint/2010/main" val="37278702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60500" y="914400"/>
            <a:ext cx="7789517" cy="4362994"/>
          </a:xfrm>
          <a:prstGeom prst="rect">
            <a:avLst/>
          </a:prstGeom>
        </p:spPr>
      </p:pic>
      <p:sp>
        <p:nvSpPr>
          <p:cNvPr id="2" name="TextBox 1"/>
          <p:cNvSpPr txBox="1"/>
          <p:nvPr/>
        </p:nvSpPr>
        <p:spPr>
          <a:xfrm>
            <a:off x="9475304" y="914400"/>
            <a:ext cx="2491409" cy="4524315"/>
          </a:xfrm>
          <a:prstGeom prst="rect">
            <a:avLst/>
          </a:prstGeom>
          <a:noFill/>
        </p:spPr>
        <p:txBody>
          <a:bodyPr wrap="square" rtlCol="0">
            <a:spAutoFit/>
          </a:bodyPr>
          <a:lstStyle/>
          <a:p>
            <a:r>
              <a:rPr lang="en-US" b="1" dirty="0" smtClean="0">
                <a:solidFill>
                  <a:srgbClr val="FF0000"/>
                </a:solidFill>
              </a:rPr>
              <a:t>Henrich Hertz </a:t>
            </a:r>
          </a:p>
          <a:p>
            <a:endParaRPr lang="en-US" dirty="0">
              <a:solidFill>
                <a:srgbClr val="FF0000"/>
              </a:solidFill>
            </a:endParaRPr>
          </a:p>
          <a:p>
            <a:r>
              <a:rPr lang="en-US" dirty="0" smtClean="0">
                <a:solidFill>
                  <a:srgbClr val="FF0000"/>
                </a:solidFill>
              </a:rPr>
              <a:t>Cycle is a Pulse</a:t>
            </a:r>
          </a:p>
          <a:p>
            <a:endParaRPr lang="en-US" dirty="0">
              <a:solidFill>
                <a:srgbClr val="FF0000"/>
              </a:solidFill>
            </a:endParaRPr>
          </a:p>
          <a:p>
            <a:r>
              <a:rPr lang="en-US" dirty="0" smtClean="0">
                <a:solidFill>
                  <a:srgbClr val="FF0000"/>
                </a:solidFill>
              </a:rPr>
              <a:t>Series of On/Off or like switching </a:t>
            </a:r>
          </a:p>
          <a:p>
            <a:endParaRPr lang="en-US" dirty="0">
              <a:solidFill>
                <a:srgbClr val="FF0000"/>
              </a:solidFill>
            </a:endParaRPr>
          </a:p>
          <a:p>
            <a:endParaRPr lang="en-US" dirty="0" smtClean="0">
              <a:solidFill>
                <a:srgbClr val="FF0000"/>
              </a:solidFill>
            </a:endParaRPr>
          </a:p>
          <a:p>
            <a:r>
              <a:rPr lang="en-US" dirty="0" smtClean="0">
                <a:solidFill>
                  <a:srgbClr val="FF0000"/>
                </a:solidFill>
              </a:rPr>
              <a:t>Architecture Update by generations</a:t>
            </a:r>
          </a:p>
          <a:p>
            <a:endParaRPr lang="en-US" dirty="0">
              <a:solidFill>
                <a:srgbClr val="FF0000"/>
              </a:solidFill>
            </a:endParaRPr>
          </a:p>
          <a:p>
            <a:endParaRPr lang="en-US" dirty="0" smtClean="0">
              <a:solidFill>
                <a:srgbClr val="FF0000"/>
              </a:solidFill>
            </a:endParaRPr>
          </a:p>
          <a:p>
            <a:r>
              <a:rPr lang="en-US" dirty="0" smtClean="0">
                <a:solidFill>
                  <a:srgbClr val="FF0000"/>
                </a:solidFill>
              </a:rPr>
              <a:t>MHz = 1 million</a:t>
            </a:r>
          </a:p>
          <a:p>
            <a:endParaRPr lang="en-US" dirty="0">
              <a:solidFill>
                <a:srgbClr val="FF0000"/>
              </a:solidFill>
            </a:endParaRPr>
          </a:p>
          <a:p>
            <a:r>
              <a:rPr lang="en-US" dirty="0" smtClean="0">
                <a:solidFill>
                  <a:srgbClr val="FF0000"/>
                </a:solidFill>
              </a:rPr>
              <a:t>GHz  = 1 Billion</a:t>
            </a:r>
          </a:p>
          <a:p>
            <a:endParaRPr lang="en-US" dirty="0">
              <a:solidFill>
                <a:srgbClr val="FF0000"/>
              </a:solidFill>
            </a:endParaRPr>
          </a:p>
        </p:txBody>
      </p:sp>
      <p:sp>
        <p:nvSpPr>
          <p:cNvPr id="3" name="Rectangle 2"/>
          <p:cNvSpPr/>
          <p:nvPr/>
        </p:nvSpPr>
        <p:spPr>
          <a:xfrm>
            <a:off x="539931" y="5621595"/>
            <a:ext cx="10994572" cy="707886"/>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A </a:t>
            </a:r>
            <a:r>
              <a:rPr lang="en-US" sz="2000" b="1" dirty="0">
                <a:latin typeface="Times New Roman" panose="02020603050405020304" pitchFamily="18" charset="0"/>
                <a:cs typeface="Times New Roman" panose="02020603050405020304" pitchFamily="18" charset="0"/>
              </a:rPr>
              <a:t>transistor</a:t>
            </a:r>
            <a:r>
              <a:rPr lang="en-US" sz="2000" dirty="0">
                <a:latin typeface="Times New Roman" panose="02020603050405020304" pitchFamily="18" charset="0"/>
                <a:cs typeface="Times New Roman" panose="02020603050405020304" pitchFamily="18" charset="0"/>
              </a:rPr>
              <a:t> is the fundamental building block of a </a:t>
            </a:r>
            <a:r>
              <a:rPr lang="en-US" sz="2000" b="1" dirty="0">
                <a:latin typeface="Times New Roman" panose="02020603050405020304" pitchFamily="18" charset="0"/>
                <a:cs typeface="Times New Roman" panose="02020603050405020304" pitchFamily="18" charset="0"/>
              </a:rPr>
              <a:t>processor (CPU)</a:t>
            </a:r>
            <a:r>
              <a:rPr lang="en-US" sz="2000" dirty="0">
                <a:latin typeface="Times New Roman" panose="02020603050405020304" pitchFamily="18" charset="0"/>
                <a:cs typeface="Times New Roman" panose="02020603050405020304" pitchFamily="18" charset="0"/>
              </a:rPr>
              <a:t>. It acts as a </a:t>
            </a:r>
            <a:r>
              <a:rPr lang="en-US" sz="2000" b="1" dirty="0">
                <a:latin typeface="Times New Roman" panose="02020603050405020304" pitchFamily="18" charset="0"/>
                <a:cs typeface="Times New Roman" panose="02020603050405020304" pitchFamily="18" charset="0"/>
              </a:rPr>
              <a:t>switch</a:t>
            </a:r>
            <a:r>
              <a:rPr lang="en-US" sz="2000" dirty="0">
                <a:latin typeface="Times New Roman" panose="02020603050405020304" pitchFamily="18" charset="0"/>
                <a:cs typeface="Times New Roman" panose="02020603050405020304" pitchFamily="18" charset="0"/>
              </a:rPr>
              <a:t> or </a:t>
            </a:r>
            <a:r>
              <a:rPr lang="en-US" sz="2000" b="1" dirty="0">
                <a:latin typeface="Times New Roman" panose="02020603050405020304" pitchFamily="18" charset="0"/>
                <a:cs typeface="Times New Roman" panose="02020603050405020304" pitchFamily="18" charset="0"/>
              </a:rPr>
              <a:t>amplifier</a:t>
            </a:r>
            <a:r>
              <a:rPr lang="en-US" sz="2000" dirty="0">
                <a:latin typeface="Times New Roman" panose="02020603050405020304" pitchFamily="18" charset="0"/>
                <a:cs typeface="Times New Roman" panose="02020603050405020304" pitchFamily="18" charset="0"/>
              </a:rPr>
              <a:t> that controls the flow of electrical signals, enabling the CPU to perform computations.</a:t>
            </a:r>
          </a:p>
        </p:txBody>
      </p:sp>
    </p:spTree>
    <p:extLst>
      <p:ext uri="{BB962C8B-B14F-4D97-AF65-F5344CB8AC3E}">
        <p14:creationId xmlns:p14="http://schemas.microsoft.com/office/powerpoint/2010/main" val="270029198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92200" y="374590"/>
            <a:ext cx="10337799" cy="6217147"/>
          </a:xfrm>
          <a:prstGeom prst="rect">
            <a:avLst/>
          </a:prstGeom>
        </p:spPr>
      </p:pic>
    </p:spTree>
    <p:extLst>
      <p:ext uri="{BB962C8B-B14F-4D97-AF65-F5344CB8AC3E}">
        <p14:creationId xmlns:p14="http://schemas.microsoft.com/office/powerpoint/2010/main" val="25749339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9350" y="219351"/>
            <a:ext cx="10515600" cy="1026353"/>
          </a:xfrm>
        </p:spPr>
        <p:txBody>
          <a:bodyPr/>
          <a:lstStyle/>
          <a:p>
            <a:r>
              <a:rPr lang="en-US" dirty="0" smtClean="0"/>
              <a:t>Intel Pentium &amp; Power PC Evaluation </a:t>
            </a:r>
            <a:endParaRPr lang="en-US" dirty="0"/>
          </a:p>
        </p:txBody>
      </p:sp>
      <p:sp>
        <p:nvSpPr>
          <p:cNvPr id="3" name="Content Placeholder 2"/>
          <p:cNvSpPr>
            <a:spLocks noGrp="1"/>
          </p:cNvSpPr>
          <p:nvPr>
            <p:ph idx="1"/>
          </p:nvPr>
        </p:nvSpPr>
        <p:spPr>
          <a:xfrm>
            <a:off x="876300" y="1376569"/>
            <a:ext cx="11061700" cy="4953000"/>
          </a:xfrm>
        </p:spPr>
        <p:txBody>
          <a:bodyPr>
            <a:normAutofit fontScale="92500" lnSpcReduction="10000"/>
          </a:bodyPr>
          <a:lstStyle/>
          <a:p>
            <a:r>
              <a:rPr lang="en-US" sz="4000" b="1" dirty="0" smtClean="0"/>
              <a:t>Pentium Series  </a:t>
            </a:r>
            <a:r>
              <a:rPr lang="en-US" sz="3200" b="1" dirty="0"/>
              <a:t>1993</a:t>
            </a:r>
            <a:endParaRPr lang="en-US" sz="4000" b="1" dirty="0" smtClean="0"/>
          </a:p>
          <a:p>
            <a:endParaRPr lang="en-US" b="1" dirty="0" smtClean="0"/>
          </a:p>
          <a:p>
            <a:r>
              <a:rPr lang="en-US" sz="2900" dirty="0" smtClean="0"/>
              <a:t>Instead of 80586, Intel came out with a new processor namely </a:t>
            </a:r>
            <a:r>
              <a:rPr lang="en-US" sz="2900" b="1" dirty="0" smtClean="0">
                <a:solidFill>
                  <a:srgbClr val="FF0000"/>
                </a:solidFill>
              </a:rPr>
              <a:t>Pentium processor. </a:t>
            </a:r>
          </a:p>
          <a:p>
            <a:endParaRPr lang="en-US" sz="2900" dirty="0" smtClean="0"/>
          </a:p>
          <a:p>
            <a:r>
              <a:rPr lang="en-US" sz="2900" dirty="0" smtClean="0"/>
              <a:t>Its performance is closer to RISC performance but follow CISC. Pentium was followed by Pentium Pro CPU. Pentium Pro allows multiple CPUs in a single system in order to achieve multiprocessing. </a:t>
            </a:r>
          </a:p>
          <a:p>
            <a:endParaRPr lang="en-US" sz="2900" dirty="0" smtClean="0"/>
          </a:p>
          <a:p>
            <a:endParaRPr lang="en-US" sz="2900" dirty="0" smtClean="0"/>
          </a:p>
          <a:p>
            <a:r>
              <a:rPr lang="en-US" sz="2900" dirty="0" smtClean="0"/>
              <a:t>Pentium 4 &amp; Itanium series organization occurs</a:t>
            </a:r>
          </a:p>
          <a:p>
            <a:endParaRPr lang="en-US" dirty="0"/>
          </a:p>
        </p:txBody>
      </p:sp>
    </p:spTree>
    <p:extLst>
      <p:ext uri="{BB962C8B-B14F-4D97-AF65-F5344CB8AC3E}">
        <p14:creationId xmlns:p14="http://schemas.microsoft.com/office/powerpoint/2010/main" val="7238937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3244" y="181472"/>
            <a:ext cx="10515600" cy="814318"/>
          </a:xfrm>
        </p:spPr>
        <p:txBody>
          <a:bodyPr/>
          <a:lstStyle/>
          <a:p>
            <a:r>
              <a:rPr lang="en-US" dirty="0" smtClean="0"/>
              <a:t>Power PC Processor</a:t>
            </a:r>
            <a:endParaRPr lang="en-US" dirty="0"/>
          </a:p>
        </p:txBody>
      </p:sp>
      <p:sp>
        <p:nvSpPr>
          <p:cNvPr id="3" name="Content Placeholder 2"/>
          <p:cNvSpPr>
            <a:spLocks noGrp="1"/>
          </p:cNvSpPr>
          <p:nvPr>
            <p:ph idx="1"/>
          </p:nvPr>
        </p:nvSpPr>
        <p:spPr>
          <a:xfrm>
            <a:off x="664542" y="1519923"/>
            <a:ext cx="8186530" cy="4801363"/>
          </a:xfrm>
        </p:spPr>
        <p:txBody>
          <a:bodyPr>
            <a:normAutofit/>
          </a:bodyPr>
          <a:lstStyle/>
          <a:p>
            <a:r>
              <a:rPr lang="en-US" b="1" dirty="0"/>
              <a:t>PowerPC</a:t>
            </a:r>
            <a:r>
              <a:rPr lang="en-US" dirty="0"/>
              <a:t> is a reduced instruction set computer (RISC) instruction set architecture (ISA) created by the 1991 Apple–IBM–Motorola alliance, known as AIM</a:t>
            </a:r>
            <a:r>
              <a:rPr lang="en-US" dirty="0" smtClean="0"/>
              <a:t>.</a:t>
            </a:r>
          </a:p>
          <a:p>
            <a:endParaRPr lang="en-US" dirty="0"/>
          </a:p>
          <a:p>
            <a:r>
              <a:rPr lang="en-US" dirty="0"/>
              <a:t>‎</a:t>
            </a:r>
            <a:r>
              <a:rPr lang="en-US" sz="2000" dirty="0">
                <a:hlinkClick r:id="rId2"/>
              </a:rPr>
              <a:t>List of PowerPC processors</a:t>
            </a:r>
            <a:r>
              <a:rPr lang="en-US" sz="2000" dirty="0"/>
              <a:t> · ‎</a:t>
            </a:r>
            <a:r>
              <a:rPr lang="en-US" sz="2000" dirty="0">
                <a:hlinkClick r:id="rId3"/>
              </a:rPr>
              <a:t>PowerPC 600</a:t>
            </a:r>
            <a:r>
              <a:rPr lang="en-US" sz="2000" dirty="0"/>
              <a:t> · ‎</a:t>
            </a:r>
            <a:r>
              <a:rPr lang="en-US" sz="2000" dirty="0">
                <a:hlinkClick r:id="rId4"/>
              </a:rPr>
              <a:t>PowerPC e700</a:t>
            </a:r>
            <a:r>
              <a:rPr lang="en-US" sz="2000" dirty="0"/>
              <a:t> · ‎</a:t>
            </a:r>
            <a:r>
              <a:rPr lang="en-US" sz="2000" dirty="0">
                <a:hlinkClick r:id="rId5"/>
              </a:rPr>
              <a:t>PowerPC </a:t>
            </a:r>
            <a:r>
              <a:rPr lang="en-US" sz="2000" dirty="0" smtClean="0">
                <a:hlinkClick r:id="rId5"/>
              </a:rPr>
              <a:t>5000</a:t>
            </a:r>
            <a:endParaRPr lang="en-US" sz="2000" dirty="0" smtClean="0"/>
          </a:p>
          <a:p>
            <a:pPr marL="0" indent="0">
              <a:buNone/>
            </a:pPr>
            <a:r>
              <a:rPr lang="en-US" dirty="0"/>
              <a:t> </a:t>
            </a:r>
            <a:r>
              <a:rPr lang="en-US" dirty="0" smtClean="0"/>
              <a:t>   </a:t>
            </a:r>
            <a:r>
              <a:rPr lang="en-US" sz="2400" dirty="0" smtClean="0"/>
              <a:t>Bits: 32-bit/64-bit (32 → 64)</a:t>
            </a:r>
          </a:p>
          <a:p>
            <a:pPr marL="0" indent="0">
              <a:buNone/>
            </a:pPr>
            <a:endParaRPr lang="en-US" sz="2400" dirty="0"/>
          </a:p>
          <a:p>
            <a:pPr marL="0" indent="0">
              <a:buNone/>
            </a:pPr>
            <a:endParaRPr lang="en-US" sz="2400" dirty="0" smtClean="0"/>
          </a:p>
          <a:p>
            <a:r>
              <a:rPr lang="en-US" sz="2400" dirty="0" smtClean="0"/>
              <a:t>The three developing companies have made the PowerPC architecture an open standard, inviting other companies to build on it.</a:t>
            </a:r>
            <a:endParaRPr lang="en-US" sz="2400" dirty="0"/>
          </a:p>
        </p:txBody>
      </p:sp>
      <p:pic>
        <p:nvPicPr>
          <p:cNvPr id="4" name="Picture 3"/>
          <p:cNvPicPr>
            <a:picLocks noChangeAspect="1"/>
          </p:cNvPicPr>
          <p:nvPr/>
        </p:nvPicPr>
        <p:blipFill>
          <a:blip r:embed="rId6"/>
          <a:stretch>
            <a:fillRect/>
          </a:stretch>
        </p:blipFill>
        <p:spPr>
          <a:xfrm>
            <a:off x="8851072" y="1291777"/>
            <a:ext cx="3225800" cy="2298700"/>
          </a:xfrm>
          <a:prstGeom prst="rect">
            <a:avLst/>
          </a:prstGeom>
        </p:spPr>
      </p:pic>
      <p:pic>
        <p:nvPicPr>
          <p:cNvPr id="5" name="Picture 4"/>
          <p:cNvPicPr>
            <a:picLocks noChangeAspect="1"/>
          </p:cNvPicPr>
          <p:nvPr/>
        </p:nvPicPr>
        <p:blipFill>
          <a:blip r:embed="rId7"/>
          <a:stretch>
            <a:fillRect/>
          </a:stretch>
        </p:blipFill>
        <p:spPr>
          <a:xfrm rot="345364">
            <a:off x="8875100" y="4255335"/>
            <a:ext cx="2921000" cy="2282825"/>
          </a:xfrm>
          <a:prstGeom prst="rect">
            <a:avLst/>
          </a:prstGeom>
        </p:spPr>
      </p:pic>
    </p:spTree>
    <p:extLst>
      <p:ext uri="{BB962C8B-B14F-4D97-AF65-F5344CB8AC3E}">
        <p14:creationId xmlns:p14="http://schemas.microsoft.com/office/powerpoint/2010/main" val="361127068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Intel Pentium &amp; Power PC Evaluation </a:t>
            </a:r>
            <a:endParaRPr lang="en-US" dirty="0"/>
          </a:p>
        </p:txBody>
      </p:sp>
      <p:sp>
        <p:nvSpPr>
          <p:cNvPr id="3" name="Content Placeholder 2"/>
          <p:cNvSpPr>
            <a:spLocks noGrp="1"/>
          </p:cNvSpPr>
          <p:nvPr>
            <p:ph idx="1"/>
          </p:nvPr>
        </p:nvSpPr>
        <p:spPr/>
        <p:txBody>
          <a:bodyPr>
            <a:normAutofit/>
          </a:bodyPr>
          <a:lstStyle/>
          <a:p>
            <a:r>
              <a:rPr lang="en-US" dirty="0" smtClean="0"/>
              <a:t>The intel Pentium represents the result of decades of design effort on complex instruction set computers </a:t>
            </a:r>
          </a:p>
          <a:p>
            <a:endParaRPr lang="en-US" dirty="0"/>
          </a:p>
          <a:p>
            <a:r>
              <a:rPr lang="en-US" dirty="0" smtClean="0"/>
              <a:t>The power PC are the first descendant </a:t>
            </a:r>
            <a:r>
              <a:rPr lang="en-US" sz="1600" dirty="0" smtClean="0">
                <a:solidFill>
                  <a:srgbClr val="FF0000"/>
                </a:solidFill>
              </a:rPr>
              <a:t>(driven from) </a:t>
            </a:r>
            <a:r>
              <a:rPr lang="en-US" dirty="0" smtClean="0"/>
              <a:t>of first RISC system.</a:t>
            </a:r>
          </a:p>
          <a:p>
            <a:endParaRPr lang="en-US" dirty="0"/>
          </a:p>
          <a:p>
            <a:r>
              <a:rPr lang="en-US" dirty="0" smtClean="0"/>
              <a:t>8080 first general purpose microprocessor 8 bit machine with 8 bit data path to memory  was used in first personal computer  ALTAIR</a:t>
            </a:r>
          </a:p>
          <a:p>
            <a:endParaRPr lang="en-US" dirty="0" smtClean="0"/>
          </a:p>
          <a:p>
            <a:r>
              <a:rPr lang="en-US" dirty="0" smtClean="0"/>
              <a:t>Core processor properties (i series i3,i5, i7) 2006</a:t>
            </a:r>
            <a:endParaRPr lang="en-US" dirty="0"/>
          </a:p>
        </p:txBody>
      </p:sp>
    </p:spTree>
    <p:extLst>
      <p:ext uri="{BB962C8B-B14F-4D97-AF65-F5344CB8AC3E}">
        <p14:creationId xmlns:p14="http://schemas.microsoft.com/office/powerpoint/2010/main" val="142930242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Intel Pentium &amp; Power PC Evaluation </a:t>
            </a:r>
            <a:endParaRPr lang="en-US" dirty="0"/>
          </a:p>
        </p:txBody>
      </p:sp>
      <p:sp>
        <p:nvSpPr>
          <p:cNvPr id="3" name="Content Placeholder 2"/>
          <p:cNvSpPr>
            <a:spLocks noGrp="1"/>
          </p:cNvSpPr>
          <p:nvPr>
            <p:ph idx="1"/>
          </p:nvPr>
        </p:nvSpPr>
        <p:spPr>
          <a:xfrm>
            <a:off x="1016000" y="1840706"/>
            <a:ext cx="10515600" cy="4661694"/>
          </a:xfrm>
        </p:spPr>
        <p:txBody>
          <a:bodyPr>
            <a:normAutofit/>
          </a:bodyPr>
          <a:lstStyle/>
          <a:p>
            <a:r>
              <a:rPr lang="en-US" dirty="0"/>
              <a:t>In 1975, IBM started the 801 minicomputer project that launched the RISC movement. In 1986, IBM developed a RISC workstation, the RT PC, which was not a commercial success</a:t>
            </a:r>
            <a:r>
              <a:rPr lang="en-US" dirty="0" smtClean="0"/>
              <a:t>.</a:t>
            </a:r>
          </a:p>
          <a:p>
            <a:pPr marL="0" indent="0">
              <a:buNone/>
            </a:pPr>
            <a:endParaRPr lang="en-US" dirty="0" smtClean="0"/>
          </a:p>
          <a:p>
            <a:r>
              <a:rPr lang="en-US" dirty="0" smtClean="0"/>
              <a:t> </a:t>
            </a:r>
            <a:r>
              <a:rPr lang="en-US" dirty="0"/>
              <a:t>In 1990, introduced the RISC/6000 and marketed that as a high performance workstation. IBM began to refer to this as the POWER architecture</a:t>
            </a:r>
            <a:r>
              <a:rPr lang="en-US" dirty="0" smtClean="0"/>
              <a:t>.</a:t>
            </a:r>
          </a:p>
          <a:p>
            <a:r>
              <a:rPr lang="en-US" dirty="0" smtClean="0"/>
              <a:t>IBM </a:t>
            </a:r>
            <a:r>
              <a:rPr lang="en-US" dirty="0"/>
              <a:t>then entered into an alliance with Motorola the developer of the 68000 series for Apple computers. </a:t>
            </a:r>
            <a:endParaRPr lang="en-US" dirty="0" smtClean="0"/>
          </a:p>
          <a:p>
            <a:endParaRPr lang="en-US" dirty="0"/>
          </a:p>
          <a:p>
            <a:r>
              <a:rPr lang="en-US" dirty="0" smtClean="0"/>
              <a:t>The </a:t>
            </a:r>
            <a:r>
              <a:rPr lang="en-US" dirty="0"/>
              <a:t>result of this alliance was the series of microprocessors that implement the PowerPC architecture. The processors in the series were: 601, 603, 604, 620, 740/750 (G3), G4, and G5. </a:t>
            </a:r>
          </a:p>
        </p:txBody>
      </p:sp>
    </p:spTree>
    <p:extLst>
      <p:ext uri="{BB962C8B-B14F-4D97-AF65-F5344CB8AC3E}">
        <p14:creationId xmlns:p14="http://schemas.microsoft.com/office/powerpoint/2010/main" val="188811469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1168270" cy="1325563"/>
          </a:xfrm>
        </p:spPr>
        <p:txBody>
          <a:bodyPr/>
          <a:lstStyle/>
          <a:p>
            <a:r>
              <a:rPr lang="en-US" dirty="0" smtClean="0"/>
              <a:t>Reduced and Complex Instruction Set  Computer</a:t>
            </a:r>
            <a:endParaRPr lang="en-US" dirty="0"/>
          </a:p>
        </p:txBody>
      </p:sp>
      <p:sp>
        <p:nvSpPr>
          <p:cNvPr id="5" name="Content Placeholder 4"/>
          <p:cNvSpPr>
            <a:spLocks noGrp="1"/>
          </p:cNvSpPr>
          <p:nvPr>
            <p:ph sz="half" idx="1"/>
          </p:nvPr>
        </p:nvSpPr>
        <p:spPr>
          <a:xfrm>
            <a:off x="5992192" y="1428922"/>
            <a:ext cx="5181600" cy="4351338"/>
          </a:xfrm>
        </p:spPr>
        <p:txBody>
          <a:bodyPr/>
          <a:lstStyle/>
          <a:p>
            <a:r>
              <a:rPr lang="en-US" dirty="0" smtClean="0"/>
              <a:t>CISC</a:t>
            </a:r>
          </a:p>
          <a:p>
            <a:r>
              <a:rPr lang="en-US" sz="1800" dirty="0"/>
              <a:t>Intel </a:t>
            </a:r>
            <a:r>
              <a:rPr lang="en-US" sz="1800" b="1" dirty="0"/>
              <a:t>Pentium</a:t>
            </a:r>
            <a:r>
              <a:rPr lang="en-US" sz="1800" dirty="0"/>
              <a:t> processors are mainly </a:t>
            </a:r>
            <a:r>
              <a:rPr lang="en-US" sz="1800" b="1" dirty="0"/>
              <a:t>CISC</a:t>
            </a:r>
            <a:r>
              <a:rPr lang="en-US" sz="1800" dirty="0"/>
              <a:t>-based, with some </a:t>
            </a:r>
            <a:r>
              <a:rPr lang="en-US" sz="1800" b="1" dirty="0"/>
              <a:t>RISC</a:t>
            </a:r>
            <a:r>
              <a:rPr lang="en-US" sz="1800" dirty="0"/>
              <a:t> facilities built into </a:t>
            </a:r>
            <a:r>
              <a:rPr lang="en-US" sz="1800" dirty="0" smtClean="0"/>
              <a:t>them. </a:t>
            </a:r>
          </a:p>
          <a:p>
            <a:r>
              <a:rPr lang="en-US" sz="1800" dirty="0"/>
              <a:t>The CISC approach attempts to minimize the number of instructions per program but at the cost of increase in number of cycles per instruction.</a:t>
            </a:r>
            <a:endParaRPr lang="en-US" sz="1800" dirty="0" smtClean="0"/>
          </a:p>
        </p:txBody>
      </p:sp>
      <p:sp>
        <p:nvSpPr>
          <p:cNvPr id="6" name="Content Placeholder 5"/>
          <p:cNvSpPr>
            <a:spLocks noGrp="1"/>
          </p:cNvSpPr>
          <p:nvPr>
            <p:ph sz="half" idx="2"/>
          </p:nvPr>
        </p:nvSpPr>
        <p:spPr>
          <a:xfrm>
            <a:off x="619540" y="1428922"/>
            <a:ext cx="5181600" cy="4351338"/>
          </a:xfrm>
        </p:spPr>
        <p:txBody>
          <a:bodyPr/>
          <a:lstStyle/>
          <a:p>
            <a:r>
              <a:rPr lang="en-US" dirty="0" smtClean="0"/>
              <a:t>RISC</a:t>
            </a:r>
          </a:p>
          <a:p>
            <a:r>
              <a:rPr lang="en-US" sz="1800" dirty="0" smtClean="0"/>
              <a:t>whereas the PowerPC processors are completely </a:t>
            </a:r>
            <a:r>
              <a:rPr lang="en-US" sz="1800" b="1" dirty="0" smtClean="0"/>
              <a:t>RISC</a:t>
            </a:r>
            <a:r>
              <a:rPr lang="en-US" sz="1800" dirty="0" smtClean="0"/>
              <a:t>-based</a:t>
            </a:r>
            <a:endParaRPr lang="en-US" sz="1800" dirty="0"/>
          </a:p>
          <a:p>
            <a:r>
              <a:rPr lang="en-US" sz="1800" dirty="0"/>
              <a:t>Reduce the cycles per instruction at the cost of the number of instructions per program</a:t>
            </a:r>
            <a:r>
              <a:rPr lang="en-US" sz="3200" dirty="0"/>
              <a:t>.</a:t>
            </a:r>
            <a:endParaRPr lang="en-US" sz="3200" dirty="0" smtClean="0"/>
          </a:p>
          <a:p>
            <a:endParaRPr lang="en-US" dirty="0"/>
          </a:p>
        </p:txBody>
      </p:sp>
      <p:pic>
        <p:nvPicPr>
          <p:cNvPr id="7" name="Picture 6"/>
          <p:cNvPicPr>
            <a:picLocks noChangeAspect="1"/>
          </p:cNvPicPr>
          <p:nvPr/>
        </p:nvPicPr>
        <p:blipFill>
          <a:blip r:embed="rId2"/>
          <a:stretch>
            <a:fillRect/>
          </a:stretch>
        </p:blipFill>
        <p:spPr>
          <a:xfrm>
            <a:off x="2821136" y="3356396"/>
            <a:ext cx="6792686" cy="3114261"/>
          </a:xfrm>
          <a:prstGeom prst="rect">
            <a:avLst/>
          </a:prstGeom>
        </p:spPr>
      </p:pic>
    </p:spTree>
    <p:extLst>
      <p:ext uri="{BB962C8B-B14F-4D97-AF65-F5344CB8AC3E}">
        <p14:creationId xmlns:p14="http://schemas.microsoft.com/office/powerpoint/2010/main" val="42348242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RISC (Reduced Instruction Set Computer)</a:t>
            </a:r>
            <a:br>
              <a:rPr lang="en-US" b="1" dirty="0"/>
            </a:br>
            <a:endParaRPr lang="en-US" dirty="0"/>
          </a:p>
        </p:txBody>
      </p:sp>
      <p:sp>
        <p:nvSpPr>
          <p:cNvPr id="3" name="Content Placeholder 2"/>
          <p:cNvSpPr>
            <a:spLocks noGrp="1"/>
          </p:cNvSpPr>
          <p:nvPr>
            <p:ph idx="1"/>
          </p:nvPr>
        </p:nvSpPr>
        <p:spPr/>
        <p:txBody>
          <a:bodyPr/>
          <a:lstStyle/>
          <a:p>
            <a:endParaRPr lang="en-US" dirty="0" smtClean="0"/>
          </a:p>
          <a:p>
            <a:r>
              <a:rPr lang="en-US" dirty="0" smtClean="0"/>
              <a:t>RISC </a:t>
            </a:r>
            <a:r>
              <a:rPr lang="en-US" dirty="0"/>
              <a:t>uses a </a:t>
            </a:r>
            <a:r>
              <a:rPr lang="en-US" b="1" dirty="0"/>
              <a:t>small, simple set of instructions</a:t>
            </a:r>
            <a:r>
              <a:rPr lang="en-US" dirty="0"/>
              <a:t> that are executed </a:t>
            </a:r>
            <a:r>
              <a:rPr lang="en-US" b="1" dirty="0"/>
              <a:t>quickly</a:t>
            </a:r>
            <a:r>
              <a:rPr lang="en-US" dirty="0"/>
              <a:t>.</a:t>
            </a:r>
          </a:p>
          <a:p>
            <a:endParaRPr lang="en-US" dirty="0" smtClean="0"/>
          </a:p>
          <a:p>
            <a:r>
              <a:rPr lang="en-US" dirty="0" smtClean="0"/>
              <a:t>Instructions </a:t>
            </a:r>
            <a:r>
              <a:rPr lang="en-US" dirty="0"/>
              <a:t>take </a:t>
            </a:r>
            <a:r>
              <a:rPr lang="en-US" b="1" dirty="0"/>
              <a:t>one clock cycle</a:t>
            </a:r>
            <a:r>
              <a:rPr lang="en-US" dirty="0"/>
              <a:t> to execute (most of the time).</a:t>
            </a:r>
          </a:p>
          <a:p>
            <a:endParaRPr lang="en-US" dirty="0" smtClean="0"/>
          </a:p>
          <a:p>
            <a:r>
              <a:rPr lang="en-US" dirty="0" smtClean="0"/>
              <a:t>Focuses </a:t>
            </a:r>
            <a:r>
              <a:rPr lang="en-US" dirty="0"/>
              <a:t>on </a:t>
            </a:r>
            <a:r>
              <a:rPr lang="en-US" b="1" dirty="0"/>
              <a:t>load/store architecture</a:t>
            </a:r>
            <a:r>
              <a:rPr lang="en-US" dirty="0"/>
              <a:t>, meaning data must be loaded into registers before processing.</a:t>
            </a:r>
          </a:p>
          <a:p>
            <a:endParaRPr lang="en-US" dirty="0" smtClean="0"/>
          </a:p>
          <a:p>
            <a:r>
              <a:rPr lang="en-US" dirty="0" smtClean="0"/>
              <a:t>Uses </a:t>
            </a:r>
            <a:r>
              <a:rPr lang="en-US" b="1" dirty="0"/>
              <a:t>hardwired control</a:t>
            </a:r>
            <a:r>
              <a:rPr lang="en-US" dirty="0"/>
              <a:t> (instead of microprogramming) for faster execution.</a:t>
            </a:r>
          </a:p>
          <a:p>
            <a:endParaRPr lang="en-US" dirty="0"/>
          </a:p>
        </p:txBody>
      </p:sp>
    </p:spTree>
    <p:extLst>
      <p:ext uri="{BB962C8B-B14F-4D97-AF65-F5344CB8AC3E}">
        <p14:creationId xmlns:p14="http://schemas.microsoft.com/office/powerpoint/2010/main" val="13315727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311965" y="258417"/>
            <a:ext cx="8759687" cy="1371600"/>
          </a:xfrm>
        </p:spPr>
        <p:txBody>
          <a:bodyPr/>
          <a:lstStyle/>
          <a:p>
            <a:pPr eaLnBrk="1" hangingPunct="1"/>
            <a:r>
              <a:rPr lang="en-US" altLang="en-US" dirty="0" smtClean="0"/>
              <a:t>CISC versus RISC</a:t>
            </a:r>
          </a:p>
        </p:txBody>
      </p:sp>
      <p:graphicFrame>
        <p:nvGraphicFramePr>
          <p:cNvPr id="99331" name="Group 3"/>
          <p:cNvGraphicFramePr>
            <a:graphicFrameLocks noGrp="1"/>
          </p:cNvGraphicFramePr>
          <p:nvPr>
            <p:ph sz="half" idx="2"/>
            <p:extLst>
              <p:ext uri="{D42A27DB-BD31-4B8C-83A1-F6EECF244321}">
                <p14:modId xmlns:p14="http://schemas.microsoft.com/office/powerpoint/2010/main" val="4133309434"/>
              </p:ext>
            </p:extLst>
          </p:nvPr>
        </p:nvGraphicFramePr>
        <p:xfrm>
          <a:off x="914399" y="1457737"/>
          <a:ext cx="10270435" cy="4903305"/>
        </p:xfrm>
        <a:graphic>
          <a:graphicData uri="http://schemas.openxmlformats.org/drawingml/2006/table">
            <a:tbl>
              <a:tblPr/>
              <a:tblGrid>
                <a:gridCol w="5037881">
                  <a:extLst>
                    <a:ext uri="{9D8B030D-6E8A-4147-A177-3AD203B41FA5}">
                      <a16:colId xmlns:a16="http://schemas.microsoft.com/office/drawing/2014/main" val="20000"/>
                    </a:ext>
                  </a:extLst>
                </a:gridCol>
                <a:gridCol w="5232554">
                  <a:extLst>
                    <a:ext uri="{9D8B030D-6E8A-4147-A177-3AD203B41FA5}">
                      <a16:colId xmlns:a16="http://schemas.microsoft.com/office/drawing/2014/main" val="20001"/>
                    </a:ext>
                  </a:extLst>
                </a:gridCol>
              </a:tblGrid>
              <a:tr h="5967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0000"/>
                          </a:solidFill>
                          <a:effectLst/>
                          <a:latin typeface="Verdana" pitchFamily="34" charset="0"/>
                        </a:rPr>
                        <a:t>CISC</a:t>
                      </a:r>
                      <a:r>
                        <a:rPr kumimoji="0" lang="en-US" sz="1800" b="0" i="0" u="none" strike="noStrike" cap="none" normalizeH="0" baseline="0" smtClean="0">
                          <a:ln>
                            <a:noFill/>
                          </a:ln>
                          <a:solidFill>
                            <a:schemeClr val="tx1"/>
                          </a:solidFill>
                          <a:effectLst/>
                          <a:latin typeface="Arial" charset="0"/>
                        </a:rPr>
                        <a:t> </a:t>
                      </a:r>
                    </a:p>
                  </a:txBody>
                  <a:tcPr anchor="ctr" horzOverflow="overflow">
                    <a:lnL cap="flat">
                      <a:noFill/>
                    </a:lnL>
                    <a:lnR>
                      <a:noFill/>
                    </a:lnR>
                    <a:lnT cap="fla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0000FF"/>
                          </a:solidFill>
                          <a:effectLst/>
                          <a:latin typeface="Verdana" pitchFamily="34" charset="0"/>
                        </a:rPr>
                        <a:t>RISC</a:t>
                      </a:r>
                      <a:r>
                        <a:rPr kumimoji="0" lang="en-US" sz="1800" b="0" i="0" u="none" strike="noStrike" cap="none" normalizeH="0" baseline="0" smtClean="0">
                          <a:ln>
                            <a:noFill/>
                          </a:ln>
                          <a:solidFill>
                            <a:schemeClr val="tx1"/>
                          </a:solidFill>
                          <a:effectLst/>
                          <a:latin typeface="Arial" charset="0"/>
                        </a:rPr>
                        <a:t> </a:t>
                      </a:r>
                    </a:p>
                  </a:txBody>
                  <a:tcPr anchor="ct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9874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FF0000"/>
                          </a:solidFill>
                          <a:effectLst/>
                          <a:latin typeface="Verdana" pitchFamily="34" charset="0"/>
                        </a:rPr>
                        <a:t>Emphasis on hardware</a:t>
                      </a:r>
                      <a:r>
                        <a:rPr kumimoji="0" lang="en-US" sz="1800" b="0" i="0" u="none" strike="noStrike" cap="none" normalizeH="0" baseline="0" smtClean="0">
                          <a:ln>
                            <a:noFill/>
                          </a:ln>
                          <a:solidFill>
                            <a:schemeClr val="tx1"/>
                          </a:solidFill>
                          <a:effectLst/>
                          <a:latin typeface="Arial" charset="0"/>
                        </a:rPr>
                        <a:t> </a:t>
                      </a:r>
                    </a:p>
                  </a:txBody>
                  <a:tcPr anchor="ctr" horzOverflow="overflow">
                    <a:lnL cap="flat">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FF"/>
                          </a:solidFill>
                          <a:effectLst/>
                          <a:latin typeface="Verdana" pitchFamily="34" charset="0"/>
                        </a:rPr>
                        <a:t>Emphasis on software</a:t>
                      </a:r>
                      <a:r>
                        <a:rPr kumimoji="0" lang="en-US" sz="1800" b="0" i="0" u="none" strike="noStrike" cap="none" normalizeH="0" baseline="0" smtClean="0">
                          <a:ln>
                            <a:noFill/>
                          </a:ln>
                          <a:solidFill>
                            <a:schemeClr val="tx1"/>
                          </a:solidFill>
                          <a:effectLst/>
                          <a:latin typeface="Arial" charset="0"/>
                        </a:rPr>
                        <a:t> </a:t>
                      </a: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85335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FF0000"/>
                          </a:solidFill>
                          <a:effectLst/>
                          <a:latin typeface="Verdana" pitchFamily="34" charset="0"/>
                        </a:rPr>
                        <a:t>Includes multi-clock</a:t>
                      </a:r>
                      <a:br>
                        <a:rPr kumimoji="0" lang="en-US" sz="1800" b="0" i="0" u="none" strike="noStrike" cap="none" normalizeH="0" baseline="0" dirty="0" smtClean="0">
                          <a:ln>
                            <a:noFill/>
                          </a:ln>
                          <a:solidFill>
                            <a:srgbClr val="FF0000"/>
                          </a:solidFill>
                          <a:effectLst/>
                          <a:latin typeface="Verdana" pitchFamily="34" charset="0"/>
                        </a:rPr>
                      </a:br>
                      <a:r>
                        <a:rPr kumimoji="0" lang="en-US" sz="1800" b="0" i="0" u="none" strike="noStrike" cap="none" normalizeH="0" baseline="0" dirty="0" smtClean="0">
                          <a:ln>
                            <a:noFill/>
                          </a:ln>
                          <a:solidFill>
                            <a:srgbClr val="FF0000"/>
                          </a:solidFill>
                          <a:effectLst/>
                          <a:latin typeface="Verdana" pitchFamily="34" charset="0"/>
                        </a:rPr>
                        <a:t>complex instructions</a:t>
                      </a:r>
                      <a:r>
                        <a:rPr kumimoji="0" lang="en-US" sz="1800" b="0" i="0" u="none" strike="noStrike" cap="none" normalizeH="0" baseline="0" dirty="0" smtClean="0">
                          <a:ln>
                            <a:noFill/>
                          </a:ln>
                          <a:solidFill>
                            <a:schemeClr val="tx1"/>
                          </a:solidFill>
                          <a:effectLst/>
                          <a:latin typeface="Arial" charset="0"/>
                        </a:rPr>
                        <a:t> </a:t>
                      </a:r>
                    </a:p>
                  </a:txBody>
                  <a:tcPr anchor="ctr" horzOverflow="overflow">
                    <a:lnL cap="flat">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FF"/>
                          </a:solidFill>
                          <a:effectLst/>
                          <a:latin typeface="Verdana" pitchFamily="34" charset="0"/>
                        </a:rPr>
                        <a:t>Single-clock,</a:t>
                      </a:r>
                      <a:br>
                        <a:rPr kumimoji="0" lang="en-US" sz="1800" b="0" i="0" u="none" strike="noStrike" cap="none" normalizeH="0" baseline="0" smtClean="0">
                          <a:ln>
                            <a:noFill/>
                          </a:ln>
                          <a:solidFill>
                            <a:srgbClr val="0000FF"/>
                          </a:solidFill>
                          <a:effectLst/>
                          <a:latin typeface="Verdana" pitchFamily="34" charset="0"/>
                        </a:rPr>
                      </a:br>
                      <a:r>
                        <a:rPr kumimoji="0" lang="en-US" sz="1800" b="0" i="0" u="none" strike="noStrike" cap="none" normalizeH="0" baseline="0" smtClean="0">
                          <a:ln>
                            <a:noFill/>
                          </a:ln>
                          <a:solidFill>
                            <a:srgbClr val="0000FF"/>
                          </a:solidFill>
                          <a:effectLst/>
                          <a:latin typeface="Verdana" pitchFamily="34" charset="0"/>
                        </a:rPr>
                        <a:t>reduced instruction only</a:t>
                      </a:r>
                      <a:r>
                        <a:rPr kumimoji="0" lang="en-US" sz="1800" b="0" i="0" u="none" strike="noStrike" cap="none" normalizeH="0" baseline="0" smtClean="0">
                          <a:ln>
                            <a:noFill/>
                          </a:ln>
                          <a:solidFill>
                            <a:schemeClr val="tx1"/>
                          </a:solidFill>
                          <a:effectLst/>
                          <a:latin typeface="Arial" charset="0"/>
                        </a:rPr>
                        <a:t> </a:t>
                      </a: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114576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FF0000"/>
                          </a:solidFill>
                          <a:effectLst/>
                          <a:latin typeface="Verdana" pitchFamily="34" charset="0"/>
                        </a:rPr>
                        <a:t>Memory-to-memory:</a:t>
                      </a:r>
                      <a:br>
                        <a:rPr kumimoji="0" lang="en-US" sz="1800" b="0" i="0" u="none" strike="noStrike" cap="none" normalizeH="0" baseline="0" smtClean="0">
                          <a:ln>
                            <a:noFill/>
                          </a:ln>
                          <a:solidFill>
                            <a:srgbClr val="FF0000"/>
                          </a:solidFill>
                          <a:effectLst/>
                          <a:latin typeface="Verdana" pitchFamily="34" charset="0"/>
                        </a:rPr>
                      </a:br>
                      <a:r>
                        <a:rPr kumimoji="0" lang="en-US" sz="1800" b="0" i="0" u="none" strike="noStrike" cap="none" normalizeH="0" baseline="0" smtClean="0">
                          <a:ln>
                            <a:noFill/>
                          </a:ln>
                          <a:solidFill>
                            <a:srgbClr val="FF0000"/>
                          </a:solidFill>
                          <a:effectLst/>
                          <a:latin typeface="Verdana" pitchFamily="34" charset="0"/>
                        </a:rPr>
                        <a:t>"LOAD" and "STORE"</a:t>
                      </a:r>
                      <a:br>
                        <a:rPr kumimoji="0" lang="en-US" sz="1800" b="0" i="0" u="none" strike="noStrike" cap="none" normalizeH="0" baseline="0" smtClean="0">
                          <a:ln>
                            <a:noFill/>
                          </a:ln>
                          <a:solidFill>
                            <a:srgbClr val="FF0000"/>
                          </a:solidFill>
                          <a:effectLst/>
                          <a:latin typeface="Verdana" pitchFamily="34" charset="0"/>
                        </a:rPr>
                      </a:br>
                      <a:r>
                        <a:rPr kumimoji="0" lang="en-US" sz="1800" b="0" i="0" u="none" strike="noStrike" cap="none" normalizeH="0" baseline="0" smtClean="0">
                          <a:ln>
                            <a:noFill/>
                          </a:ln>
                          <a:solidFill>
                            <a:srgbClr val="FF0000"/>
                          </a:solidFill>
                          <a:effectLst/>
                          <a:latin typeface="Verdana" pitchFamily="34" charset="0"/>
                        </a:rPr>
                        <a:t>incorporated in instructions</a:t>
                      </a:r>
                      <a:r>
                        <a:rPr kumimoji="0" lang="en-US" sz="1800" b="0" i="0" u="none" strike="noStrike" cap="none" normalizeH="0" baseline="0" smtClean="0">
                          <a:ln>
                            <a:noFill/>
                          </a:ln>
                          <a:solidFill>
                            <a:schemeClr val="tx1"/>
                          </a:solidFill>
                          <a:effectLst/>
                          <a:latin typeface="Arial" charset="0"/>
                        </a:rPr>
                        <a:t> </a:t>
                      </a:r>
                    </a:p>
                  </a:txBody>
                  <a:tcPr anchor="ctr" horzOverflow="overflow">
                    <a:lnL cap="flat">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FF"/>
                          </a:solidFill>
                          <a:effectLst/>
                          <a:latin typeface="Verdana" pitchFamily="34" charset="0"/>
                        </a:rPr>
                        <a:t>Register to register:</a:t>
                      </a:r>
                      <a:br>
                        <a:rPr kumimoji="0" lang="en-US" sz="1800" b="0" i="0" u="none" strike="noStrike" cap="none" normalizeH="0" baseline="0" smtClean="0">
                          <a:ln>
                            <a:noFill/>
                          </a:ln>
                          <a:solidFill>
                            <a:srgbClr val="0000FF"/>
                          </a:solidFill>
                          <a:effectLst/>
                          <a:latin typeface="Verdana" pitchFamily="34" charset="0"/>
                        </a:rPr>
                      </a:br>
                      <a:r>
                        <a:rPr kumimoji="0" lang="en-US" sz="1800" b="0" i="0" u="none" strike="noStrike" cap="none" normalizeH="0" baseline="0" smtClean="0">
                          <a:ln>
                            <a:noFill/>
                          </a:ln>
                          <a:solidFill>
                            <a:srgbClr val="0000FF"/>
                          </a:solidFill>
                          <a:effectLst/>
                          <a:latin typeface="Verdana" pitchFamily="34" charset="0"/>
                        </a:rPr>
                        <a:t>"LOAD" and "STORE"</a:t>
                      </a:r>
                      <a:br>
                        <a:rPr kumimoji="0" lang="en-US" sz="1800" b="0" i="0" u="none" strike="noStrike" cap="none" normalizeH="0" baseline="0" smtClean="0">
                          <a:ln>
                            <a:noFill/>
                          </a:ln>
                          <a:solidFill>
                            <a:srgbClr val="0000FF"/>
                          </a:solidFill>
                          <a:effectLst/>
                          <a:latin typeface="Verdana" pitchFamily="34" charset="0"/>
                        </a:rPr>
                      </a:br>
                      <a:r>
                        <a:rPr kumimoji="0" lang="en-US" sz="1800" b="0" i="0" u="none" strike="noStrike" cap="none" normalizeH="0" baseline="0" smtClean="0">
                          <a:ln>
                            <a:noFill/>
                          </a:ln>
                          <a:solidFill>
                            <a:srgbClr val="0000FF"/>
                          </a:solidFill>
                          <a:effectLst/>
                          <a:latin typeface="Verdana" pitchFamily="34" charset="0"/>
                        </a:rPr>
                        <a:t>are independent instructions</a:t>
                      </a:r>
                      <a:r>
                        <a:rPr kumimoji="0" lang="en-US" sz="1800" b="0" i="0" u="none" strike="noStrike" cap="none" normalizeH="0" baseline="0" smtClean="0">
                          <a:ln>
                            <a:noFill/>
                          </a:ln>
                          <a:solidFill>
                            <a:schemeClr val="tx1"/>
                          </a:solidFill>
                          <a:effectLst/>
                          <a:latin typeface="Arial" charset="0"/>
                        </a:rPr>
                        <a:t> </a:t>
                      </a: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85335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FF0000"/>
                          </a:solidFill>
                          <a:effectLst/>
                          <a:latin typeface="Verdana" pitchFamily="34" charset="0"/>
                        </a:rPr>
                        <a:t>Small code sizes,</a:t>
                      </a:r>
                      <a:br>
                        <a:rPr kumimoji="0" lang="en-US" sz="1800" b="0" i="0" u="none" strike="noStrike" cap="none" normalizeH="0" baseline="0" smtClean="0">
                          <a:ln>
                            <a:noFill/>
                          </a:ln>
                          <a:solidFill>
                            <a:srgbClr val="FF0000"/>
                          </a:solidFill>
                          <a:effectLst/>
                          <a:latin typeface="Verdana" pitchFamily="34" charset="0"/>
                        </a:rPr>
                      </a:br>
                      <a:r>
                        <a:rPr kumimoji="0" lang="en-US" sz="1800" b="0" i="0" u="none" strike="noStrike" cap="none" normalizeH="0" baseline="0" smtClean="0">
                          <a:ln>
                            <a:noFill/>
                          </a:ln>
                          <a:solidFill>
                            <a:srgbClr val="FF0000"/>
                          </a:solidFill>
                          <a:effectLst/>
                          <a:latin typeface="Verdana" pitchFamily="34" charset="0"/>
                        </a:rPr>
                        <a:t>high cycles per second</a:t>
                      </a:r>
                      <a:r>
                        <a:rPr kumimoji="0" lang="en-US" sz="1800" b="0" i="0" u="none" strike="noStrike" cap="none" normalizeH="0" baseline="0" smtClean="0">
                          <a:ln>
                            <a:noFill/>
                          </a:ln>
                          <a:solidFill>
                            <a:schemeClr val="tx1"/>
                          </a:solidFill>
                          <a:effectLst/>
                          <a:latin typeface="Arial" charset="0"/>
                        </a:rPr>
                        <a:t> </a:t>
                      </a:r>
                    </a:p>
                  </a:txBody>
                  <a:tcPr anchor="ctr" horzOverflow="overflow">
                    <a:lnL cap="flat">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FF"/>
                          </a:solidFill>
                          <a:effectLst/>
                          <a:latin typeface="Verdana" pitchFamily="34" charset="0"/>
                        </a:rPr>
                        <a:t>Low cycles per second,</a:t>
                      </a:r>
                      <a:br>
                        <a:rPr kumimoji="0" lang="en-US" sz="1800" b="0" i="0" u="none" strike="noStrike" cap="none" normalizeH="0" baseline="0" smtClean="0">
                          <a:ln>
                            <a:noFill/>
                          </a:ln>
                          <a:solidFill>
                            <a:srgbClr val="0000FF"/>
                          </a:solidFill>
                          <a:effectLst/>
                          <a:latin typeface="Verdana" pitchFamily="34" charset="0"/>
                        </a:rPr>
                      </a:br>
                      <a:r>
                        <a:rPr kumimoji="0" lang="en-US" sz="1800" b="0" i="0" u="none" strike="noStrike" cap="none" normalizeH="0" baseline="0" smtClean="0">
                          <a:ln>
                            <a:noFill/>
                          </a:ln>
                          <a:solidFill>
                            <a:srgbClr val="0000FF"/>
                          </a:solidFill>
                          <a:effectLst/>
                          <a:latin typeface="Verdana" pitchFamily="34" charset="0"/>
                        </a:rPr>
                        <a:t>large code sizes</a:t>
                      </a:r>
                      <a:r>
                        <a:rPr kumimoji="0" lang="en-US" sz="1800" b="0" i="0" u="none" strike="noStrike" cap="none" normalizeH="0" baseline="0" smtClean="0">
                          <a:ln>
                            <a:noFill/>
                          </a:ln>
                          <a:solidFill>
                            <a:schemeClr val="tx1"/>
                          </a:solidFill>
                          <a:effectLst/>
                          <a:latin typeface="Arial" charset="0"/>
                        </a:rPr>
                        <a:t> </a:t>
                      </a: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85534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FF0000"/>
                          </a:solidFill>
                          <a:effectLst/>
                          <a:latin typeface="Verdana" pitchFamily="34" charset="0"/>
                        </a:rPr>
                        <a:t>Transistors used for storing</a:t>
                      </a:r>
                      <a:br>
                        <a:rPr kumimoji="0" lang="en-US" sz="1800" b="0" i="0" u="none" strike="noStrike" cap="none" normalizeH="0" baseline="0" smtClean="0">
                          <a:ln>
                            <a:noFill/>
                          </a:ln>
                          <a:solidFill>
                            <a:srgbClr val="FF0000"/>
                          </a:solidFill>
                          <a:effectLst/>
                          <a:latin typeface="Verdana" pitchFamily="34" charset="0"/>
                        </a:rPr>
                      </a:br>
                      <a:r>
                        <a:rPr kumimoji="0" lang="en-US" sz="1800" b="0" i="0" u="none" strike="noStrike" cap="none" normalizeH="0" baseline="0" smtClean="0">
                          <a:ln>
                            <a:noFill/>
                          </a:ln>
                          <a:solidFill>
                            <a:srgbClr val="FF0000"/>
                          </a:solidFill>
                          <a:effectLst/>
                          <a:latin typeface="Verdana" pitchFamily="34" charset="0"/>
                        </a:rPr>
                        <a:t>complex instructions</a:t>
                      </a:r>
                      <a:r>
                        <a:rPr kumimoji="0" lang="en-US" sz="1800" b="0" i="0" u="none" strike="noStrike" cap="none" normalizeH="0" baseline="0" smtClean="0">
                          <a:ln>
                            <a:noFill/>
                          </a:ln>
                          <a:solidFill>
                            <a:schemeClr val="tx1"/>
                          </a:solidFill>
                          <a:effectLst/>
                          <a:latin typeface="Arial" charset="0"/>
                        </a:rPr>
                        <a:t> </a:t>
                      </a:r>
                    </a:p>
                  </a:txBody>
                  <a:tcPr anchor="ctr" horzOverflow="overflow">
                    <a:lnL cap="flat">
                      <a:noFill/>
                    </a:lnL>
                    <a:lnR>
                      <a:noFill/>
                    </a:lnR>
                    <a:lnT>
                      <a:noFill/>
                    </a:lnT>
                    <a:lnB cap="flat">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0000FF"/>
                          </a:solidFill>
                          <a:effectLst/>
                          <a:latin typeface="Verdana" pitchFamily="34" charset="0"/>
                        </a:rPr>
                        <a:t>Spends more transistors</a:t>
                      </a:r>
                      <a:br>
                        <a:rPr kumimoji="0" lang="en-US" sz="1800" b="0" i="0" u="none" strike="noStrike" cap="none" normalizeH="0" baseline="0" dirty="0" smtClean="0">
                          <a:ln>
                            <a:noFill/>
                          </a:ln>
                          <a:solidFill>
                            <a:srgbClr val="0000FF"/>
                          </a:solidFill>
                          <a:effectLst/>
                          <a:latin typeface="Verdana" pitchFamily="34" charset="0"/>
                        </a:rPr>
                      </a:br>
                      <a:r>
                        <a:rPr kumimoji="0" lang="en-US" sz="1800" b="0" i="0" u="none" strike="noStrike" cap="none" normalizeH="0" baseline="0" dirty="0" smtClean="0">
                          <a:ln>
                            <a:noFill/>
                          </a:ln>
                          <a:solidFill>
                            <a:srgbClr val="0000FF"/>
                          </a:solidFill>
                          <a:effectLst/>
                          <a:latin typeface="Verdana" pitchFamily="34" charset="0"/>
                        </a:rPr>
                        <a:t>on memory registers</a:t>
                      </a:r>
                      <a:endParaRPr kumimoji="0" lang="en-US" sz="1800" b="0" i="0" u="none" strike="noStrike" cap="none" normalizeH="0" baseline="0" dirty="0" smtClean="0">
                        <a:ln>
                          <a:noFill/>
                        </a:ln>
                        <a:solidFill>
                          <a:schemeClr val="tx1"/>
                        </a:solidFill>
                        <a:effectLst/>
                        <a:latin typeface="Arial" charset="0"/>
                      </a:endParaRPr>
                    </a:p>
                  </a:txBody>
                  <a:tcPr anchor="ct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15788194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Intel Pentium &amp; Power PC Evaluation </a:t>
            </a:r>
            <a:endParaRPr lang="en-US" dirty="0"/>
          </a:p>
        </p:txBody>
      </p:sp>
      <p:sp>
        <p:nvSpPr>
          <p:cNvPr id="3" name="Content Placeholder 2"/>
          <p:cNvSpPr>
            <a:spLocks noGrp="1"/>
          </p:cNvSpPr>
          <p:nvPr>
            <p:ph idx="1"/>
          </p:nvPr>
        </p:nvSpPr>
        <p:spPr/>
        <p:txBody>
          <a:bodyPr>
            <a:normAutofit lnSpcReduction="10000"/>
          </a:bodyPr>
          <a:lstStyle/>
          <a:p>
            <a:r>
              <a:rPr lang="en-US" dirty="0"/>
              <a:t>A Pentium processor is mainly intended for casual usage like browsing, light gaming and doing school projects and such other examples. Usually used as a home </a:t>
            </a:r>
            <a:r>
              <a:rPr lang="en-US" dirty="0" smtClean="0"/>
              <a:t>desktop</a:t>
            </a:r>
          </a:p>
          <a:p>
            <a:endParaRPr lang="en-US" dirty="0" smtClean="0"/>
          </a:p>
          <a:p>
            <a:r>
              <a:rPr lang="en-US" dirty="0" smtClean="0"/>
              <a:t>The PowerPC architecture provides an alternative to the popular processor architectures from Intel, including the Pentium. (Microsoft builds its Windows operating system offerings to run on Intel processors, and this widely-sold combination is sometimes called "Wintel".)</a:t>
            </a:r>
          </a:p>
          <a:p>
            <a:endParaRPr lang="en-US" dirty="0" smtClean="0"/>
          </a:p>
          <a:p>
            <a:r>
              <a:rPr lang="en-US" dirty="0" smtClean="0"/>
              <a:t> The PowerPC was first used in IBM's RS/6000 workstation with its UNIX-based operating system and in Apple Computer's Macintosh personal computers. Today, PowerPC chips are also used in diverse applications including internetworking equipment, routers, telecom switches, interactive multimedia, automotive control, and industrial robotics.</a:t>
            </a:r>
            <a:endParaRPr lang="en-US" dirty="0"/>
          </a:p>
        </p:txBody>
      </p:sp>
    </p:spTree>
    <p:extLst>
      <p:ext uri="{BB962C8B-B14F-4D97-AF65-F5344CB8AC3E}">
        <p14:creationId xmlns:p14="http://schemas.microsoft.com/office/powerpoint/2010/main" val="371118444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altLang="en-US" smtClean="0"/>
              <a:t>What is CISC?</a:t>
            </a:r>
          </a:p>
        </p:txBody>
      </p:sp>
      <p:sp>
        <p:nvSpPr>
          <p:cNvPr id="87043" name="Rectangle 3"/>
          <p:cNvSpPr>
            <a:spLocks noGrp="1" noChangeArrowheads="1"/>
          </p:cNvSpPr>
          <p:nvPr>
            <p:ph idx="1"/>
          </p:nvPr>
        </p:nvSpPr>
        <p:spPr>
          <a:xfrm>
            <a:off x="1016000" y="1916112"/>
            <a:ext cx="10909300" cy="4637087"/>
          </a:xfrm>
        </p:spPr>
        <p:txBody>
          <a:bodyPr>
            <a:noAutofit/>
          </a:bodyPr>
          <a:lstStyle/>
          <a:p>
            <a:pPr eaLnBrk="1" hangingPunct="1">
              <a:lnSpc>
                <a:spcPct val="90000"/>
              </a:lnSpc>
            </a:pPr>
            <a:r>
              <a:rPr lang="en-US" altLang="en-US" sz="2000" dirty="0">
                <a:latin typeface="Times New Roman" panose="02020603050405020304" pitchFamily="18" charset="0"/>
                <a:cs typeface="Times New Roman" panose="02020603050405020304" pitchFamily="18" charset="0"/>
              </a:rPr>
              <a:t>CISC is an acronym for Complex Instruction Set Computer and are chips that are easy to program and which make efficient use of memory. Since the earliest machines were programmed in assembly language and memory was slow and expensive, the CISC philosophy made sense</a:t>
            </a:r>
          </a:p>
          <a:p>
            <a:pPr eaLnBrk="1" hangingPunct="1">
              <a:lnSpc>
                <a:spcPct val="90000"/>
              </a:lnSpc>
            </a:pPr>
            <a:r>
              <a:rPr lang="en-US" altLang="en-US" sz="2000" dirty="0">
                <a:latin typeface="Times New Roman" panose="02020603050405020304" pitchFamily="18" charset="0"/>
                <a:cs typeface="Times New Roman" panose="02020603050405020304" pitchFamily="18" charset="0"/>
              </a:rPr>
              <a:t>Most common microprocessor designs such as the Intel 80x86 and Motorola 68K series followed the CISC philosophy</a:t>
            </a:r>
            <a:r>
              <a:rPr lang="en-US" altLang="en-US" sz="2000" dirty="0" smtClean="0">
                <a:latin typeface="Times New Roman" panose="02020603050405020304" pitchFamily="18" charset="0"/>
                <a:cs typeface="Times New Roman" panose="02020603050405020304" pitchFamily="18" charset="0"/>
              </a:rPr>
              <a:t>.</a:t>
            </a:r>
          </a:p>
          <a:p>
            <a:pPr eaLnBrk="1" hangingPunct="1">
              <a:lnSpc>
                <a:spcPct val="90000"/>
              </a:lnSpc>
            </a:pPr>
            <a:endParaRPr lang="en-US" altLang="en-US" sz="2000" dirty="0">
              <a:latin typeface="Times New Roman" panose="02020603050405020304" pitchFamily="18" charset="0"/>
              <a:cs typeface="Times New Roman" panose="02020603050405020304" pitchFamily="18" charset="0"/>
            </a:endParaRPr>
          </a:p>
          <a:p>
            <a:pPr eaLnBrk="1" hangingPunct="1">
              <a:lnSpc>
                <a:spcPct val="90000"/>
              </a:lnSpc>
            </a:pPr>
            <a:r>
              <a:rPr lang="en-US" altLang="en-US" sz="2000" dirty="0">
                <a:latin typeface="Times New Roman" panose="02020603050405020304" pitchFamily="18" charset="0"/>
                <a:cs typeface="Times New Roman" panose="02020603050405020304" pitchFamily="18" charset="0"/>
              </a:rPr>
              <a:t>But recent changes in software and hardware technology have forced a re-examination of CISC and many modern CISC processors are hybrids, implementing many RISC principles.</a:t>
            </a:r>
          </a:p>
          <a:p>
            <a:pPr eaLnBrk="1" hangingPunct="1">
              <a:lnSpc>
                <a:spcPct val="90000"/>
              </a:lnSpc>
            </a:pPr>
            <a:r>
              <a:rPr lang="en-US" altLang="zh-CN" sz="2000" dirty="0">
                <a:latin typeface="Times New Roman" panose="02020603050405020304" pitchFamily="18" charset="0"/>
                <a:ea typeface="SimSun" panose="02010600030101010101" pitchFamily="2" charset="-122"/>
                <a:cs typeface="Times New Roman" panose="02020603050405020304" pitchFamily="18" charset="0"/>
              </a:rPr>
              <a:t>CISC was developed to make compiler development simpler. It shifts most of the burden of generating machine instructions to the processor. For example, instead of having to make a compiler write long machine instructions to calculate a square-root, a CISC processor would have a built-in ability to do this. </a:t>
            </a:r>
            <a:endParaRPr lang="en-US"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299483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0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704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704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704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 grpId="0" build="p"/>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ltLang="en-US" smtClean="0"/>
              <a:t>What is RISC?</a:t>
            </a:r>
          </a:p>
        </p:txBody>
      </p:sp>
      <p:sp>
        <p:nvSpPr>
          <p:cNvPr id="88067" name="Rectangle 3"/>
          <p:cNvSpPr>
            <a:spLocks noGrp="1" noChangeArrowheads="1"/>
          </p:cNvSpPr>
          <p:nvPr>
            <p:ph idx="1"/>
          </p:nvPr>
        </p:nvSpPr>
        <p:spPr>
          <a:xfrm>
            <a:off x="838200" y="1520825"/>
            <a:ext cx="10515600" cy="4351338"/>
          </a:xfrm>
        </p:spPr>
        <p:txBody>
          <a:bodyPr>
            <a:normAutofit/>
          </a:bodyPr>
          <a:lstStyle/>
          <a:p>
            <a:pPr eaLnBrk="1" hangingPunct="1">
              <a:lnSpc>
                <a:spcPct val="80000"/>
              </a:lnSpc>
            </a:pPr>
            <a:r>
              <a:rPr lang="en-US" altLang="en-US" sz="2000" b="1" dirty="0">
                <a:latin typeface="Times New Roman" panose="02020603050405020304" pitchFamily="18" charset="0"/>
                <a:cs typeface="Times New Roman" panose="02020603050405020304" pitchFamily="18" charset="0"/>
              </a:rPr>
              <a:t>RISC</a:t>
            </a:r>
            <a:r>
              <a:rPr lang="en-US" altLang="en-US" sz="2000" b="1" dirty="0" smtClean="0">
                <a:latin typeface="Times New Roman" panose="02020603050405020304" pitchFamily="18" charset="0"/>
                <a:cs typeface="Times New Roman" panose="02020603050405020304" pitchFamily="18" charset="0"/>
              </a:rPr>
              <a:t>?</a:t>
            </a:r>
            <a:r>
              <a:rPr lang="en-US" altLang="en-US" sz="2000" dirty="0">
                <a:latin typeface="Times New Roman" panose="02020603050405020304" pitchFamily="18" charset="0"/>
                <a:cs typeface="Times New Roman" panose="02020603050405020304" pitchFamily="18" charset="0"/>
              </a:rPr>
              <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RISC, or </a:t>
            </a:r>
            <a:r>
              <a:rPr lang="en-US" altLang="en-US" sz="2000" i="1" dirty="0">
                <a:latin typeface="Times New Roman" panose="02020603050405020304" pitchFamily="18" charset="0"/>
                <a:cs typeface="Times New Roman" panose="02020603050405020304" pitchFamily="18" charset="0"/>
              </a:rPr>
              <a:t>Reduced Instruction Set Computer</a:t>
            </a:r>
            <a:r>
              <a:rPr lang="en-US" altLang="en-US" sz="2000" dirty="0">
                <a:latin typeface="Times New Roman" panose="02020603050405020304" pitchFamily="18" charset="0"/>
                <a:cs typeface="Times New Roman" panose="02020603050405020304" pitchFamily="18" charset="0"/>
              </a:rPr>
              <a:t>. is a type of microprocessor architecture that utilizes a small, highly-optimized set of instructions, rather than a more specialized set of instructions often found in other types of architectures</a:t>
            </a:r>
            <a:r>
              <a:rPr lang="en-US" altLang="en-US" sz="2000" dirty="0" smtClean="0">
                <a:latin typeface="Times New Roman" panose="02020603050405020304" pitchFamily="18" charset="0"/>
                <a:cs typeface="Times New Roman" panose="02020603050405020304" pitchFamily="18" charset="0"/>
              </a:rPr>
              <a:t>.</a:t>
            </a:r>
          </a:p>
          <a:p>
            <a:pPr eaLnBrk="1" hangingPunct="1">
              <a:lnSpc>
                <a:spcPct val="80000"/>
              </a:lnSpc>
            </a:pPr>
            <a:endParaRPr lang="en-US" altLang="en-US" sz="2000" dirty="0">
              <a:latin typeface="Times New Roman" panose="02020603050405020304" pitchFamily="18" charset="0"/>
              <a:cs typeface="Times New Roman" panose="02020603050405020304" pitchFamily="18" charset="0"/>
            </a:endParaRPr>
          </a:p>
          <a:p>
            <a:pPr eaLnBrk="1" hangingPunct="1">
              <a:lnSpc>
                <a:spcPct val="80000"/>
              </a:lnSpc>
            </a:pPr>
            <a:r>
              <a:rPr lang="en-US" altLang="en-US" sz="2000" b="1" dirty="0">
                <a:latin typeface="Times New Roman" panose="02020603050405020304" pitchFamily="18" charset="0"/>
                <a:cs typeface="Times New Roman" panose="02020603050405020304" pitchFamily="18" charset="0"/>
              </a:rPr>
              <a:t>History</a:t>
            </a:r>
            <a:r>
              <a:rPr lang="en-US" altLang="en-US" sz="2000" dirty="0">
                <a:latin typeface="Times New Roman" panose="02020603050405020304" pitchFamily="18" charset="0"/>
                <a:cs typeface="Times New Roman" panose="02020603050405020304" pitchFamily="18" charset="0"/>
              </a:rPr>
              <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The first RISC projects came from IBM, Stanford, and UC-Berkeley in the late 70s and early 80s. The IBM 801, Stanford MIPS, and Berkeley RISC 1 and 2 were all designed with a similar philosophy which has become known as RISC. Certain design features have been characteristic of most RISC processors: </a:t>
            </a:r>
          </a:p>
          <a:p>
            <a:pPr lvl="1" eaLnBrk="1" hangingPunct="1">
              <a:lnSpc>
                <a:spcPct val="80000"/>
              </a:lnSpc>
            </a:pPr>
            <a:r>
              <a:rPr lang="en-US" altLang="en-US" sz="1800" b="1" i="1" dirty="0">
                <a:latin typeface="Times New Roman" panose="02020603050405020304" pitchFamily="18" charset="0"/>
                <a:cs typeface="Times New Roman" panose="02020603050405020304" pitchFamily="18" charset="0"/>
              </a:rPr>
              <a:t>one cycle execution time</a:t>
            </a:r>
            <a:r>
              <a:rPr lang="en-US" altLang="en-US" sz="1800" b="1"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RISC processors have a CPI (clock per instruction) of one cycle. This is due to the optimization of each instruction on the CPU and a technique called PIPELINING </a:t>
            </a:r>
          </a:p>
          <a:p>
            <a:pPr lvl="1" eaLnBrk="1" hangingPunct="1">
              <a:lnSpc>
                <a:spcPct val="80000"/>
              </a:lnSpc>
            </a:pPr>
            <a:r>
              <a:rPr lang="en-US" altLang="en-US" sz="1800" b="1" i="1" dirty="0">
                <a:latin typeface="Times New Roman" panose="02020603050405020304" pitchFamily="18" charset="0"/>
                <a:cs typeface="Times New Roman" panose="02020603050405020304" pitchFamily="18" charset="0"/>
              </a:rPr>
              <a:t>pipelining</a:t>
            </a:r>
            <a:r>
              <a:rPr lang="en-US" altLang="en-US" sz="1800" dirty="0">
                <a:latin typeface="Times New Roman" panose="02020603050405020304" pitchFamily="18" charset="0"/>
                <a:cs typeface="Times New Roman" panose="02020603050405020304" pitchFamily="18" charset="0"/>
              </a:rPr>
              <a:t>: a </a:t>
            </a:r>
            <a:r>
              <a:rPr lang="en-US" altLang="en-US" sz="1800" dirty="0" err="1">
                <a:latin typeface="Times New Roman" panose="02020603050405020304" pitchFamily="18" charset="0"/>
                <a:cs typeface="Times New Roman" panose="02020603050405020304" pitchFamily="18" charset="0"/>
              </a:rPr>
              <a:t>techique</a:t>
            </a:r>
            <a:r>
              <a:rPr lang="en-US" altLang="en-US" sz="1800" dirty="0">
                <a:latin typeface="Times New Roman" panose="02020603050405020304" pitchFamily="18" charset="0"/>
                <a:cs typeface="Times New Roman" panose="02020603050405020304" pitchFamily="18" charset="0"/>
              </a:rPr>
              <a:t> that allows for simultaneous execution of parts, or stages, of instructions to more efficiently process instructions; </a:t>
            </a:r>
          </a:p>
          <a:p>
            <a:pPr lvl="1" eaLnBrk="1" hangingPunct="1">
              <a:lnSpc>
                <a:spcPct val="80000"/>
              </a:lnSpc>
            </a:pPr>
            <a:r>
              <a:rPr lang="en-US" altLang="en-US" sz="1800" b="1" i="1" dirty="0">
                <a:latin typeface="Times New Roman" panose="02020603050405020304" pitchFamily="18" charset="0"/>
                <a:cs typeface="Times New Roman" panose="02020603050405020304" pitchFamily="18" charset="0"/>
              </a:rPr>
              <a:t>large number of registers</a:t>
            </a:r>
            <a:r>
              <a:rPr lang="en-US" altLang="en-US" sz="1800" b="1"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the RISC design philosophy generally incorporates a larger number of registers to prevent in large amounts of interactions with memory </a:t>
            </a:r>
          </a:p>
        </p:txBody>
      </p:sp>
    </p:spTree>
    <p:extLst>
      <p:ext uri="{BB962C8B-B14F-4D97-AF65-F5344CB8AC3E}">
        <p14:creationId xmlns:p14="http://schemas.microsoft.com/office/powerpoint/2010/main" val="91454598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0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806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806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806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80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build="p"/>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defRPr/>
            </a:pPr>
            <a:r>
              <a:rPr lang="en-US" sz="5400" dirty="0">
                <a:latin typeface="Arabic Typesetting" pitchFamily="66" charset="-78"/>
                <a:cs typeface="Arabic Typesetting" pitchFamily="66" charset="-78"/>
              </a:rPr>
              <a:t>The Performance Equation</a:t>
            </a:r>
          </a:p>
        </p:txBody>
      </p:sp>
      <p:sp>
        <p:nvSpPr>
          <p:cNvPr id="2" name="Content Placeholder 1"/>
          <p:cNvSpPr>
            <a:spLocks noGrp="1"/>
          </p:cNvSpPr>
          <p:nvPr>
            <p:ph idx="1"/>
          </p:nvPr>
        </p:nvSpPr>
        <p:spPr/>
        <p:txBody>
          <a:bodyPr>
            <a:normAutofit lnSpcReduction="10000"/>
          </a:bodyPr>
          <a:lstStyle/>
          <a:p>
            <a:pPr marL="365760" indent="-256032">
              <a:buFont typeface="Wingdings 3"/>
              <a:buChar char=""/>
              <a:defRPr/>
            </a:pPr>
            <a:r>
              <a:rPr lang="en-US" dirty="0" smtClean="0">
                <a:latin typeface="Arabic Typesetting" pitchFamily="66" charset="-78"/>
                <a:cs typeface="Arabic Typesetting" pitchFamily="66" charset="-78"/>
              </a:rPr>
              <a:t>The following equation is commonly used for expressing a computer's performance ability: </a:t>
            </a:r>
          </a:p>
          <a:p>
            <a:pPr marL="365760" indent="-256032">
              <a:buNone/>
              <a:defRPr/>
            </a:pPr>
            <a:endParaRPr lang="en-US" dirty="0" smtClean="0">
              <a:latin typeface="Arabic Typesetting" pitchFamily="66" charset="-78"/>
              <a:cs typeface="Arabic Typesetting" pitchFamily="66" charset="-78"/>
            </a:endParaRPr>
          </a:p>
          <a:p>
            <a:pPr marL="365760" indent="-256032">
              <a:buNone/>
              <a:defRPr/>
            </a:pPr>
            <a:endParaRPr lang="en-US" dirty="0" smtClean="0">
              <a:latin typeface="Arabic Typesetting" pitchFamily="66" charset="-78"/>
              <a:cs typeface="Arabic Typesetting" pitchFamily="66" charset="-78"/>
            </a:endParaRPr>
          </a:p>
          <a:p>
            <a:pPr marL="365760" indent="-256032">
              <a:buNone/>
              <a:defRPr/>
            </a:pPr>
            <a:endParaRPr lang="en-US" dirty="0" smtClean="0">
              <a:latin typeface="Arabic Typesetting" pitchFamily="66" charset="-78"/>
              <a:cs typeface="Arabic Typesetting" pitchFamily="66" charset="-78"/>
            </a:endParaRPr>
          </a:p>
          <a:p>
            <a:pPr marL="365760" indent="-256032">
              <a:buNone/>
              <a:defRPr/>
            </a:pPr>
            <a:r>
              <a:rPr lang="en-US" sz="2800" dirty="0">
                <a:latin typeface="Arabic Typesetting" pitchFamily="66" charset="-78"/>
                <a:ea typeface="Times New Roman" pitchFamily="18" charset="0"/>
                <a:cs typeface="Arabic Typesetting" pitchFamily="66" charset="-78"/>
              </a:rPr>
              <a:t>                                             </a:t>
            </a:r>
            <a:r>
              <a:rPr lang="en-US" sz="2800" dirty="0" err="1">
                <a:latin typeface="Arabic Typesetting" pitchFamily="66" charset="-78"/>
                <a:ea typeface="Times New Roman" pitchFamily="18" charset="0"/>
                <a:cs typeface="Arabic Typesetting" pitchFamily="66" charset="-78"/>
              </a:rPr>
              <a:t>Risc</a:t>
            </a:r>
            <a:endParaRPr lang="en-US" sz="2800" dirty="0">
              <a:latin typeface="Arabic Typesetting" pitchFamily="66" charset="-78"/>
              <a:ea typeface="Times New Roman" pitchFamily="18" charset="0"/>
              <a:cs typeface="Arabic Typesetting" pitchFamily="66" charset="-78"/>
            </a:endParaRPr>
          </a:p>
          <a:p>
            <a:pPr marL="365760" indent="-256032">
              <a:buNone/>
              <a:defRPr/>
            </a:pPr>
            <a:r>
              <a:rPr lang="en-US" sz="2800" dirty="0">
                <a:latin typeface="Arabic Typesetting" pitchFamily="66" charset="-78"/>
                <a:ea typeface="Times New Roman" pitchFamily="18" charset="0"/>
                <a:cs typeface="Arabic Typesetting" pitchFamily="66" charset="-78"/>
              </a:rPr>
              <a:t>The CISC approach attempts to minimize the number of instructions per program, sacrificing the number of cycles per instruction.</a:t>
            </a:r>
          </a:p>
          <a:p>
            <a:pPr marL="365760" indent="-256032">
              <a:buNone/>
              <a:defRPr/>
            </a:pPr>
            <a:r>
              <a:rPr lang="en-US" sz="2800" dirty="0">
                <a:latin typeface="Arabic Typesetting" pitchFamily="66" charset="-78"/>
                <a:ea typeface="Times New Roman" pitchFamily="18" charset="0"/>
                <a:cs typeface="Arabic Typesetting" pitchFamily="66" charset="-78"/>
              </a:rPr>
              <a:t> RISC does the opposite, reducing the cycles per instruction at the cost of the number of instructions per program. </a:t>
            </a:r>
            <a:endParaRPr lang="en-US" sz="5400" dirty="0">
              <a:latin typeface="Arabic Typesetting" pitchFamily="66" charset="-78"/>
              <a:cs typeface="Arabic Typesetting" pitchFamily="66" charset="-78"/>
            </a:endParaRPr>
          </a:p>
          <a:p>
            <a:pPr marL="365760" indent="-256032">
              <a:buNone/>
              <a:defRPr/>
            </a:pPr>
            <a:endParaRPr lang="en-US" dirty="0">
              <a:latin typeface="Arabic Typesetting" pitchFamily="66" charset="-78"/>
              <a:cs typeface="Arabic Typesetting" pitchFamily="66" charset="-78"/>
            </a:endParaRPr>
          </a:p>
        </p:txBody>
      </p:sp>
      <p:pic>
        <p:nvPicPr>
          <p:cNvPr id="28676" name="Picture 3" descr="http://cse.stanford.edu/class/sophomore-college/projects-00/risc/risccisc/options/performanceeq.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2438400"/>
            <a:ext cx="7620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urved Left Arrow 6"/>
          <p:cNvSpPr/>
          <p:nvPr/>
        </p:nvSpPr>
        <p:spPr>
          <a:xfrm>
            <a:off x="9829800" y="2354263"/>
            <a:ext cx="228600" cy="457200"/>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tx1"/>
              </a:solidFill>
            </a:endParaRPr>
          </a:p>
        </p:txBody>
      </p:sp>
      <p:sp>
        <p:nvSpPr>
          <p:cNvPr id="28678" name="TextBox 7"/>
          <p:cNvSpPr txBox="1">
            <a:spLocks noChangeArrowheads="1"/>
          </p:cNvSpPr>
          <p:nvPr/>
        </p:nvSpPr>
        <p:spPr bwMode="auto">
          <a:xfrm>
            <a:off x="9144000" y="2125662"/>
            <a:ext cx="685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err="1">
                <a:latin typeface="Lucida Sans Unicode" panose="020B0602030504020204" pitchFamily="34" charset="0"/>
              </a:rPr>
              <a:t>cisc</a:t>
            </a:r>
            <a:endParaRPr lang="en-US" altLang="en-US" dirty="0">
              <a:latin typeface="Lucida Sans Unicode" panose="020B0602030504020204" pitchFamily="34" charset="0"/>
            </a:endParaRPr>
          </a:p>
        </p:txBody>
      </p:sp>
      <p:sp>
        <p:nvSpPr>
          <p:cNvPr id="11" name="Bent-Up Arrow 10"/>
          <p:cNvSpPr/>
          <p:nvPr/>
        </p:nvSpPr>
        <p:spPr>
          <a:xfrm>
            <a:off x="6019800" y="3352800"/>
            <a:ext cx="685800" cy="457200"/>
          </a:xfrm>
          <a:prstGeom prst="bentUpArrow">
            <a:avLst>
              <a:gd name="adj1" fmla="val 10916"/>
              <a:gd name="adj2" fmla="val 25000"/>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108117861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defRPr/>
            </a:pPr>
            <a:r>
              <a:rPr lang="en-US" sz="6600" dirty="0">
                <a:latin typeface="Arabic Typesetting" pitchFamily="66" charset="-78"/>
                <a:cs typeface="Arabic Typesetting" pitchFamily="66" charset="-78"/>
              </a:rPr>
              <a:t>Which one is better...?</a:t>
            </a:r>
          </a:p>
        </p:txBody>
      </p:sp>
      <p:sp>
        <p:nvSpPr>
          <p:cNvPr id="2" name="Content Placeholder 1"/>
          <p:cNvSpPr>
            <a:spLocks noGrp="1"/>
          </p:cNvSpPr>
          <p:nvPr>
            <p:ph idx="1"/>
          </p:nvPr>
        </p:nvSpPr>
        <p:spPr/>
        <p:txBody>
          <a:bodyPr>
            <a:normAutofit lnSpcReduction="10000"/>
          </a:bodyPr>
          <a:lstStyle/>
          <a:p>
            <a:pPr marL="109728" indent="0">
              <a:buNone/>
              <a:defRPr/>
            </a:pPr>
            <a:r>
              <a:rPr lang="en-US" sz="2800" dirty="0"/>
              <a:t>There is still considerable controversy among experts about which architecture is better. </a:t>
            </a:r>
            <a:endParaRPr lang="en-US" sz="2800" dirty="0" smtClean="0"/>
          </a:p>
          <a:p>
            <a:pPr marL="109728" indent="0">
              <a:buNone/>
              <a:defRPr/>
            </a:pPr>
            <a:endParaRPr lang="en-US" sz="2800" dirty="0"/>
          </a:p>
          <a:p>
            <a:pPr marL="365760" indent="-256032">
              <a:buNone/>
              <a:defRPr/>
            </a:pPr>
            <a:r>
              <a:rPr lang="en-US" sz="2800" dirty="0"/>
              <a:t>          Some say that RISC is cheaper and faster and therefore the architecture of the future</a:t>
            </a:r>
            <a:r>
              <a:rPr lang="en-US" sz="2800" dirty="0" smtClean="0"/>
              <a:t>.</a:t>
            </a:r>
          </a:p>
          <a:p>
            <a:pPr marL="365760" indent="-256032">
              <a:buNone/>
              <a:defRPr/>
            </a:pPr>
            <a:endParaRPr lang="en-US" sz="2800" dirty="0"/>
          </a:p>
          <a:p>
            <a:pPr marL="365760" indent="-256032">
              <a:buNone/>
              <a:defRPr/>
            </a:pPr>
            <a:r>
              <a:rPr lang="en-US" sz="2800" dirty="0"/>
              <a:t>          Others note that by making the hardware simpler, RISC puts a greater burden on the software. Software needs to become more complex. Software developers need to write more lines for the same tasks.</a:t>
            </a:r>
          </a:p>
          <a:p>
            <a:pPr marL="365760" indent="-256032">
              <a:buNone/>
              <a:defRPr/>
            </a:pPr>
            <a:endParaRPr lang="en-US" dirty="0">
              <a:latin typeface="Arabic Typesetting" pitchFamily="66" charset="-78"/>
              <a:cs typeface="Arabic Typesetting" pitchFamily="66" charset="-78"/>
            </a:endParaRPr>
          </a:p>
        </p:txBody>
      </p:sp>
    </p:spTree>
    <p:extLst>
      <p:ext uri="{BB962C8B-B14F-4D97-AF65-F5344CB8AC3E}">
        <p14:creationId xmlns:p14="http://schemas.microsoft.com/office/powerpoint/2010/main" val="402381851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pPr>
              <a:defRPr/>
            </a:pPr>
            <a:r>
              <a:rPr lang="en-US" sz="4400" dirty="0"/>
              <a:t>Recent Developments &amp; Future Scope</a:t>
            </a:r>
          </a:p>
        </p:txBody>
      </p:sp>
      <p:sp>
        <p:nvSpPr>
          <p:cNvPr id="2" name="Content Placeholder 1"/>
          <p:cNvSpPr>
            <a:spLocks noGrp="1"/>
          </p:cNvSpPr>
          <p:nvPr>
            <p:ph idx="1"/>
          </p:nvPr>
        </p:nvSpPr>
        <p:spPr>
          <a:xfrm>
            <a:off x="1219200" y="1752601"/>
            <a:ext cx="10642600" cy="4525963"/>
          </a:xfrm>
        </p:spPr>
        <p:txBody>
          <a:bodyPr>
            <a:normAutofit fontScale="92500" lnSpcReduction="20000"/>
          </a:bodyPr>
          <a:lstStyle/>
          <a:p>
            <a:pPr marL="365760" indent="-256032">
              <a:buNone/>
              <a:defRPr/>
            </a:pPr>
            <a:r>
              <a:rPr lang="en-US" sz="2800" dirty="0">
                <a:latin typeface="Arabic Typesetting" pitchFamily="66" charset="-78"/>
                <a:cs typeface="Arabic Typesetting" pitchFamily="66" charset="-78"/>
              </a:rPr>
              <a:t>    </a:t>
            </a:r>
            <a:r>
              <a:rPr lang="en-US" sz="4000" b="1" dirty="0">
                <a:latin typeface="Arabic Typesetting" pitchFamily="66" charset="-78"/>
                <a:cs typeface="Arabic Typesetting" pitchFamily="66" charset="-78"/>
              </a:rPr>
              <a:t>EPIC :</a:t>
            </a:r>
          </a:p>
          <a:p>
            <a:pPr marL="365760" indent="-256032">
              <a:buFont typeface="Wingdings 3"/>
              <a:buChar char=""/>
              <a:defRPr/>
            </a:pPr>
            <a:r>
              <a:rPr lang="en-US" sz="2600" dirty="0"/>
              <a:t>The biggest threat for CISC and RISC might not be each other, but a new technology called EPIC. </a:t>
            </a:r>
            <a:endParaRPr lang="en-US" sz="2600" dirty="0" smtClean="0"/>
          </a:p>
          <a:p>
            <a:pPr marL="365760" indent="-256032">
              <a:buFont typeface="Wingdings 3"/>
              <a:buChar char=""/>
              <a:defRPr/>
            </a:pPr>
            <a:endParaRPr lang="en-US" sz="2600" dirty="0"/>
          </a:p>
          <a:p>
            <a:pPr marL="365760" indent="-256032">
              <a:buFont typeface="Wingdings 3"/>
              <a:buChar char=""/>
              <a:defRPr/>
            </a:pPr>
            <a:r>
              <a:rPr lang="en-US" sz="2600" dirty="0"/>
              <a:t>EPIC stands for </a:t>
            </a:r>
            <a:r>
              <a:rPr lang="en-US" sz="2600" b="1" dirty="0"/>
              <a:t>Explicitly Parallel Instruction Computing. </a:t>
            </a:r>
            <a:r>
              <a:rPr lang="en-US" sz="2600" dirty="0"/>
              <a:t>EPIC can do many instruction executions in parallel to one another</a:t>
            </a:r>
            <a:r>
              <a:rPr lang="en-US" sz="2600" dirty="0" smtClean="0"/>
              <a:t>.</a:t>
            </a:r>
          </a:p>
          <a:p>
            <a:pPr marL="365760" indent="-256032">
              <a:buFont typeface="Wingdings 3"/>
              <a:buChar char=""/>
              <a:defRPr/>
            </a:pPr>
            <a:endParaRPr lang="en-US" sz="2600" dirty="0"/>
          </a:p>
          <a:p>
            <a:pPr marL="365760" indent="-256032">
              <a:buFont typeface="Wingdings 3"/>
              <a:buChar char=""/>
              <a:defRPr/>
            </a:pPr>
            <a:r>
              <a:rPr lang="en-US" sz="2600" dirty="0"/>
              <a:t>EPIC is a created by Intel and is in a way a combination of both CISC and RISC. This will in theory allow the processing of Windows-based as well as UNIX-based applications by the same CPU</a:t>
            </a:r>
            <a:r>
              <a:rPr lang="en-US" sz="2600" dirty="0" smtClean="0"/>
              <a:t>.</a:t>
            </a:r>
          </a:p>
          <a:p>
            <a:pPr marL="365760" indent="-256032">
              <a:buFont typeface="Wingdings 3"/>
              <a:buChar char=""/>
              <a:defRPr/>
            </a:pPr>
            <a:endParaRPr lang="en-US" sz="2600" dirty="0"/>
          </a:p>
          <a:p>
            <a:pPr marL="365760" indent="-256032">
              <a:buFont typeface="Wingdings 3"/>
              <a:buChar char=""/>
              <a:defRPr/>
            </a:pPr>
            <a:r>
              <a:rPr lang="en-US" sz="2600" dirty="0"/>
              <a:t>Intel is working on it under code-name </a:t>
            </a:r>
            <a:r>
              <a:rPr lang="en-US" sz="2600" i="1" dirty="0"/>
              <a:t>Merced</a:t>
            </a:r>
            <a:r>
              <a:rPr lang="en-US" sz="2600" dirty="0"/>
              <a:t>. Microsoft is already developing their Win64 standard for it. Like the name says, Merced will be a 64-bit chip.</a:t>
            </a:r>
          </a:p>
          <a:p>
            <a:pPr marL="365760" indent="-256032">
              <a:buFont typeface="Wingdings 3"/>
              <a:buChar char=""/>
              <a:defRPr/>
            </a:pPr>
            <a:endParaRPr lang="en-US" sz="2600" dirty="0"/>
          </a:p>
          <a:p>
            <a:pPr marL="365760" indent="-256032">
              <a:buFont typeface="Wingdings 3"/>
              <a:buChar char=""/>
              <a:defRPr/>
            </a:pPr>
            <a:endParaRPr lang="en-US" sz="2800" dirty="0">
              <a:latin typeface="Arabic Typesetting" pitchFamily="66" charset="-78"/>
              <a:cs typeface="Arabic Typesetting" pitchFamily="66" charset="-78"/>
            </a:endParaRPr>
          </a:p>
          <a:p>
            <a:pPr marL="365760" indent="-256032">
              <a:buFont typeface="Wingdings 3"/>
              <a:buChar char=""/>
              <a:defRPr/>
            </a:pPr>
            <a:endParaRPr lang="en-US" dirty="0"/>
          </a:p>
        </p:txBody>
      </p:sp>
    </p:spTree>
    <p:extLst>
      <p:ext uri="{BB962C8B-B14F-4D97-AF65-F5344CB8AC3E}">
        <p14:creationId xmlns:p14="http://schemas.microsoft.com/office/powerpoint/2010/main" val="310800001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ARM </a:t>
            </a:r>
            <a:r>
              <a:rPr lang="en-US" dirty="0" smtClean="0"/>
              <a:t>Processor </a:t>
            </a:r>
            <a:r>
              <a:rPr lang="en-US" b="1" dirty="0" smtClean="0"/>
              <a:t>:</a:t>
            </a:r>
            <a:r>
              <a:rPr lang="en-US" dirty="0" smtClean="0"/>
              <a:t> </a:t>
            </a:r>
            <a:r>
              <a:rPr lang="en-US" b="1" dirty="0"/>
              <a:t>Advanced RISC Machine</a:t>
            </a:r>
            <a:endParaRPr lang="en-US" dirty="0"/>
          </a:p>
        </p:txBody>
      </p:sp>
      <p:sp>
        <p:nvSpPr>
          <p:cNvPr id="3" name="Content Placeholder 2"/>
          <p:cNvSpPr>
            <a:spLocks noGrp="1"/>
          </p:cNvSpPr>
          <p:nvPr>
            <p:ph idx="1"/>
          </p:nvPr>
        </p:nvSpPr>
        <p:spPr/>
        <p:txBody>
          <a:bodyPr/>
          <a:lstStyle/>
          <a:p>
            <a:r>
              <a:rPr lang="en-US" dirty="0"/>
              <a:t>An </a:t>
            </a:r>
            <a:r>
              <a:rPr lang="en-US" b="1" dirty="0"/>
              <a:t>ARM processor</a:t>
            </a:r>
            <a:r>
              <a:rPr lang="en-US" dirty="0"/>
              <a:t> is one of a family of CPUs based on the RISC (reduced instruction set computer) </a:t>
            </a:r>
            <a:r>
              <a:rPr lang="en-US" b="1" dirty="0"/>
              <a:t>architecture</a:t>
            </a:r>
            <a:r>
              <a:rPr lang="en-US" dirty="0"/>
              <a:t> developed by Advanced RISC Machines (</a:t>
            </a:r>
            <a:r>
              <a:rPr lang="en-US" b="1" dirty="0"/>
              <a:t>ARM</a:t>
            </a:r>
            <a:r>
              <a:rPr lang="en-US" dirty="0"/>
              <a:t>). </a:t>
            </a:r>
            <a:r>
              <a:rPr lang="en-US" b="1" dirty="0"/>
              <a:t>ARM</a:t>
            </a:r>
            <a:r>
              <a:rPr lang="en-US" dirty="0"/>
              <a:t> makes 32-bit and 64-bit RISC multi-core </a:t>
            </a:r>
            <a:r>
              <a:rPr lang="en-US" b="1" dirty="0"/>
              <a:t>processors</a:t>
            </a:r>
            <a:r>
              <a:rPr lang="en-US" dirty="0" smtClean="0"/>
              <a:t>.</a:t>
            </a:r>
          </a:p>
          <a:p>
            <a:endParaRPr lang="en-US" dirty="0" smtClean="0"/>
          </a:p>
          <a:p>
            <a:r>
              <a:rPr lang="en-US" b="1" dirty="0"/>
              <a:t>ARM processors</a:t>
            </a:r>
            <a:r>
              <a:rPr lang="en-US" dirty="0"/>
              <a:t> are microprocessors and are widely </a:t>
            </a:r>
            <a:r>
              <a:rPr lang="en-US" b="1" dirty="0"/>
              <a:t>used in</a:t>
            </a:r>
            <a:r>
              <a:rPr lang="en-US" dirty="0"/>
              <a:t> many of the mobile phones sold each year, as many as 98% of mobile phones. They are also </a:t>
            </a:r>
            <a:r>
              <a:rPr lang="en-US" b="1" dirty="0"/>
              <a:t>used in</a:t>
            </a:r>
            <a:r>
              <a:rPr lang="en-US" dirty="0"/>
              <a:t> PDAs (personal digital assistants), digital media and music layers, hand-held gaming systems, calculators, and even computer hard drives.</a:t>
            </a:r>
          </a:p>
        </p:txBody>
      </p:sp>
      <p:pic>
        <p:nvPicPr>
          <p:cNvPr id="5" name="Picture 4"/>
          <p:cNvPicPr>
            <a:picLocks noChangeAspect="1"/>
          </p:cNvPicPr>
          <p:nvPr/>
        </p:nvPicPr>
        <p:blipFill>
          <a:blip r:embed="rId2"/>
          <a:stretch>
            <a:fillRect/>
          </a:stretch>
        </p:blipFill>
        <p:spPr>
          <a:xfrm>
            <a:off x="8057606" y="4392885"/>
            <a:ext cx="3296194" cy="2086406"/>
          </a:xfrm>
          <a:prstGeom prst="rect">
            <a:avLst/>
          </a:prstGeom>
        </p:spPr>
      </p:pic>
    </p:spTree>
    <p:extLst>
      <p:ext uri="{BB962C8B-B14F-4D97-AF65-F5344CB8AC3E}">
        <p14:creationId xmlns:p14="http://schemas.microsoft.com/office/powerpoint/2010/main" val="86749075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ARM Processor</a:t>
            </a:r>
            <a:endParaRPr lang="en-US" dirty="0"/>
          </a:p>
        </p:txBody>
      </p:sp>
      <p:sp>
        <p:nvSpPr>
          <p:cNvPr id="3" name="Content Placeholder 2"/>
          <p:cNvSpPr>
            <a:spLocks noGrp="1"/>
          </p:cNvSpPr>
          <p:nvPr>
            <p:ph idx="1"/>
          </p:nvPr>
        </p:nvSpPr>
        <p:spPr/>
        <p:txBody>
          <a:bodyPr/>
          <a:lstStyle/>
          <a:p>
            <a:r>
              <a:rPr lang="en-US" dirty="0"/>
              <a:t>Companies that are current licensees of the 64-bit ARMv8-A core designs include AMD, </a:t>
            </a:r>
            <a:r>
              <a:rPr lang="en-US" dirty="0" err="1"/>
              <a:t>AppliedMicro</a:t>
            </a:r>
            <a:r>
              <a:rPr lang="en-US" dirty="0"/>
              <a:t> (X-Gene), Broadcom, </a:t>
            </a:r>
            <a:r>
              <a:rPr lang="en-US" dirty="0" err="1"/>
              <a:t>Calxeda</a:t>
            </a:r>
            <a:r>
              <a:rPr lang="en-US" dirty="0"/>
              <a:t>, </a:t>
            </a:r>
            <a:r>
              <a:rPr lang="en-US" dirty="0" err="1"/>
              <a:t>HiSilicon</a:t>
            </a:r>
            <a:r>
              <a:rPr lang="en-US" dirty="0"/>
              <a:t>, </a:t>
            </a:r>
            <a:r>
              <a:rPr lang="en-US" dirty="0" err="1"/>
              <a:t>Rockchip</a:t>
            </a:r>
            <a:r>
              <a:rPr lang="en-US" dirty="0" smtClean="0"/>
              <a:t>,</a:t>
            </a:r>
          </a:p>
          <a:p>
            <a:endParaRPr lang="en-US" dirty="0"/>
          </a:p>
          <a:p>
            <a:r>
              <a:rPr lang="en-US" b="1" dirty="0"/>
              <a:t>Arm's latest</a:t>
            </a:r>
            <a:r>
              <a:rPr lang="en-US" dirty="0"/>
              <a:t> top-end </a:t>
            </a:r>
            <a:r>
              <a:rPr lang="en-US" b="1" dirty="0"/>
              <a:t>processor</a:t>
            </a:r>
            <a:r>
              <a:rPr lang="en-US" dirty="0"/>
              <a:t> core design – the Cortex-A76 unveiled today – is its first </a:t>
            </a:r>
            <a:r>
              <a:rPr lang="en-US" b="1" dirty="0"/>
              <a:t>CPU</a:t>
            </a:r>
            <a:r>
              <a:rPr lang="en-US" dirty="0"/>
              <a:t> to only run kernel-level code that is 64-bit, according to its </a:t>
            </a:r>
            <a:r>
              <a:rPr lang="en-US" dirty="0" smtClean="0"/>
              <a:t>inventors. </a:t>
            </a:r>
            <a:endParaRPr lang="en-US" dirty="0"/>
          </a:p>
        </p:txBody>
      </p:sp>
    </p:spTree>
    <p:extLst>
      <p:ext uri="{BB962C8B-B14F-4D97-AF65-F5344CB8AC3E}">
        <p14:creationId xmlns:p14="http://schemas.microsoft.com/office/powerpoint/2010/main" val="349327805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ARM Processor </a:t>
            </a:r>
            <a:endParaRPr lang="en-US" dirty="0"/>
          </a:p>
        </p:txBody>
      </p:sp>
      <p:sp>
        <p:nvSpPr>
          <p:cNvPr id="3" name="Content Placeholder 2"/>
          <p:cNvSpPr>
            <a:spLocks noGrp="1"/>
          </p:cNvSpPr>
          <p:nvPr>
            <p:ph idx="1"/>
          </p:nvPr>
        </p:nvSpPr>
        <p:spPr/>
        <p:txBody>
          <a:bodyPr>
            <a:noAutofit/>
          </a:bodyPr>
          <a:lstStyle/>
          <a:p>
            <a:r>
              <a:rPr lang="en-US" sz="2400" dirty="0"/>
              <a:t>There are three main CPU architectures used in today's </a:t>
            </a:r>
            <a:r>
              <a:rPr lang="en-US" sz="2400" b="1" dirty="0"/>
              <a:t>Android</a:t>
            </a:r>
            <a:r>
              <a:rPr lang="en-US" sz="2400" dirty="0"/>
              <a:t> phones. </a:t>
            </a:r>
            <a:r>
              <a:rPr lang="en-US" sz="2400" b="1" dirty="0"/>
              <a:t>ARM is</a:t>
            </a:r>
            <a:r>
              <a:rPr lang="en-US" sz="2400" dirty="0"/>
              <a:t> perhaps the most common, as it's optimized for battery consumption. ARM64 </a:t>
            </a:r>
            <a:r>
              <a:rPr lang="en-US" sz="2400" b="1" dirty="0"/>
              <a:t>is</a:t>
            </a:r>
            <a:r>
              <a:rPr lang="en-US" sz="2400" dirty="0"/>
              <a:t> an evolution of the original </a:t>
            </a:r>
            <a:r>
              <a:rPr lang="en-US" sz="2400" b="1" dirty="0"/>
              <a:t>ARM</a:t>
            </a:r>
            <a:r>
              <a:rPr lang="en-US" sz="2400" dirty="0"/>
              <a:t> architecture that supports 64-bit processing for more powerful computing, and it's quickly becoming the standard in newer </a:t>
            </a:r>
            <a:r>
              <a:rPr lang="en-US" sz="2400" dirty="0" smtClean="0"/>
              <a:t>devices</a:t>
            </a:r>
          </a:p>
          <a:p>
            <a:endParaRPr lang="en-US" sz="2400" dirty="0"/>
          </a:p>
          <a:p>
            <a:endParaRPr lang="en-US" sz="2400" dirty="0" smtClean="0"/>
          </a:p>
          <a:p>
            <a:r>
              <a:rPr lang="en-US" sz="2400" dirty="0"/>
              <a:t>Why </a:t>
            </a:r>
            <a:r>
              <a:rPr lang="en-US" sz="2400" b="1" dirty="0"/>
              <a:t>ARM</a:t>
            </a:r>
            <a:r>
              <a:rPr lang="en-US" sz="2400" dirty="0"/>
              <a:t> is most </a:t>
            </a:r>
            <a:r>
              <a:rPr lang="en-US" sz="2400" b="1" dirty="0"/>
              <a:t>popular</a:t>
            </a:r>
            <a:r>
              <a:rPr lang="en-US" sz="2400" dirty="0"/>
              <a:t>: </a:t>
            </a:r>
            <a:r>
              <a:rPr lang="en-US" sz="2400" b="1" dirty="0"/>
              <a:t>ARM</a:t>
            </a:r>
            <a:r>
              <a:rPr lang="en-US" sz="2400" dirty="0"/>
              <a:t> is the most </a:t>
            </a:r>
            <a:r>
              <a:rPr lang="en-US" sz="2400" b="1" dirty="0"/>
              <a:t>popular</a:t>
            </a:r>
            <a:r>
              <a:rPr lang="en-US" sz="2400" dirty="0"/>
              <a:t> processors, particularly used in portable devices due to its low power consumption and reasonable performance. </a:t>
            </a:r>
            <a:r>
              <a:rPr lang="en-US" sz="2400" b="1" dirty="0"/>
              <a:t>ARM</a:t>
            </a:r>
            <a:r>
              <a:rPr lang="en-US" sz="2400" dirty="0"/>
              <a:t> has got better performance when compared to other processors. The </a:t>
            </a:r>
            <a:r>
              <a:rPr lang="en-US" sz="2400" b="1" dirty="0"/>
              <a:t>ARM</a:t>
            </a:r>
            <a:r>
              <a:rPr lang="en-US" sz="2400" dirty="0"/>
              <a:t> processor is basically consisting of low power consumption and low cost.</a:t>
            </a:r>
          </a:p>
        </p:txBody>
      </p:sp>
    </p:spTree>
    <p:extLst>
      <p:ext uri="{BB962C8B-B14F-4D97-AF65-F5344CB8AC3E}">
        <p14:creationId xmlns:p14="http://schemas.microsoft.com/office/powerpoint/2010/main" val="295951049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noFill/>
          <a:extLst>
            <a:ext uri="{909E8E84-426E-40DD-AFC4-6F175D3DCCD1}">
              <a14:hiddenFill xmlns:a14="http://schemas.microsoft.com/office/drawing/2010/main">
                <a:solidFill>
                  <a:schemeClr val="tx1"/>
                </a:solidFill>
              </a14:hiddenFill>
            </a:ext>
          </a:extLst>
        </p:spPr>
        <p:txBody>
          <a:bodyPr vert="horz" lIns="92075" tIns="46038" rIns="92075" bIns="46038" rtlCol="0" anchor="ctr">
            <a:normAutofit/>
          </a:bodyPr>
          <a:lstStyle/>
          <a:p>
            <a:r>
              <a:rPr lang="en-US" altLang="en-US" smtClean="0"/>
              <a:t>ARM Ltd</a:t>
            </a:r>
          </a:p>
        </p:txBody>
      </p:sp>
      <p:sp>
        <p:nvSpPr>
          <p:cNvPr id="7172" name="Rectangle 3"/>
          <p:cNvSpPr>
            <a:spLocks noGrp="1" noChangeArrowheads="1"/>
          </p:cNvSpPr>
          <p:nvPr>
            <p:ph idx="1"/>
          </p:nvPr>
        </p:nvSpPr>
        <p:spPr>
          <a:xfrm>
            <a:off x="1016000" y="1384300"/>
            <a:ext cx="10172700" cy="4838700"/>
          </a:xfrm>
          <a:noFill/>
        </p:spPr>
        <p:txBody>
          <a:bodyPr vert="horz" lIns="92075" tIns="46038" rIns="92075" bIns="46038" rtlCol="0" anchorCtr="1">
            <a:normAutofit/>
          </a:bodyPr>
          <a:lstStyle/>
          <a:p>
            <a:r>
              <a:rPr lang="en-US" altLang="en-US" dirty="0" smtClean="0"/>
              <a:t>Founded in November 1990</a:t>
            </a:r>
          </a:p>
          <a:p>
            <a:pPr lvl="1"/>
            <a:r>
              <a:rPr lang="en-US" altLang="en-US" dirty="0" smtClean="0"/>
              <a:t>Spun out of Acorn Computers</a:t>
            </a:r>
          </a:p>
          <a:p>
            <a:endParaRPr lang="en-US" altLang="en-US" dirty="0" smtClean="0"/>
          </a:p>
          <a:p>
            <a:r>
              <a:rPr lang="en-US" altLang="en-US" dirty="0" smtClean="0"/>
              <a:t>Designs the ARM range of RISC processor cores</a:t>
            </a:r>
          </a:p>
          <a:p>
            <a:r>
              <a:rPr lang="en-US" altLang="en-US" dirty="0" smtClean="0"/>
              <a:t>Licenses ARM core designs to semiconductor partners who fabricate and sell to their customers.</a:t>
            </a:r>
          </a:p>
          <a:p>
            <a:pPr lvl="1"/>
            <a:r>
              <a:rPr lang="en-US" altLang="en-US" dirty="0" smtClean="0">
                <a:solidFill>
                  <a:srgbClr val="002060"/>
                </a:solidFill>
              </a:rPr>
              <a:t>ARM does not fabricate silicon itself</a:t>
            </a:r>
          </a:p>
          <a:p>
            <a:endParaRPr lang="en-US" altLang="en-US" dirty="0" smtClean="0"/>
          </a:p>
          <a:p>
            <a:r>
              <a:rPr lang="en-US" altLang="en-US" dirty="0" smtClean="0"/>
              <a:t>Also develop technologies to assist with the design-in of the ARM architecture</a:t>
            </a:r>
          </a:p>
          <a:p>
            <a:pPr lvl="1"/>
            <a:r>
              <a:rPr lang="en-US" altLang="en-US" dirty="0" smtClean="0"/>
              <a:t>Software tools, boards, debug hardware, application software, bus architectures, peripherals </a:t>
            </a:r>
            <a:r>
              <a:rPr lang="en-US" altLang="en-US" dirty="0" err="1" smtClean="0"/>
              <a:t>etc</a:t>
            </a:r>
            <a:endParaRPr lang="en-US" altLang="en-US" dirty="0" smtClean="0"/>
          </a:p>
        </p:txBody>
      </p:sp>
    </p:spTree>
    <p:extLst>
      <p:ext uri="{BB962C8B-B14F-4D97-AF65-F5344CB8AC3E}">
        <p14:creationId xmlns:p14="http://schemas.microsoft.com/office/powerpoint/2010/main" val="130458932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3505201" y="1"/>
            <a:ext cx="6811963" cy="900113"/>
          </a:xfrm>
          <a:noFill/>
          <a:extLst>
            <a:ext uri="{909E8E84-426E-40DD-AFC4-6F175D3DCCD1}">
              <a14:hiddenFill xmlns:a14="http://schemas.microsoft.com/office/drawing/2010/main">
                <a:solidFill>
                  <a:schemeClr val="tx1"/>
                </a:solidFill>
              </a14:hiddenFill>
            </a:ext>
          </a:extLst>
        </p:spPr>
        <p:txBody>
          <a:bodyPr vert="horz" lIns="92075" tIns="46038" rIns="92075" bIns="46038" rtlCol="0" anchor="ctr">
            <a:normAutofit/>
          </a:bodyPr>
          <a:lstStyle/>
          <a:p>
            <a:r>
              <a:rPr lang="en-US" altLang="en-US" smtClean="0"/>
              <a:t>ARM Partnership Model</a:t>
            </a:r>
          </a:p>
        </p:txBody>
      </p:sp>
      <p:pic>
        <p:nvPicPr>
          <p:cNvPr id="9219" name="Picture 4" descr="partner ma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1808164" y="1016000"/>
            <a:ext cx="8574087" cy="541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786968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ltLang="en-US" smtClean="0"/>
              <a:t>ARM Powered Products</a:t>
            </a:r>
          </a:p>
        </p:txBody>
      </p:sp>
      <p:graphicFrame>
        <p:nvGraphicFramePr>
          <p:cNvPr id="11267" name="Object 3"/>
          <p:cNvGraphicFramePr>
            <a:graphicFrameLocks noChangeAspect="1"/>
          </p:cNvGraphicFramePr>
          <p:nvPr/>
        </p:nvGraphicFramePr>
        <p:xfrm>
          <a:off x="1524000" y="1106489"/>
          <a:ext cx="9144000" cy="5640387"/>
        </p:xfrm>
        <a:graphic>
          <a:graphicData uri="http://schemas.openxmlformats.org/presentationml/2006/ole">
            <mc:AlternateContent xmlns:mc="http://schemas.openxmlformats.org/markup-compatibility/2006">
              <mc:Choice xmlns:v="urn:schemas-microsoft-com:vml" Requires="v">
                <p:oleObj spid="_x0000_s1078" name="Photo Editor Photo" r:id="rId4" imgW="9276190" imgH="5723810" progId="MSPhotoEd.3">
                  <p:embed/>
                </p:oleObj>
              </mc:Choice>
              <mc:Fallback>
                <p:oleObj name="Photo Editor Photo" r:id="rId4" imgW="9276190" imgH="5723810" progId="MSPhotoEd.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1106489"/>
                        <a:ext cx="9144000" cy="5640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6160640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691</TotalTime>
  <Words>2246</Words>
  <Application>Microsoft Office PowerPoint</Application>
  <PresentationFormat>Widescreen</PresentationFormat>
  <Paragraphs>235</Paragraphs>
  <Slides>31</Slides>
  <Notes>6</Notes>
  <HiddenSlides>8</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31</vt:i4>
      </vt:variant>
    </vt:vector>
  </HeadingPairs>
  <TitlesOfParts>
    <vt:vector size="41" baseType="lpstr">
      <vt:lpstr>SimSun</vt:lpstr>
      <vt:lpstr>Arabic Typesetting</vt:lpstr>
      <vt:lpstr>Arial</vt:lpstr>
      <vt:lpstr>Calibri</vt:lpstr>
      <vt:lpstr>Lucida Sans Unicode</vt:lpstr>
      <vt:lpstr>Times New Roman</vt:lpstr>
      <vt:lpstr>Verdana</vt:lpstr>
      <vt:lpstr>Wingdings 3</vt:lpstr>
      <vt:lpstr>Office Theme</vt:lpstr>
      <vt:lpstr>Photo Editor Photo</vt:lpstr>
      <vt:lpstr>  Computer Architecture &amp; Assembly Language   CSC-250</vt:lpstr>
      <vt:lpstr>Puzzle: </vt:lpstr>
      <vt:lpstr>PowerPoint Presentation</vt:lpstr>
      <vt:lpstr>Processor Micro-Processor CPU </vt:lpstr>
      <vt:lpstr>Processor Micro-Processor CPU</vt:lpstr>
      <vt:lpstr>PowerPoint Presentation</vt:lpstr>
      <vt:lpstr>Processor Required Busses</vt:lpstr>
      <vt:lpstr>Evolution of Microprocessors</vt:lpstr>
      <vt:lpstr>Evolution of Microprocessors</vt:lpstr>
      <vt:lpstr>X86 Processor Family</vt:lpstr>
      <vt:lpstr>PowerPoint Presentation</vt:lpstr>
      <vt:lpstr>PowerPoint Presentation</vt:lpstr>
      <vt:lpstr>Intel Pentium &amp; Power PC Evaluation </vt:lpstr>
      <vt:lpstr>Power PC Processor</vt:lpstr>
      <vt:lpstr>Intel Pentium &amp; Power PC Evaluation </vt:lpstr>
      <vt:lpstr>Intel Pentium &amp; Power PC Evaluation </vt:lpstr>
      <vt:lpstr>Reduced and Complex Instruction Set  Computer</vt:lpstr>
      <vt:lpstr>RISC (Reduced Instruction Set Computer) </vt:lpstr>
      <vt:lpstr>CISC versus RISC</vt:lpstr>
      <vt:lpstr>Intel Pentium &amp; Power PC Evaluation </vt:lpstr>
      <vt:lpstr>What is CISC?</vt:lpstr>
      <vt:lpstr>What is RISC?</vt:lpstr>
      <vt:lpstr>The Performance Equation</vt:lpstr>
      <vt:lpstr>Which one is better...?</vt:lpstr>
      <vt:lpstr>Recent Developments &amp; Future Scope</vt:lpstr>
      <vt:lpstr>ARM Processor : Advanced RISC Machine</vt:lpstr>
      <vt:lpstr>ARM Processor</vt:lpstr>
      <vt:lpstr>ARM Processor </vt:lpstr>
      <vt:lpstr>ARM Ltd</vt:lpstr>
      <vt:lpstr>ARM Partnership Model</vt:lpstr>
      <vt:lpstr>ARM Powered Products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Computer Architecture &amp; Assembly Language   CSC-250</dc:title>
  <dc:creator>Noor Nabi</dc:creator>
  <cp:lastModifiedBy>PC</cp:lastModifiedBy>
  <cp:revision>62</cp:revision>
  <dcterms:created xsi:type="dcterms:W3CDTF">2020-01-31T04:20:28Z</dcterms:created>
  <dcterms:modified xsi:type="dcterms:W3CDTF">2025-03-25T13:04:34Z</dcterms:modified>
</cp:coreProperties>
</file>