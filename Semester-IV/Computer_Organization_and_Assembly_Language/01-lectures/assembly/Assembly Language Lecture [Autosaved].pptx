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342" r:id="rId4"/>
    <p:sldId id="259" r:id="rId5"/>
    <p:sldId id="258" r:id="rId6"/>
    <p:sldId id="260" r:id="rId7"/>
    <p:sldId id="262" r:id="rId8"/>
    <p:sldId id="343" r:id="rId9"/>
    <p:sldId id="337" r:id="rId10"/>
    <p:sldId id="338" r:id="rId11"/>
    <p:sldId id="339" r:id="rId12"/>
    <p:sldId id="340" r:id="rId13"/>
    <p:sldId id="341" r:id="rId14"/>
    <p:sldId id="274" r:id="rId15"/>
    <p:sldId id="270" r:id="rId16"/>
    <p:sldId id="263" r:id="rId17"/>
    <p:sldId id="308" r:id="rId18"/>
    <p:sldId id="261" r:id="rId19"/>
    <p:sldId id="269" r:id="rId20"/>
    <p:sldId id="264" r:id="rId21"/>
    <p:sldId id="344" r:id="rId22"/>
    <p:sldId id="267" r:id="rId23"/>
    <p:sldId id="271" r:id="rId24"/>
    <p:sldId id="273" r:id="rId25"/>
    <p:sldId id="272" r:id="rId26"/>
    <p:sldId id="265" r:id="rId27"/>
    <p:sldId id="279" r:id="rId28"/>
    <p:sldId id="280" r:id="rId29"/>
    <p:sldId id="306" r:id="rId30"/>
    <p:sldId id="307" r:id="rId31"/>
    <p:sldId id="345" r:id="rId32"/>
    <p:sldId id="312" r:id="rId33"/>
    <p:sldId id="313" r:id="rId34"/>
    <p:sldId id="281" r:id="rId35"/>
    <p:sldId id="309" r:id="rId36"/>
    <p:sldId id="310" r:id="rId37"/>
    <p:sldId id="314" r:id="rId38"/>
    <p:sldId id="282" r:id="rId39"/>
    <p:sldId id="286" r:id="rId40"/>
    <p:sldId id="288" r:id="rId41"/>
    <p:sldId id="289" r:id="rId42"/>
    <p:sldId id="290" r:id="rId43"/>
    <p:sldId id="291" r:id="rId44"/>
    <p:sldId id="316" r:id="rId45"/>
    <p:sldId id="319" r:id="rId46"/>
    <p:sldId id="320" r:id="rId47"/>
    <p:sldId id="315" r:id="rId48"/>
    <p:sldId id="317" r:id="rId49"/>
    <p:sldId id="321" r:id="rId50"/>
    <p:sldId id="323" r:id="rId51"/>
    <p:sldId id="322" r:id="rId52"/>
    <p:sldId id="324" r:id="rId53"/>
    <p:sldId id="325" r:id="rId54"/>
    <p:sldId id="326" r:id="rId55"/>
    <p:sldId id="327" r:id="rId56"/>
    <p:sldId id="329" r:id="rId57"/>
    <p:sldId id="328" r:id="rId58"/>
    <p:sldId id="330" r:id="rId59"/>
    <p:sldId id="331" r:id="rId60"/>
    <p:sldId id="334" r:id="rId61"/>
    <p:sldId id="335" r:id="rId62"/>
    <p:sldId id="332" r:id="rId63"/>
    <p:sldId id="333" r:id="rId64"/>
    <p:sldId id="336" r:id="rId6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2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3.png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4.png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26F9E-8777-4590-86A6-6D0A8D5D16F1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03EA6-F8BA-42C7-9A38-82BEBABD26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21934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26F9E-8777-4590-86A6-6D0A8D5D16F1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03EA6-F8BA-42C7-9A38-82BEBABD26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62765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26F9E-8777-4590-86A6-6D0A8D5D16F1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03EA6-F8BA-42C7-9A38-82BEBABD26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361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26F9E-8777-4590-86A6-6D0A8D5D16F1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03EA6-F8BA-42C7-9A38-82BEBABD26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49319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26F9E-8777-4590-86A6-6D0A8D5D16F1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03EA6-F8BA-42C7-9A38-82BEBABD26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80007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26F9E-8777-4590-86A6-6D0A8D5D16F1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03EA6-F8BA-42C7-9A38-82BEBABD26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43019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26F9E-8777-4590-86A6-6D0A8D5D16F1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03EA6-F8BA-42C7-9A38-82BEBABD26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89839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26F9E-8777-4590-86A6-6D0A8D5D16F1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03EA6-F8BA-42C7-9A38-82BEBABD26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02735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26F9E-8777-4590-86A6-6D0A8D5D16F1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03EA6-F8BA-42C7-9A38-82BEBABD26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2314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26F9E-8777-4590-86A6-6D0A8D5D16F1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03EA6-F8BA-42C7-9A38-82BEBABD26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93378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26F9E-8777-4590-86A6-6D0A8D5D16F1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03EA6-F8BA-42C7-9A38-82BEBABD26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44480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526F9E-8777-4590-86A6-6D0A8D5D16F1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303EA6-F8BA-42C7-9A38-82BEBABD268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9688"/>
            <a:ext cx="809625" cy="809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03758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P5JOlz7MeYg&amp;list=PLsu3nQRCX0RIjLN0eUNzQbDFyfz8E_DJi&amp;index=2" TargetMode="Externa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32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33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34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2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1.png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3.png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Assembly Language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69965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8050" y="161925"/>
            <a:ext cx="10515600" cy="1325563"/>
          </a:xfrm>
        </p:spPr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Why we study Assembly Language 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" y="1330324"/>
            <a:ext cx="11188700" cy="5095875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To control on operating system and design softwares accordingly </a:t>
            </a:r>
            <a:r>
              <a:rPr lang="en-US" dirty="0" smtClean="0"/>
              <a:t>because </a:t>
            </a:r>
            <a:r>
              <a:rPr lang="en-US" dirty="0"/>
              <a:t>if we have the knowledge of processor we can work accordingly</a:t>
            </a:r>
          </a:p>
          <a:p>
            <a:r>
              <a:rPr lang="en-US" dirty="0"/>
              <a:t>To enhance the perforce of system </a:t>
            </a:r>
            <a:r>
              <a:rPr lang="en-US" dirty="0" smtClean="0"/>
              <a:t>processing</a:t>
            </a:r>
          </a:p>
          <a:p>
            <a:r>
              <a:rPr lang="en-US" dirty="0" smtClean="0"/>
              <a:t>To understand the processor </a:t>
            </a:r>
          </a:p>
          <a:p>
            <a:r>
              <a:rPr lang="en-US" dirty="0" smtClean="0"/>
              <a:t>To arrange the processor requirements as per capacity </a:t>
            </a:r>
          </a:p>
          <a:p>
            <a:r>
              <a:rPr lang="en-US" dirty="0" smtClean="0"/>
              <a:t>To understand the low level language </a:t>
            </a:r>
          </a:p>
          <a:p>
            <a:r>
              <a:rPr lang="en-US" dirty="0" smtClean="0"/>
              <a:t>Hardware and software combination to work together</a:t>
            </a:r>
          </a:p>
          <a:p>
            <a:r>
              <a:rPr lang="en-US" dirty="0" smtClean="0"/>
              <a:t>Because you don’t define particular memory address where to data store and where not so efficiently system does so all about due to AL</a:t>
            </a:r>
          </a:p>
          <a:p>
            <a:r>
              <a:rPr lang="en-US" dirty="0" smtClean="0"/>
              <a:t>Direct access to register to execute the process rather to carry out things from  hard to ram to cache to register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50932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2071" y="474440"/>
            <a:ext cx="8695117" cy="5651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7178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>
                <a:solidFill>
                  <a:srgbClr val="FF0000"/>
                </a:solidFill>
              </a:rPr>
              <a:t>How different is Assembly Language then Other Programing Languages</a:t>
            </a:r>
            <a:endParaRPr lang="en-US" sz="4000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250 Languages we use up to natural language processing</a:t>
            </a:r>
          </a:p>
          <a:p>
            <a:r>
              <a:rPr lang="en-US" dirty="0" smtClean="0"/>
              <a:t>Low level language </a:t>
            </a:r>
          </a:p>
          <a:p>
            <a:r>
              <a:rPr lang="en-US" dirty="0" smtClean="0"/>
              <a:t>Direct access to register and processor </a:t>
            </a:r>
          </a:p>
          <a:p>
            <a:r>
              <a:rPr lang="en-US" dirty="0" smtClean="0"/>
              <a:t>Embedded Programing direct access to hardware</a:t>
            </a:r>
          </a:p>
          <a:p>
            <a:r>
              <a:rPr lang="en-US" dirty="0" smtClean="0"/>
              <a:t>Not a web base or mobile base application </a:t>
            </a:r>
          </a:p>
          <a:p>
            <a:r>
              <a:rPr lang="en-US" dirty="0" smtClean="0"/>
              <a:t>A right techniques to a right problem </a:t>
            </a:r>
          </a:p>
          <a:p>
            <a:r>
              <a:rPr lang="en-US" dirty="0" smtClean="0"/>
              <a:t>Procedural non procedural </a:t>
            </a:r>
          </a:p>
          <a:p>
            <a:r>
              <a:rPr lang="en-US" dirty="0" smtClean="0"/>
              <a:t>For web for desktop for Mobile app but we need to command the processor too for enhancement of the internal function of processor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48937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What is actual Assembly Language 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David John Wholer computer </a:t>
            </a:r>
            <a:r>
              <a:rPr lang="en-US" dirty="0"/>
              <a:t>programming, assembly language, </a:t>
            </a:r>
            <a:endParaRPr lang="en-US" dirty="0" smtClean="0"/>
          </a:p>
          <a:p>
            <a:r>
              <a:rPr lang="en-US" dirty="0" smtClean="0"/>
              <a:t>often </a:t>
            </a:r>
            <a:r>
              <a:rPr lang="en-US" dirty="0"/>
              <a:t>abbreviated asm, </a:t>
            </a:r>
          </a:p>
          <a:p>
            <a:r>
              <a:rPr lang="en-US" dirty="0" smtClean="0"/>
              <a:t> </a:t>
            </a:r>
            <a:r>
              <a:rPr lang="en-US" dirty="0"/>
              <a:t>low-level programming language </a:t>
            </a:r>
          </a:p>
          <a:p>
            <a:r>
              <a:rPr lang="en-US" dirty="0" smtClean="0"/>
              <a:t> </a:t>
            </a:r>
            <a:r>
              <a:rPr lang="en-US" dirty="0"/>
              <a:t>there is a very strong correspondence between the instructions in the language and the architecture's machine code </a:t>
            </a:r>
            <a:r>
              <a:rPr lang="en-US" dirty="0" smtClean="0"/>
              <a:t>instructions</a:t>
            </a:r>
          </a:p>
          <a:p>
            <a:r>
              <a:rPr lang="en-US" dirty="0"/>
              <a:t>can be used to directly tell the computer what to </a:t>
            </a:r>
            <a:r>
              <a:rPr lang="en-US" dirty="0" smtClean="0"/>
              <a:t>do</a:t>
            </a:r>
          </a:p>
          <a:p>
            <a:r>
              <a:rPr lang="en-US" dirty="0"/>
              <a:t>almost exactly like the machine </a:t>
            </a:r>
            <a:r>
              <a:rPr lang="en-US" b="1" dirty="0"/>
              <a:t>code</a:t>
            </a:r>
            <a:r>
              <a:rPr lang="en-US" dirty="0"/>
              <a:t> that a computer can understand, except that it uses </a:t>
            </a:r>
            <a:r>
              <a:rPr lang="en-US" b="1" dirty="0"/>
              <a:t>words</a:t>
            </a:r>
            <a:r>
              <a:rPr lang="en-US" dirty="0"/>
              <a:t> in place of numbers.</a:t>
            </a:r>
          </a:p>
        </p:txBody>
      </p:sp>
    </p:spTree>
    <p:extLst>
      <p:ext uri="{BB962C8B-B14F-4D97-AF65-F5344CB8AC3E}">
        <p14:creationId xmlns:p14="http://schemas.microsoft.com/office/powerpoint/2010/main" val="5854226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What is Assembler role in AL its types 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 assembler is a program that converts assembly language into machine code. It takes the basic commands and operations from assembly code and converts them into binary code that can be recognized by a specific type of processor. Assemblers are similar to compilers in that they produce executable code.</a:t>
            </a:r>
            <a:endParaRPr lang="en-US" dirty="0" smtClean="0"/>
          </a:p>
          <a:p>
            <a:r>
              <a:rPr lang="en-US" i="1" dirty="0" smtClean="0"/>
              <a:t>Emulator 8086</a:t>
            </a:r>
          </a:p>
          <a:p>
            <a:r>
              <a:rPr lang="en-US" i="1" dirty="0" smtClean="0"/>
              <a:t>Visual Studio With libraries of AL</a:t>
            </a:r>
          </a:p>
          <a:p>
            <a:r>
              <a:rPr lang="en-US" i="1" dirty="0" smtClean="0"/>
              <a:t>MASM</a:t>
            </a:r>
          </a:p>
          <a:p>
            <a:r>
              <a:rPr lang="en-US" i="1" dirty="0" err="1" smtClean="0"/>
              <a:t>DosBox</a:t>
            </a:r>
            <a:r>
              <a:rPr lang="en-US" i="1" dirty="0" smtClean="0"/>
              <a:t>  .asm  .</a:t>
            </a:r>
            <a:r>
              <a:rPr lang="en-US" i="1" dirty="0" err="1" smtClean="0"/>
              <a:t>obj</a:t>
            </a:r>
            <a:r>
              <a:rPr lang="en-US" i="1" dirty="0" smtClean="0"/>
              <a:t>; link; exe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24441375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Advantages and Disadvantages of using AL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Programs written in machine language are replaceable by mnemonics which are easier to remember</a:t>
            </a:r>
            <a:endParaRPr lang="en-US" dirty="0" smtClean="0"/>
          </a:p>
          <a:p>
            <a:r>
              <a:rPr lang="en-US" dirty="0" smtClean="0"/>
              <a:t>It </a:t>
            </a:r>
            <a:r>
              <a:rPr lang="en-US" dirty="0"/>
              <a:t>allows complex jobs to run in a simpler way.</a:t>
            </a:r>
          </a:p>
          <a:p>
            <a:r>
              <a:rPr lang="en-US" dirty="0"/>
              <a:t>It is memory efficient, as it requires less memory.</a:t>
            </a:r>
          </a:p>
          <a:p>
            <a:r>
              <a:rPr lang="en-US" dirty="0"/>
              <a:t>It is faster in speed, as its execution time is less.</a:t>
            </a:r>
          </a:p>
          <a:p>
            <a:r>
              <a:rPr lang="en-US" dirty="0"/>
              <a:t>It is mainly hardware oriented.</a:t>
            </a:r>
          </a:p>
          <a:p>
            <a:r>
              <a:rPr lang="en-US" dirty="0" smtClean="0"/>
              <a:t>It </a:t>
            </a:r>
            <a:r>
              <a:rPr lang="en-US" dirty="0"/>
              <a:t>is used for critical jobs.</a:t>
            </a:r>
          </a:p>
          <a:p>
            <a:r>
              <a:rPr lang="en-US" dirty="0"/>
              <a:t>It is not required to keep track of memory locations.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No SDKs (System Development Kit</a:t>
            </a:r>
            <a:r>
              <a:rPr lang="en-US" dirty="0" smtClean="0"/>
              <a:t>).</a:t>
            </a:r>
          </a:p>
          <a:p>
            <a:r>
              <a:rPr lang="en-US" dirty="0"/>
              <a:t>more complex in nature.</a:t>
            </a:r>
          </a:p>
          <a:p>
            <a:r>
              <a:rPr lang="en-US" dirty="0"/>
              <a:t>Difficult to remember the syntax.</a:t>
            </a:r>
          </a:p>
          <a:p>
            <a:r>
              <a:rPr lang="en-US" dirty="0"/>
              <a:t>It is difficult to debug the program</a:t>
            </a:r>
            <a:r>
              <a:rPr lang="en-US" dirty="0" smtClean="0"/>
              <a:t>.</a:t>
            </a:r>
          </a:p>
          <a:p>
            <a:r>
              <a:rPr lang="en-US" dirty="0"/>
              <a:t>It has a lack of portability of program between different computer architectures.</a:t>
            </a:r>
          </a:p>
          <a:p>
            <a:r>
              <a:rPr lang="en-US" dirty="0"/>
              <a:t>It needs more size or memory of the computer to run the long programs written in Assembly Language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39881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AL Pro’s &amp; Con’s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388311" y="1926319"/>
            <a:ext cx="5076825" cy="3663111"/>
          </a:xfrm>
          <a:prstGeom prst="rect">
            <a:avLst/>
          </a:prstGeom>
        </p:spPr>
      </p:pic>
      <p:sp>
        <p:nvSpPr>
          <p:cNvPr id="3" name="Rectangle 1"/>
          <p:cNvSpPr>
            <a:spLocks noGrp="1" noChangeArrowheads="1"/>
          </p:cNvSpPr>
          <p:nvPr>
            <p:ph sz="half" idx="2"/>
          </p:nvPr>
        </p:nvSpPr>
        <p:spPr bwMode="auto">
          <a:xfrm>
            <a:off x="5465137" y="3124129"/>
            <a:ext cx="6203122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 </a:t>
            </a: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development and implementation cost</a:t>
            </a: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Requires </a:t>
            </a: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large amounts of data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function effectively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Lacks </a:t>
            </a: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human creativity, emotions, and intuition</a:t>
            </a: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Limited ability to handle </a:t>
            </a: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unexpected or novel situations</a:t>
            </a: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Complex systems are </a:t>
            </a: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difficult to understand and debug</a:t>
            </a: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Requires </a:t>
            </a: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continuous maintenance and updates</a:t>
            </a: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89320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8730" y="476049"/>
            <a:ext cx="8018910" cy="5773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5167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0088" y="717729"/>
            <a:ext cx="8021191" cy="5338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50416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6473" y="548223"/>
            <a:ext cx="7502682" cy="5512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00566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821" y="205457"/>
            <a:ext cx="7585122" cy="5654429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8943" y="3988951"/>
            <a:ext cx="3528409" cy="2435191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06119" y="828221"/>
            <a:ext cx="3271234" cy="2919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76191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8039" y="567072"/>
            <a:ext cx="8065662" cy="5657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77810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16479" t="6739" r="22042" b="28628"/>
          <a:stretch/>
        </p:blipFill>
        <p:spPr>
          <a:xfrm>
            <a:off x="515995" y="953036"/>
            <a:ext cx="10801362" cy="5301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28711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087" y="1484243"/>
            <a:ext cx="5777948" cy="3233531"/>
          </a:xfrm>
          <a:prstGeom prst="rect">
            <a:avLst/>
          </a:prstGeom>
        </p:spPr>
      </p:pic>
      <p:pic>
        <p:nvPicPr>
          <p:cNvPr id="1028" name="Picture 4" descr="the computer understands only machine languages. A program is ...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028"/>
          <a:stretch/>
        </p:blipFill>
        <p:spPr bwMode="auto">
          <a:xfrm>
            <a:off x="6769062" y="894523"/>
            <a:ext cx="5237408" cy="59634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417022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7300" y="288925"/>
            <a:ext cx="10515600" cy="587375"/>
          </a:xfrm>
        </p:spPr>
        <p:txBody>
          <a:bodyPr>
            <a:normAutofit fontScale="90000"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Key Terms 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876300"/>
            <a:ext cx="11391900" cy="5727700"/>
          </a:xfrm>
        </p:spPr>
        <p:txBody>
          <a:bodyPr>
            <a:norm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dirty="0" smtClean="0"/>
              <a:t>Compiler  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dirty="0" smtClean="0"/>
              <a:t>Interpreter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dirty="0" smtClean="0"/>
              <a:t>Translator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dirty="0" smtClean="0"/>
              <a:t>Linker &amp; Loader 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Assembler  Assembly to object /byte</a:t>
            </a:r>
            <a:endParaRPr lang="en-US" dirty="0" smtClean="0"/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000" dirty="0" smtClean="0">
                <a:solidFill>
                  <a:srgbClr val="FF0000"/>
                </a:solidFill>
              </a:rPr>
              <a:t>Opcode, Operands, Statement, Mnemonics are keywords like MOV DL,5     ADD BX, DX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000" dirty="0"/>
              <a:t>opcode is the portion of a machine language instruction that specifies the operation to be performed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791200" y="2387600"/>
            <a:ext cx="6159500" cy="123396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5943600" y="2421235"/>
            <a:ext cx="5829300" cy="8540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050" b="1" dirty="0"/>
              <a:t>Linking and Loading</a:t>
            </a:r>
            <a:r>
              <a:rPr lang="en-US" sz="1050" dirty="0"/>
              <a:t> are the utility programs  execution of a program. </a:t>
            </a:r>
            <a:r>
              <a:rPr lang="en-US" sz="1050" b="1" dirty="0"/>
              <a:t>Linking</a:t>
            </a:r>
            <a:r>
              <a:rPr lang="en-US" sz="1050" dirty="0"/>
              <a:t> intakes </a:t>
            </a:r>
            <a:r>
              <a:rPr lang="en-US" sz="1050" dirty="0" smtClean="0"/>
              <a:t>the  </a:t>
            </a:r>
            <a:r>
              <a:rPr lang="en-US" sz="1050" dirty="0"/>
              <a:t>object codes generated by the </a:t>
            </a:r>
            <a:r>
              <a:rPr lang="en-US" sz="1050" b="1" dirty="0"/>
              <a:t>assembler</a:t>
            </a:r>
            <a:r>
              <a:rPr lang="en-US" sz="1050" dirty="0"/>
              <a:t> and combines them to generate the </a:t>
            </a:r>
            <a:r>
              <a:rPr lang="en-US" sz="1050" dirty="0" smtClean="0"/>
              <a:t>executable  </a:t>
            </a:r>
            <a:r>
              <a:rPr lang="en-US" sz="1050" dirty="0"/>
              <a:t>module. the </a:t>
            </a:r>
            <a:r>
              <a:rPr lang="en-US" sz="1050" b="1" dirty="0"/>
              <a:t>loading</a:t>
            </a:r>
            <a:r>
              <a:rPr lang="en-US" sz="1050" dirty="0"/>
              <a:t> loads this executable module to the main memory for execution</a:t>
            </a:r>
            <a:r>
              <a:rPr lang="en-US" sz="1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447626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635" y="503583"/>
            <a:ext cx="10919791" cy="566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18063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Memory &amp; Registers Core Role in AL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General </a:t>
            </a:r>
            <a:r>
              <a:rPr lang="en-US" sz="2400" dirty="0"/>
              <a:t>Purpose  </a:t>
            </a:r>
            <a:r>
              <a:rPr lang="en-US" sz="2400" dirty="0" smtClean="0"/>
              <a:t>Register </a:t>
            </a:r>
            <a:r>
              <a:rPr lang="en-US" sz="1800" dirty="0" smtClean="0"/>
              <a:t>[</a:t>
            </a:r>
            <a:r>
              <a:rPr lang="en-US" sz="1800" dirty="0"/>
              <a:t>Accumulator (</a:t>
            </a:r>
            <a:r>
              <a:rPr lang="en-US" sz="1800" dirty="0" smtClean="0"/>
              <a:t>I/O), Data  </a:t>
            </a:r>
            <a:r>
              <a:rPr lang="en-US" sz="1800" dirty="0"/>
              <a:t>(carry data</a:t>
            </a:r>
            <a:r>
              <a:rPr lang="en-US" sz="1800" dirty="0" smtClean="0"/>
              <a:t>), Base (address), Counter </a:t>
            </a:r>
            <a:r>
              <a:rPr lang="en-US" sz="1800" dirty="0"/>
              <a:t>] 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Segment   </a:t>
            </a:r>
            <a:r>
              <a:rPr lang="en-US" sz="2400" dirty="0" smtClean="0"/>
              <a:t>[ </a:t>
            </a:r>
            <a:r>
              <a:rPr lang="en-US" sz="2000" dirty="0" smtClean="0"/>
              <a:t>Code, Stack (LIFO ), data, Extra </a:t>
            </a:r>
            <a:r>
              <a:rPr lang="en-US" dirty="0" smtClean="0"/>
              <a:t>]</a:t>
            </a:r>
          </a:p>
          <a:p>
            <a:endParaRPr lang="en-US" dirty="0" smtClean="0"/>
          </a:p>
          <a:p>
            <a:r>
              <a:rPr lang="en-US" dirty="0" smtClean="0"/>
              <a:t>Index Register  [</a:t>
            </a:r>
            <a:r>
              <a:rPr lang="en-US" sz="2000" dirty="0" smtClean="0"/>
              <a:t>Source &amp; Destination </a:t>
            </a:r>
            <a:r>
              <a:rPr lang="en-US" dirty="0" smtClean="0"/>
              <a:t>]</a:t>
            </a:r>
          </a:p>
          <a:p>
            <a:endParaRPr lang="en-US" dirty="0" smtClean="0"/>
          </a:p>
          <a:p>
            <a:r>
              <a:rPr lang="en-US" dirty="0" smtClean="0"/>
              <a:t>Special Purpose [</a:t>
            </a:r>
            <a:r>
              <a:rPr lang="en-US" sz="2000" dirty="0" smtClean="0"/>
              <a:t>Instruction Pointer Stack Pointer Flag and Base pointer]</a:t>
            </a:r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85298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44602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4792" y="370284"/>
            <a:ext cx="10515600" cy="625475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Interrupts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723231"/>
            <a:ext cx="5939192" cy="1553369"/>
          </a:xfrm>
        </p:spPr>
        <p:txBody>
          <a:bodyPr>
            <a:normAutofit fontScale="85000" lnSpcReduction="20000"/>
          </a:bodyPr>
          <a:lstStyle/>
          <a:p>
            <a:endParaRPr lang="en-US" dirty="0" smtClean="0"/>
          </a:p>
          <a:p>
            <a:r>
              <a:rPr lang="en-US" dirty="0"/>
              <a:t>DOS </a:t>
            </a:r>
            <a:r>
              <a:rPr lang="en-US" b="1" dirty="0"/>
              <a:t>assembly</a:t>
            </a:r>
            <a:r>
              <a:rPr lang="en-US" dirty="0"/>
              <a:t>, most things get done with the DOS services </a:t>
            </a:r>
            <a:r>
              <a:rPr lang="en-US" b="1" dirty="0"/>
              <a:t>interrupt</a:t>
            </a:r>
            <a:r>
              <a:rPr lang="en-US" dirty="0"/>
              <a:t> int 21h, and the BIOS service </a:t>
            </a:r>
            <a:r>
              <a:rPr lang="en-US" b="1" dirty="0"/>
              <a:t>interrupts</a:t>
            </a:r>
            <a:r>
              <a:rPr lang="en-US" dirty="0"/>
              <a:t> like int 10h and int 16h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7599" y="1238250"/>
            <a:ext cx="5186017" cy="4473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129668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2450" y="138715"/>
            <a:ext cx="8448677" cy="408555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2678" y="4224270"/>
            <a:ext cx="5523587" cy="2408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51572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Segments of AL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lnSpc>
                <a:spcPct val="200000"/>
              </a:lnSpc>
              <a:buFont typeface="+mj-lt"/>
              <a:buAutoNum type="arabicPeriod"/>
            </a:pPr>
            <a:r>
              <a:rPr lang="en-US" dirty="0" smtClean="0"/>
              <a:t>.Memory</a:t>
            </a:r>
          </a:p>
          <a:p>
            <a:pPr marL="514350" indent="-514350">
              <a:lnSpc>
                <a:spcPct val="200000"/>
              </a:lnSpc>
              <a:buFont typeface="+mj-lt"/>
              <a:buAutoNum type="arabicPeriod"/>
            </a:pPr>
            <a:r>
              <a:rPr lang="en-US" dirty="0" smtClean="0"/>
              <a:t>.Code</a:t>
            </a:r>
          </a:p>
          <a:p>
            <a:pPr marL="514350" indent="-514350">
              <a:lnSpc>
                <a:spcPct val="200000"/>
              </a:lnSpc>
              <a:buFont typeface="+mj-lt"/>
              <a:buAutoNum type="arabicPeriod"/>
            </a:pPr>
            <a:r>
              <a:rPr lang="en-US" dirty="0" smtClean="0"/>
              <a:t>.Stack</a:t>
            </a:r>
          </a:p>
          <a:p>
            <a:pPr marL="514350" indent="-514350">
              <a:lnSpc>
                <a:spcPct val="200000"/>
              </a:lnSpc>
              <a:buFont typeface="+mj-lt"/>
              <a:buAutoNum type="arabicPeriod"/>
            </a:pPr>
            <a:r>
              <a:rPr lang="en-US" dirty="0" smtClean="0"/>
              <a:t>.data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265062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16146" t="10721" r="16146" b="6275"/>
          <a:stretch/>
        </p:blipFill>
        <p:spPr>
          <a:xfrm>
            <a:off x="1066800" y="115121"/>
            <a:ext cx="10210800" cy="6311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513298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l="13229" t="12574" r="11771" b="8128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896725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92175"/>
          </a:xfrm>
        </p:spPr>
        <p:txBody>
          <a:bodyPr/>
          <a:lstStyle/>
          <a:p>
            <a:r>
              <a:rPr lang="en-US" u="sng" dirty="0" smtClean="0">
                <a:solidFill>
                  <a:srgbClr val="FF0000"/>
                </a:solidFill>
              </a:rPr>
              <a:t>Basic Syntax of Assembly Language</a:t>
            </a:r>
            <a:endParaRPr lang="en-US" u="sng" dirty="0">
              <a:solidFill>
                <a:srgbClr val="FF0000"/>
              </a:solidFill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292100" y="1257300"/>
            <a:ext cx="4916004" cy="53213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5000" dirty="0" err="1" smtClean="0">
                <a:solidFill>
                  <a:srgbClr val="FF0000"/>
                </a:solidFill>
              </a:rPr>
              <a:t>Dosseg</a:t>
            </a:r>
            <a:r>
              <a:rPr lang="en-US" sz="5000" dirty="0" smtClean="0">
                <a:solidFill>
                  <a:srgbClr val="FF0000"/>
                </a:solidFill>
              </a:rPr>
              <a:t> </a:t>
            </a:r>
            <a:r>
              <a:rPr lang="en-US" sz="3200" dirty="0" smtClean="0">
                <a:solidFill>
                  <a:srgbClr val="FF0000"/>
                </a:solidFill>
              </a:rPr>
              <a:t>(DOS Segment)</a:t>
            </a:r>
          </a:p>
          <a:p>
            <a:pPr marL="0" indent="0">
              <a:buNone/>
            </a:pPr>
            <a:r>
              <a:rPr lang="en-US" sz="5000" dirty="0" smtClean="0"/>
              <a:t>.model small</a:t>
            </a:r>
          </a:p>
          <a:p>
            <a:pPr marL="0" indent="0">
              <a:buNone/>
            </a:pPr>
            <a:r>
              <a:rPr lang="en-US" sz="5000" dirty="0" smtClean="0"/>
              <a:t>.stack 100h </a:t>
            </a:r>
          </a:p>
          <a:p>
            <a:pPr marL="0" indent="0">
              <a:buNone/>
            </a:pPr>
            <a:r>
              <a:rPr lang="en-US" sz="5000" dirty="0" smtClean="0"/>
              <a:t>.data</a:t>
            </a:r>
          </a:p>
          <a:p>
            <a:pPr marL="0" indent="0">
              <a:buNone/>
            </a:pPr>
            <a:r>
              <a:rPr lang="en-US" sz="5000" dirty="0" smtClean="0"/>
              <a:t>.code</a:t>
            </a:r>
          </a:p>
          <a:p>
            <a:pPr marL="0" indent="0">
              <a:buNone/>
            </a:pPr>
            <a:r>
              <a:rPr lang="en-US" sz="5000" dirty="0" smtClean="0"/>
              <a:t>Main </a:t>
            </a:r>
            <a:r>
              <a:rPr lang="en-US" sz="5000" dirty="0" err="1"/>
              <a:t>p</a:t>
            </a:r>
            <a:r>
              <a:rPr lang="en-US" sz="5000" dirty="0" err="1" smtClean="0"/>
              <a:t>roc</a:t>
            </a:r>
            <a:endParaRPr lang="en-US" sz="5000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</p:txBody>
      </p:sp>
      <p:sp>
        <p:nvSpPr>
          <p:cNvPr id="4" name="Content Placeholder 7"/>
          <p:cNvSpPr txBox="1">
            <a:spLocks/>
          </p:cNvSpPr>
          <p:nvPr/>
        </p:nvSpPr>
        <p:spPr>
          <a:xfrm>
            <a:off x="7216361" y="1215887"/>
            <a:ext cx="4028109" cy="5321300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dirty="0" smtClean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3400" dirty="0" err="1" smtClean="0"/>
              <a:t>Mov</a:t>
            </a:r>
            <a:r>
              <a:rPr lang="en-US" sz="3400" dirty="0" smtClean="0"/>
              <a:t> dl, ‘A’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3400" dirty="0" smtClean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3400" dirty="0" err="1" smtClean="0"/>
              <a:t>Mov</a:t>
            </a:r>
            <a:r>
              <a:rPr lang="en-US" sz="3400" dirty="0" smtClean="0"/>
              <a:t> ah, 2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3400" dirty="0" smtClean="0"/>
              <a:t>INT 21h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3400" dirty="0" smtClean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3400" dirty="0" err="1" smtClean="0"/>
              <a:t>Mov</a:t>
            </a:r>
            <a:r>
              <a:rPr lang="en-US" sz="3400" dirty="0" smtClean="0"/>
              <a:t> ah, 4ch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3400" dirty="0" smtClean="0"/>
              <a:t>INT 21h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3400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US" sz="3400" dirty="0" smtClean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3400" dirty="0" err="1" smtClean="0"/>
              <a:t>Mov</a:t>
            </a:r>
            <a:r>
              <a:rPr lang="en-US" sz="3400" dirty="0" smtClean="0"/>
              <a:t> ah, 4ch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3400" dirty="0" smtClean="0"/>
              <a:t>Main </a:t>
            </a:r>
            <a:r>
              <a:rPr lang="en-US" sz="3400" dirty="0" err="1" smtClean="0"/>
              <a:t>endp</a:t>
            </a:r>
            <a:endParaRPr lang="en-US" sz="3400" dirty="0" smtClean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3400" dirty="0" smtClean="0"/>
              <a:t>End main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US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US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71736287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Link for </a:t>
            </a:r>
            <a:r>
              <a:rPr lang="en-US" dirty="0" err="1" smtClean="0"/>
              <a:t>Dosbox</a:t>
            </a:r>
            <a:r>
              <a:rPr lang="en-US" dirty="0" smtClean="0"/>
              <a:t> Programs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https://www.youtube.com/watch?v=P5JOlz7MeYg&amp;list=PLsu3nQRCX0RIjLN0eUNzQbDFyfz8E_DJi&amp;index=2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697487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5" name="Rectangle 4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Flow Control Instructions</a:t>
            </a:r>
            <a:endParaRPr lang="ar-SA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40796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/>
              <a:t>Transfer of Control</a:t>
            </a:r>
            <a:endParaRPr lang="ar-SA" altLang="en-US" sz="4000">
              <a:latin typeface="Arial" panose="020B0604020202020204" pitchFamily="34" charset="0"/>
            </a:endParaRPr>
          </a:p>
        </p:txBody>
      </p:sp>
      <p:sp>
        <p:nvSpPr>
          <p:cNvPr id="615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Flow control instructions are used to control the flow of a program. </a:t>
            </a:r>
          </a:p>
          <a:p>
            <a:pPr eaLnBrk="1" hangingPunct="1"/>
            <a:r>
              <a:rPr lang="en-US" altLang="en-US" smtClean="0"/>
              <a:t>Flow control instructions can be of two types: unconditional and conditional. </a:t>
            </a:r>
          </a:p>
          <a:p>
            <a:pPr eaLnBrk="1" hangingPunct="1"/>
            <a:r>
              <a:rPr lang="en-US" altLang="en-US" smtClean="0"/>
              <a:t>The JMP instruction is the only </a:t>
            </a:r>
            <a:r>
              <a:rPr lang="en-US" altLang="en-US" u="sng" smtClean="0"/>
              <a:t>unconditional </a:t>
            </a:r>
            <a:r>
              <a:rPr lang="en-US" altLang="en-US" smtClean="0"/>
              <a:t>flow control instruction. </a:t>
            </a:r>
            <a:endParaRPr lang="ar-SA" altLang="en-US" smtClean="0"/>
          </a:p>
        </p:txBody>
      </p:sp>
    </p:spTree>
    <p:extLst>
      <p:ext uri="{BB962C8B-B14F-4D97-AF65-F5344CB8AC3E}">
        <p14:creationId xmlns:p14="http://schemas.microsoft.com/office/powerpoint/2010/main" val="31079879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723178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/>
          <a:srcRect t="6551"/>
          <a:stretch/>
        </p:blipFill>
        <p:spPr>
          <a:xfrm>
            <a:off x="0" y="1"/>
            <a:ext cx="12192000" cy="6856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07689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l="-693" t="5420" r="-1035" b="2112"/>
          <a:stretch/>
        </p:blipFill>
        <p:spPr>
          <a:xfrm>
            <a:off x="-101391" y="0"/>
            <a:ext cx="13237841" cy="6765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20933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/>
          <a:srcRect t="13483" r="38120" b="20268"/>
          <a:stretch/>
        </p:blipFill>
        <p:spPr>
          <a:xfrm>
            <a:off x="1184093" y="378823"/>
            <a:ext cx="10350409" cy="6008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80752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t="14197" r="28280" b="19732"/>
          <a:stretch/>
        </p:blipFill>
        <p:spPr>
          <a:xfrm>
            <a:off x="896709" y="365759"/>
            <a:ext cx="10820673" cy="6113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4658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4"/>
          <p:cNvSpPr>
            <a:spLocks noGrp="1" noChangeArrowheads="1"/>
          </p:cNvSpPr>
          <p:nvPr>
            <p:ph type="title"/>
          </p:nvPr>
        </p:nvSpPr>
        <p:spPr>
          <a:xfrm>
            <a:off x="1752600" y="0"/>
            <a:ext cx="8686800" cy="1143000"/>
          </a:xfrm>
        </p:spPr>
        <p:txBody>
          <a:bodyPr/>
          <a:lstStyle/>
          <a:p>
            <a:pPr marL="838200" indent="-838200"/>
            <a:r>
              <a:rPr lang="en-US" altLang="en-US" sz="4000" dirty="0" smtClean="0"/>
              <a:t>Conditional </a:t>
            </a:r>
            <a:r>
              <a:rPr lang="en-US" altLang="en-US" sz="4000" dirty="0"/>
              <a:t>JUMP Instructions</a:t>
            </a:r>
          </a:p>
        </p:txBody>
      </p:sp>
      <p:sp>
        <p:nvSpPr>
          <p:cNvPr id="7171" name="Text Box 5"/>
          <p:cNvSpPr txBox="1">
            <a:spLocks noChangeArrowheads="1"/>
          </p:cNvSpPr>
          <p:nvPr/>
        </p:nvSpPr>
        <p:spPr bwMode="auto">
          <a:xfrm>
            <a:off x="2057400" y="990600"/>
            <a:ext cx="8153400" cy="48013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dirty="0"/>
              <a:t>Format for conditional jump (</a:t>
            </a:r>
            <a:r>
              <a:rPr lang="en-US" altLang="en-US" dirty="0" err="1"/>
              <a:t>Jnnn</a:t>
            </a:r>
            <a:r>
              <a:rPr lang="en-US" altLang="en-US" dirty="0"/>
              <a:t>) is:</a:t>
            </a:r>
          </a:p>
          <a:p>
            <a:pPr eaLnBrk="1" hangingPunct="1"/>
            <a:endParaRPr lang="en-US" altLang="en-US" dirty="0"/>
          </a:p>
          <a:p>
            <a:pPr eaLnBrk="1" hangingPunct="1"/>
            <a:endParaRPr lang="en-US" altLang="en-US" dirty="0"/>
          </a:p>
          <a:p>
            <a:pPr eaLnBrk="1" hangingPunct="1"/>
            <a:r>
              <a:rPr lang="en-US" altLang="en-US" dirty="0"/>
              <a:t>There are varieties of conditional jump instructions that transfer control depending on settings in the flags register: ZF, CF, OF, AF and SF.</a:t>
            </a:r>
          </a:p>
          <a:p>
            <a:pPr eaLnBrk="1" hangingPunct="1"/>
            <a:endParaRPr lang="en-US" altLang="en-US" u="sng" dirty="0"/>
          </a:p>
          <a:p>
            <a:pPr eaLnBrk="1" hangingPunct="1"/>
            <a:r>
              <a:rPr lang="en-US" altLang="en-US" u="sng" dirty="0" smtClean="0"/>
              <a:t>Table</a:t>
            </a:r>
            <a:r>
              <a:rPr lang="en-US" altLang="en-US" dirty="0" smtClean="0"/>
              <a:t> </a:t>
            </a:r>
            <a:r>
              <a:rPr lang="en-US" altLang="en-US" dirty="0"/>
              <a:t>below shows some example of conditional jump that are used for unsigned data.</a:t>
            </a:r>
          </a:p>
          <a:p>
            <a:pPr eaLnBrk="1" hangingPunct="1"/>
            <a:endParaRPr lang="en-US" altLang="en-US" dirty="0"/>
          </a:p>
          <a:p>
            <a:pPr eaLnBrk="1" hangingPunct="1"/>
            <a:endParaRPr lang="en-US" altLang="en-US" dirty="0"/>
          </a:p>
          <a:p>
            <a:pPr eaLnBrk="1" hangingPunct="1"/>
            <a:endParaRPr lang="en-US" altLang="en-US" dirty="0"/>
          </a:p>
          <a:p>
            <a:pPr eaLnBrk="1" hangingPunct="1"/>
            <a:endParaRPr lang="en-US" altLang="en-US" dirty="0"/>
          </a:p>
          <a:p>
            <a:pPr eaLnBrk="1" hangingPunct="1"/>
            <a:endParaRPr lang="en-US" altLang="en-US" dirty="0"/>
          </a:p>
          <a:p>
            <a:pPr eaLnBrk="1" hangingPunct="1"/>
            <a:endParaRPr lang="en-US" altLang="en-US" dirty="0"/>
          </a:p>
          <a:p>
            <a:pPr eaLnBrk="1" hangingPunct="1"/>
            <a:endParaRPr lang="en-US" altLang="en-US" dirty="0"/>
          </a:p>
          <a:p>
            <a:pPr eaLnBrk="1" hangingPunct="1"/>
            <a:endParaRPr lang="en-US" altLang="en-US" dirty="0"/>
          </a:p>
          <a:p>
            <a:pPr eaLnBrk="1" hangingPunct="1"/>
            <a:endParaRPr lang="en-US" altLang="en-US" dirty="0"/>
          </a:p>
        </p:txBody>
      </p:sp>
      <p:pic>
        <p:nvPicPr>
          <p:cNvPr id="7172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750" t="36458" r="18750" b="58334"/>
          <a:stretch>
            <a:fillRect/>
          </a:stretch>
        </p:blipFill>
        <p:spPr bwMode="auto">
          <a:xfrm>
            <a:off x="3048000" y="1371600"/>
            <a:ext cx="6096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3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13" t="33333" r="10156" b="38542"/>
          <a:stretch>
            <a:fillRect/>
          </a:stretch>
        </p:blipFill>
        <p:spPr bwMode="auto">
          <a:xfrm>
            <a:off x="2057400" y="3352800"/>
            <a:ext cx="8001000" cy="205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63638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732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85592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/>
          <a:srcRect t="13839" r="54384" b="12411"/>
          <a:stretch/>
        </p:blipFill>
        <p:spPr>
          <a:xfrm>
            <a:off x="1040402" y="0"/>
            <a:ext cx="6666684" cy="6635931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/>
          <a:srcRect l="1" t="58839" r="74363" b="17232"/>
          <a:stretch/>
        </p:blipFill>
        <p:spPr>
          <a:xfrm>
            <a:off x="7519579" y="4075611"/>
            <a:ext cx="4236991" cy="2560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80727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l="1" t="13661" r="56693" b="13125"/>
          <a:stretch/>
        </p:blipFill>
        <p:spPr>
          <a:xfrm>
            <a:off x="2046241" y="91440"/>
            <a:ext cx="7045507" cy="6531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31441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Date Placeholder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AC2F4CB9-99F8-4932-BCCD-9F3A5D56961E}" type="datetime1">
              <a:rPr lang="en-US" altLang="en-US" smtClean="0"/>
              <a:pPr eaLnBrk="1" hangingPunct="1"/>
              <a:t>4/21/2026</a:t>
            </a:fld>
            <a:endParaRPr lang="en-US" altLang="en-US" smtClean="0"/>
          </a:p>
        </p:txBody>
      </p:sp>
      <p:sp>
        <p:nvSpPr>
          <p:cNvPr id="8195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mtClean="0"/>
              <a:t>CAP 221</a:t>
            </a:r>
          </a:p>
        </p:txBody>
      </p:sp>
      <p:sp>
        <p:nvSpPr>
          <p:cNvPr id="819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43F4B282-55AC-4F1B-8E14-8B441975C7AF}" type="slidenum">
              <a:rPr lang="ar-SA" altLang="en-US"/>
              <a:pPr eaLnBrk="1" hangingPunct="1"/>
              <a:t>38</a:t>
            </a:fld>
            <a:endParaRPr lang="en-US" altLang="en-US"/>
          </a:p>
        </p:txBody>
      </p:sp>
      <p:sp>
        <p:nvSpPr>
          <p:cNvPr id="819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/>
              <a:t>Example</a:t>
            </a:r>
            <a:br>
              <a:rPr lang="en-US" altLang="en-US" sz="3200"/>
            </a:br>
            <a:r>
              <a:rPr lang="en-US" altLang="en-US" sz="3200"/>
              <a:t>Display the entire IBM character set</a:t>
            </a:r>
            <a:endParaRPr lang="ar-SA" altLang="en-US" sz="3200">
              <a:latin typeface="Arial" panose="020B0604020202020204" pitchFamily="34" charset="0"/>
            </a:endParaRPr>
          </a:p>
        </p:txBody>
      </p:sp>
      <p:sp>
        <p:nvSpPr>
          <p:cNvPr id="819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600"/>
              <a:t>TITLE PGM6_1.ASM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600"/>
              <a:t>.MODEL SMALL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600"/>
              <a:t>.STACK 100H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600"/>
              <a:t>.CODE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600"/>
              <a:t>MAIN	PROC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600"/>
              <a:t>	MOV  AH,2		; display char function.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600"/>
              <a:t>	MOV CX,256		; no. of chars to display.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600"/>
              <a:t>	MOV DL,0		;DL has the ASCII code of NULL char.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600"/>
              <a:t>PRINT_LOOP: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600"/>
              <a:t>	INT 21h		;DISPLAY A CHAR.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600"/>
              <a:t>	INC DL		; INCREMENT ASCII CODE.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600"/>
              <a:t>	DEC CX		; DECREMENT COUNTER.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600"/>
              <a:t>	</a:t>
            </a:r>
            <a:r>
              <a:rPr lang="en-US" altLang="en-US" sz="1600">
                <a:solidFill>
                  <a:srgbClr val="006600"/>
                </a:solidFill>
              </a:rPr>
              <a:t>JNZ	PRINT_LOOP</a:t>
            </a:r>
            <a:r>
              <a:rPr lang="en-US" altLang="en-US" sz="1600"/>
              <a:t>	; KEEP GOING IF CX#0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600"/>
              <a:t>; DOS  exit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600"/>
              <a:t>	MOV AH,4CH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600"/>
              <a:t>	INT 21h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600"/>
              <a:t>MAIN	ENDP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600"/>
              <a:t>	END	MAIN</a:t>
            </a:r>
            <a:endParaRPr lang="ar-SA" altLang="en-US" sz="1600"/>
          </a:p>
        </p:txBody>
      </p:sp>
    </p:spTree>
    <p:extLst>
      <p:ext uri="{BB962C8B-B14F-4D97-AF65-F5344CB8AC3E}">
        <p14:creationId xmlns:p14="http://schemas.microsoft.com/office/powerpoint/2010/main" val="28365985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Date Placeholder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BC43D98D-092B-4573-A58B-0EBC939662B8}" type="datetime1">
              <a:rPr lang="en-US" altLang="en-US" smtClean="0"/>
              <a:pPr eaLnBrk="1" hangingPunct="1"/>
              <a:t>4/21/2026</a:t>
            </a:fld>
            <a:endParaRPr lang="en-US" altLang="en-US" smtClean="0"/>
          </a:p>
        </p:txBody>
      </p:sp>
      <p:sp>
        <p:nvSpPr>
          <p:cNvPr id="12291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mtClean="0"/>
              <a:t>CAP 221</a:t>
            </a:r>
          </a:p>
        </p:txBody>
      </p:sp>
      <p:sp>
        <p:nvSpPr>
          <p:cNvPr id="1229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B7530BE0-53F6-4FFC-A0C5-37C6D95D2F95}" type="slidenum">
              <a:rPr lang="ar-SA" altLang="en-US"/>
              <a:pPr eaLnBrk="1" hangingPunct="1"/>
              <a:t>39</a:t>
            </a:fld>
            <a:endParaRPr lang="en-US" altLang="en-US"/>
          </a:p>
        </p:txBody>
      </p:sp>
      <p:sp>
        <p:nvSpPr>
          <p:cNvPr id="1229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Conditional jump instructions </a:t>
            </a:r>
            <a:endParaRPr lang="ar-SA" altLang="en-US" smtClean="0">
              <a:latin typeface="Arial" panose="020B0604020202020204" pitchFamily="34" charset="0"/>
            </a:endParaRPr>
          </a:p>
        </p:txBody>
      </p:sp>
      <p:sp>
        <p:nvSpPr>
          <p:cNvPr id="1229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If the flag settings match the instruction, control transfers to the target location </a:t>
            </a:r>
          </a:p>
          <a:p>
            <a:pPr eaLnBrk="1" hangingPunct="1"/>
            <a:r>
              <a:rPr lang="en-US" altLang="en-US" smtClean="0"/>
              <a:t>If the match fails, the CPU ignores the conditional jump and execution continues with the next instruction. </a:t>
            </a:r>
          </a:p>
        </p:txBody>
      </p:sp>
    </p:spTree>
    <p:extLst>
      <p:ext uri="{BB962C8B-B14F-4D97-AF65-F5344CB8AC3E}">
        <p14:creationId xmlns:p14="http://schemas.microsoft.com/office/powerpoint/2010/main" val="39499879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Date Placeholder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42E575DC-463A-48EE-BF6D-7580CA09E20B}" type="datetime1">
              <a:rPr lang="en-US" altLang="en-US" smtClean="0"/>
              <a:pPr eaLnBrk="1" hangingPunct="1"/>
              <a:t>4/21/2026</a:t>
            </a:fld>
            <a:endParaRPr lang="en-US" altLang="en-US" smtClean="0"/>
          </a:p>
        </p:txBody>
      </p:sp>
      <p:sp>
        <p:nvSpPr>
          <p:cNvPr id="14339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mtClean="0"/>
              <a:t>CAP 221</a:t>
            </a:r>
          </a:p>
        </p:txBody>
      </p:sp>
      <p:sp>
        <p:nvSpPr>
          <p:cNvPr id="1434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F207393E-7CB3-4360-85D0-BF76E19D3EB7}" type="slidenum">
              <a:rPr lang="ar-SA" altLang="en-US"/>
              <a:pPr eaLnBrk="1" hangingPunct="1"/>
              <a:t>40</a:t>
            </a:fld>
            <a:endParaRPr lang="en-US" altLang="en-US"/>
          </a:p>
        </p:txBody>
      </p:sp>
      <p:sp>
        <p:nvSpPr>
          <p:cNvPr id="14341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0" smtClean="0"/>
              <a:t>Conditional jump</a:t>
            </a:r>
          </a:p>
        </p:txBody>
      </p:sp>
      <p:sp>
        <p:nvSpPr>
          <p:cNvPr id="14342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In assembly language, when two numbers are compared, it is imperative to know that:</a:t>
            </a:r>
          </a:p>
          <a:p>
            <a:pPr eaLnBrk="1" hangingPunct="1"/>
            <a:r>
              <a:rPr lang="en-US" altLang="en-US" smtClean="0"/>
              <a:t>A signed number can be </a:t>
            </a:r>
            <a:r>
              <a:rPr lang="en-US" altLang="en-US" b="1" smtClean="0"/>
              <a:t>G</a:t>
            </a:r>
            <a:r>
              <a:rPr lang="en-US" altLang="en-US" smtClean="0"/>
              <a:t>reater, </a:t>
            </a:r>
            <a:r>
              <a:rPr lang="en-US" altLang="en-US" b="1" smtClean="0"/>
              <a:t>L</a:t>
            </a:r>
            <a:r>
              <a:rPr lang="en-US" altLang="en-US" smtClean="0"/>
              <a:t>ess, or </a:t>
            </a:r>
            <a:r>
              <a:rPr lang="en-US" altLang="en-US" b="1" smtClean="0"/>
              <a:t>E</a:t>
            </a:r>
            <a:r>
              <a:rPr lang="en-US" altLang="en-US" smtClean="0"/>
              <a:t>qual to another signed number. </a:t>
            </a:r>
          </a:p>
          <a:p>
            <a:pPr eaLnBrk="1" hangingPunct="1"/>
            <a:r>
              <a:rPr lang="en-US" altLang="en-US" smtClean="0"/>
              <a:t>An unsigned number can be </a:t>
            </a:r>
            <a:r>
              <a:rPr lang="en-US" altLang="en-US" b="1" smtClean="0"/>
              <a:t>A</a:t>
            </a:r>
            <a:r>
              <a:rPr lang="en-US" altLang="en-US" smtClean="0"/>
              <a:t>bove, </a:t>
            </a:r>
            <a:r>
              <a:rPr lang="en-US" altLang="en-US" b="1" smtClean="0"/>
              <a:t>B</a:t>
            </a:r>
            <a:r>
              <a:rPr lang="en-US" altLang="en-US" smtClean="0"/>
              <a:t>elow, or </a:t>
            </a:r>
            <a:r>
              <a:rPr lang="en-US" altLang="en-US" b="1" smtClean="0"/>
              <a:t>E</a:t>
            </a:r>
            <a:r>
              <a:rPr lang="en-US" altLang="en-US" smtClean="0"/>
              <a:t>qual to another unsigned number. </a:t>
            </a:r>
            <a:endParaRPr lang="ar-SA" altLang="en-US" smtClean="0"/>
          </a:p>
        </p:txBody>
      </p:sp>
    </p:spTree>
    <p:extLst>
      <p:ext uri="{BB962C8B-B14F-4D97-AF65-F5344CB8AC3E}">
        <p14:creationId xmlns:p14="http://schemas.microsoft.com/office/powerpoint/2010/main" val="38199446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Date Placeholder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B331893E-5995-4414-AADA-D3CE32896612}" type="datetime1">
              <a:rPr lang="en-US" altLang="en-US" smtClean="0"/>
              <a:pPr eaLnBrk="1" hangingPunct="1"/>
              <a:t>4/21/2026</a:t>
            </a:fld>
            <a:endParaRPr lang="en-US" altLang="en-US" smtClean="0"/>
          </a:p>
        </p:txBody>
      </p:sp>
      <p:sp>
        <p:nvSpPr>
          <p:cNvPr id="1028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mtClean="0"/>
              <a:t>CAP 221</a:t>
            </a:r>
          </a:p>
        </p:txBody>
      </p:sp>
      <p:sp>
        <p:nvSpPr>
          <p:cNvPr id="102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FAFE7912-4E21-4221-AF3D-059BA58A6272}" type="slidenum">
              <a:rPr lang="ar-SA" altLang="en-US"/>
              <a:pPr eaLnBrk="1" hangingPunct="1"/>
              <a:t>41</a:t>
            </a:fld>
            <a:endParaRPr lang="en-US" altLang="en-US"/>
          </a:p>
        </p:txBody>
      </p:sp>
      <p:sp>
        <p:nvSpPr>
          <p:cNvPr id="10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Conditional jump instructions</a:t>
            </a:r>
          </a:p>
        </p:txBody>
      </p:sp>
      <p:graphicFrame>
        <p:nvGraphicFramePr>
          <p:cNvPr id="1026" name="Object 2"/>
          <p:cNvGraphicFramePr>
            <a:graphicFrameLocks noGrp="1" noChangeAspect="1"/>
          </p:cNvGraphicFramePr>
          <p:nvPr>
            <p:ph type="body" idx="1"/>
          </p:nvPr>
        </p:nvGraphicFramePr>
        <p:xfrm>
          <a:off x="2241550" y="1600201"/>
          <a:ext cx="7708900" cy="4525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5" name="CorelPhotoPaint.Image.8" r:id="rId3" imgW="4540005" imgH="2665481" progId="CorelPhotoPaint.Image.8">
                  <p:embed/>
                </p:oleObj>
              </mc:Choice>
              <mc:Fallback>
                <p:oleObj name="CorelPhotoPaint.Image.8" r:id="rId3" imgW="4540005" imgH="2665481" progId="CorelPhotoPaint.Image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41550" y="1600201"/>
                        <a:ext cx="7708900" cy="45259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1188445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Date Placeholder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B3DE1E78-A53B-429C-B729-9DC433FBE61B}" type="datetime1">
              <a:rPr lang="en-US" altLang="en-US" smtClean="0"/>
              <a:pPr eaLnBrk="1" hangingPunct="1"/>
              <a:t>4/21/2026</a:t>
            </a:fld>
            <a:endParaRPr lang="en-US" altLang="en-US" smtClean="0"/>
          </a:p>
        </p:txBody>
      </p:sp>
      <p:sp>
        <p:nvSpPr>
          <p:cNvPr id="2052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mtClean="0"/>
              <a:t>CAP 221</a:t>
            </a:r>
          </a:p>
        </p:txBody>
      </p:sp>
      <p:sp>
        <p:nvSpPr>
          <p:cNvPr id="205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3D09B7B2-099D-4CAB-A464-4E0B219C8540}" type="slidenum">
              <a:rPr lang="ar-SA" altLang="en-US"/>
              <a:pPr eaLnBrk="1" hangingPunct="1"/>
              <a:t>42</a:t>
            </a:fld>
            <a:endParaRPr lang="en-US" altLang="en-US"/>
          </a:p>
        </p:txBody>
      </p:sp>
      <p:sp>
        <p:nvSpPr>
          <p:cNvPr id="20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Conditional jump instructions</a:t>
            </a:r>
          </a:p>
        </p:txBody>
      </p:sp>
      <p:graphicFrame>
        <p:nvGraphicFramePr>
          <p:cNvPr id="2050" name="Object 2"/>
          <p:cNvGraphicFramePr>
            <a:graphicFrameLocks noGrp="1" noChangeAspect="1"/>
          </p:cNvGraphicFramePr>
          <p:nvPr>
            <p:ph type="body" idx="1"/>
          </p:nvPr>
        </p:nvGraphicFramePr>
        <p:xfrm>
          <a:off x="1981200" y="2071689"/>
          <a:ext cx="8229600" cy="3582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29" name="CorelPhotoPaint.Image.8" r:id="rId3" imgW="4631445" imgH="2016000" progId="CorelPhotoPaint.Image.8">
                  <p:embed/>
                </p:oleObj>
              </mc:Choice>
              <mc:Fallback>
                <p:oleObj name="CorelPhotoPaint.Image.8" r:id="rId3" imgW="4631445" imgH="2016000" progId="CorelPhotoPaint.Image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2071689"/>
                        <a:ext cx="8229600" cy="35829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870165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Date Placeholder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E0079217-AAC8-43C5-9D4C-FE3F0DC267A6}" type="datetime1">
              <a:rPr lang="en-US" altLang="en-US" smtClean="0"/>
              <a:pPr eaLnBrk="1" hangingPunct="1"/>
              <a:t>4/21/2026</a:t>
            </a:fld>
            <a:endParaRPr lang="en-US" altLang="en-US" smtClean="0"/>
          </a:p>
        </p:txBody>
      </p:sp>
      <p:sp>
        <p:nvSpPr>
          <p:cNvPr id="3076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mtClean="0"/>
              <a:t>CAP 221</a:t>
            </a:r>
          </a:p>
        </p:txBody>
      </p:sp>
      <p:sp>
        <p:nvSpPr>
          <p:cNvPr id="307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1584A532-4CCA-4A0F-BC44-D6AD5263C7ED}" type="slidenum">
              <a:rPr lang="ar-SA" altLang="en-US"/>
              <a:pPr eaLnBrk="1" hangingPunct="1"/>
              <a:t>43</a:t>
            </a:fld>
            <a:endParaRPr lang="en-US" altLang="en-US"/>
          </a:p>
        </p:txBody>
      </p:sp>
      <p:sp>
        <p:nvSpPr>
          <p:cNvPr id="30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Conditional jump instructions</a:t>
            </a:r>
          </a:p>
        </p:txBody>
      </p:sp>
      <p:graphicFrame>
        <p:nvGraphicFramePr>
          <p:cNvPr id="3074" name="Object 2"/>
          <p:cNvGraphicFramePr>
            <a:graphicFrameLocks noGrp="1" noChangeAspect="1"/>
          </p:cNvGraphicFramePr>
          <p:nvPr>
            <p:ph type="body" idx="1"/>
          </p:nvPr>
        </p:nvGraphicFramePr>
        <p:xfrm>
          <a:off x="2601914" y="1600201"/>
          <a:ext cx="6988175" cy="4525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3" name="CorelPhotoPaint.Image.8" r:id="rId3" imgW="4622301" imgH="2994666" progId="CorelPhotoPaint.Image.8">
                  <p:embed/>
                </p:oleObj>
              </mc:Choice>
              <mc:Fallback>
                <p:oleObj name="CorelPhotoPaint.Image.8" r:id="rId3" imgW="4622301" imgH="2994666" progId="CorelPhotoPaint.Image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01914" y="1600201"/>
                        <a:ext cx="6988175" cy="45259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311724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8829" y="129993"/>
            <a:ext cx="10515600" cy="1032601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AND, </a:t>
            </a:r>
            <a:r>
              <a:rPr lang="en-US" sz="4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OR, NOT instructions</a:t>
            </a:r>
            <a:endParaRPr lang="en-US" sz="4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7692" t="51709" r="59058" b="36283"/>
          <a:stretch/>
        </p:blipFill>
        <p:spPr>
          <a:xfrm>
            <a:off x="198120" y="1907176"/>
            <a:ext cx="3420292" cy="112340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/>
          <a:srcRect l="10377" t="40090" r="67837" b="33124"/>
          <a:stretch/>
        </p:blipFill>
        <p:spPr>
          <a:xfrm>
            <a:off x="198120" y="3408384"/>
            <a:ext cx="3106784" cy="262563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88229" y="4362993"/>
            <a:ext cx="4467497" cy="225987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5"/>
          <a:srcRect l="3382" t="10929" r="9068"/>
          <a:stretch/>
        </p:blipFill>
        <p:spPr>
          <a:xfrm>
            <a:off x="3879669" y="1658983"/>
            <a:ext cx="4023360" cy="251636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51817" y="1532571"/>
            <a:ext cx="3152503" cy="2642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917099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r="14652"/>
          <a:stretch/>
        </p:blipFill>
        <p:spPr>
          <a:xfrm>
            <a:off x="318135" y="1464672"/>
            <a:ext cx="3195774" cy="359065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3868" y="1494470"/>
            <a:ext cx="3812041" cy="359065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0046" y="1524271"/>
            <a:ext cx="3566160" cy="3531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537684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XOR </a:t>
            </a:r>
            <a:endParaRPr lang="en-US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3741737"/>
            <a:ext cx="4333875" cy="221932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825625"/>
            <a:ext cx="6591300" cy="178117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9525" y="1366837"/>
            <a:ext cx="4246244" cy="2239963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36314" y="3772262"/>
            <a:ext cx="3791903" cy="2719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625139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Shift and Rotate Instructions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1" y="1690688"/>
            <a:ext cx="6228806" cy="263842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/>
          <a:srcRect l="10778" t="39017" r="78781" b="50626"/>
          <a:stretch/>
        </p:blipFill>
        <p:spPr>
          <a:xfrm>
            <a:off x="7981405" y="4461506"/>
            <a:ext cx="3030583" cy="169013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961" y="1588498"/>
            <a:ext cx="4127862" cy="249470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5"/>
          <a:srcRect t="37112"/>
          <a:stretch/>
        </p:blipFill>
        <p:spPr>
          <a:xfrm>
            <a:off x="807720" y="5003075"/>
            <a:ext cx="6259287" cy="1456464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99463" y="4835525"/>
            <a:ext cx="2312126" cy="1734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107606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Rotate, TEST instruction</a:t>
            </a:r>
            <a:endParaRPr lang="en-US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38200" y="1746184"/>
            <a:ext cx="10030097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Definition: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Rotate instructions </a:t>
            </a:r>
            <a:r>
              <a:rPr kumimoji="0" lang="en-US" alt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move bits around in a circular way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bits that fall off from one end are </a:t>
            </a:r>
            <a:r>
              <a:rPr kumimoji="0" lang="en-US" alt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wrapped around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the opposite end.</a:t>
            </a:r>
            <a:endParaRPr kumimoji="0" lang="en-US" altLang="en-US" sz="22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➤ Types: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ROL – Rotate Left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ROR – Rotate Right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RCL – Rotate through Carry Left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RCR – Rotate through Carry Right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2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✅ Example – ROL AL, 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If AL = 1001 0110 → After rotate left → 0010 1101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Key Point: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No bits are lost. </a:t>
            </a:r>
            <a:r>
              <a:rPr kumimoji="0" lang="en-US" alt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Bits are recycled.</a:t>
            </a:r>
            <a:endParaRPr kumimoji="0" lang="en-US" altLang="en-US" sz="2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352659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Con..</a:t>
            </a:r>
            <a:endParaRPr lang="en-US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00100" y="1521411"/>
            <a:ext cx="10591800" cy="48320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Shift Instructions (SHL, SHR, SAL, SAR)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🔹 </a:t>
            </a:r>
            <a:r>
              <a:rPr kumimoji="0" lang="en-US" alt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Definition: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Shift instructions </a:t>
            </a:r>
            <a:r>
              <a:rPr kumimoji="0" lang="en-US" alt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move bits left or right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but the </a:t>
            </a:r>
            <a:r>
              <a:rPr kumimoji="0" lang="en-US" alt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bits that fall off are lost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kumimoji="0" lang="en-US" alt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zero or the sign bit is shifted in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2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➤ Types: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SHL or SAL – Shift Left (inserts 0 at right)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SHR – Shift Right (inserts 0 at left)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SAR – Arithmetic Shift Right (preserves sign bit for signed numbers)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2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✅ Example – SHL AL, 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If AL = 1001 0110 → After shift left → 0010 1100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Key Point: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Bits are lost, and zeros (or sign) are shifted in.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Used for multiplication or division by powers of 2.</a:t>
            </a:r>
            <a:endParaRPr kumimoji="0" lang="en-US" altLang="en-US" sz="2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240106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268" y="1223554"/>
            <a:ext cx="10567851" cy="4563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021389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-1" t="4553" r="-734"/>
          <a:stretch/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69210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0912" y="804590"/>
            <a:ext cx="6850653" cy="2408873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3442" y="3764553"/>
            <a:ext cx="6610350" cy="2228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052154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l="1" t="5269" r="12016" b="20982"/>
          <a:stretch/>
        </p:blipFill>
        <p:spPr>
          <a:xfrm>
            <a:off x="112939" y="888274"/>
            <a:ext cx="11774261" cy="5538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237216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r="69544" b="24910"/>
          <a:stretch/>
        </p:blipFill>
        <p:spPr>
          <a:xfrm>
            <a:off x="1771922" y="555171"/>
            <a:ext cx="6927941" cy="5492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633330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/>
          <a:srcRect l="7967" t="30447" r="41433" b="22232"/>
          <a:stretch/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638724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4206241" cy="68580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6206" y="0"/>
            <a:ext cx="3824833" cy="68580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04365" y="0"/>
            <a:ext cx="338763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118027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l="8167" t="29196" r="40630" b="2223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88980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/>
          <a:srcRect l="2746" t="4732" r="2680"/>
          <a:stretch/>
        </p:blipFill>
        <p:spPr>
          <a:xfrm>
            <a:off x="0" y="0"/>
            <a:ext cx="12305211" cy="6858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6362163" y="283335"/>
            <a:ext cx="1815922" cy="643943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83769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/>
          <a:srcRect t="15447" r="80487" b="16161"/>
          <a:stretch/>
        </p:blipFill>
        <p:spPr>
          <a:xfrm>
            <a:off x="-1" y="0"/>
            <a:ext cx="5852161" cy="68580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/>
          <a:srcRect l="28649" t="18125" r="37115" b="15803"/>
          <a:stretch/>
        </p:blipFill>
        <p:spPr>
          <a:xfrm>
            <a:off x="5852160" y="0"/>
            <a:ext cx="633984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01105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l="4453" t="24910" r="73058" b="16697"/>
          <a:stretch/>
        </p:blipFill>
        <p:spPr>
          <a:xfrm>
            <a:off x="0" y="0"/>
            <a:ext cx="5068389" cy="68580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/>
          <a:srcRect t="26875" r="72856" b="10268"/>
          <a:stretch/>
        </p:blipFill>
        <p:spPr>
          <a:xfrm>
            <a:off x="5930537" y="0"/>
            <a:ext cx="626146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40486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l="-1" t="12768" r="31695" b="15982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478542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l="21924" t="12767" r="50768" b="27054"/>
          <a:stretch/>
        </p:blipFill>
        <p:spPr>
          <a:xfrm>
            <a:off x="0" y="0"/>
            <a:ext cx="6152606" cy="68580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/>
          <a:srcRect l="21620" t="29554" r="51975" b="14733"/>
          <a:stretch/>
        </p:blipFill>
        <p:spPr>
          <a:xfrm>
            <a:off x="6152606" y="0"/>
            <a:ext cx="603939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487283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l="27644" t="17232" r="46454" b="10982"/>
          <a:stretch/>
        </p:blipFill>
        <p:spPr>
          <a:xfrm>
            <a:off x="6361613" y="117565"/>
            <a:ext cx="5381896" cy="6479177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/>
          <a:srcRect l="20014" t="35625" r="65628" b="52411"/>
          <a:stretch/>
        </p:blipFill>
        <p:spPr>
          <a:xfrm>
            <a:off x="0" y="4023359"/>
            <a:ext cx="4950824" cy="2573383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4"/>
          <a:srcRect l="3852" t="14197" r="78379" b="53303"/>
          <a:stretch/>
        </p:blipFill>
        <p:spPr>
          <a:xfrm>
            <a:off x="0" y="0"/>
            <a:ext cx="4637314" cy="3788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676920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t="4553" r="2178" b="6875"/>
          <a:stretch/>
        </p:blipFill>
        <p:spPr>
          <a:xfrm>
            <a:off x="0" y="0"/>
            <a:ext cx="1231827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83641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11862</TotalTime>
  <Words>763</Words>
  <Application>Microsoft Office PowerPoint</Application>
  <PresentationFormat>Widescreen</PresentationFormat>
  <Paragraphs>200</Paragraphs>
  <Slides>64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64</vt:i4>
      </vt:variant>
    </vt:vector>
  </HeadingPairs>
  <TitlesOfParts>
    <vt:vector size="70" baseType="lpstr">
      <vt:lpstr>Arial</vt:lpstr>
      <vt:lpstr>Calibri</vt:lpstr>
      <vt:lpstr>Calibri Light</vt:lpstr>
      <vt:lpstr>Times New Roman</vt:lpstr>
      <vt:lpstr>Office Theme</vt:lpstr>
      <vt:lpstr>CorelPhotoPaint.Image.8</vt:lpstr>
      <vt:lpstr>Assembly Language </vt:lpstr>
      <vt:lpstr>Why we study Assembly Language </vt:lpstr>
      <vt:lpstr>PowerPoint Presentation</vt:lpstr>
      <vt:lpstr>How different is Assembly Language then Other Programing Languages</vt:lpstr>
      <vt:lpstr>What is actual Assembly Language </vt:lpstr>
      <vt:lpstr>What is Assembler role in AL its types </vt:lpstr>
      <vt:lpstr>Advantages and Disadvantages of using AL</vt:lpstr>
      <vt:lpstr>AL Pro’s &amp; Con’s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Key Terms </vt:lpstr>
      <vt:lpstr>PowerPoint Presentation</vt:lpstr>
      <vt:lpstr>Memory &amp; Registers Core Role in AL</vt:lpstr>
      <vt:lpstr>PowerPoint Presentation</vt:lpstr>
      <vt:lpstr>Interrupts</vt:lpstr>
      <vt:lpstr>PowerPoint Presentation</vt:lpstr>
      <vt:lpstr>Segments of AL</vt:lpstr>
      <vt:lpstr>PowerPoint Presentation</vt:lpstr>
      <vt:lpstr>PowerPoint Presentation</vt:lpstr>
      <vt:lpstr>Basic Syntax of Assembly Language</vt:lpstr>
      <vt:lpstr>Link for Dosbox Programs</vt:lpstr>
      <vt:lpstr>Flow Control Instructions</vt:lpstr>
      <vt:lpstr>Transfer of Control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Conditional JUMP Instructions</vt:lpstr>
      <vt:lpstr>PowerPoint Presentation</vt:lpstr>
      <vt:lpstr>PowerPoint Presentation</vt:lpstr>
      <vt:lpstr>PowerPoint Presentation</vt:lpstr>
      <vt:lpstr>Example Display the entire IBM character set</vt:lpstr>
      <vt:lpstr>Conditional jump instructions </vt:lpstr>
      <vt:lpstr>Conditional jump</vt:lpstr>
      <vt:lpstr>Conditional jump instructions</vt:lpstr>
      <vt:lpstr>Conditional jump instructions</vt:lpstr>
      <vt:lpstr>Conditional jump instructions</vt:lpstr>
      <vt:lpstr>AND, OR, NOT instructions</vt:lpstr>
      <vt:lpstr>PowerPoint Presentation</vt:lpstr>
      <vt:lpstr>XOR </vt:lpstr>
      <vt:lpstr>Shift and Rotate Instructions</vt:lpstr>
      <vt:lpstr>Rotate, TEST instruction</vt:lpstr>
      <vt:lpstr>Con..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Assembly Language</dc:title>
  <dc:creator>Noor Nabi</dc:creator>
  <cp:lastModifiedBy>PC</cp:lastModifiedBy>
  <cp:revision>103</cp:revision>
  <dcterms:created xsi:type="dcterms:W3CDTF">2020-06-30T13:43:42Z</dcterms:created>
  <dcterms:modified xsi:type="dcterms:W3CDTF">2026-04-21T04:03:37Z</dcterms:modified>
</cp:coreProperties>
</file>