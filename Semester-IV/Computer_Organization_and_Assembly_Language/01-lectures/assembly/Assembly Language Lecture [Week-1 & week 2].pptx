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342" r:id="rId4"/>
    <p:sldId id="259" r:id="rId5"/>
    <p:sldId id="258" r:id="rId6"/>
    <p:sldId id="260" r:id="rId7"/>
    <p:sldId id="262" r:id="rId8"/>
    <p:sldId id="343" r:id="rId9"/>
    <p:sldId id="337" r:id="rId10"/>
    <p:sldId id="338" r:id="rId11"/>
    <p:sldId id="339" r:id="rId12"/>
    <p:sldId id="340" r:id="rId13"/>
    <p:sldId id="341" r:id="rId14"/>
    <p:sldId id="274" r:id="rId15"/>
    <p:sldId id="270" r:id="rId16"/>
    <p:sldId id="263" r:id="rId17"/>
    <p:sldId id="308" r:id="rId18"/>
    <p:sldId id="261" r:id="rId19"/>
    <p:sldId id="269" r:id="rId20"/>
    <p:sldId id="264" r:id="rId21"/>
    <p:sldId id="344" r:id="rId22"/>
    <p:sldId id="271" r:id="rId23"/>
    <p:sldId id="267" r:id="rId24"/>
    <p:sldId id="273" r:id="rId25"/>
    <p:sldId id="272" r:id="rId26"/>
    <p:sldId id="265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57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26F9E-8777-4590-86A6-6D0A8D5D16F1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03EA6-F8BA-42C7-9A38-82BEBABD26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21934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26F9E-8777-4590-86A6-6D0A8D5D16F1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03EA6-F8BA-42C7-9A38-82BEBABD26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62765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26F9E-8777-4590-86A6-6D0A8D5D16F1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03EA6-F8BA-42C7-9A38-82BEBABD26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4361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26F9E-8777-4590-86A6-6D0A8D5D16F1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03EA6-F8BA-42C7-9A38-82BEBABD26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49319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26F9E-8777-4590-86A6-6D0A8D5D16F1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03EA6-F8BA-42C7-9A38-82BEBABD26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80007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26F9E-8777-4590-86A6-6D0A8D5D16F1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03EA6-F8BA-42C7-9A38-82BEBABD26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43019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26F9E-8777-4590-86A6-6D0A8D5D16F1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03EA6-F8BA-42C7-9A38-82BEBABD26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89839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26F9E-8777-4590-86A6-6D0A8D5D16F1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03EA6-F8BA-42C7-9A38-82BEBABD26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02735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26F9E-8777-4590-86A6-6D0A8D5D16F1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03EA6-F8BA-42C7-9A38-82BEBABD26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82314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26F9E-8777-4590-86A6-6D0A8D5D16F1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03EA6-F8BA-42C7-9A38-82BEBABD26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93378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26F9E-8777-4590-86A6-6D0A8D5D16F1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03EA6-F8BA-42C7-9A38-82BEBABD26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44480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526F9E-8777-4590-86A6-6D0A8D5D16F1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303EA6-F8BA-42C7-9A38-82BEBABD2682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9688"/>
            <a:ext cx="809625" cy="809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03758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P5JOlz7MeYg&amp;list=PLsu3nQRCX0RIjLN0eUNzQbDFyfz8E_DJi&amp;index=2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Assembly Language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69965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8050" y="161925"/>
            <a:ext cx="10515600" cy="1325563"/>
          </a:xfrm>
        </p:spPr>
        <p:txBody>
          <a:bodyPr/>
          <a:lstStyle/>
          <a:p>
            <a:r>
              <a:rPr lang="en-US" dirty="0" smtClean="0">
                <a:solidFill>
                  <a:srgbClr val="FF0000"/>
                </a:solidFill>
              </a:rPr>
              <a:t>Why we study Assembly Language 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" y="1330324"/>
            <a:ext cx="11188700" cy="5095875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To control on operating system and design softwares accordingly </a:t>
            </a:r>
            <a:r>
              <a:rPr lang="en-US" dirty="0" smtClean="0"/>
              <a:t>because </a:t>
            </a:r>
            <a:r>
              <a:rPr lang="en-US" dirty="0"/>
              <a:t>if we have the knowledge of processor we can work accordingly</a:t>
            </a:r>
          </a:p>
          <a:p>
            <a:r>
              <a:rPr lang="en-US" dirty="0"/>
              <a:t>To enhance the perforce of system </a:t>
            </a:r>
            <a:r>
              <a:rPr lang="en-US" dirty="0" smtClean="0"/>
              <a:t>processing</a:t>
            </a:r>
          </a:p>
          <a:p>
            <a:r>
              <a:rPr lang="en-US" dirty="0" smtClean="0"/>
              <a:t>To understand the processor </a:t>
            </a:r>
          </a:p>
          <a:p>
            <a:r>
              <a:rPr lang="en-US" dirty="0" smtClean="0"/>
              <a:t>To arrange the processor requirements as per capacity </a:t>
            </a:r>
          </a:p>
          <a:p>
            <a:r>
              <a:rPr lang="en-US" dirty="0" smtClean="0"/>
              <a:t>To understand the low level language </a:t>
            </a:r>
          </a:p>
          <a:p>
            <a:r>
              <a:rPr lang="en-US" dirty="0" smtClean="0"/>
              <a:t>Hardware and software combination to work together</a:t>
            </a:r>
          </a:p>
          <a:p>
            <a:r>
              <a:rPr lang="en-US" dirty="0" smtClean="0"/>
              <a:t>Because you don’t define particular memory address where to data store and where not so efficiently system does so all about due to AL</a:t>
            </a:r>
          </a:p>
          <a:p>
            <a:r>
              <a:rPr lang="en-US" dirty="0" smtClean="0"/>
              <a:t>Direct access to register to execute the process rather to carry out things from  hard to ram to cache to register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50932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2071" y="474440"/>
            <a:ext cx="8695117" cy="5651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7178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smtClean="0">
                <a:solidFill>
                  <a:srgbClr val="FF0000"/>
                </a:solidFill>
              </a:rPr>
              <a:t>How different is Assembly Language then Other Programing Languages</a:t>
            </a:r>
            <a:endParaRPr lang="en-US" sz="4000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250 Languages we use up to natural language processing</a:t>
            </a:r>
          </a:p>
          <a:p>
            <a:r>
              <a:rPr lang="en-US" dirty="0" smtClean="0"/>
              <a:t>Low level language </a:t>
            </a:r>
          </a:p>
          <a:p>
            <a:r>
              <a:rPr lang="en-US" dirty="0" smtClean="0"/>
              <a:t>Direct access to register and processor </a:t>
            </a:r>
          </a:p>
          <a:p>
            <a:r>
              <a:rPr lang="en-US" dirty="0" smtClean="0"/>
              <a:t>Embedded Programing direct access to hardware</a:t>
            </a:r>
          </a:p>
          <a:p>
            <a:r>
              <a:rPr lang="en-US" dirty="0" smtClean="0"/>
              <a:t>Not a web base or mobile base application </a:t>
            </a:r>
          </a:p>
          <a:p>
            <a:r>
              <a:rPr lang="en-US" dirty="0" smtClean="0"/>
              <a:t>A right techniques to a right problem </a:t>
            </a:r>
          </a:p>
          <a:p>
            <a:r>
              <a:rPr lang="en-US" dirty="0" smtClean="0"/>
              <a:t>Procedural non procedural </a:t>
            </a:r>
          </a:p>
          <a:p>
            <a:r>
              <a:rPr lang="en-US" dirty="0" smtClean="0"/>
              <a:t>For web for desktop for Mobile app but we need to command the processor too for enhancement of the internal function of processor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48937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FF0000"/>
                </a:solidFill>
              </a:rPr>
              <a:t>What is actual Assembly Language 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David John Wholer computer </a:t>
            </a:r>
            <a:r>
              <a:rPr lang="en-US" dirty="0"/>
              <a:t>programming, assembly language, </a:t>
            </a:r>
            <a:endParaRPr lang="en-US" dirty="0" smtClean="0"/>
          </a:p>
          <a:p>
            <a:r>
              <a:rPr lang="en-US" dirty="0" smtClean="0"/>
              <a:t>often </a:t>
            </a:r>
            <a:r>
              <a:rPr lang="en-US" dirty="0"/>
              <a:t>abbreviated asm, </a:t>
            </a:r>
          </a:p>
          <a:p>
            <a:r>
              <a:rPr lang="en-US" dirty="0" smtClean="0"/>
              <a:t> </a:t>
            </a:r>
            <a:r>
              <a:rPr lang="en-US" dirty="0"/>
              <a:t>low-level programming language </a:t>
            </a:r>
          </a:p>
          <a:p>
            <a:r>
              <a:rPr lang="en-US" dirty="0" smtClean="0"/>
              <a:t> </a:t>
            </a:r>
            <a:r>
              <a:rPr lang="en-US" dirty="0"/>
              <a:t>there is a very strong correspondence between the instructions in the language and the architecture's machine code </a:t>
            </a:r>
            <a:r>
              <a:rPr lang="en-US" dirty="0" smtClean="0"/>
              <a:t>instructions</a:t>
            </a:r>
          </a:p>
          <a:p>
            <a:r>
              <a:rPr lang="en-US" dirty="0"/>
              <a:t>can be used to directly tell the computer what to </a:t>
            </a:r>
            <a:r>
              <a:rPr lang="en-US" dirty="0" smtClean="0"/>
              <a:t>do</a:t>
            </a:r>
          </a:p>
          <a:p>
            <a:r>
              <a:rPr lang="en-US" dirty="0"/>
              <a:t>almost exactly like the machine </a:t>
            </a:r>
            <a:r>
              <a:rPr lang="en-US" b="1" dirty="0"/>
              <a:t>code</a:t>
            </a:r>
            <a:r>
              <a:rPr lang="en-US" dirty="0"/>
              <a:t> that a computer can understand, except that it uses </a:t>
            </a:r>
            <a:r>
              <a:rPr lang="en-US" b="1" dirty="0"/>
              <a:t>words</a:t>
            </a:r>
            <a:r>
              <a:rPr lang="en-US" dirty="0"/>
              <a:t> in place of numbers.</a:t>
            </a:r>
          </a:p>
        </p:txBody>
      </p:sp>
    </p:spTree>
    <p:extLst>
      <p:ext uri="{BB962C8B-B14F-4D97-AF65-F5344CB8AC3E}">
        <p14:creationId xmlns:p14="http://schemas.microsoft.com/office/powerpoint/2010/main" val="5854226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FF0000"/>
                </a:solidFill>
              </a:rPr>
              <a:t>What is Assembler role in AL its types 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 assembler is a program that converts assembly language into machine code. It takes the basic commands and operations from assembly code and converts them into binary code that can be recognized by a specific type of processor. Assemblers are similar to compilers in that they produce executable code.</a:t>
            </a:r>
            <a:endParaRPr lang="en-US" dirty="0" smtClean="0"/>
          </a:p>
          <a:p>
            <a:r>
              <a:rPr lang="en-US" i="1" dirty="0" smtClean="0"/>
              <a:t>Emulator 8086</a:t>
            </a:r>
          </a:p>
          <a:p>
            <a:r>
              <a:rPr lang="en-US" i="1" dirty="0" smtClean="0"/>
              <a:t>Visual Studio With libraries of AL</a:t>
            </a:r>
          </a:p>
          <a:p>
            <a:r>
              <a:rPr lang="en-US" i="1" dirty="0" smtClean="0"/>
              <a:t>MASM</a:t>
            </a:r>
          </a:p>
          <a:p>
            <a:r>
              <a:rPr lang="en-US" i="1" dirty="0" err="1" smtClean="0"/>
              <a:t>DosBox</a:t>
            </a:r>
            <a:r>
              <a:rPr lang="en-US" i="1" dirty="0" smtClean="0"/>
              <a:t>  .asm  .</a:t>
            </a:r>
            <a:r>
              <a:rPr lang="en-US" i="1" dirty="0" err="1" smtClean="0"/>
              <a:t>obj</a:t>
            </a:r>
            <a:r>
              <a:rPr lang="en-US" i="1" dirty="0" smtClean="0"/>
              <a:t>; link; exe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24441375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FF0000"/>
                </a:solidFill>
              </a:rPr>
              <a:t>Advantages and Disadvantages of using AL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Programs written in machine language are replaceable by mnemonics which are easier to remember</a:t>
            </a:r>
            <a:endParaRPr lang="en-US" dirty="0" smtClean="0"/>
          </a:p>
          <a:p>
            <a:r>
              <a:rPr lang="en-US" dirty="0" smtClean="0"/>
              <a:t>It </a:t>
            </a:r>
            <a:r>
              <a:rPr lang="en-US" dirty="0"/>
              <a:t>allows complex jobs to run in a simpler way.</a:t>
            </a:r>
          </a:p>
          <a:p>
            <a:r>
              <a:rPr lang="en-US" dirty="0"/>
              <a:t>It is memory efficient, as it requires less memory.</a:t>
            </a:r>
          </a:p>
          <a:p>
            <a:r>
              <a:rPr lang="en-US" dirty="0"/>
              <a:t>It is faster in speed, as its execution time is less.</a:t>
            </a:r>
          </a:p>
          <a:p>
            <a:r>
              <a:rPr lang="en-US" dirty="0"/>
              <a:t>It is mainly hardware oriented.</a:t>
            </a:r>
          </a:p>
          <a:p>
            <a:r>
              <a:rPr lang="en-US" dirty="0" smtClean="0"/>
              <a:t>It </a:t>
            </a:r>
            <a:r>
              <a:rPr lang="en-US" dirty="0"/>
              <a:t>is used for critical jobs.</a:t>
            </a:r>
          </a:p>
          <a:p>
            <a:r>
              <a:rPr lang="en-US" dirty="0"/>
              <a:t>It is not required to keep track of memory locations.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No SDKs (System Development Kit</a:t>
            </a:r>
            <a:r>
              <a:rPr lang="en-US" dirty="0" smtClean="0"/>
              <a:t>).</a:t>
            </a:r>
          </a:p>
          <a:p>
            <a:r>
              <a:rPr lang="en-US" dirty="0"/>
              <a:t>more complex in nature.</a:t>
            </a:r>
          </a:p>
          <a:p>
            <a:r>
              <a:rPr lang="en-US" dirty="0"/>
              <a:t>Difficult to remember the syntax.</a:t>
            </a:r>
          </a:p>
          <a:p>
            <a:r>
              <a:rPr lang="en-US" dirty="0"/>
              <a:t>It is difficult to debug the program</a:t>
            </a:r>
            <a:r>
              <a:rPr lang="en-US" dirty="0" smtClean="0"/>
              <a:t>.</a:t>
            </a:r>
          </a:p>
          <a:p>
            <a:r>
              <a:rPr lang="en-US" dirty="0"/>
              <a:t>It has a lack of portability of program between different computer architectures.</a:t>
            </a:r>
          </a:p>
          <a:p>
            <a:r>
              <a:rPr lang="en-US" dirty="0"/>
              <a:t>It needs more size or memory of the computer to run the long programs written in Assembly Language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39881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AL Pro’s &amp; Con’s</a:t>
            </a:r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388311" y="1926319"/>
            <a:ext cx="5076825" cy="3663111"/>
          </a:xfrm>
          <a:prstGeom prst="rect">
            <a:avLst/>
          </a:prstGeom>
        </p:spPr>
      </p:pic>
      <p:sp>
        <p:nvSpPr>
          <p:cNvPr id="3" name="Rectangle 1"/>
          <p:cNvSpPr>
            <a:spLocks noGrp="1" noChangeArrowheads="1"/>
          </p:cNvSpPr>
          <p:nvPr>
            <p:ph sz="half" idx="2"/>
          </p:nvPr>
        </p:nvSpPr>
        <p:spPr bwMode="auto">
          <a:xfrm>
            <a:off x="5465137" y="3124129"/>
            <a:ext cx="6203122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 </a:t>
            </a: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development and implementation cost</a:t>
            </a: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Requires </a:t>
            </a: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large amounts of data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function effectively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Lacks </a:t>
            </a: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human creativity, emotions, and intuition</a:t>
            </a: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Limited ability to handle </a:t>
            </a: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unexpected or novel situations</a:t>
            </a: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Complex systems are </a:t>
            </a: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difficult to understand and debug</a:t>
            </a: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Requires </a:t>
            </a: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continuous maintenance and updates</a:t>
            </a: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89320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8730" y="476049"/>
            <a:ext cx="8018910" cy="5773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5167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0088" y="717729"/>
            <a:ext cx="8021191" cy="5338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50416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6473" y="548223"/>
            <a:ext cx="7502682" cy="5512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00566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821" y="205457"/>
            <a:ext cx="7585122" cy="5654429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8943" y="3988951"/>
            <a:ext cx="3528409" cy="2435191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06119" y="828221"/>
            <a:ext cx="3271234" cy="2919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76191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8039" y="567072"/>
            <a:ext cx="8065662" cy="56575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77810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16479" t="6739" r="22042" b="28628"/>
          <a:stretch/>
        </p:blipFill>
        <p:spPr>
          <a:xfrm>
            <a:off x="515995" y="953036"/>
            <a:ext cx="10801362" cy="5301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28711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087" y="1484243"/>
            <a:ext cx="5777948" cy="3233531"/>
          </a:xfrm>
          <a:prstGeom prst="rect">
            <a:avLst/>
          </a:prstGeom>
        </p:spPr>
      </p:pic>
      <p:pic>
        <p:nvPicPr>
          <p:cNvPr id="1028" name="Picture 4" descr="the computer understands only machine languages. A program is ...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6028"/>
          <a:stretch/>
        </p:blipFill>
        <p:spPr bwMode="auto">
          <a:xfrm>
            <a:off x="6769062" y="894523"/>
            <a:ext cx="5237408" cy="59634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417022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7300" y="288925"/>
            <a:ext cx="10515600" cy="587375"/>
          </a:xfrm>
        </p:spPr>
        <p:txBody>
          <a:bodyPr>
            <a:normAutofit fontScale="90000"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Key Terms 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876300"/>
            <a:ext cx="11391900" cy="5727700"/>
          </a:xfrm>
        </p:spPr>
        <p:txBody>
          <a:bodyPr>
            <a:normAutofit/>
          </a:bodyPr>
          <a:lstStyle/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dirty="0" smtClean="0"/>
              <a:t>Compiler  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dirty="0" smtClean="0"/>
              <a:t>Interpreter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dirty="0" smtClean="0"/>
              <a:t>Translator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dirty="0" smtClean="0"/>
              <a:t>Linker &amp; Loader 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Assembler  Assembly to object /byte</a:t>
            </a:r>
            <a:endParaRPr lang="en-US" dirty="0" smtClean="0"/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000" dirty="0" smtClean="0">
                <a:solidFill>
                  <a:srgbClr val="FF0000"/>
                </a:solidFill>
              </a:rPr>
              <a:t>Opcode, Operands, Statement, Mnemonics are keywords like MOV DL,5     ADD BX, DX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000" dirty="0"/>
              <a:t>opcode is the portion of a machine language instruction that specifies the operation to be performed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791200" y="2387600"/>
            <a:ext cx="6159500" cy="123396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5943600" y="2421235"/>
            <a:ext cx="5829300" cy="8540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050" b="1" dirty="0"/>
              <a:t>Linking and Loading</a:t>
            </a:r>
            <a:r>
              <a:rPr lang="en-US" sz="1050" dirty="0"/>
              <a:t> are the utility programs  execution of a program. </a:t>
            </a:r>
            <a:r>
              <a:rPr lang="en-US" sz="1050" b="1" dirty="0"/>
              <a:t>Linking</a:t>
            </a:r>
            <a:r>
              <a:rPr lang="en-US" sz="1050" dirty="0"/>
              <a:t> intakes </a:t>
            </a:r>
            <a:r>
              <a:rPr lang="en-US" sz="1050" dirty="0" smtClean="0"/>
              <a:t>the  </a:t>
            </a:r>
            <a:r>
              <a:rPr lang="en-US" sz="1050" dirty="0"/>
              <a:t>object codes generated by the </a:t>
            </a:r>
            <a:r>
              <a:rPr lang="en-US" sz="1050" b="1" dirty="0"/>
              <a:t>assembler</a:t>
            </a:r>
            <a:r>
              <a:rPr lang="en-US" sz="1050" dirty="0"/>
              <a:t> and combines them to generate the </a:t>
            </a:r>
            <a:r>
              <a:rPr lang="en-US" sz="1050" dirty="0" smtClean="0"/>
              <a:t>executable  </a:t>
            </a:r>
            <a:r>
              <a:rPr lang="en-US" sz="1050" dirty="0"/>
              <a:t>module. the </a:t>
            </a:r>
            <a:r>
              <a:rPr lang="en-US" sz="1050" b="1" dirty="0"/>
              <a:t>loading</a:t>
            </a:r>
            <a:r>
              <a:rPr lang="en-US" sz="1050" dirty="0"/>
              <a:t> loads this executable module to the main memory for execution</a:t>
            </a:r>
            <a:r>
              <a:rPr lang="en-US" sz="1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447626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1635" y="503583"/>
            <a:ext cx="10919791" cy="566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18063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FF0000"/>
                </a:solidFill>
              </a:rPr>
              <a:t>Memory &amp; Registers Core Role in AL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General </a:t>
            </a:r>
            <a:r>
              <a:rPr lang="en-US" sz="2400" dirty="0"/>
              <a:t>Purpose  </a:t>
            </a:r>
            <a:r>
              <a:rPr lang="en-US" sz="2400" dirty="0" smtClean="0"/>
              <a:t>Register </a:t>
            </a:r>
            <a:r>
              <a:rPr lang="en-US" sz="1800" dirty="0" smtClean="0"/>
              <a:t>[</a:t>
            </a:r>
            <a:r>
              <a:rPr lang="en-US" sz="1800" dirty="0"/>
              <a:t>Accumulator (</a:t>
            </a:r>
            <a:r>
              <a:rPr lang="en-US" sz="1800" dirty="0" smtClean="0"/>
              <a:t>I/O), Data  </a:t>
            </a:r>
            <a:r>
              <a:rPr lang="en-US" sz="1800" dirty="0"/>
              <a:t>(carry data</a:t>
            </a:r>
            <a:r>
              <a:rPr lang="en-US" sz="1800" dirty="0" smtClean="0"/>
              <a:t>), Base (address), Counter </a:t>
            </a:r>
            <a:r>
              <a:rPr lang="en-US" sz="1800" dirty="0"/>
              <a:t>] </a:t>
            </a:r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Segment   </a:t>
            </a:r>
            <a:r>
              <a:rPr lang="en-US" sz="2400" dirty="0" smtClean="0"/>
              <a:t>[ </a:t>
            </a:r>
            <a:r>
              <a:rPr lang="en-US" sz="2000" dirty="0" smtClean="0"/>
              <a:t>Code, Stack (LIFO ), data, Extra </a:t>
            </a:r>
            <a:r>
              <a:rPr lang="en-US" dirty="0" smtClean="0"/>
              <a:t>]</a:t>
            </a:r>
          </a:p>
          <a:p>
            <a:endParaRPr lang="en-US" dirty="0" smtClean="0"/>
          </a:p>
          <a:p>
            <a:r>
              <a:rPr lang="en-US" dirty="0" smtClean="0"/>
              <a:t>Index Register  [</a:t>
            </a:r>
            <a:r>
              <a:rPr lang="en-US" sz="2000" dirty="0" smtClean="0"/>
              <a:t>Source &amp; Destination </a:t>
            </a:r>
            <a:r>
              <a:rPr lang="en-US" dirty="0" smtClean="0"/>
              <a:t>]</a:t>
            </a:r>
          </a:p>
          <a:p>
            <a:endParaRPr lang="en-US" dirty="0" smtClean="0"/>
          </a:p>
          <a:p>
            <a:r>
              <a:rPr lang="en-US" dirty="0" smtClean="0"/>
              <a:t>Special Purpose [</a:t>
            </a:r>
            <a:r>
              <a:rPr lang="en-US" sz="2000" dirty="0" smtClean="0"/>
              <a:t>Instruction Pointer Stack Pointer Flag and Base pointer]</a:t>
            </a:r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852984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446021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4792" y="370284"/>
            <a:ext cx="10515600" cy="625475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Interrupts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723231"/>
            <a:ext cx="5939192" cy="1553369"/>
          </a:xfrm>
        </p:spPr>
        <p:txBody>
          <a:bodyPr>
            <a:normAutofit fontScale="85000" lnSpcReduction="20000"/>
          </a:bodyPr>
          <a:lstStyle/>
          <a:p>
            <a:endParaRPr lang="en-US" dirty="0" smtClean="0"/>
          </a:p>
          <a:p>
            <a:r>
              <a:rPr lang="en-US" dirty="0"/>
              <a:t>DOS </a:t>
            </a:r>
            <a:r>
              <a:rPr lang="en-US" b="1" dirty="0"/>
              <a:t>assembly</a:t>
            </a:r>
            <a:r>
              <a:rPr lang="en-US" dirty="0"/>
              <a:t>, most things get done with the DOS services </a:t>
            </a:r>
            <a:r>
              <a:rPr lang="en-US" b="1" dirty="0"/>
              <a:t>interrupt</a:t>
            </a:r>
            <a:r>
              <a:rPr lang="en-US" dirty="0"/>
              <a:t> int 21h, and the BIOS service </a:t>
            </a:r>
            <a:r>
              <a:rPr lang="en-US" b="1" dirty="0"/>
              <a:t>interrupts</a:t>
            </a:r>
            <a:r>
              <a:rPr lang="en-US" dirty="0"/>
              <a:t> like int 10h and int 16h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7599" y="1238250"/>
            <a:ext cx="5186017" cy="4473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129668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2450" y="138715"/>
            <a:ext cx="8448677" cy="408555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2678" y="4224270"/>
            <a:ext cx="5523587" cy="2408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51572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16146" t="10721" r="16146" b="6275"/>
          <a:stretch/>
        </p:blipFill>
        <p:spPr>
          <a:xfrm>
            <a:off x="1066800" y="115121"/>
            <a:ext cx="10210800" cy="6311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513298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FF0000"/>
                </a:solidFill>
              </a:rPr>
              <a:t>Segments of AL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lnSpc>
                <a:spcPct val="200000"/>
              </a:lnSpc>
              <a:buFont typeface="+mj-lt"/>
              <a:buAutoNum type="arabicPeriod"/>
            </a:pPr>
            <a:r>
              <a:rPr lang="en-US" dirty="0" smtClean="0"/>
              <a:t>.Memory</a:t>
            </a:r>
          </a:p>
          <a:p>
            <a:pPr marL="514350" indent="-514350">
              <a:lnSpc>
                <a:spcPct val="200000"/>
              </a:lnSpc>
              <a:buFont typeface="+mj-lt"/>
              <a:buAutoNum type="arabicPeriod"/>
            </a:pPr>
            <a:r>
              <a:rPr lang="en-US" dirty="0" smtClean="0"/>
              <a:t>.Code</a:t>
            </a:r>
          </a:p>
          <a:p>
            <a:pPr marL="514350" indent="-514350">
              <a:lnSpc>
                <a:spcPct val="200000"/>
              </a:lnSpc>
              <a:buFont typeface="+mj-lt"/>
              <a:buAutoNum type="arabicPeriod"/>
            </a:pPr>
            <a:r>
              <a:rPr lang="en-US" dirty="0" smtClean="0"/>
              <a:t>.Stack</a:t>
            </a:r>
          </a:p>
          <a:p>
            <a:pPr marL="514350" indent="-514350">
              <a:lnSpc>
                <a:spcPct val="200000"/>
              </a:lnSpc>
              <a:buFont typeface="+mj-lt"/>
              <a:buAutoNum type="arabicPeriod"/>
            </a:pPr>
            <a:r>
              <a:rPr lang="en-US" dirty="0" smtClean="0"/>
              <a:t>.data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265062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l="13229" t="12574" r="11771" b="8128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896725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92175"/>
          </a:xfrm>
        </p:spPr>
        <p:txBody>
          <a:bodyPr/>
          <a:lstStyle/>
          <a:p>
            <a:r>
              <a:rPr lang="en-US" u="sng" dirty="0" smtClean="0">
                <a:solidFill>
                  <a:srgbClr val="FF0000"/>
                </a:solidFill>
              </a:rPr>
              <a:t>Basic Syntax of Assembly Language</a:t>
            </a:r>
            <a:endParaRPr lang="en-US" u="sng" dirty="0">
              <a:solidFill>
                <a:srgbClr val="FF0000"/>
              </a:solidFill>
            </a:endParaRP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>
          <a:xfrm>
            <a:off x="292100" y="1257300"/>
            <a:ext cx="4916004" cy="53213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5000" dirty="0" err="1" smtClean="0">
                <a:solidFill>
                  <a:srgbClr val="FF0000"/>
                </a:solidFill>
              </a:rPr>
              <a:t>Dosseg</a:t>
            </a:r>
            <a:r>
              <a:rPr lang="en-US" sz="5000" dirty="0" smtClean="0">
                <a:solidFill>
                  <a:srgbClr val="FF0000"/>
                </a:solidFill>
              </a:rPr>
              <a:t> </a:t>
            </a:r>
            <a:r>
              <a:rPr lang="en-US" sz="3200" dirty="0" smtClean="0">
                <a:solidFill>
                  <a:srgbClr val="FF0000"/>
                </a:solidFill>
              </a:rPr>
              <a:t>(DOS Segment)</a:t>
            </a:r>
          </a:p>
          <a:p>
            <a:pPr marL="0" indent="0">
              <a:buNone/>
            </a:pPr>
            <a:r>
              <a:rPr lang="en-US" sz="5000" dirty="0" smtClean="0"/>
              <a:t>.model small</a:t>
            </a:r>
          </a:p>
          <a:p>
            <a:pPr marL="0" indent="0">
              <a:buNone/>
            </a:pPr>
            <a:r>
              <a:rPr lang="en-US" sz="5000" dirty="0" smtClean="0"/>
              <a:t>.stack 100h </a:t>
            </a:r>
          </a:p>
          <a:p>
            <a:pPr marL="0" indent="0">
              <a:buNone/>
            </a:pPr>
            <a:r>
              <a:rPr lang="en-US" sz="5000" dirty="0" smtClean="0"/>
              <a:t>.data</a:t>
            </a:r>
          </a:p>
          <a:p>
            <a:pPr marL="0" indent="0">
              <a:buNone/>
            </a:pPr>
            <a:r>
              <a:rPr lang="en-US" sz="5000" dirty="0" smtClean="0"/>
              <a:t>.code</a:t>
            </a:r>
          </a:p>
          <a:p>
            <a:pPr marL="0" indent="0">
              <a:buNone/>
            </a:pPr>
            <a:r>
              <a:rPr lang="en-US" sz="5000" dirty="0" smtClean="0"/>
              <a:t>Main </a:t>
            </a:r>
            <a:r>
              <a:rPr lang="en-US" sz="5000" dirty="0" err="1"/>
              <a:t>p</a:t>
            </a:r>
            <a:r>
              <a:rPr lang="en-US" sz="5000" dirty="0" err="1" smtClean="0"/>
              <a:t>roc</a:t>
            </a:r>
            <a:endParaRPr lang="en-US" sz="5000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 smtClean="0"/>
          </a:p>
        </p:txBody>
      </p:sp>
      <p:sp>
        <p:nvSpPr>
          <p:cNvPr id="4" name="Content Placeholder 7"/>
          <p:cNvSpPr txBox="1">
            <a:spLocks/>
          </p:cNvSpPr>
          <p:nvPr/>
        </p:nvSpPr>
        <p:spPr>
          <a:xfrm>
            <a:off x="7216361" y="1215887"/>
            <a:ext cx="4028109" cy="5321300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dirty="0" smtClean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3400" dirty="0" err="1" smtClean="0"/>
              <a:t>Mov</a:t>
            </a:r>
            <a:r>
              <a:rPr lang="en-US" sz="3400" dirty="0" smtClean="0"/>
              <a:t> dl, ‘A’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3400" dirty="0" smtClean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3400" dirty="0" err="1" smtClean="0"/>
              <a:t>Mov</a:t>
            </a:r>
            <a:r>
              <a:rPr lang="en-US" sz="3400" dirty="0" smtClean="0"/>
              <a:t> ah, 2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3400" dirty="0" smtClean="0"/>
              <a:t>INT 21h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3400" dirty="0" smtClean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3400" dirty="0" err="1" smtClean="0"/>
              <a:t>Mov</a:t>
            </a:r>
            <a:r>
              <a:rPr lang="en-US" sz="3400" dirty="0" smtClean="0"/>
              <a:t> ah, 4ch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3400" dirty="0" smtClean="0"/>
              <a:t>INT 21h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3400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US" sz="3400" dirty="0" smtClean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3400" dirty="0" err="1" smtClean="0"/>
              <a:t>Mov</a:t>
            </a:r>
            <a:r>
              <a:rPr lang="en-US" sz="3400" dirty="0" smtClean="0"/>
              <a:t> ah, 4ch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3400" dirty="0" smtClean="0"/>
              <a:t>Main </a:t>
            </a:r>
            <a:r>
              <a:rPr lang="en-US" sz="3400" dirty="0" err="1" smtClean="0"/>
              <a:t>endp</a:t>
            </a:r>
            <a:endParaRPr lang="en-US" sz="3400" dirty="0" smtClean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3400" dirty="0" smtClean="0"/>
              <a:t>End main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US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US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71736287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Link for </a:t>
            </a:r>
            <a:r>
              <a:rPr lang="en-US" dirty="0" err="1" smtClean="0"/>
              <a:t>Dosbox</a:t>
            </a:r>
            <a:r>
              <a:rPr lang="en-US" dirty="0" smtClean="0"/>
              <a:t> Programs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https://www.youtube.com/watch?v=P5JOlz7MeYg&amp;list=PLsu3nQRCX0RIjLN0eUNzQbDFyfz8E_DJi&amp;index=2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69748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9311</TotalTime>
  <Words>500</Words>
  <Application>Microsoft Office PowerPoint</Application>
  <PresentationFormat>Widescreen</PresentationFormat>
  <Paragraphs>105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0" baseType="lpstr">
      <vt:lpstr>Arial</vt:lpstr>
      <vt:lpstr>Calibri</vt:lpstr>
      <vt:lpstr>Calibri Light</vt:lpstr>
      <vt:lpstr>Office Theme</vt:lpstr>
      <vt:lpstr>Assembly Language </vt:lpstr>
      <vt:lpstr>Why we study Assembly Language </vt:lpstr>
      <vt:lpstr>PowerPoint Presentation</vt:lpstr>
      <vt:lpstr>How different is Assembly Language then Other Programing Languages</vt:lpstr>
      <vt:lpstr>What is actual Assembly Language </vt:lpstr>
      <vt:lpstr>What is Assembler role in AL its types </vt:lpstr>
      <vt:lpstr>Advantages and Disadvantages of using AL</vt:lpstr>
      <vt:lpstr>AL Pro’s &amp; Con’s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Key Terms </vt:lpstr>
      <vt:lpstr>PowerPoint Presentation</vt:lpstr>
      <vt:lpstr>Memory &amp; Registers Core Role in AL</vt:lpstr>
      <vt:lpstr>PowerPoint Presentation</vt:lpstr>
      <vt:lpstr>Interrupts</vt:lpstr>
      <vt:lpstr>PowerPoint Presentation</vt:lpstr>
      <vt:lpstr>PowerPoint Presentation</vt:lpstr>
      <vt:lpstr>Segments of AL</vt:lpstr>
      <vt:lpstr>PowerPoint Presentation</vt:lpstr>
      <vt:lpstr>Basic Syntax of Assembly Language</vt:lpstr>
      <vt:lpstr>Link for Dosbox Programs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Assembly Language</dc:title>
  <dc:creator>Noor Nabi</dc:creator>
  <cp:lastModifiedBy>PC</cp:lastModifiedBy>
  <cp:revision>99</cp:revision>
  <dcterms:created xsi:type="dcterms:W3CDTF">2020-06-30T13:43:42Z</dcterms:created>
  <dcterms:modified xsi:type="dcterms:W3CDTF">2026-01-13T13:03:10Z</dcterms:modified>
</cp:coreProperties>
</file>