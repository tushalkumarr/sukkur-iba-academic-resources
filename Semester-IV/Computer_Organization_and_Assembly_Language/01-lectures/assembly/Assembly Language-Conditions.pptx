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6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16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8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44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2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7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0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22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9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04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6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E956B-4DBB-4767-8B97-DB8E28CC6BDF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FF7F0-B65D-4127-8CA5-AF8C982D1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Assembly Language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Class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99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Flow Control Instructions</a:t>
            </a:r>
            <a:endParaRPr lang="ar-S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58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Transfer of Control</a:t>
            </a:r>
            <a:endParaRPr lang="ar-SA" altLang="en-US" sz="4000">
              <a:latin typeface="Arial" panose="020B0604020202020204" pitchFamily="34" charset="0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Flow control instructions are used to control the flow of a program. </a:t>
            </a:r>
          </a:p>
          <a:p>
            <a:pPr eaLnBrk="1" hangingPunct="1"/>
            <a:r>
              <a:rPr lang="en-US" altLang="en-US" smtClean="0"/>
              <a:t>Flow control instructions can be of two types: unconditional and conditional. </a:t>
            </a:r>
          </a:p>
          <a:p>
            <a:pPr eaLnBrk="1" hangingPunct="1"/>
            <a:r>
              <a:rPr lang="en-US" altLang="en-US" smtClean="0"/>
              <a:t>The JMP instruction is the only </a:t>
            </a:r>
            <a:r>
              <a:rPr lang="en-US" altLang="en-US" u="sng" smtClean="0"/>
              <a:t>unconditional </a:t>
            </a:r>
            <a:r>
              <a:rPr lang="en-US" altLang="en-US" smtClean="0"/>
              <a:t>flow control instruction. </a:t>
            </a:r>
            <a:endParaRPr lang="ar-SA" altLang="en-US" smtClean="0"/>
          </a:p>
        </p:txBody>
      </p:sp>
    </p:spTree>
    <p:extLst>
      <p:ext uri="{BB962C8B-B14F-4D97-AF65-F5344CB8AC3E}">
        <p14:creationId xmlns:p14="http://schemas.microsoft.com/office/powerpoint/2010/main" val="61559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6551"/>
          <a:stretch/>
        </p:blipFill>
        <p:spPr>
          <a:xfrm>
            <a:off x="0" y="1"/>
            <a:ext cx="12192000" cy="685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2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693" t="5420" r="-1035" b="2112"/>
          <a:stretch/>
        </p:blipFill>
        <p:spPr>
          <a:xfrm>
            <a:off x="-101391" y="0"/>
            <a:ext cx="13237841" cy="676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4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3483" r="38120" b="20268"/>
          <a:stretch/>
        </p:blipFill>
        <p:spPr>
          <a:xfrm>
            <a:off x="1184093" y="378823"/>
            <a:ext cx="10350409" cy="60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12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4197" r="28280" b="19732"/>
          <a:stretch/>
        </p:blipFill>
        <p:spPr>
          <a:xfrm>
            <a:off x="896709" y="365759"/>
            <a:ext cx="10820673" cy="611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0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pPr marL="838200" indent="-838200"/>
            <a:r>
              <a:rPr lang="en-US" altLang="en-US" sz="4000" dirty="0" smtClean="0"/>
              <a:t>Conditional </a:t>
            </a:r>
            <a:r>
              <a:rPr lang="en-US" altLang="en-US" sz="4000" dirty="0"/>
              <a:t>JUMP Instructions</a:t>
            </a:r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057400" y="990600"/>
            <a:ext cx="815340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Format for conditional jump (</a:t>
            </a:r>
            <a:r>
              <a:rPr lang="en-US" altLang="en-US" dirty="0" err="1"/>
              <a:t>Jnnn</a:t>
            </a:r>
            <a:r>
              <a:rPr lang="en-US" altLang="en-US" dirty="0"/>
              <a:t>) is: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There are varieties of conditional jump instructions that transfer control depending on settings in the flags register: ZF, CF, OF, AF and SF.</a:t>
            </a:r>
          </a:p>
          <a:p>
            <a:pPr eaLnBrk="1" hangingPunct="1"/>
            <a:endParaRPr lang="en-US" altLang="en-US" u="sng" dirty="0"/>
          </a:p>
          <a:p>
            <a:pPr eaLnBrk="1" hangingPunct="1"/>
            <a:r>
              <a:rPr lang="en-US" altLang="en-US" u="sng" dirty="0" smtClean="0"/>
              <a:t>Table</a:t>
            </a:r>
            <a:r>
              <a:rPr lang="en-US" altLang="en-US" dirty="0" smtClean="0"/>
              <a:t> </a:t>
            </a:r>
            <a:r>
              <a:rPr lang="en-US" altLang="en-US" dirty="0"/>
              <a:t>below shows some example of conditional jump that are used for unsigned data.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pic>
        <p:nvPicPr>
          <p:cNvPr id="71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36458" r="18750" b="58334"/>
          <a:stretch>
            <a:fillRect/>
          </a:stretch>
        </p:blipFill>
        <p:spPr bwMode="auto">
          <a:xfrm>
            <a:off x="3048000" y="1371600"/>
            <a:ext cx="609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3" t="33333" r="10156" b="38542"/>
          <a:stretch>
            <a:fillRect/>
          </a:stretch>
        </p:blipFill>
        <p:spPr bwMode="auto">
          <a:xfrm>
            <a:off x="2057400" y="3352800"/>
            <a:ext cx="8001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987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3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2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3839" r="54384" b="12411"/>
          <a:stretch/>
        </p:blipFill>
        <p:spPr>
          <a:xfrm>
            <a:off x="1040402" y="0"/>
            <a:ext cx="6666684" cy="66359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" t="58839" r="74363" b="17232"/>
          <a:stretch/>
        </p:blipFill>
        <p:spPr>
          <a:xfrm>
            <a:off x="7519579" y="4075611"/>
            <a:ext cx="4236991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5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" t="13661" r="56693" b="13125"/>
          <a:stretch/>
        </p:blipFill>
        <p:spPr>
          <a:xfrm>
            <a:off x="2046241" y="91440"/>
            <a:ext cx="7045507" cy="65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8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C2F4CB9-99F8-4932-BCCD-9F3A5D56961E}" type="datetime1">
              <a:rPr lang="en-US" altLang="en-US" smtClean="0"/>
              <a:pPr eaLnBrk="1" hangingPunct="1"/>
              <a:t>3/19/2026</a:t>
            </a:fld>
            <a:endParaRPr lang="en-US" altLang="en-US" smtClean="0"/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mtClean="0"/>
              <a:t>CAP 221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3F4B282-55AC-4F1B-8E14-8B441975C7AF}" type="slidenum">
              <a:rPr lang="ar-SA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Example</a:t>
            </a:r>
            <a:br>
              <a:rPr lang="en-US" altLang="en-US" sz="3200"/>
            </a:br>
            <a:r>
              <a:rPr lang="en-US" altLang="en-US" sz="3200"/>
              <a:t>Display the entire IBM character set</a:t>
            </a:r>
            <a:endParaRPr lang="ar-SA" altLang="en-US" sz="3200">
              <a:latin typeface="Arial" panose="020B0604020202020204" pitchFamily="34" charset="0"/>
            </a:endParaRP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TITLE PGM6_1.ASM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.MODEL SMALL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.STACK 100H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.CODE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MAIN	PROC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MOV  AH,2		; display char function.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MOV CX,256		; no. of chars to display.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MOV DL,0		;DL has the ASCII code of NULL char.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PRINT_LOOP: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INT 21h		;DISPLAY A CHAR.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INC DL		; INCREMENT ASCII CODE.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DEC CX		; DECREMENT COUNTER.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</a:t>
            </a:r>
            <a:r>
              <a:rPr lang="en-US" altLang="en-US" sz="1600">
                <a:solidFill>
                  <a:srgbClr val="006600"/>
                </a:solidFill>
              </a:rPr>
              <a:t>JNZ	PRINT_LOOP</a:t>
            </a:r>
            <a:r>
              <a:rPr lang="en-US" altLang="en-US" sz="1600"/>
              <a:t>	; KEEP GOING IF CX#0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; DOS  exit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MOV AH,4CH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INT 21h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MAIN	ENDP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/>
              <a:t>	END	MAIN</a:t>
            </a:r>
            <a:endParaRPr lang="ar-SA" altLang="en-US" sz="1600"/>
          </a:p>
        </p:txBody>
      </p:sp>
    </p:spTree>
    <p:extLst>
      <p:ext uri="{BB962C8B-B14F-4D97-AF65-F5344CB8AC3E}">
        <p14:creationId xmlns:p14="http://schemas.microsoft.com/office/powerpoint/2010/main" val="199653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Conditional jump instructions </a:t>
            </a:r>
            <a:endParaRPr lang="ar-SA" altLang="en-US" smtClean="0">
              <a:latin typeface="Arial" panose="020B0604020202020204" pitchFamily="34" charset="0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If the flag settings match the instruction, control transfers to the target location </a:t>
            </a:r>
          </a:p>
          <a:p>
            <a:pPr eaLnBrk="1" hangingPunct="1"/>
            <a:r>
              <a:rPr lang="en-US" altLang="en-US" smtClean="0"/>
              <a:t>If the match fails, the CPU ignores the conditional jump and execution continues with the next instruction. </a:t>
            </a:r>
          </a:p>
        </p:txBody>
      </p:sp>
    </p:spTree>
    <p:extLst>
      <p:ext uri="{BB962C8B-B14F-4D97-AF65-F5344CB8AC3E}">
        <p14:creationId xmlns:p14="http://schemas.microsoft.com/office/powerpoint/2010/main" val="414869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smtClean="0"/>
              <a:t>Conditional jump</a:t>
            </a:r>
          </a:p>
        </p:txBody>
      </p:sp>
      <p:sp>
        <p:nvSpPr>
          <p:cNvPr id="1434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 assembly language, when two numbers are compared, it is imperative to know that:</a:t>
            </a:r>
          </a:p>
          <a:p>
            <a:pPr eaLnBrk="1" hangingPunct="1"/>
            <a:r>
              <a:rPr lang="en-US" altLang="en-US" smtClean="0"/>
              <a:t>A signed number can be </a:t>
            </a:r>
            <a:r>
              <a:rPr lang="en-US" altLang="en-US" b="1" smtClean="0"/>
              <a:t>G</a:t>
            </a:r>
            <a:r>
              <a:rPr lang="en-US" altLang="en-US" smtClean="0"/>
              <a:t>reater, </a:t>
            </a:r>
            <a:r>
              <a:rPr lang="en-US" altLang="en-US" b="1" smtClean="0"/>
              <a:t>L</a:t>
            </a:r>
            <a:r>
              <a:rPr lang="en-US" altLang="en-US" smtClean="0"/>
              <a:t>ess, or </a:t>
            </a:r>
            <a:r>
              <a:rPr lang="en-US" altLang="en-US" b="1" smtClean="0"/>
              <a:t>E</a:t>
            </a:r>
            <a:r>
              <a:rPr lang="en-US" altLang="en-US" smtClean="0"/>
              <a:t>qual to another signed number. </a:t>
            </a:r>
          </a:p>
          <a:p>
            <a:pPr eaLnBrk="1" hangingPunct="1"/>
            <a:r>
              <a:rPr lang="en-US" altLang="en-US" smtClean="0"/>
              <a:t>An unsigned number can be </a:t>
            </a:r>
            <a:r>
              <a:rPr lang="en-US" altLang="en-US" b="1" smtClean="0"/>
              <a:t>A</a:t>
            </a:r>
            <a:r>
              <a:rPr lang="en-US" altLang="en-US" smtClean="0"/>
              <a:t>bove, </a:t>
            </a:r>
            <a:r>
              <a:rPr lang="en-US" altLang="en-US" b="1" smtClean="0"/>
              <a:t>B</a:t>
            </a:r>
            <a:r>
              <a:rPr lang="en-US" altLang="en-US" smtClean="0"/>
              <a:t>elow, or </a:t>
            </a:r>
            <a:r>
              <a:rPr lang="en-US" altLang="en-US" b="1" smtClean="0"/>
              <a:t>E</a:t>
            </a:r>
            <a:r>
              <a:rPr lang="en-US" altLang="en-US" smtClean="0"/>
              <a:t>qual to another unsigned number. </a:t>
            </a:r>
            <a:endParaRPr lang="ar-SA" altLang="en-US" smtClean="0"/>
          </a:p>
        </p:txBody>
      </p:sp>
    </p:spTree>
    <p:extLst>
      <p:ext uri="{BB962C8B-B14F-4D97-AF65-F5344CB8AC3E}">
        <p14:creationId xmlns:p14="http://schemas.microsoft.com/office/powerpoint/2010/main" val="380454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Assembly Language </vt:lpstr>
      <vt:lpstr>Flow Control Instructions</vt:lpstr>
      <vt:lpstr>Transfer of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 JUMP Instructions</vt:lpstr>
      <vt:lpstr>PowerPoint Presentation</vt:lpstr>
      <vt:lpstr>PowerPoint Presentation</vt:lpstr>
      <vt:lpstr>PowerPoint Presentation</vt:lpstr>
      <vt:lpstr>Example Display the entire IBM character set</vt:lpstr>
      <vt:lpstr>Conditional jump instructions </vt:lpstr>
      <vt:lpstr>Conditional jump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Language </dc:title>
  <dc:creator>PC</dc:creator>
  <cp:lastModifiedBy>PC</cp:lastModifiedBy>
  <cp:revision>1</cp:revision>
  <dcterms:created xsi:type="dcterms:W3CDTF">2026-03-19T06:11:31Z</dcterms:created>
  <dcterms:modified xsi:type="dcterms:W3CDTF">2026-03-19T06:11:51Z</dcterms:modified>
</cp:coreProperties>
</file>