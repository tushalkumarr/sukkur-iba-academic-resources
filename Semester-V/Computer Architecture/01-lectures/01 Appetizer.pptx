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310" r:id="rId2"/>
    <p:sldId id="268" r:id="rId3"/>
    <p:sldId id="271" r:id="rId4"/>
    <p:sldId id="272" r:id="rId5"/>
    <p:sldId id="273" r:id="rId6"/>
    <p:sldId id="274" r:id="rId7"/>
    <p:sldId id="275" r:id="rId8"/>
    <p:sldId id="276" r:id="rId9"/>
    <p:sldId id="277" r:id="rId10"/>
    <p:sldId id="278" r:id="rId11"/>
    <p:sldId id="279" r:id="rId12"/>
    <p:sldId id="280" r:id="rId13"/>
    <p:sldId id="281" r:id="rId14"/>
    <p:sldId id="282" r:id="rId15"/>
    <p:sldId id="284" r:id="rId16"/>
    <p:sldId id="285" r:id="rId17"/>
    <p:sldId id="286" r:id="rId18"/>
    <p:sldId id="287" r:id="rId19"/>
    <p:sldId id="289" r:id="rId20"/>
    <p:sldId id="290" r:id="rId21"/>
    <p:sldId id="291" r:id="rId22"/>
    <p:sldId id="292" r:id="rId23"/>
    <p:sldId id="293" r:id="rId24"/>
    <p:sldId id="294" r:id="rId25"/>
    <p:sldId id="295" r:id="rId26"/>
    <p:sldId id="296" r:id="rId27"/>
    <p:sldId id="297" r:id="rId28"/>
    <p:sldId id="298" r:id="rId29"/>
    <p:sldId id="299" r:id="rId30"/>
    <p:sldId id="300" r:id="rId31"/>
    <p:sldId id="301" r:id="rId32"/>
    <p:sldId id="302" r:id="rId33"/>
    <p:sldId id="303" r:id="rId34"/>
    <p:sldId id="304" r:id="rId35"/>
    <p:sldId id="305" r:id="rId36"/>
    <p:sldId id="306" r:id="rId37"/>
    <p:sldId id="307" r:id="rId38"/>
    <p:sldId id="308" r:id="rId39"/>
    <p:sldId id="309"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8F56D5-AD18-4B2C-ADFA-F34F82E4B33F}" type="datetimeFigureOut">
              <a:rPr lang="en-US" smtClean="0"/>
              <a:t>1/15/2026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098554-E780-4ECE-8F43-C9F1F8C2BA9C}" type="slidenum">
              <a:rPr lang="en-US" smtClean="0"/>
              <a:t>‹#›</a:t>
            </a:fld>
            <a:endParaRPr lang="en-US"/>
          </a:p>
        </p:txBody>
      </p:sp>
    </p:spTree>
    <p:extLst>
      <p:ext uri="{BB962C8B-B14F-4D97-AF65-F5344CB8AC3E}">
        <p14:creationId xmlns:p14="http://schemas.microsoft.com/office/powerpoint/2010/main" val="2649913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913816-03D9-4569-8033-96027ACED805}" type="slidenum">
              <a:rPr lang="en-US"/>
              <a:pPr/>
              <a:t>3</a:t>
            </a:fld>
            <a:endParaRPr lang="en-US"/>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64138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3E8B492-35F5-490C-95C8-B1F620EBBF6F}" type="slidenum">
              <a:rPr lang="en-US"/>
              <a:pPr/>
              <a:t>4</a:t>
            </a:fld>
            <a:endParaRPr lang="en-US"/>
          </a:p>
        </p:txBody>
      </p:sp>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597037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497067-C6A8-41F3-AEB9-3AA1F85B6E20}" type="slidenum">
              <a:rPr lang="en-US"/>
              <a:pPr/>
              <a:t>5</a:t>
            </a:fld>
            <a:endParaRPr lang="en-US"/>
          </a:p>
        </p:txBody>
      </p:sp>
      <p:sp>
        <p:nvSpPr>
          <p:cNvPr id="91138" name="Rectangle 2"/>
          <p:cNvSpPr>
            <a:spLocks noGrp="1" noRot="1" noChangeAspect="1" noChangeArrowheads="1" noTextEdit="1"/>
          </p:cNvSpPr>
          <p:nvPr>
            <p:ph type="sldImg"/>
          </p:nvPr>
        </p:nvSpPr>
        <p:spPr>
          <a:ln/>
        </p:spPr>
      </p:sp>
      <p:sp>
        <p:nvSpPr>
          <p:cNvPr id="9113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5112584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7F8663-344B-443C-AB52-4E2543C2D16E}" type="slidenum">
              <a:rPr lang="en-US"/>
              <a:pPr/>
              <a:t>6</a:t>
            </a:fld>
            <a:endParaRPr lang="en-US"/>
          </a:p>
        </p:txBody>
      </p:sp>
      <p:sp>
        <p:nvSpPr>
          <p:cNvPr id="92162" name="Rectangle 2"/>
          <p:cNvSpPr>
            <a:spLocks noGrp="1" noRot="1" noChangeAspect="1" noChangeArrowheads="1" noTextEdit="1"/>
          </p:cNvSpPr>
          <p:nvPr>
            <p:ph type="sldImg"/>
          </p:nvPr>
        </p:nvSpPr>
        <p:spPr>
          <a:ln/>
        </p:spPr>
      </p:sp>
      <p:sp>
        <p:nvSpPr>
          <p:cNvPr id="9216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4397651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08B5C9-40A3-4BAF-A38B-BBAE216A21A2}" type="slidenum">
              <a:rPr lang="en-US"/>
              <a:pPr/>
              <a:t>7</a:t>
            </a:fld>
            <a:endParaRPr lang="en-US"/>
          </a:p>
        </p:txBody>
      </p:sp>
      <p:sp>
        <p:nvSpPr>
          <p:cNvPr id="93186" name="Rectangle 2"/>
          <p:cNvSpPr>
            <a:spLocks noGrp="1" noRot="1" noChangeAspect="1" noChangeArrowheads="1" noTextEdit="1"/>
          </p:cNvSpPr>
          <p:nvPr>
            <p:ph type="sldImg"/>
          </p:nvPr>
        </p:nvSpPr>
        <p:spPr>
          <a:ln/>
        </p:spPr>
      </p:sp>
      <p:sp>
        <p:nvSpPr>
          <p:cNvPr id="931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9859881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BED0F16-C8A9-4B7D-B357-8F5234257DE2}" type="slidenum">
              <a:rPr lang="en-US"/>
              <a:pPr/>
              <a:t>8</a:t>
            </a:fld>
            <a:endParaRPr lang="en-US"/>
          </a:p>
        </p:txBody>
      </p:sp>
      <p:sp>
        <p:nvSpPr>
          <p:cNvPr id="94210" name="Rectangle 2"/>
          <p:cNvSpPr>
            <a:spLocks noGrp="1" noRot="1" noChangeAspect="1" noChangeArrowheads="1" noTextEdit="1"/>
          </p:cNvSpPr>
          <p:nvPr>
            <p:ph type="sldImg"/>
          </p:nvPr>
        </p:nvSpPr>
        <p:spPr>
          <a:ln/>
        </p:spPr>
      </p:sp>
      <p:sp>
        <p:nvSpPr>
          <p:cNvPr id="942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279358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9BC9875-E537-4EA1-AB51-D2732ED67557}" type="slidenum">
              <a:rPr lang="en-US"/>
              <a:pPr/>
              <a:t>9</a:t>
            </a:fld>
            <a:endParaRPr lang="en-US"/>
          </a:p>
        </p:txBody>
      </p:sp>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2611589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B80ED5-8BB8-4210-BAE6-BBD070469AF6}" type="slidenum">
              <a:rPr lang="en-US"/>
              <a:pPr/>
              <a:t>10</a:t>
            </a:fld>
            <a:endParaRPr lang="en-US"/>
          </a:p>
        </p:txBody>
      </p:sp>
      <p:sp>
        <p:nvSpPr>
          <p:cNvPr id="96258" name="Rectangle 2"/>
          <p:cNvSpPr>
            <a:spLocks noGrp="1" noRot="1" noChangeAspect="1" noChangeArrowheads="1" noTextEdit="1"/>
          </p:cNvSpPr>
          <p:nvPr>
            <p:ph type="sldImg"/>
          </p:nvPr>
        </p:nvSpPr>
        <p:spPr>
          <a:ln/>
        </p:spPr>
      </p:sp>
      <p:sp>
        <p:nvSpPr>
          <p:cNvPr id="9625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2960871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E851919-DA8C-45D0-98CC-C143C093B493}" type="slidenum">
              <a:rPr lang="en-US"/>
              <a:pPr/>
              <a:t>11</a:t>
            </a:fld>
            <a:endParaRPr lang="en-US"/>
          </a:p>
        </p:txBody>
      </p:sp>
      <p:sp>
        <p:nvSpPr>
          <p:cNvPr id="97282" name="Rectangle 2"/>
          <p:cNvSpPr>
            <a:spLocks noGrp="1" noRot="1" noChangeAspect="1" noChangeArrowheads="1" noTextEdit="1"/>
          </p:cNvSpPr>
          <p:nvPr>
            <p:ph type="sldImg"/>
          </p:nvPr>
        </p:nvSpPr>
        <p:spPr>
          <a:ln/>
        </p:spPr>
      </p:sp>
      <p:sp>
        <p:nvSpPr>
          <p:cNvPr id="9728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7569267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1D4FAD3-D8C8-42AF-9228-4609A2E0D2D0}" type="slidenum">
              <a:rPr lang="en-US"/>
              <a:pPr/>
              <a:t>12</a:t>
            </a:fld>
            <a:endParaRPr lang="en-US"/>
          </a:p>
        </p:txBody>
      </p:sp>
      <p:sp>
        <p:nvSpPr>
          <p:cNvPr id="98306" name="Rectangle 2"/>
          <p:cNvSpPr>
            <a:spLocks noGrp="1" noRot="1" noChangeAspect="1" noChangeArrowheads="1" noTextEdit="1"/>
          </p:cNvSpPr>
          <p:nvPr>
            <p:ph type="sldImg"/>
          </p:nvPr>
        </p:nvSpPr>
        <p:spPr>
          <a:ln/>
        </p:spPr>
      </p:sp>
      <p:sp>
        <p:nvSpPr>
          <p:cNvPr id="9830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503132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95E4B91-2856-4E19-9929-9C45052439B0}" type="slidenum">
              <a:rPr lang="en-US"/>
              <a:pPr/>
              <a:t>13</a:t>
            </a:fld>
            <a:endParaRPr lang="en-US"/>
          </a:p>
        </p:txBody>
      </p:sp>
      <p:sp>
        <p:nvSpPr>
          <p:cNvPr id="99330" name="Rectangle 2"/>
          <p:cNvSpPr>
            <a:spLocks noGrp="1" noRot="1" noChangeAspect="1" noChangeArrowheads="1" noTextEdit="1"/>
          </p:cNvSpPr>
          <p:nvPr>
            <p:ph type="sldImg"/>
          </p:nvPr>
        </p:nvSpPr>
        <p:spPr>
          <a:ln/>
        </p:spPr>
      </p:sp>
      <p:sp>
        <p:nvSpPr>
          <p:cNvPr id="993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6196261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42C89A0-BF8B-4A98-9BD2-88D1C9B9FC5C}" type="slidenum">
              <a:rPr lang="en-US"/>
              <a:pPr/>
              <a:t>14</a:t>
            </a:fld>
            <a:endParaRPr lang="en-US"/>
          </a:p>
        </p:txBody>
      </p:sp>
      <p:sp>
        <p:nvSpPr>
          <p:cNvPr id="100354" name="Rectangle 2"/>
          <p:cNvSpPr>
            <a:spLocks noGrp="1" noRot="1" noChangeAspect="1" noChangeArrowheads="1" noTextEdit="1"/>
          </p:cNvSpPr>
          <p:nvPr>
            <p:ph type="sldImg"/>
          </p:nvPr>
        </p:nvSpPr>
        <p:spPr>
          <a:ln/>
        </p:spPr>
      </p:sp>
      <p:sp>
        <p:nvSpPr>
          <p:cNvPr id="1003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990994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9CE0DBA-25B5-4A61-A77B-91C1D671CCAD}" type="slidenum">
              <a:rPr lang="en-US"/>
              <a:pPr/>
              <a:t>15</a:t>
            </a:fld>
            <a:endParaRPr lang="en-US"/>
          </a:p>
        </p:txBody>
      </p:sp>
      <p:sp>
        <p:nvSpPr>
          <p:cNvPr id="101378" name="Rectangle 2"/>
          <p:cNvSpPr>
            <a:spLocks noGrp="1" noRot="1" noChangeAspect="1" noChangeArrowheads="1" noTextEdit="1"/>
          </p:cNvSpPr>
          <p:nvPr>
            <p:ph type="sldImg"/>
          </p:nvPr>
        </p:nvSpPr>
        <p:spPr>
          <a:ln/>
        </p:spPr>
      </p:sp>
      <p:sp>
        <p:nvSpPr>
          <p:cNvPr id="10137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0431777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F2A3634-C8C6-4C85-8E36-2767FED90584}" type="slidenum">
              <a:rPr lang="en-US"/>
              <a:pPr/>
              <a:t>16</a:t>
            </a:fld>
            <a:endParaRPr lang="en-US"/>
          </a:p>
        </p:txBody>
      </p:sp>
      <p:sp>
        <p:nvSpPr>
          <p:cNvPr id="102402" name="Rectangle 2"/>
          <p:cNvSpPr>
            <a:spLocks noGrp="1" noRot="1" noChangeAspect="1" noChangeArrowheads="1" noTextEdit="1"/>
          </p:cNvSpPr>
          <p:nvPr>
            <p:ph type="sldImg"/>
          </p:nvPr>
        </p:nvSpPr>
        <p:spPr>
          <a:ln/>
        </p:spPr>
      </p:sp>
      <p:sp>
        <p:nvSpPr>
          <p:cNvPr id="1024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9720998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44C5D2B-908B-4160-84EA-F9FA71F70A19}" type="slidenum">
              <a:rPr lang="en-US"/>
              <a:pPr/>
              <a:t>17</a:t>
            </a:fld>
            <a:endParaRPr lang="en-US"/>
          </a:p>
        </p:txBody>
      </p:sp>
      <p:sp>
        <p:nvSpPr>
          <p:cNvPr id="103426" name="Rectangle 2"/>
          <p:cNvSpPr>
            <a:spLocks noGrp="1" noRot="1" noChangeAspect="1" noChangeArrowheads="1" noTextEdit="1"/>
          </p:cNvSpPr>
          <p:nvPr>
            <p:ph type="sldImg"/>
          </p:nvPr>
        </p:nvSpPr>
        <p:spPr>
          <a:ln/>
        </p:spPr>
      </p:sp>
      <p:sp>
        <p:nvSpPr>
          <p:cNvPr id="1034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0848226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6F01C80-37E8-40A2-9081-2D89414857A0}" type="slidenum">
              <a:rPr lang="en-US"/>
              <a:pPr/>
              <a:t>18</a:t>
            </a:fld>
            <a:endParaRPr lang="en-US"/>
          </a:p>
        </p:txBody>
      </p:sp>
      <p:sp>
        <p:nvSpPr>
          <p:cNvPr id="104450" name="Rectangle 2"/>
          <p:cNvSpPr>
            <a:spLocks noGrp="1" noRot="1" noChangeAspect="1" noChangeArrowheads="1" noTextEdit="1"/>
          </p:cNvSpPr>
          <p:nvPr>
            <p:ph type="sldImg"/>
          </p:nvPr>
        </p:nvSpPr>
        <p:spPr>
          <a:ln/>
        </p:spPr>
      </p:sp>
      <p:sp>
        <p:nvSpPr>
          <p:cNvPr id="1044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5977373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9D9B5B-FFC9-46BA-BB4C-4FC0DD96B39B}" type="slidenum">
              <a:rPr lang="en-US"/>
              <a:pPr/>
              <a:t>21</a:t>
            </a:fld>
            <a:endParaRPr lang="en-US"/>
          </a:p>
        </p:txBody>
      </p:sp>
      <p:sp>
        <p:nvSpPr>
          <p:cNvPr id="105474" name="Rectangle 2"/>
          <p:cNvSpPr>
            <a:spLocks noGrp="1" noRot="1" noChangeAspect="1" noChangeArrowheads="1" noTextEdit="1"/>
          </p:cNvSpPr>
          <p:nvPr>
            <p:ph type="sldImg"/>
          </p:nvPr>
        </p:nvSpPr>
        <p:spPr>
          <a:ln/>
        </p:spPr>
      </p:sp>
      <p:sp>
        <p:nvSpPr>
          <p:cNvPr id="1054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622961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1A6B6B-8AC5-4B31-A962-D2B04EDB5F3C}" type="slidenum">
              <a:rPr lang="en-US"/>
              <a:pPr/>
              <a:t>22</a:t>
            </a:fld>
            <a:endParaRPr lang="en-US"/>
          </a:p>
        </p:txBody>
      </p:sp>
      <p:sp>
        <p:nvSpPr>
          <p:cNvPr id="106498" name="Rectangle 2"/>
          <p:cNvSpPr>
            <a:spLocks noGrp="1" noRot="1" noChangeAspect="1" noChangeArrowheads="1" noTextEdit="1"/>
          </p:cNvSpPr>
          <p:nvPr>
            <p:ph type="sldImg"/>
          </p:nvPr>
        </p:nvSpPr>
        <p:spPr>
          <a:ln/>
        </p:spPr>
      </p:sp>
      <p:sp>
        <p:nvSpPr>
          <p:cNvPr id="1064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0333051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48B0DA2-F954-46A8-B3A1-DD754DEF5C25}" type="slidenum">
              <a:rPr lang="en-US"/>
              <a:pPr/>
              <a:t>23</a:t>
            </a:fld>
            <a:endParaRPr lang="en-US"/>
          </a:p>
        </p:txBody>
      </p:sp>
      <p:sp>
        <p:nvSpPr>
          <p:cNvPr id="107522" name="Rectangle 2"/>
          <p:cNvSpPr>
            <a:spLocks noGrp="1" noRot="1" noChangeAspect="1" noChangeArrowheads="1" noTextEdit="1"/>
          </p:cNvSpPr>
          <p:nvPr>
            <p:ph type="sldImg"/>
          </p:nvPr>
        </p:nvSpPr>
        <p:spPr>
          <a:ln/>
        </p:spPr>
      </p:sp>
      <p:sp>
        <p:nvSpPr>
          <p:cNvPr id="1075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078919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CF426FB-A600-4C26-9C81-09266FB52ED0}" type="slidenum">
              <a:rPr lang="en-US"/>
              <a:pPr/>
              <a:t>26</a:t>
            </a:fld>
            <a:endParaRPr lang="en-US"/>
          </a:p>
        </p:txBody>
      </p:sp>
      <p:sp>
        <p:nvSpPr>
          <p:cNvPr id="108546" name="Rectangle 2"/>
          <p:cNvSpPr>
            <a:spLocks noGrp="1" noRot="1" noChangeAspect="1" noChangeArrowheads="1" noTextEdit="1"/>
          </p:cNvSpPr>
          <p:nvPr>
            <p:ph type="sldImg"/>
          </p:nvPr>
        </p:nvSpPr>
        <p:spPr>
          <a:ln/>
        </p:spPr>
      </p:sp>
      <p:sp>
        <p:nvSpPr>
          <p:cNvPr id="1085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4194754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55B564E-9212-46C3-9E2E-4565FCD036AB}"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FE318-34B9-4ED6-ACB4-94F83F14D9D3}" type="slidenum">
              <a:rPr lang="en-US" smtClean="0"/>
              <a:t>‹#›</a:t>
            </a:fld>
            <a:endParaRPr lang="en-US"/>
          </a:p>
        </p:txBody>
      </p:sp>
    </p:spTree>
    <p:extLst>
      <p:ext uri="{BB962C8B-B14F-4D97-AF65-F5344CB8AC3E}">
        <p14:creationId xmlns:p14="http://schemas.microsoft.com/office/powerpoint/2010/main" val="4051870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55B564E-9212-46C3-9E2E-4565FCD036AB}"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FE318-34B9-4ED6-ACB4-94F83F14D9D3}" type="slidenum">
              <a:rPr lang="en-US" smtClean="0"/>
              <a:t>‹#›</a:t>
            </a:fld>
            <a:endParaRPr lang="en-US"/>
          </a:p>
        </p:txBody>
      </p:sp>
    </p:spTree>
    <p:extLst>
      <p:ext uri="{BB962C8B-B14F-4D97-AF65-F5344CB8AC3E}">
        <p14:creationId xmlns:p14="http://schemas.microsoft.com/office/powerpoint/2010/main" val="1927319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55B564E-9212-46C3-9E2E-4565FCD036AB}"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FE318-34B9-4ED6-ACB4-94F83F14D9D3}" type="slidenum">
              <a:rPr lang="en-US" smtClean="0"/>
              <a:t>‹#›</a:t>
            </a:fld>
            <a:endParaRPr lang="en-US"/>
          </a:p>
        </p:txBody>
      </p:sp>
    </p:spTree>
    <p:extLst>
      <p:ext uri="{BB962C8B-B14F-4D97-AF65-F5344CB8AC3E}">
        <p14:creationId xmlns:p14="http://schemas.microsoft.com/office/powerpoint/2010/main" val="2304252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55B564E-9212-46C3-9E2E-4565FCD036AB}"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1FE318-34B9-4ED6-ACB4-94F83F14D9D3}" type="slidenum">
              <a:rPr lang="en-US" smtClean="0"/>
              <a:t>‹#›</a:t>
            </a:fld>
            <a:endParaRPr lang="en-US"/>
          </a:p>
        </p:txBody>
      </p:sp>
    </p:spTree>
    <p:extLst>
      <p:ext uri="{BB962C8B-B14F-4D97-AF65-F5344CB8AC3E}">
        <p14:creationId xmlns:p14="http://schemas.microsoft.com/office/powerpoint/2010/main" val="1589743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55B564E-9212-46C3-9E2E-4565FCD036AB}" type="datetimeFigureOut">
              <a:rPr lang="en-US" smtClean="0"/>
              <a:t>1/15/2026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71FE318-34B9-4ED6-ACB4-94F83F14D9D3}" type="slidenum">
              <a:rPr lang="en-US" smtClean="0"/>
              <a:t>‹#›</a:t>
            </a:fld>
            <a:endParaRPr lang="en-US"/>
          </a:p>
        </p:txBody>
      </p:sp>
    </p:spTree>
    <p:extLst>
      <p:ext uri="{BB962C8B-B14F-4D97-AF65-F5344CB8AC3E}">
        <p14:creationId xmlns:p14="http://schemas.microsoft.com/office/powerpoint/2010/main" val="930827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55B564E-9212-46C3-9E2E-4565FCD036AB}" type="datetimeFigureOut">
              <a:rPr lang="en-US" smtClean="0"/>
              <a:t>1/15/2026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71FE318-34B9-4ED6-ACB4-94F83F14D9D3}" type="slidenum">
              <a:rPr lang="en-US" smtClean="0"/>
              <a:t>‹#›</a:t>
            </a:fld>
            <a:endParaRPr lang="en-US"/>
          </a:p>
        </p:txBody>
      </p:sp>
    </p:spTree>
    <p:extLst>
      <p:ext uri="{BB962C8B-B14F-4D97-AF65-F5344CB8AC3E}">
        <p14:creationId xmlns:p14="http://schemas.microsoft.com/office/powerpoint/2010/main" val="677225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5B564E-9212-46C3-9E2E-4565FCD036AB}" type="datetimeFigureOut">
              <a:rPr lang="en-US" smtClean="0"/>
              <a:t>1/15/2026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71FE318-34B9-4ED6-ACB4-94F83F14D9D3}" type="slidenum">
              <a:rPr lang="en-US" smtClean="0"/>
              <a:t>‹#›</a:t>
            </a:fld>
            <a:endParaRPr lang="en-US"/>
          </a:p>
        </p:txBody>
      </p:sp>
    </p:spTree>
    <p:extLst>
      <p:ext uri="{BB962C8B-B14F-4D97-AF65-F5344CB8AC3E}">
        <p14:creationId xmlns:p14="http://schemas.microsoft.com/office/powerpoint/2010/main" val="8185586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55B564E-9212-46C3-9E2E-4565FCD036AB}"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1FE318-34B9-4ED6-ACB4-94F83F14D9D3}" type="slidenum">
              <a:rPr lang="en-US" smtClean="0"/>
              <a:t>‹#›</a:t>
            </a:fld>
            <a:endParaRPr lang="en-US"/>
          </a:p>
        </p:txBody>
      </p:sp>
    </p:spTree>
    <p:extLst>
      <p:ext uri="{BB962C8B-B14F-4D97-AF65-F5344CB8AC3E}">
        <p14:creationId xmlns:p14="http://schemas.microsoft.com/office/powerpoint/2010/main" val="4076711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55B564E-9212-46C3-9E2E-4565FCD036AB}"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71FE318-34B9-4ED6-ACB4-94F83F14D9D3}" type="slidenum">
              <a:rPr lang="en-US" smtClean="0"/>
              <a:t>‹#›</a:t>
            </a:fld>
            <a:endParaRPr lang="en-US"/>
          </a:p>
        </p:txBody>
      </p:sp>
    </p:spTree>
    <p:extLst>
      <p:ext uri="{BB962C8B-B14F-4D97-AF65-F5344CB8AC3E}">
        <p14:creationId xmlns:p14="http://schemas.microsoft.com/office/powerpoint/2010/main" val="775673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55B564E-9212-46C3-9E2E-4565FCD036AB}"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FE318-34B9-4ED6-ACB4-94F83F14D9D3}" type="slidenum">
              <a:rPr lang="en-US" smtClean="0"/>
              <a:t>‹#›</a:t>
            </a:fld>
            <a:endParaRPr lang="en-US"/>
          </a:p>
        </p:txBody>
      </p:sp>
    </p:spTree>
    <p:extLst>
      <p:ext uri="{BB962C8B-B14F-4D97-AF65-F5344CB8AC3E}">
        <p14:creationId xmlns:p14="http://schemas.microsoft.com/office/powerpoint/2010/main" val="11550006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55B564E-9212-46C3-9E2E-4565FCD036AB}"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71FE318-34B9-4ED6-ACB4-94F83F14D9D3}" type="slidenum">
              <a:rPr lang="en-US" smtClean="0"/>
              <a:t>‹#›</a:t>
            </a:fld>
            <a:endParaRPr lang="en-US"/>
          </a:p>
        </p:txBody>
      </p:sp>
    </p:spTree>
    <p:extLst>
      <p:ext uri="{BB962C8B-B14F-4D97-AF65-F5344CB8AC3E}">
        <p14:creationId xmlns:p14="http://schemas.microsoft.com/office/powerpoint/2010/main" val="25511523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1371600"/>
          </a:xfrm>
        </p:spPr>
        <p:txBody>
          <a:bodyPr/>
          <a:lstStyle/>
          <a:p>
            <a:r>
              <a:rPr lang="en-US"/>
              <a:t>Click to edit Master title style</a:t>
            </a:r>
          </a:p>
        </p:txBody>
      </p:sp>
      <p:sp>
        <p:nvSpPr>
          <p:cNvPr id="3" name="Text Placeholder 2"/>
          <p:cNvSpPr>
            <a:spLocks noGrp="1"/>
          </p:cNvSpPr>
          <p:nvPr>
            <p:ph type="body" sz="half" idx="1"/>
          </p:nvPr>
        </p:nvSpPr>
        <p:spPr>
          <a:xfrm>
            <a:off x="609600" y="1981200"/>
            <a:ext cx="5384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981200"/>
            <a:ext cx="5384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4165600" y="6248400"/>
            <a:ext cx="3860800" cy="457200"/>
          </a:xfrm>
        </p:spPr>
        <p:txBody>
          <a:bodyPr/>
          <a:lstStyle>
            <a:lvl1pPr>
              <a:defRPr/>
            </a:lvl1pPr>
          </a:lstStyle>
          <a:p>
            <a:endParaRPr lang="en-US"/>
          </a:p>
        </p:txBody>
      </p:sp>
      <p:sp>
        <p:nvSpPr>
          <p:cNvPr id="6" name="Slide Number Placeholder 5"/>
          <p:cNvSpPr>
            <a:spLocks noGrp="1"/>
          </p:cNvSpPr>
          <p:nvPr>
            <p:ph type="sldNum" sz="quarter" idx="11"/>
          </p:nvPr>
        </p:nvSpPr>
        <p:spPr>
          <a:xfrm>
            <a:off x="8737600" y="6248400"/>
            <a:ext cx="2844800" cy="457200"/>
          </a:xfrm>
        </p:spPr>
        <p:txBody>
          <a:bodyPr/>
          <a:lstStyle>
            <a:lvl1pPr>
              <a:defRPr/>
            </a:lvl1pPr>
          </a:lstStyle>
          <a:p>
            <a:fld id="{DF490137-BF9C-4F8C-9815-DD2962A03CA4}" type="slidenum">
              <a:rPr lang="en-US"/>
              <a:pPr/>
              <a:t>‹#›</a:t>
            </a:fld>
            <a:endParaRPr lang="en-US"/>
          </a:p>
        </p:txBody>
      </p:sp>
      <p:sp>
        <p:nvSpPr>
          <p:cNvPr id="7" name="Date Placeholder 6"/>
          <p:cNvSpPr>
            <a:spLocks noGrp="1"/>
          </p:cNvSpPr>
          <p:nvPr>
            <p:ph type="dt" sz="half" idx="12"/>
          </p:nvPr>
        </p:nvSpPr>
        <p:spPr>
          <a:xfrm>
            <a:off x="609600" y="6245225"/>
            <a:ext cx="2844800" cy="476250"/>
          </a:xfrm>
        </p:spPr>
        <p:txBody>
          <a:bodyPr/>
          <a:lstStyle>
            <a:lvl1pPr>
              <a:defRPr/>
            </a:lvl1pPr>
          </a:lstStyle>
          <a:p>
            <a:endParaRPr lang="en-US"/>
          </a:p>
        </p:txBody>
      </p:sp>
    </p:spTree>
    <p:extLst>
      <p:ext uri="{BB962C8B-B14F-4D97-AF65-F5344CB8AC3E}">
        <p14:creationId xmlns:p14="http://schemas.microsoft.com/office/powerpoint/2010/main" val="2485427204"/>
      </p:ext>
    </p:extLst>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5B564E-9212-46C3-9E2E-4565FCD036AB}" type="datetimeFigureOut">
              <a:rPr lang="en-US" smtClean="0"/>
              <a:t>1/15/2026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1FE318-34B9-4ED6-ACB4-94F83F14D9D3}" type="slidenum">
              <a:rPr lang="en-US" smtClean="0"/>
              <a:t>‹#›</a:t>
            </a:fld>
            <a:endParaRPr lang="en-US"/>
          </a:p>
        </p:txBody>
      </p:sp>
    </p:spTree>
    <p:extLst>
      <p:ext uri="{BB962C8B-B14F-4D97-AF65-F5344CB8AC3E}">
        <p14:creationId xmlns:p14="http://schemas.microsoft.com/office/powerpoint/2010/main" val="15490754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335294"/>
            <a:ext cx="10515600" cy="4351338"/>
          </a:xfrm>
        </p:spPr>
        <p:txBody>
          <a:bodyPr>
            <a:normAutofit/>
          </a:bodyPr>
          <a:lstStyle/>
          <a:p>
            <a:pPr marL="0" indent="0" algn="ctr">
              <a:buNone/>
            </a:pPr>
            <a:endParaRPr lang="en-US" sz="8800" dirty="0" smtClean="0">
              <a:effectLst>
                <a:outerShdw blurRad="38100" dist="38100" dir="2700000" algn="tl">
                  <a:srgbClr val="000000">
                    <a:alpha val="43137"/>
                  </a:srgbClr>
                </a:outerShdw>
              </a:effectLst>
            </a:endParaRPr>
          </a:p>
          <a:p>
            <a:pPr marL="0" indent="0" algn="ctr">
              <a:buNone/>
            </a:pPr>
            <a:r>
              <a:rPr lang="en-US" sz="8800" dirty="0" smtClean="0">
                <a:effectLst>
                  <a:outerShdw blurRad="38100" dist="38100" dir="2700000" algn="tl">
                    <a:srgbClr val="000000">
                      <a:alpha val="43137"/>
                    </a:srgbClr>
                  </a:outerShdw>
                </a:effectLst>
              </a:rPr>
              <a:t>APPETIZER</a:t>
            </a:r>
            <a:endParaRPr lang="en-US" sz="8800" dirty="0"/>
          </a:p>
        </p:txBody>
      </p:sp>
    </p:spTree>
    <p:extLst>
      <p:ext uri="{BB962C8B-B14F-4D97-AF65-F5344CB8AC3E}">
        <p14:creationId xmlns:p14="http://schemas.microsoft.com/office/powerpoint/2010/main" val="3043885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Parts of Computer Hardware</a:t>
            </a:r>
            <a:endParaRPr lang="en-US" dirty="0">
              <a:effectLst>
                <a:outerShdw blurRad="38100" dist="38100" dir="2700000" algn="tl">
                  <a:srgbClr val="000000">
                    <a:alpha val="43137"/>
                  </a:srgbClr>
                </a:outerShdw>
              </a:effectLst>
            </a:endParaRPr>
          </a:p>
        </p:txBody>
      </p:sp>
      <p:sp>
        <p:nvSpPr>
          <p:cNvPr id="6" name="Rectangle 5"/>
          <p:cNvSpPr/>
          <p:nvPr/>
        </p:nvSpPr>
        <p:spPr>
          <a:xfrm>
            <a:off x="3940963" y="1701070"/>
            <a:ext cx="7872280" cy="4679924"/>
          </a:xfrm>
          <a:prstGeom prst="rect">
            <a:avLst/>
          </a:prstGeom>
        </p:spPr>
        <p:style>
          <a:lnRef idx="1">
            <a:schemeClr val="accent1"/>
          </a:lnRef>
          <a:fillRef idx="2">
            <a:schemeClr val="accent1"/>
          </a:fillRef>
          <a:effectRef idx="1">
            <a:schemeClr val="accent1"/>
          </a:effectRef>
          <a:fontRef idx="minor">
            <a:schemeClr val="dk1"/>
          </a:fontRef>
        </p:style>
        <p:txBody>
          <a:bodyPr vert="vert270" rtlCol="0" anchor="t" anchorCtr="0">
            <a:scene3d>
              <a:camera prst="orthographicFront">
                <a:rot lat="0" lon="0" rev="0"/>
              </a:camera>
              <a:lightRig rig="threePt" dir="t"/>
            </a:scene3d>
          </a:bodyPr>
          <a:lstStyle/>
          <a:p>
            <a:pPr algn="ctr"/>
            <a:endParaRPr lang="en-US" dirty="0"/>
          </a:p>
        </p:txBody>
      </p:sp>
      <p:sp>
        <p:nvSpPr>
          <p:cNvPr id="7" name="Rounded Rectangle 6"/>
          <p:cNvSpPr/>
          <p:nvPr/>
        </p:nvSpPr>
        <p:spPr>
          <a:xfrm>
            <a:off x="967219" y="1725773"/>
            <a:ext cx="1902590" cy="2150772"/>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Input </a:t>
            </a:r>
          </a:p>
          <a:p>
            <a:pPr algn="ctr"/>
            <a:r>
              <a:rPr lang="en-US" dirty="0" smtClean="0"/>
              <a:t>Devices</a:t>
            </a:r>
            <a:endParaRPr lang="en-US" dirty="0"/>
          </a:p>
        </p:txBody>
      </p:sp>
      <p:sp>
        <p:nvSpPr>
          <p:cNvPr id="14" name="Rounded Rectangle 13"/>
          <p:cNvSpPr/>
          <p:nvPr/>
        </p:nvSpPr>
        <p:spPr>
          <a:xfrm>
            <a:off x="967218" y="4068533"/>
            <a:ext cx="1937711" cy="2107184"/>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dirty="0" smtClean="0"/>
              <a:t>Output</a:t>
            </a:r>
          </a:p>
          <a:p>
            <a:pPr algn="ctr"/>
            <a:r>
              <a:rPr lang="en-US" dirty="0" smtClean="0"/>
              <a:t>Devices</a:t>
            </a:r>
            <a:endParaRPr lang="en-US" dirty="0"/>
          </a:p>
        </p:txBody>
      </p:sp>
      <p:cxnSp>
        <p:nvCxnSpPr>
          <p:cNvPr id="17" name="Straight Connector 16"/>
          <p:cNvCxnSpPr/>
          <p:nvPr/>
        </p:nvCxnSpPr>
        <p:spPr>
          <a:xfrm flipV="1">
            <a:off x="2876415" y="3242858"/>
            <a:ext cx="1036033" cy="16116"/>
          </a:xfrm>
          <a:prstGeom prst="line">
            <a:avLst/>
          </a:prstGeom>
        </p:spPr>
        <p:style>
          <a:lnRef idx="3">
            <a:schemeClr val="dk1"/>
          </a:lnRef>
          <a:fillRef idx="0">
            <a:schemeClr val="dk1"/>
          </a:fillRef>
          <a:effectRef idx="2">
            <a:schemeClr val="dk1"/>
          </a:effectRef>
          <a:fontRef idx="minor">
            <a:schemeClr val="tx1"/>
          </a:fontRef>
        </p:style>
      </p:cxnSp>
      <p:sp>
        <p:nvSpPr>
          <p:cNvPr id="20" name="TextBox 19"/>
          <p:cNvSpPr txBox="1"/>
          <p:nvPr/>
        </p:nvSpPr>
        <p:spPr>
          <a:xfrm rot="16200000">
            <a:off x="3201252" y="3856366"/>
            <a:ext cx="667362" cy="369332"/>
          </a:xfrm>
          <a:prstGeom prst="rect">
            <a:avLst/>
          </a:prstGeom>
          <a:noFill/>
        </p:spPr>
        <p:txBody>
          <a:bodyPr wrap="none" rtlCol="0">
            <a:spAutoFit/>
          </a:bodyPr>
          <a:lstStyle/>
          <a:p>
            <a:r>
              <a:rPr lang="en-US" dirty="0" smtClean="0"/>
              <a:t>Ports</a:t>
            </a:r>
            <a:endParaRPr lang="en-US" dirty="0"/>
          </a:p>
        </p:txBody>
      </p:sp>
      <p:sp>
        <p:nvSpPr>
          <p:cNvPr id="21" name="Rectangle 20"/>
          <p:cNvSpPr/>
          <p:nvPr/>
        </p:nvSpPr>
        <p:spPr>
          <a:xfrm>
            <a:off x="5126997" y="3454863"/>
            <a:ext cx="1657421" cy="1301436"/>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r>
              <a:rPr lang="en-US" dirty="0" smtClean="0"/>
              <a:t>Microprocessor</a:t>
            </a:r>
            <a:endParaRPr lang="en-US" dirty="0"/>
          </a:p>
        </p:txBody>
      </p:sp>
      <p:cxnSp>
        <p:nvCxnSpPr>
          <p:cNvPr id="24" name="Straight Connector 23"/>
          <p:cNvCxnSpPr/>
          <p:nvPr/>
        </p:nvCxnSpPr>
        <p:spPr>
          <a:xfrm flipV="1">
            <a:off x="2869809" y="3438875"/>
            <a:ext cx="1036033" cy="16116"/>
          </a:xfrm>
          <a:prstGeom prst="line">
            <a:avLst/>
          </a:prstGeom>
        </p:spPr>
        <p:style>
          <a:lnRef idx="3">
            <a:schemeClr val="dk1"/>
          </a:lnRef>
          <a:fillRef idx="0">
            <a:schemeClr val="dk1"/>
          </a:fillRef>
          <a:effectRef idx="2">
            <a:schemeClr val="dk1"/>
          </a:effectRef>
          <a:fontRef idx="minor">
            <a:schemeClr val="tx1"/>
          </a:fontRef>
        </p:style>
      </p:cxnSp>
      <p:cxnSp>
        <p:nvCxnSpPr>
          <p:cNvPr id="25" name="Straight Connector 24"/>
          <p:cNvCxnSpPr/>
          <p:nvPr/>
        </p:nvCxnSpPr>
        <p:spPr>
          <a:xfrm flipV="1">
            <a:off x="2904930" y="4502174"/>
            <a:ext cx="1036033" cy="16116"/>
          </a:xfrm>
          <a:prstGeom prst="line">
            <a:avLst/>
          </a:prstGeom>
        </p:spPr>
        <p:style>
          <a:lnRef idx="3">
            <a:schemeClr val="dk1"/>
          </a:lnRef>
          <a:fillRef idx="0">
            <a:schemeClr val="dk1"/>
          </a:fillRef>
          <a:effectRef idx="2">
            <a:schemeClr val="dk1"/>
          </a:effectRef>
          <a:fontRef idx="minor">
            <a:schemeClr val="tx1"/>
          </a:fontRef>
        </p:style>
      </p:cxnSp>
      <p:cxnSp>
        <p:nvCxnSpPr>
          <p:cNvPr id="26" name="Straight Connector 25"/>
          <p:cNvCxnSpPr/>
          <p:nvPr/>
        </p:nvCxnSpPr>
        <p:spPr>
          <a:xfrm flipV="1">
            <a:off x="2896678" y="4654574"/>
            <a:ext cx="1036033" cy="16116"/>
          </a:xfrm>
          <a:prstGeom prst="line">
            <a:avLst/>
          </a:prstGeom>
        </p:spPr>
        <p:style>
          <a:lnRef idx="3">
            <a:schemeClr val="dk1"/>
          </a:lnRef>
          <a:fillRef idx="0">
            <a:schemeClr val="dk1"/>
          </a:fillRef>
          <a:effectRef idx="2">
            <a:schemeClr val="dk1"/>
          </a:effectRef>
          <a:fontRef idx="minor">
            <a:schemeClr val="tx1"/>
          </a:fontRef>
        </p:style>
      </p:cxnSp>
      <p:sp>
        <p:nvSpPr>
          <p:cNvPr id="28" name="Rectangle 27"/>
          <p:cNvSpPr/>
          <p:nvPr/>
        </p:nvSpPr>
        <p:spPr>
          <a:xfrm>
            <a:off x="4700869" y="5117084"/>
            <a:ext cx="6452662" cy="887138"/>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dirty="0" smtClean="0"/>
              <a:t>Memory Unit (RAM, ROM, Cache)</a:t>
            </a:r>
            <a:endParaRPr lang="en-US" dirty="0"/>
          </a:p>
        </p:txBody>
      </p:sp>
      <p:sp>
        <p:nvSpPr>
          <p:cNvPr id="29" name="Rectangle 28"/>
          <p:cNvSpPr/>
          <p:nvPr/>
        </p:nvSpPr>
        <p:spPr>
          <a:xfrm>
            <a:off x="4700869" y="2025748"/>
            <a:ext cx="6412608" cy="107469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smtClean="0"/>
              <a:t>STORAGE DEVICES </a:t>
            </a:r>
          </a:p>
          <a:p>
            <a:pPr algn="ctr"/>
            <a:r>
              <a:rPr lang="en-US" dirty="0" smtClean="0"/>
              <a:t>(Hard Disk, CD Drive, DVD Drive, Floppy Drive etc.)</a:t>
            </a:r>
            <a:endParaRPr lang="en-US" dirty="0"/>
          </a:p>
        </p:txBody>
      </p:sp>
      <p:sp>
        <p:nvSpPr>
          <p:cNvPr id="33" name="Round Diagonal Corner Rectangle 32"/>
          <p:cNvSpPr/>
          <p:nvPr/>
        </p:nvSpPr>
        <p:spPr>
          <a:xfrm>
            <a:off x="7061982" y="3454991"/>
            <a:ext cx="2025747" cy="1255711"/>
          </a:xfrm>
          <a:prstGeom prst="round2Diag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Extended Slots</a:t>
            </a:r>
            <a:endParaRPr lang="en-US" dirty="0"/>
          </a:p>
        </p:txBody>
      </p:sp>
      <p:sp>
        <p:nvSpPr>
          <p:cNvPr id="34" name="Quad Arrow Callout 33"/>
          <p:cNvSpPr/>
          <p:nvPr/>
        </p:nvSpPr>
        <p:spPr>
          <a:xfrm>
            <a:off x="9309093" y="3332209"/>
            <a:ext cx="1721284" cy="1553107"/>
          </a:xfrm>
          <a:prstGeom prst="quadArrowCallou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Power</a:t>
            </a:r>
          </a:p>
          <a:p>
            <a:pPr algn="ctr"/>
            <a:r>
              <a:rPr lang="en-US" dirty="0" smtClean="0"/>
              <a:t>Supply</a:t>
            </a:r>
            <a:endParaRPr lang="en-US" dirty="0"/>
          </a:p>
        </p:txBody>
      </p:sp>
      <p:sp>
        <p:nvSpPr>
          <p:cNvPr id="38" name="Left-Right Arrow 37"/>
          <p:cNvSpPr/>
          <p:nvPr/>
        </p:nvSpPr>
        <p:spPr>
          <a:xfrm>
            <a:off x="3925924" y="3718382"/>
            <a:ext cx="1186034" cy="461142"/>
          </a:xfrm>
          <a:prstGeom prst="lef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BUS</a:t>
            </a:r>
            <a:endParaRPr lang="en-US" dirty="0">
              <a:solidFill>
                <a:schemeClr val="bg1"/>
              </a:solidFill>
            </a:endParaRPr>
          </a:p>
        </p:txBody>
      </p:sp>
      <p:sp>
        <p:nvSpPr>
          <p:cNvPr id="40" name="Left-Right Arrow 39"/>
          <p:cNvSpPr/>
          <p:nvPr/>
        </p:nvSpPr>
        <p:spPr>
          <a:xfrm>
            <a:off x="6358283" y="4449288"/>
            <a:ext cx="1186034" cy="461142"/>
          </a:xfrm>
          <a:prstGeom prst="lef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BUS</a:t>
            </a:r>
            <a:endParaRPr lang="en-US" dirty="0">
              <a:solidFill>
                <a:schemeClr val="bg1"/>
              </a:solidFill>
            </a:endParaRPr>
          </a:p>
        </p:txBody>
      </p:sp>
      <p:sp>
        <p:nvSpPr>
          <p:cNvPr id="41" name="Left-Right Arrow 40"/>
          <p:cNvSpPr/>
          <p:nvPr/>
        </p:nvSpPr>
        <p:spPr>
          <a:xfrm>
            <a:off x="8580350" y="4407840"/>
            <a:ext cx="1186034" cy="461142"/>
          </a:xfrm>
          <a:prstGeom prst="lef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BUS</a:t>
            </a:r>
            <a:endParaRPr lang="en-US" dirty="0">
              <a:solidFill>
                <a:schemeClr val="bg1"/>
              </a:solidFill>
            </a:endParaRPr>
          </a:p>
        </p:txBody>
      </p:sp>
      <p:sp>
        <p:nvSpPr>
          <p:cNvPr id="42" name="Left-Right Arrow 41"/>
          <p:cNvSpPr/>
          <p:nvPr/>
        </p:nvSpPr>
        <p:spPr>
          <a:xfrm rot="5400000">
            <a:off x="4786107" y="4748282"/>
            <a:ext cx="1186034" cy="461142"/>
          </a:xfrm>
          <a:prstGeom prst="lef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BUS</a:t>
            </a:r>
            <a:endParaRPr lang="en-US" dirty="0">
              <a:solidFill>
                <a:schemeClr val="bg1"/>
              </a:solidFill>
            </a:endParaRPr>
          </a:p>
        </p:txBody>
      </p:sp>
      <p:sp>
        <p:nvSpPr>
          <p:cNvPr id="44" name="Left-Right Arrow 43"/>
          <p:cNvSpPr/>
          <p:nvPr/>
        </p:nvSpPr>
        <p:spPr>
          <a:xfrm rot="5400000">
            <a:off x="4729430" y="2827014"/>
            <a:ext cx="1186034" cy="461142"/>
          </a:xfrm>
          <a:prstGeom prst="lef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BUS</a:t>
            </a:r>
            <a:endParaRPr lang="en-US" dirty="0">
              <a:solidFill>
                <a:schemeClr val="bg1"/>
              </a:solidFill>
            </a:endParaRPr>
          </a:p>
        </p:txBody>
      </p:sp>
    </p:spTree>
    <p:extLst>
      <p:ext uri="{BB962C8B-B14F-4D97-AF65-F5344CB8AC3E}">
        <p14:creationId xmlns:p14="http://schemas.microsoft.com/office/powerpoint/2010/main" val="2530287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t>Year : 300 B.C</a:t>
            </a:r>
          </a:p>
        </p:txBody>
      </p:sp>
      <p:sp>
        <p:nvSpPr>
          <p:cNvPr id="44035" name="Rectangle 3"/>
          <p:cNvSpPr>
            <a:spLocks noGrp="1" noChangeArrowheads="1"/>
          </p:cNvSpPr>
          <p:nvPr>
            <p:ph type="body" idx="1"/>
          </p:nvPr>
        </p:nvSpPr>
        <p:spPr>
          <a:xfrm>
            <a:off x="4953000" y="5715000"/>
            <a:ext cx="8229600" cy="3886200"/>
          </a:xfrm>
        </p:spPr>
        <p:txBody>
          <a:bodyPr/>
          <a:lstStyle/>
          <a:p>
            <a:pPr>
              <a:buFont typeface="Wingdings" panose="05000000000000000000" pitchFamily="2" charset="2"/>
              <a:buNone/>
            </a:pPr>
            <a:r>
              <a:rPr lang="en-US"/>
              <a:t>ABACUS</a:t>
            </a:r>
          </a:p>
        </p:txBody>
      </p:sp>
      <p:pic>
        <p:nvPicPr>
          <p:cNvPr id="44037" name="Picture 5" descr="abacus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1981200"/>
            <a:ext cx="57150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83694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t>Modern Abacus</a:t>
            </a:r>
          </a:p>
        </p:txBody>
      </p:sp>
      <p:sp>
        <p:nvSpPr>
          <p:cNvPr id="45059" name="Rectangle 3"/>
          <p:cNvSpPr>
            <a:spLocks noGrp="1" noChangeArrowheads="1"/>
          </p:cNvSpPr>
          <p:nvPr>
            <p:ph type="body" idx="1"/>
          </p:nvPr>
        </p:nvSpPr>
        <p:spPr>
          <a:xfrm>
            <a:off x="1981200" y="4191000"/>
            <a:ext cx="8229600" cy="3886200"/>
          </a:xfrm>
        </p:spPr>
        <p:txBody>
          <a:bodyPr/>
          <a:lstStyle/>
          <a:p>
            <a:r>
              <a:rPr lang="en-US"/>
              <a:t>Note how the abacus is really just a representation of the human fingers: the 5 lower rings on each rod represent the 5 fingers and the 2 upper rings represent the 2 hands. </a:t>
            </a:r>
          </a:p>
        </p:txBody>
      </p:sp>
      <p:pic>
        <p:nvPicPr>
          <p:cNvPr id="45061" name="Picture 5" descr="Abacus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981200"/>
            <a:ext cx="4038600" cy="2152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5974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t>Year : 1617 A.D</a:t>
            </a:r>
          </a:p>
        </p:txBody>
      </p:sp>
      <p:sp>
        <p:nvSpPr>
          <p:cNvPr id="46083" name="Rectangle 3"/>
          <p:cNvSpPr>
            <a:spLocks noGrp="1" noChangeArrowheads="1"/>
          </p:cNvSpPr>
          <p:nvPr>
            <p:ph type="body" idx="1"/>
          </p:nvPr>
        </p:nvSpPr>
        <p:spPr/>
        <p:txBody>
          <a:bodyPr/>
          <a:lstStyle/>
          <a:p>
            <a:r>
              <a:rPr lang="en-US"/>
              <a:t>Logarithms:</a:t>
            </a:r>
          </a:p>
          <a:p>
            <a:pPr>
              <a:buFont typeface="Wingdings" panose="05000000000000000000" pitchFamily="2" charset="2"/>
              <a:buNone/>
            </a:pPr>
            <a:r>
              <a:rPr lang="en-US"/>
              <a:t>John Napier invented logarithms, which</a:t>
            </a:r>
          </a:p>
          <a:p>
            <a:pPr>
              <a:buFont typeface="Wingdings" panose="05000000000000000000" pitchFamily="2" charset="2"/>
              <a:buNone/>
            </a:pPr>
            <a:r>
              <a:rPr lang="en-US"/>
              <a:t>are a technology that allows multiplication </a:t>
            </a:r>
          </a:p>
          <a:p>
            <a:pPr>
              <a:buFont typeface="Wingdings" panose="05000000000000000000" pitchFamily="2" charset="2"/>
              <a:buNone/>
            </a:pPr>
            <a:r>
              <a:rPr lang="en-US"/>
              <a:t>to be performed via addition.</a:t>
            </a:r>
          </a:p>
        </p:txBody>
      </p:sp>
    </p:spTree>
    <p:extLst>
      <p:ext uri="{BB962C8B-B14F-4D97-AF65-F5344CB8AC3E}">
        <p14:creationId xmlns:p14="http://schemas.microsoft.com/office/powerpoint/2010/main" val="13426688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9" name="Rectangle 5"/>
          <p:cNvSpPr>
            <a:spLocks noGrp="1" noChangeArrowheads="1"/>
          </p:cNvSpPr>
          <p:nvPr>
            <p:ph type="title"/>
          </p:nvPr>
        </p:nvSpPr>
        <p:spPr/>
        <p:txBody>
          <a:bodyPr/>
          <a:lstStyle/>
          <a:p>
            <a:r>
              <a:rPr lang="en-US"/>
              <a:t>Napier’s Bones</a:t>
            </a:r>
          </a:p>
        </p:txBody>
      </p:sp>
      <p:pic>
        <p:nvPicPr>
          <p:cNvPr id="47108" name="Picture 4" descr="NapiersBones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038601" y="3657600"/>
            <a:ext cx="3914775" cy="3200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7111" name="Rectangle 7"/>
          <p:cNvSpPr>
            <a:spLocks noChangeArrowheads="1"/>
          </p:cNvSpPr>
          <p:nvPr/>
        </p:nvSpPr>
        <p:spPr bwMode="auto">
          <a:xfrm>
            <a:off x="1828800" y="2481948"/>
            <a:ext cx="86868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spcBef>
                <a:spcPct val="0"/>
              </a:spcBef>
              <a:buClrTx/>
              <a:buSzTx/>
              <a:buFontTx/>
              <a:buNone/>
            </a:pPr>
            <a:r>
              <a:rPr lang="en-US"/>
              <a:t>The logarithm of each operand was originally obtained from a printed table, but Napier bones were alternative to tables, where the logarithm values were carved on ivory sticks .</a:t>
            </a:r>
          </a:p>
        </p:txBody>
      </p:sp>
    </p:spTree>
    <p:extLst>
      <p:ext uri="{BB962C8B-B14F-4D97-AF65-F5344CB8AC3E}">
        <p14:creationId xmlns:p14="http://schemas.microsoft.com/office/powerpoint/2010/main" val="38965511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a:t>Year : 1642 A.D</a:t>
            </a:r>
          </a:p>
        </p:txBody>
      </p:sp>
      <p:sp>
        <p:nvSpPr>
          <p:cNvPr id="49155" name="Rectangle 3"/>
          <p:cNvSpPr>
            <a:spLocks noGrp="1" noChangeArrowheads="1"/>
          </p:cNvSpPr>
          <p:nvPr>
            <p:ph type="body" sz="half" idx="1"/>
          </p:nvPr>
        </p:nvSpPr>
        <p:spPr>
          <a:xfrm>
            <a:off x="1981200" y="1981200"/>
            <a:ext cx="4724400" cy="4876800"/>
          </a:xfrm>
        </p:spPr>
        <p:txBody>
          <a:bodyPr/>
          <a:lstStyle/>
          <a:p>
            <a:r>
              <a:rPr lang="en-US" sz="2400"/>
              <a:t>Blaise Pascal, at age 19, invented the Pascaline as an aid for his father who was a tax collector.</a:t>
            </a:r>
          </a:p>
          <a:p>
            <a:r>
              <a:rPr lang="en-US" sz="2400"/>
              <a:t>Up until the present age when car dashboards went digital, the odometer portion of a car's speedometer used the very same mechanism as the Pascaline to increment the next wheel after each full revolution of the prior wheel. </a:t>
            </a:r>
          </a:p>
          <a:p>
            <a:pPr>
              <a:buFont typeface="Wingdings" panose="05000000000000000000" pitchFamily="2" charset="2"/>
              <a:buNone/>
            </a:pPr>
            <a:endParaRPr lang="en-US" sz="2400"/>
          </a:p>
        </p:txBody>
      </p:sp>
      <p:pic>
        <p:nvPicPr>
          <p:cNvPr id="49156" name="Picture 4" descr="1642Pascaline"/>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858000" y="1905000"/>
            <a:ext cx="3657600" cy="2133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9158" name="Picture 6" descr="PascalineRea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4200" y="4114800"/>
            <a:ext cx="3581400" cy="259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75468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type="body" idx="1"/>
          </p:nvPr>
        </p:nvSpPr>
        <p:spPr>
          <a:xfrm>
            <a:off x="1431235" y="1295400"/>
            <a:ext cx="9144000" cy="5334000"/>
          </a:xfrm>
        </p:spPr>
        <p:txBody>
          <a:bodyPr>
            <a:normAutofit/>
          </a:bodyPr>
          <a:lstStyle/>
          <a:p>
            <a:pPr>
              <a:lnSpc>
                <a:spcPct val="80000"/>
              </a:lnSpc>
            </a:pPr>
            <a:r>
              <a:rPr lang="en-US" sz="2400" dirty="0"/>
              <a:t>Just a few years after Pascal, the German Gottfried Wilhelm</a:t>
            </a:r>
          </a:p>
          <a:p>
            <a:pPr>
              <a:lnSpc>
                <a:spcPct val="80000"/>
              </a:lnSpc>
              <a:buFont typeface="Wingdings" panose="05000000000000000000" pitchFamily="2" charset="2"/>
              <a:buNone/>
            </a:pPr>
            <a:r>
              <a:rPr lang="en-US" sz="2400" dirty="0"/>
              <a:t>Leibniz (co-inventor with Newton of calculus) managed to build a</a:t>
            </a:r>
          </a:p>
          <a:p>
            <a:pPr>
              <a:lnSpc>
                <a:spcPct val="80000"/>
              </a:lnSpc>
              <a:buFont typeface="Wingdings" panose="05000000000000000000" pitchFamily="2" charset="2"/>
              <a:buNone/>
            </a:pPr>
            <a:r>
              <a:rPr lang="en-US" sz="2400" dirty="0"/>
              <a:t>four-function (addition, subtraction, multiplication, and division)</a:t>
            </a:r>
          </a:p>
          <a:p>
            <a:pPr>
              <a:lnSpc>
                <a:spcPct val="80000"/>
              </a:lnSpc>
              <a:buFont typeface="Wingdings" panose="05000000000000000000" pitchFamily="2" charset="2"/>
              <a:buNone/>
            </a:pPr>
            <a:r>
              <a:rPr lang="en-US" sz="2400" dirty="0"/>
              <a:t>calculator that he called the stepped reckoner because, instead </a:t>
            </a:r>
          </a:p>
          <a:p>
            <a:pPr>
              <a:lnSpc>
                <a:spcPct val="80000"/>
              </a:lnSpc>
              <a:buFont typeface="Wingdings" panose="05000000000000000000" pitchFamily="2" charset="2"/>
              <a:buNone/>
            </a:pPr>
            <a:r>
              <a:rPr lang="en-US" sz="2400" dirty="0"/>
              <a:t>of gears, it employed fluted drums having ten flutes arranged</a:t>
            </a:r>
          </a:p>
          <a:p>
            <a:pPr>
              <a:lnSpc>
                <a:spcPct val="80000"/>
              </a:lnSpc>
              <a:buFont typeface="Wingdings" panose="05000000000000000000" pitchFamily="2" charset="2"/>
              <a:buNone/>
            </a:pPr>
            <a:r>
              <a:rPr lang="en-US" sz="2400" dirty="0"/>
              <a:t>around their circumference in a stair-step fashion. </a:t>
            </a:r>
          </a:p>
          <a:p>
            <a:pPr>
              <a:lnSpc>
                <a:spcPct val="80000"/>
              </a:lnSpc>
              <a:buFont typeface="Wingdings" panose="05000000000000000000" pitchFamily="2" charset="2"/>
              <a:buNone/>
            </a:pPr>
            <a:endParaRPr lang="en-US" sz="2400" dirty="0"/>
          </a:p>
          <a:p>
            <a:pPr>
              <a:lnSpc>
                <a:spcPct val="80000"/>
              </a:lnSpc>
            </a:pPr>
            <a:r>
              <a:rPr lang="en-US" sz="2400" dirty="0"/>
              <a:t>Although the stepped reckoner employed the decimal number </a:t>
            </a:r>
          </a:p>
          <a:p>
            <a:pPr>
              <a:lnSpc>
                <a:spcPct val="80000"/>
              </a:lnSpc>
              <a:buFont typeface="Wingdings" panose="05000000000000000000" pitchFamily="2" charset="2"/>
              <a:buNone/>
            </a:pPr>
            <a:r>
              <a:rPr lang="en-US" sz="2400" dirty="0"/>
              <a:t>system (each drum had 10 flutes), Leibniz was the first to </a:t>
            </a:r>
          </a:p>
          <a:p>
            <a:pPr>
              <a:lnSpc>
                <a:spcPct val="80000"/>
              </a:lnSpc>
              <a:buFont typeface="Wingdings" panose="05000000000000000000" pitchFamily="2" charset="2"/>
              <a:buNone/>
            </a:pPr>
            <a:r>
              <a:rPr lang="en-US" sz="2400" dirty="0"/>
              <a:t>advocate use of the binary number system which is fundamental</a:t>
            </a:r>
          </a:p>
          <a:p>
            <a:pPr>
              <a:lnSpc>
                <a:spcPct val="80000"/>
              </a:lnSpc>
              <a:buFont typeface="Wingdings" panose="05000000000000000000" pitchFamily="2" charset="2"/>
              <a:buNone/>
            </a:pPr>
            <a:r>
              <a:rPr lang="en-US" sz="2400" dirty="0"/>
              <a:t>to the operation of modern computers. Leibniz is considered one </a:t>
            </a:r>
          </a:p>
          <a:p>
            <a:pPr>
              <a:lnSpc>
                <a:spcPct val="80000"/>
              </a:lnSpc>
              <a:buFont typeface="Wingdings" panose="05000000000000000000" pitchFamily="2" charset="2"/>
              <a:buNone/>
            </a:pPr>
            <a:r>
              <a:rPr lang="en-US" sz="2400" dirty="0"/>
              <a:t>of the greatest of the philosophers but he died poor and alone. </a:t>
            </a:r>
          </a:p>
          <a:p>
            <a:pPr>
              <a:lnSpc>
                <a:spcPct val="80000"/>
              </a:lnSpc>
              <a:buFont typeface="Wingdings" panose="05000000000000000000" pitchFamily="2" charset="2"/>
              <a:buNone/>
            </a:pPr>
            <a:endParaRPr lang="en-US" sz="2400" dirty="0"/>
          </a:p>
          <a:p>
            <a:pPr>
              <a:lnSpc>
                <a:spcPct val="80000"/>
              </a:lnSpc>
            </a:pPr>
            <a:endParaRPr lang="en-US" sz="2000" dirty="0"/>
          </a:p>
        </p:txBody>
      </p:sp>
      <p:pic>
        <p:nvPicPr>
          <p:cNvPr id="52229" name="Picture 5" descr="SteppedReckon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58300" y="609600"/>
            <a:ext cx="18288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53252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t>Year: 1801 A.D (Punch Cards)</a:t>
            </a:r>
          </a:p>
        </p:txBody>
      </p:sp>
      <p:sp>
        <p:nvSpPr>
          <p:cNvPr id="53251" name="Rectangle 3"/>
          <p:cNvSpPr>
            <a:spLocks noGrp="1" noChangeArrowheads="1"/>
          </p:cNvSpPr>
          <p:nvPr>
            <p:ph type="body" idx="1"/>
          </p:nvPr>
        </p:nvSpPr>
        <p:spPr>
          <a:xfrm>
            <a:off x="1524000" y="1981200"/>
            <a:ext cx="5181600" cy="4724400"/>
          </a:xfrm>
        </p:spPr>
        <p:txBody>
          <a:bodyPr>
            <a:normAutofit/>
          </a:bodyPr>
          <a:lstStyle/>
          <a:p>
            <a:pPr>
              <a:buFont typeface="Wingdings" panose="05000000000000000000" pitchFamily="2" charset="2"/>
              <a:buNone/>
            </a:pPr>
            <a:r>
              <a:rPr lang="en-US" sz="2800"/>
              <a:t>The Frenchman Joseph Marie </a:t>
            </a:r>
          </a:p>
          <a:p>
            <a:pPr>
              <a:buFont typeface="Wingdings" panose="05000000000000000000" pitchFamily="2" charset="2"/>
              <a:buNone/>
            </a:pPr>
            <a:r>
              <a:rPr lang="en-US" sz="2800"/>
              <a:t>Jacquard invented a power </a:t>
            </a:r>
          </a:p>
          <a:p>
            <a:pPr>
              <a:buFont typeface="Wingdings" panose="05000000000000000000" pitchFamily="2" charset="2"/>
              <a:buNone/>
            </a:pPr>
            <a:r>
              <a:rPr lang="en-US" sz="2800"/>
              <a:t>loom that could base its weave </a:t>
            </a:r>
          </a:p>
          <a:p>
            <a:pPr>
              <a:buFont typeface="Wingdings" panose="05000000000000000000" pitchFamily="2" charset="2"/>
              <a:buNone/>
            </a:pPr>
            <a:r>
              <a:rPr lang="en-US" sz="2800"/>
              <a:t>(and hence the design on the </a:t>
            </a:r>
          </a:p>
          <a:p>
            <a:pPr>
              <a:buFont typeface="Wingdings" panose="05000000000000000000" pitchFamily="2" charset="2"/>
              <a:buNone/>
            </a:pPr>
            <a:r>
              <a:rPr lang="en-US" sz="2800"/>
              <a:t>fabric) upon a pattern </a:t>
            </a:r>
          </a:p>
          <a:p>
            <a:pPr>
              <a:buFont typeface="Wingdings" panose="05000000000000000000" pitchFamily="2" charset="2"/>
              <a:buNone/>
            </a:pPr>
            <a:r>
              <a:rPr lang="en-US" sz="2800"/>
              <a:t>automatically read from </a:t>
            </a:r>
          </a:p>
          <a:p>
            <a:pPr>
              <a:buFont typeface="Wingdings" panose="05000000000000000000" pitchFamily="2" charset="2"/>
              <a:buNone/>
            </a:pPr>
            <a:r>
              <a:rPr lang="en-US" sz="2800"/>
              <a:t>punched wooden cards, held </a:t>
            </a:r>
          </a:p>
          <a:p>
            <a:pPr>
              <a:buFont typeface="Wingdings" panose="05000000000000000000" pitchFamily="2" charset="2"/>
              <a:buNone/>
            </a:pPr>
            <a:r>
              <a:rPr lang="en-US" sz="2800"/>
              <a:t>together in a long row by rope. </a:t>
            </a:r>
          </a:p>
        </p:txBody>
      </p:sp>
      <p:pic>
        <p:nvPicPr>
          <p:cNvPr id="53253" name="Picture 5" descr="JacquardLo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2133601"/>
            <a:ext cx="3924300" cy="3781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31929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5" name="Rectangle 9"/>
          <p:cNvSpPr>
            <a:spLocks noGrp="1" noChangeArrowheads="1"/>
          </p:cNvSpPr>
          <p:nvPr>
            <p:ph type="title"/>
          </p:nvPr>
        </p:nvSpPr>
        <p:spPr/>
        <p:txBody>
          <a:bodyPr/>
          <a:lstStyle/>
          <a:p>
            <a:r>
              <a:rPr lang="en-US"/>
              <a:t>Punch card or Jacquard card</a:t>
            </a:r>
          </a:p>
        </p:txBody>
      </p:sp>
      <p:pic>
        <p:nvPicPr>
          <p:cNvPr id="55304" name="Picture 8" descr="JacquardCard"/>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209800" y="1905000"/>
            <a:ext cx="3886200" cy="47244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5307" name="Picture 11" descr="jacquardcar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0" y="2362200"/>
            <a:ext cx="3733800" cy="2514600"/>
          </a:xfrm>
          <a:prstGeom prst="rect">
            <a:avLst/>
          </a:prstGeom>
          <a:noFill/>
          <a:extLst>
            <a:ext uri="{909E8E84-426E-40DD-AFC4-6F175D3DCCD1}">
              <a14:hiddenFill xmlns:a14="http://schemas.microsoft.com/office/drawing/2010/main">
                <a:solidFill>
                  <a:srgbClr val="FFFFFF"/>
                </a:solidFill>
              </a14:hiddenFill>
            </a:ext>
          </a:extLst>
        </p:spPr>
      </p:pic>
      <p:sp>
        <p:nvSpPr>
          <p:cNvPr id="55310" name="Text Box 14"/>
          <p:cNvSpPr txBox="1">
            <a:spLocks noChangeArrowheads="1"/>
          </p:cNvSpPr>
          <p:nvPr/>
        </p:nvSpPr>
        <p:spPr bwMode="auto">
          <a:xfrm>
            <a:off x="7086600" y="4953000"/>
            <a:ext cx="41148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defRPr>
            </a:lvl1pPr>
            <a:lvl2pPr>
              <a:spcBef>
                <a:spcPct val="0"/>
              </a:spcBef>
              <a:defRPr>
                <a:solidFill>
                  <a:schemeClr val="tx1"/>
                </a:solidFill>
                <a:latin typeface="Arial" panose="020B0604020202020204" pitchFamily="34" charset="0"/>
              </a:defRPr>
            </a:lvl2pPr>
            <a:lvl3pPr>
              <a:spcBef>
                <a:spcPct val="0"/>
              </a:spcBef>
              <a:defRPr>
                <a:solidFill>
                  <a:schemeClr val="tx1"/>
                </a:solidFill>
                <a:latin typeface="Arial" panose="020B0604020202020204" pitchFamily="34" charset="0"/>
              </a:defRPr>
            </a:lvl3pPr>
            <a:lvl4pPr>
              <a:spcBef>
                <a:spcPct val="0"/>
              </a:spcBef>
              <a:defRPr>
                <a:solidFill>
                  <a:schemeClr val="tx1"/>
                </a:solidFill>
                <a:latin typeface="Arial" panose="020B0604020202020204" pitchFamily="34" charset="0"/>
              </a:defRPr>
            </a:lvl4pPr>
            <a:lvl5pPr>
              <a:spcBef>
                <a:spcPct val="0"/>
              </a:spcBef>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t>A closer look</a:t>
            </a:r>
          </a:p>
        </p:txBody>
      </p:sp>
    </p:spTree>
    <p:extLst>
      <p:ext uri="{BB962C8B-B14F-4D97-AF65-F5344CB8AC3E}">
        <p14:creationId xmlns:p14="http://schemas.microsoft.com/office/powerpoint/2010/main" val="27224463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r>
              <a:rPr lang="en-US"/>
              <a:t>Year : 1822 A.D</a:t>
            </a:r>
          </a:p>
        </p:txBody>
      </p:sp>
      <p:sp>
        <p:nvSpPr>
          <p:cNvPr id="58371" name="Rectangle 3"/>
          <p:cNvSpPr>
            <a:spLocks noGrp="1" noChangeArrowheads="1"/>
          </p:cNvSpPr>
          <p:nvPr>
            <p:ph type="body" idx="1"/>
          </p:nvPr>
        </p:nvSpPr>
        <p:spPr/>
        <p:txBody>
          <a:bodyPr/>
          <a:lstStyle/>
          <a:p>
            <a:r>
              <a:rPr lang="en-US"/>
              <a:t>The English mathematician </a:t>
            </a:r>
            <a:r>
              <a:rPr lang="en-US" b="1" i="1"/>
              <a:t>Charles Babbage</a:t>
            </a:r>
            <a:r>
              <a:rPr lang="en-US" b="1"/>
              <a:t> was proposing a steam driven calculating machine the size of a room, which he called the </a:t>
            </a:r>
            <a:r>
              <a:rPr lang="en-US" b="1" i="1"/>
              <a:t>Difference Engine</a:t>
            </a:r>
            <a:r>
              <a:rPr lang="en-US" b="1"/>
              <a:t>. This machine would be able to compute tables of numbers, such as logarithm tables.</a:t>
            </a:r>
            <a:r>
              <a:rPr lang="en-US"/>
              <a:t> </a:t>
            </a:r>
          </a:p>
        </p:txBody>
      </p:sp>
    </p:spTree>
    <p:extLst>
      <p:ext uri="{BB962C8B-B14F-4D97-AF65-F5344CB8AC3E}">
        <p14:creationId xmlns:p14="http://schemas.microsoft.com/office/powerpoint/2010/main" val="33049194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7" name="Rectangle 5"/>
          <p:cNvSpPr>
            <a:spLocks noGrp="1" noChangeArrowheads="1"/>
          </p:cNvSpPr>
          <p:nvPr>
            <p:ph type="title"/>
          </p:nvPr>
        </p:nvSpPr>
        <p:spPr>
          <a:xfrm>
            <a:off x="2133600" y="381000"/>
            <a:ext cx="8229600" cy="1371600"/>
          </a:xfrm>
        </p:spPr>
        <p:txBody>
          <a:bodyPr/>
          <a:lstStyle/>
          <a:p>
            <a:r>
              <a:rPr lang="en-US"/>
              <a:t>The Difference Engine</a:t>
            </a:r>
          </a:p>
        </p:txBody>
      </p:sp>
      <p:pic>
        <p:nvPicPr>
          <p:cNvPr id="59396" name="Picture 4" descr="DifferenceEngine"/>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362200" y="2057400"/>
            <a:ext cx="3657600" cy="43449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9399" name="Text Box 7"/>
          <p:cNvSpPr txBox="1">
            <a:spLocks noChangeArrowheads="1"/>
          </p:cNvSpPr>
          <p:nvPr/>
        </p:nvSpPr>
        <p:spPr bwMode="auto">
          <a:xfrm>
            <a:off x="6096000" y="2895601"/>
            <a:ext cx="42672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defRPr>
            </a:lvl1pPr>
            <a:lvl2pPr>
              <a:spcBef>
                <a:spcPct val="0"/>
              </a:spcBef>
              <a:defRPr>
                <a:solidFill>
                  <a:schemeClr val="tx1"/>
                </a:solidFill>
                <a:latin typeface="Arial" panose="020B0604020202020204" pitchFamily="34" charset="0"/>
              </a:defRPr>
            </a:lvl2pPr>
            <a:lvl3pPr>
              <a:spcBef>
                <a:spcPct val="0"/>
              </a:spcBef>
              <a:defRPr>
                <a:solidFill>
                  <a:schemeClr val="tx1"/>
                </a:solidFill>
                <a:latin typeface="Arial" panose="020B0604020202020204" pitchFamily="34" charset="0"/>
              </a:defRPr>
            </a:lvl3pPr>
            <a:lvl4pPr>
              <a:spcBef>
                <a:spcPct val="0"/>
              </a:spcBef>
              <a:defRPr>
                <a:solidFill>
                  <a:schemeClr val="tx1"/>
                </a:solidFill>
                <a:latin typeface="Arial" panose="020B0604020202020204" pitchFamily="34" charset="0"/>
              </a:defRPr>
            </a:lvl4pPr>
            <a:lvl5pPr>
              <a:spcBef>
                <a:spcPct val="0"/>
              </a:spcBef>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50000"/>
              </a:spcBef>
            </a:pPr>
            <a:r>
              <a:rPr lang="en-US"/>
              <a:t>   A small section of the type of mechanism employed in Babbage's Difference Engine [photo © 2002 IEEE] </a:t>
            </a:r>
          </a:p>
        </p:txBody>
      </p:sp>
    </p:spTree>
    <p:extLst>
      <p:ext uri="{BB962C8B-B14F-4D97-AF65-F5344CB8AC3E}">
        <p14:creationId xmlns:p14="http://schemas.microsoft.com/office/powerpoint/2010/main" val="22068487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US"/>
              <a:t>Analytical Engine</a:t>
            </a:r>
          </a:p>
        </p:txBody>
      </p:sp>
      <p:sp>
        <p:nvSpPr>
          <p:cNvPr id="61443" name="Rectangle 3"/>
          <p:cNvSpPr>
            <a:spLocks noGrp="1" noChangeArrowheads="1"/>
          </p:cNvSpPr>
          <p:nvPr>
            <p:ph type="body" idx="1"/>
          </p:nvPr>
        </p:nvSpPr>
        <p:spPr/>
        <p:txBody>
          <a:bodyPr/>
          <a:lstStyle/>
          <a:p>
            <a:pPr>
              <a:lnSpc>
                <a:spcPct val="80000"/>
              </a:lnSpc>
            </a:pPr>
            <a:r>
              <a:rPr lang="en-US" sz="2400"/>
              <a:t>This device, large as a house and powered by 6 steam engines, would be more general purpose in nature because it would be programmable, thanks to the punched card technology of Jacquard. </a:t>
            </a:r>
          </a:p>
          <a:p>
            <a:pPr>
              <a:lnSpc>
                <a:spcPct val="80000"/>
              </a:lnSpc>
            </a:pPr>
            <a:endParaRPr lang="en-US" sz="2400"/>
          </a:p>
          <a:p>
            <a:pPr>
              <a:lnSpc>
                <a:spcPct val="80000"/>
              </a:lnSpc>
            </a:pPr>
            <a:r>
              <a:rPr lang="en-US" sz="2400"/>
              <a:t>In the Jacquard loom, the presence or absence of each hole in the card physically allows a colored thread to pass or stops that thread (you can see this clearly in the earlier photo). Babbage saw that the pattern of holes could be used to represent an abstract idea such as a problem statement or the raw data required for that problem's solution. Babbage saw that there was no requirement that the problem matter itself physically pass thru the holes. </a:t>
            </a:r>
          </a:p>
        </p:txBody>
      </p:sp>
    </p:spTree>
    <p:extLst>
      <p:ext uri="{BB962C8B-B14F-4D97-AF65-F5344CB8AC3E}">
        <p14:creationId xmlns:p14="http://schemas.microsoft.com/office/powerpoint/2010/main" val="18860027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r>
              <a:rPr lang="en-US"/>
              <a:t>Analytical engine (ctd...)</a:t>
            </a:r>
          </a:p>
        </p:txBody>
      </p:sp>
      <p:sp>
        <p:nvSpPr>
          <p:cNvPr id="62467" name="Rectangle 3"/>
          <p:cNvSpPr>
            <a:spLocks noGrp="1" noChangeArrowheads="1"/>
          </p:cNvSpPr>
          <p:nvPr>
            <p:ph type="body" idx="1"/>
          </p:nvPr>
        </p:nvSpPr>
        <p:spPr>
          <a:xfrm>
            <a:off x="1981200" y="2362200"/>
            <a:ext cx="8229600" cy="4495800"/>
          </a:xfrm>
        </p:spPr>
        <p:txBody>
          <a:bodyPr>
            <a:normAutofit/>
          </a:bodyPr>
          <a:lstStyle/>
          <a:p>
            <a:pPr>
              <a:lnSpc>
                <a:spcPct val="80000"/>
              </a:lnSpc>
            </a:pPr>
            <a:r>
              <a:rPr lang="en-US" sz="2800"/>
              <a:t>Furthermore, Babbage realized that punched paper could be employed as a storage mechanism, holding computed numbers for future reference. Because of the connection to the Jacquard loom, Babbage called the two main parts of his Analytic Engine the "Store" and the "Mill", as both terms are used in the weaving industry. The Store was where numbers were held and the Mill was where they were "woven" into new results. In a modern computer these same parts are called the </a:t>
            </a:r>
            <a:r>
              <a:rPr lang="en-US" sz="2800" i="1"/>
              <a:t>memory unit</a:t>
            </a:r>
            <a:r>
              <a:rPr lang="en-US" sz="2800"/>
              <a:t> and the </a:t>
            </a:r>
            <a:r>
              <a:rPr lang="en-US" sz="2800" i="1"/>
              <a:t>central processing unit</a:t>
            </a:r>
            <a:r>
              <a:rPr lang="en-US" sz="2800"/>
              <a:t> (CPU). </a:t>
            </a:r>
          </a:p>
          <a:p>
            <a:pPr>
              <a:lnSpc>
                <a:spcPct val="80000"/>
              </a:lnSpc>
              <a:buFont typeface="Wingdings" panose="05000000000000000000" pitchFamily="2" charset="2"/>
              <a:buNone/>
            </a:pPr>
            <a:endParaRPr lang="en-US"/>
          </a:p>
        </p:txBody>
      </p:sp>
    </p:spTree>
    <p:extLst>
      <p:ext uri="{BB962C8B-B14F-4D97-AF65-F5344CB8AC3E}">
        <p14:creationId xmlns:p14="http://schemas.microsoft.com/office/powerpoint/2010/main" val="2506463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a:t>Year : 1890 A.D</a:t>
            </a:r>
          </a:p>
        </p:txBody>
      </p:sp>
      <p:sp>
        <p:nvSpPr>
          <p:cNvPr id="63491" name="Rectangle 3"/>
          <p:cNvSpPr>
            <a:spLocks noGrp="1" noChangeArrowheads="1"/>
          </p:cNvSpPr>
          <p:nvPr>
            <p:ph type="body" sz="half" idx="1"/>
          </p:nvPr>
        </p:nvSpPr>
        <p:spPr>
          <a:xfrm>
            <a:off x="1524000" y="1981200"/>
            <a:ext cx="4648200" cy="4876800"/>
          </a:xfrm>
        </p:spPr>
        <p:txBody>
          <a:bodyPr/>
          <a:lstStyle/>
          <a:p>
            <a:pPr>
              <a:buFont typeface="Wingdings" panose="05000000000000000000" pitchFamily="2" charset="2"/>
              <a:buNone/>
            </a:pPr>
            <a:r>
              <a:rPr lang="en-US" sz="2400"/>
              <a:t>    Herman Hollerith's invention, known as the </a:t>
            </a:r>
            <a:r>
              <a:rPr lang="en-US" sz="2400" i="1"/>
              <a:t>Hollerith desk</a:t>
            </a:r>
            <a:r>
              <a:rPr lang="en-US" sz="2400"/>
              <a:t>, consisted of a card reader which sensed the holes in the cards, a gear driven mechanism which could count (using Pascal's mechanism which we still see in car odometers), and a large wall of dial indicators (a car speedometer is a dial indicator) to display the results of the count. </a:t>
            </a:r>
          </a:p>
          <a:p>
            <a:endParaRPr lang="en-US" sz="2400"/>
          </a:p>
        </p:txBody>
      </p:sp>
      <p:pic>
        <p:nvPicPr>
          <p:cNvPr id="63492" name="Picture 4" descr="HollerithOperato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705601" y="1981200"/>
            <a:ext cx="3336925" cy="4572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10415018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en-US"/>
              <a:t>Hollerith desks still exist today </a:t>
            </a:r>
          </a:p>
        </p:txBody>
      </p:sp>
      <p:pic>
        <p:nvPicPr>
          <p:cNvPr id="65540" name="Picture 4" descr="HollerithDesk"/>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590800" y="1981200"/>
            <a:ext cx="6934200" cy="4622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5361526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9" name="Rectangle 5"/>
          <p:cNvSpPr>
            <a:spLocks noGrp="1" noChangeArrowheads="1"/>
          </p:cNvSpPr>
          <p:nvPr>
            <p:ph type="title"/>
          </p:nvPr>
        </p:nvSpPr>
        <p:spPr/>
        <p:txBody>
          <a:bodyPr/>
          <a:lstStyle/>
          <a:p>
            <a:r>
              <a:rPr lang="en-US" dirty="0"/>
              <a:t>Hollerith and </a:t>
            </a:r>
            <a:r>
              <a:rPr lang="en-US" dirty="0" smtClean="0"/>
              <a:t>IBM</a:t>
            </a:r>
            <a:endParaRPr lang="en-US" dirty="0"/>
          </a:p>
        </p:txBody>
      </p:sp>
      <p:pic>
        <p:nvPicPr>
          <p:cNvPr id="67588" name="Picture 4" descr="ScientificAmericanCove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629401" y="2057400"/>
            <a:ext cx="3533775" cy="4495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7591" name="Text Box 7"/>
          <p:cNvSpPr txBox="1">
            <a:spLocks noChangeArrowheads="1"/>
          </p:cNvSpPr>
          <p:nvPr/>
        </p:nvSpPr>
        <p:spPr bwMode="auto">
          <a:xfrm>
            <a:off x="1524000" y="1884363"/>
            <a:ext cx="4800600" cy="4967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0"/>
              </a:spcBef>
              <a:defRPr>
                <a:solidFill>
                  <a:schemeClr val="tx1"/>
                </a:solidFill>
                <a:latin typeface="Arial" panose="020B0604020202020204" pitchFamily="34" charset="0"/>
              </a:defRPr>
            </a:lvl1pPr>
            <a:lvl2pPr>
              <a:spcBef>
                <a:spcPct val="0"/>
              </a:spcBef>
              <a:defRPr>
                <a:solidFill>
                  <a:schemeClr val="tx1"/>
                </a:solidFill>
                <a:latin typeface="Arial" panose="020B0604020202020204" pitchFamily="34" charset="0"/>
              </a:defRPr>
            </a:lvl2pPr>
            <a:lvl3pPr>
              <a:spcBef>
                <a:spcPct val="0"/>
              </a:spcBef>
              <a:defRPr>
                <a:solidFill>
                  <a:schemeClr val="tx1"/>
                </a:solidFill>
                <a:latin typeface="Arial" panose="020B0604020202020204" pitchFamily="34" charset="0"/>
              </a:defRPr>
            </a:lvl3pPr>
            <a:lvl4pPr>
              <a:spcBef>
                <a:spcPct val="0"/>
              </a:spcBef>
              <a:defRPr>
                <a:solidFill>
                  <a:schemeClr val="tx1"/>
                </a:solidFill>
                <a:latin typeface="Arial" panose="020B0604020202020204" pitchFamily="34" charset="0"/>
              </a:defRPr>
            </a:lvl4pPr>
            <a:lvl5pPr>
              <a:spcBef>
                <a:spcPct val="0"/>
              </a:spcBef>
              <a:defRPr>
                <a:solidFill>
                  <a:schemeClr val="tx1"/>
                </a:solidFill>
                <a:latin typeface="Arial" panose="020B0604020202020204" pitchFamily="34" charset="0"/>
              </a:defRPr>
            </a:lvl5pPr>
            <a:lvl6pPr fontAlgn="base">
              <a:spcBef>
                <a:spcPct val="0"/>
              </a:spcBef>
              <a:spcAft>
                <a:spcPct val="0"/>
              </a:spcAft>
              <a:defRPr>
                <a:solidFill>
                  <a:schemeClr val="tx1"/>
                </a:solidFill>
                <a:latin typeface="Arial" panose="020B0604020202020204" pitchFamily="34" charset="0"/>
              </a:defRPr>
            </a:lvl6pPr>
            <a:lvl7pPr fontAlgn="base">
              <a:spcBef>
                <a:spcPct val="0"/>
              </a:spcBef>
              <a:spcAft>
                <a:spcPct val="0"/>
              </a:spcAft>
              <a:defRPr>
                <a:solidFill>
                  <a:schemeClr val="tx1"/>
                </a:solidFill>
                <a:latin typeface="Arial" panose="020B0604020202020204" pitchFamily="34" charset="0"/>
              </a:defRPr>
            </a:lvl7pPr>
            <a:lvl8pPr fontAlgn="base">
              <a:spcBef>
                <a:spcPct val="0"/>
              </a:spcBef>
              <a:spcAft>
                <a:spcPct val="0"/>
              </a:spcAft>
              <a:defRPr>
                <a:solidFill>
                  <a:schemeClr val="tx1"/>
                </a:solidFill>
                <a:latin typeface="Arial" panose="020B0604020202020204" pitchFamily="34" charset="0"/>
              </a:defRPr>
            </a:lvl8pPr>
            <a:lvl9pPr fontAlgn="base">
              <a:spcBef>
                <a:spcPct val="0"/>
              </a:spcBef>
              <a:spcAft>
                <a:spcPct val="0"/>
              </a:spcAft>
              <a:defRPr>
                <a:solidFill>
                  <a:schemeClr val="tx1"/>
                </a:solidFill>
                <a:latin typeface="Arial" panose="020B0604020202020204" pitchFamily="34" charset="0"/>
              </a:defRPr>
            </a:lvl9pPr>
          </a:lstStyle>
          <a:p>
            <a:pPr>
              <a:spcBef>
                <a:spcPct val="20000"/>
              </a:spcBef>
              <a:buFont typeface="Wingdings" panose="05000000000000000000" pitchFamily="2" charset="2"/>
              <a:buChar char="n"/>
            </a:pPr>
            <a:r>
              <a:rPr lang="en-US" sz="2400"/>
              <a:t>Incidentally, the Hollerith census machine was the first machine to ever be featured on a magazine cover. </a:t>
            </a:r>
          </a:p>
          <a:p>
            <a:pPr>
              <a:spcBef>
                <a:spcPct val="20000"/>
              </a:spcBef>
              <a:buFont typeface="Wingdings" panose="05000000000000000000" pitchFamily="2" charset="2"/>
              <a:buChar char="n"/>
            </a:pPr>
            <a:r>
              <a:rPr lang="en-US" sz="2400"/>
              <a:t>Hollerith built a company, the Tabulating Machine Company which, after a few buyouts, eventually became International Business Machines, known today as IBM. IBM grew rapidly and punched cards became ubiquitous. </a:t>
            </a:r>
          </a:p>
        </p:txBody>
      </p:sp>
    </p:spTree>
    <p:extLst>
      <p:ext uri="{BB962C8B-B14F-4D97-AF65-F5344CB8AC3E}">
        <p14:creationId xmlns:p14="http://schemas.microsoft.com/office/powerpoint/2010/main" val="13043610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r>
              <a:rPr lang="en-US"/>
              <a:t>More about IBM</a:t>
            </a:r>
          </a:p>
        </p:txBody>
      </p:sp>
      <p:sp>
        <p:nvSpPr>
          <p:cNvPr id="69635" name="Rectangle 3"/>
          <p:cNvSpPr>
            <a:spLocks noGrp="1" noChangeArrowheads="1"/>
          </p:cNvSpPr>
          <p:nvPr>
            <p:ph type="body" idx="1"/>
          </p:nvPr>
        </p:nvSpPr>
        <p:spPr>
          <a:xfrm>
            <a:off x="1981200" y="2286000"/>
            <a:ext cx="8229600" cy="3886200"/>
          </a:xfrm>
        </p:spPr>
        <p:txBody>
          <a:bodyPr/>
          <a:lstStyle/>
          <a:p>
            <a:pPr>
              <a:lnSpc>
                <a:spcPct val="90000"/>
              </a:lnSpc>
            </a:pPr>
            <a:r>
              <a:rPr lang="en-US"/>
              <a:t>IBM continued to develop mechanical calculators for sale to businesses to help with financial accounting and inventory accounting. </a:t>
            </a:r>
          </a:p>
          <a:p>
            <a:pPr>
              <a:lnSpc>
                <a:spcPct val="90000"/>
              </a:lnSpc>
              <a:buFont typeface="Wingdings" panose="05000000000000000000" pitchFamily="2" charset="2"/>
              <a:buNone/>
            </a:pPr>
            <a:endParaRPr lang="en-US"/>
          </a:p>
          <a:p>
            <a:pPr>
              <a:lnSpc>
                <a:spcPct val="90000"/>
              </a:lnSpc>
            </a:pPr>
            <a:r>
              <a:rPr lang="en-US"/>
              <a:t>One early success was the Harvard Mark I computer which was built as a partnership between Harvard and IBM </a:t>
            </a:r>
          </a:p>
        </p:txBody>
      </p:sp>
    </p:spTree>
    <p:extLst>
      <p:ext uri="{BB962C8B-B14F-4D97-AF65-F5344CB8AC3E}">
        <p14:creationId xmlns:p14="http://schemas.microsoft.com/office/powerpoint/2010/main" val="28058703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Major Innovation – Vacuum Tube</a:t>
            </a:r>
          </a:p>
          <a:p>
            <a:r>
              <a:rPr lang="en-US" dirty="0"/>
              <a:t>The first computers used vacuum tubes </a:t>
            </a:r>
            <a:r>
              <a:rPr lang="en-US" dirty="0" smtClean="0"/>
              <a:t>and </a:t>
            </a:r>
            <a:r>
              <a:rPr lang="en-US" dirty="0"/>
              <a:t>were often enormous, taking up entire rooms</a:t>
            </a:r>
            <a:r>
              <a:rPr lang="en-US" dirty="0" smtClean="0"/>
              <a:t>.</a:t>
            </a:r>
          </a:p>
          <a:p>
            <a:r>
              <a:rPr lang="en-US" dirty="0" smtClean="0"/>
              <a:t>They </a:t>
            </a:r>
            <a:r>
              <a:rPr lang="en-US" dirty="0"/>
              <a:t>were very expensive to operate and in addition to using a great deal of electricity, generated a lot of heat, which was often the cause of malfunctions. </a:t>
            </a:r>
          </a:p>
          <a:p>
            <a:r>
              <a:rPr lang="en-US" dirty="0"/>
              <a:t>The UNIVAC and </a:t>
            </a:r>
            <a:r>
              <a:rPr lang="en-US" u="sng" dirty="0"/>
              <a:t>ENIAC</a:t>
            </a:r>
            <a:r>
              <a:rPr lang="en-US" dirty="0"/>
              <a:t> computers are examples of first-generation computing devices.</a:t>
            </a:r>
          </a:p>
        </p:txBody>
      </p:sp>
      <p:sp>
        <p:nvSpPr>
          <p:cNvPr id="3" name="Title 2"/>
          <p:cNvSpPr>
            <a:spLocks noGrp="1"/>
          </p:cNvSpPr>
          <p:nvPr>
            <p:ph type="title"/>
          </p:nvPr>
        </p:nvSpPr>
        <p:spPr/>
        <p:txBody>
          <a:bodyPr/>
          <a:lstStyle/>
          <a:p>
            <a:r>
              <a:rPr lang="en-US" b="1" dirty="0" smtClean="0"/>
              <a:t>First Generation - 1940-1956</a:t>
            </a:r>
            <a:endParaRPr lang="en-US" dirty="0"/>
          </a:p>
        </p:txBody>
      </p:sp>
    </p:spTree>
    <p:extLst>
      <p:ext uri="{BB962C8B-B14F-4D97-AF65-F5344CB8AC3E}">
        <p14:creationId xmlns:p14="http://schemas.microsoft.com/office/powerpoint/2010/main" val="42077004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Mark 1</a:t>
            </a:r>
            <a:endParaRPr lang="en-US" dirty="0"/>
          </a:p>
        </p:txBody>
      </p:sp>
      <p:pic>
        <p:nvPicPr>
          <p:cNvPr id="4" name="Picture 4" descr="mark1"/>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26775" y="1600200"/>
            <a:ext cx="5922449"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07979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US" dirty="0"/>
              <a:t>Mark </a:t>
            </a:r>
            <a:r>
              <a:rPr lang="en-US" dirty="0" smtClean="0"/>
              <a:t>1</a:t>
            </a:r>
            <a:endParaRPr lang="en-US" dirty="0"/>
          </a:p>
        </p:txBody>
      </p:sp>
      <p:sp>
        <p:nvSpPr>
          <p:cNvPr id="70659" name="Rectangle 3"/>
          <p:cNvSpPr>
            <a:spLocks noGrp="1" noChangeArrowheads="1"/>
          </p:cNvSpPr>
          <p:nvPr>
            <p:ph type="body" idx="1"/>
          </p:nvPr>
        </p:nvSpPr>
        <p:spPr>
          <a:xfrm>
            <a:off x="1905000" y="2133600"/>
            <a:ext cx="8382000" cy="4343400"/>
          </a:xfrm>
        </p:spPr>
        <p:txBody>
          <a:bodyPr>
            <a:normAutofit/>
          </a:bodyPr>
          <a:lstStyle/>
          <a:p>
            <a:pPr>
              <a:lnSpc>
                <a:spcPct val="80000"/>
              </a:lnSpc>
            </a:pPr>
            <a:r>
              <a:rPr lang="en-US" sz="2800"/>
              <a:t>This was the first programmable digital computer made in the U.S. </a:t>
            </a:r>
          </a:p>
          <a:p>
            <a:pPr>
              <a:lnSpc>
                <a:spcPct val="80000"/>
              </a:lnSpc>
            </a:pPr>
            <a:r>
              <a:rPr lang="en-US" sz="2800"/>
              <a:t>It was not a purely electronic computer. Instead the Mark I was constructed out of switches, relays, rotating shafts, and clutches. </a:t>
            </a:r>
          </a:p>
          <a:p>
            <a:pPr>
              <a:lnSpc>
                <a:spcPct val="80000"/>
              </a:lnSpc>
            </a:pPr>
            <a:r>
              <a:rPr lang="en-US" sz="2800"/>
              <a:t>The machine weighed 5 tons, incorporated 500 miles of wire, was 8 feet tall and 51 feet long, and had a 50 ft rotating shaft running its length, turned by a 5 horsepower electric motor. </a:t>
            </a:r>
          </a:p>
          <a:p>
            <a:pPr>
              <a:lnSpc>
                <a:spcPct val="80000"/>
              </a:lnSpc>
            </a:pPr>
            <a:r>
              <a:rPr lang="en-US" sz="2800"/>
              <a:t>The Mark I ran non-stop for 15 years, sounding like a roomful of ladies knitting. </a:t>
            </a:r>
          </a:p>
        </p:txBody>
      </p:sp>
    </p:spTree>
    <p:extLst>
      <p:ext uri="{BB962C8B-B14F-4D97-AF65-F5344CB8AC3E}">
        <p14:creationId xmlns:p14="http://schemas.microsoft.com/office/powerpoint/2010/main" val="36118074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en-US"/>
              <a:t>History of ‘Bug’</a:t>
            </a:r>
          </a:p>
        </p:txBody>
      </p:sp>
      <p:sp>
        <p:nvSpPr>
          <p:cNvPr id="72707" name="Rectangle 3"/>
          <p:cNvSpPr>
            <a:spLocks noGrp="1" noChangeArrowheads="1"/>
          </p:cNvSpPr>
          <p:nvPr>
            <p:ph type="body" idx="1"/>
          </p:nvPr>
        </p:nvSpPr>
        <p:spPr>
          <a:xfrm>
            <a:off x="2057400" y="2286000"/>
            <a:ext cx="8153400" cy="4267200"/>
          </a:xfrm>
        </p:spPr>
        <p:txBody>
          <a:bodyPr>
            <a:normAutofit/>
          </a:bodyPr>
          <a:lstStyle/>
          <a:p>
            <a:pPr>
              <a:lnSpc>
                <a:spcPct val="90000"/>
              </a:lnSpc>
            </a:pPr>
            <a:r>
              <a:rPr lang="en-US" sz="2800"/>
              <a:t>One of the primary programmers for the Mark I was a woman, Grace Hopper.</a:t>
            </a:r>
          </a:p>
          <a:p>
            <a:pPr>
              <a:lnSpc>
                <a:spcPct val="90000"/>
              </a:lnSpc>
            </a:pPr>
            <a:r>
              <a:rPr lang="en-US" sz="2800"/>
              <a:t> Hopper found the first computer "bug": a dead moth that had gotten into the Mark I and whose wings were blocking the reading of the holes in the paper tape. </a:t>
            </a:r>
          </a:p>
          <a:p>
            <a:pPr>
              <a:lnSpc>
                <a:spcPct val="90000"/>
              </a:lnSpc>
            </a:pPr>
            <a:r>
              <a:rPr lang="en-US" sz="2800"/>
              <a:t>The word "bug" had been used to describe a defect since at least 1889 but Hopper is credited with coining the word "debugging" to describe the work to eliminate program faults. </a:t>
            </a:r>
          </a:p>
          <a:p>
            <a:pPr>
              <a:lnSpc>
                <a:spcPct val="90000"/>
              </a:lnSpc>
            </a:pPr>
            <a:endParaRPr lang="en-US" sz="2800"/>
          </a:p>
        </p:txBody>
      </p:sp>
    </p:spTree>
    <p:extLst>
      <p:ext uri="{BB962C8B-B14F-4D97-AF65-F5344CB8AC3E}">
        <p14:creationId xmlns:p14="http://schemas.microsoft.com/office/powerpoint/2010/main" val="33404702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r>
              <a:rPr lang="en-US"/>
              <a:t>Year : 1943 – 1945</a:t>
            </a:r>
          </a:p>
        </p:txBody>
      </p:sp>
      <p:sp>
        <p:nvSpPr>
          <p:cNvPr id="77827" name="Rectangle 3"/>
          <p:cNvSpPr>
            <a:spLocks noGrp="1" noChangeArrowheads="1"/>
          </p:cNvSpPr>
          <p:nvPr>
            <p:ph type="body" idx="1"/>
          </p:nvPr>
        </p:nvSpPr>
        <p:spPr>
          <a:xfrm>
            <a:off x="1752600" y="2133600"/>
            <a:ext cx="4267200" cy="4267200"/>
          </a:xfrm>
        </p:spPr>
        <p:txBody>
          <a:bodyPr/>
          <a:lstStyle/>
          <a:p>
            <a:r>
              <a:rPr lang="en-US" sz="2800"/>
              <a:t>The first electronic digital computer ENIAC </a:t>
            </a:r>
            <a:r>
              <a:rPr lang="en-US" sz="2400"/>
              <a:t>(Electronic Numerical Integrator and Calculator)</a:t>
            </a:r>
          </a:p>
          <a:p>
            <a:pPr>
              <a:buFont typeface="Wingdings" panose="05000000000000000000" pitchFamily="2" charset="2"/>
              <a:buNone/>
            </a:pPr>
            <a:endParaRPr lang="en-US" sz="2400"/>
          </a:p>
          <a:p>
            <a:r>
              <a:rPr lang="en-US" sz="2400"/>
              <a:t>ENIAC was built by two professors, John Mauchly and J. Presper Eckert at the University of Pennsylvania </a:t>
            </a:r>
          </a:p>
        </p:txBody>
      </p:sp>
      <p:pic>
        <p:nvPicPr>
          <p:cNvPr id="77828" name="Picture 4" descr="eniac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500313"/>
            <a:ext cx="4343400" cy="3314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66269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smtClean="0"/>
              <a:t>Major Innovation – Transistor</a:t>
            </a:r>
          </a:p>
          <a:p>
            <a:r>
              <a:rPr lang="en-US" dirty="0" smtClean="0"/>
              <a:t>The </a:t>
            </a:r>
            <a:r>
              <a:rPr lang="en-US" dirty="0"/>
              <a:t>transistor was far superior to the vacuum tube, allowing computers to become smaller, faster, cheaper, more energy-efficient and more reliable than their first-generation predecessors. </a:t>
            </a:r>
            <a:endParaRPr lang="en-US" dirty="0" smtClean="0"/>
          </a:p>
          <a:p>
            <a:r>
              <a:rPr lang="en-US" dirty="0" smtClean="0"/>
              <a:t>Though </a:t>
            </a:r>
            <a:r>
              <a:rPr lang="en-US" dirty="0"/>
              <a:t>the transistor still generated a great deal of heat that subjected the computer to damage, it was a vast improvement over the vacuum tube. Second-generation computers still relied on punched cards for input and printouts for output. </a:t>
            </a:r>
          </a:p>
          <a:p>
            <a:r>
              <a:rPr lang="en-US" dirty="0" smtClean="0"/>
              <a:t>The </a:t>
            </a:r>
            <a:r>
              <a:rPr lang="en-US" dirty="0"/>
              <a:t>first computers of this generation were developed for the atomic energy industry. </a:t>
            </a:r>
          </a:p>
          <a:p>
            <a:endParaRPr lang="en-US" dirty="0"/>
          </a:p>
        </p:txBody>
      </p:sp>
      <p:sp>
        <p:nvSpPr>
          <p:cNvPr id="3" name="Title 2"/>
          <p:cNvSpPr>
            <a:spLocks noGrp="1"/>
          </p:cNvSpPr>
          <p:nvPr>
            <p:ph type="title"/>
          </p:nvPr>
        </p:nvSpPr>
        <p:spPr/>
        <p:txBody>
          <a:bodyPr/>
          <a:lstStyle/>
          <a:p>
            <a:r>
              <a:rPr lang="en-US" b="1" dirty="0"/>
              <a:t>Second Generation - 1956-1963:</a:t>
            </a:r>
            <a:endParaRPr lang="en-US" dirty="0"/>
          </a:p>
        </p:txBody>
      </p:sp>
    </p:spTree>
    <p:extLst>
      <p:ext uri="{BB962C8B-B14F-4D97-AF65-F5344CB8AC3E}">
        <p14:creationId xmlns:p14="http://schemas.microsoft.com/office/powerpoint/2010/main" val="23236547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a:bodyPr>
          <a:lstStyle/>
          <a:p>
            <a:r>
              <a:rPr lang="en-US" dirty="0" smtClean="0"/>
              <a:t>Major Innovation – Integrated Circuits / IC</a:t>
            </a:r>
          </a:p>
          <a:p>
            <a:r>
              <a:rPr lang="en-US" dirty="0"/>
              <a:t>The development of the </a:t>
            </a:r>
            <a:r>
              <a:rPr lang="en-US" u="sng" dirty="0" smtClean="0"/>
              <a:t>Integrated Circuits </a:t>
            </a:r>
            <a:r>
              <a:rPr lang="en-US" dirty="0" smtClean="0"/>
              <a:t>was </a:t>
            </a:r>
            <a:r>
              <a:rPr lang="en-US" dirty="0"/>
              <a:t>the hallmark of the third generation of computers. </a:t>
            </a:r>
            <a:endParaRPr lang="en-US" dirty="0" smtClean="0"/>
          </a:p>
          <a:p>
            <a:r>
              <a:rPr lang="en-US" dirty="0" smtClean="0"/>
              <a:t>Transistors </a:t>
            </a:r>
            <a:r>
              <a:rPr lang="en-US" dirty="0"/>
              <a:t>were miniaturized and placed on </a:t>
            </a:r>
            <a:r>
              <a:rPr lang="en-US" u="sng" dirty="0" smtClean="0"/>
              <a:t>semi conductor</a:t>
            </a:r>
            <a:r>
              <a:rPr lang="en-US" dirty="0" smtClean="0"/>
              <a:t> </a:t>
            </a:r>
            <a:r>
              <a:rPr lang="en-US" u="sng" dirty="0"/>
              <a:t>chips</a:t>
            </a:r>
            <a:r>
              <a:rPr lang="en-US" dirty="0"/>
              <a:t>, called </a:t>
            </a:r>
            <a:r>
              <a:rPr lang="en-US" u="sng" dirty="0" smtClean="0"/>
              <a:t>IC</a:t>
            </a:r>
            <a:r>
              <a:rPr lang="en-US" dirty="0" smtClean="0"/>
              <a:t>, </a:t>
            </a:r>
            <a:r>
              <a:rPr lang="en-US" dirty="0"/>
              <a:t>which drastically increased the speed and efficiency of computers. </a:t>
            </a:r>
          </a:p>
          <a:p>
            <a:r>
              <a:rPr lang="en-US" dirty="0"/>
              <a:t>Instead of punched cards and printouts, users interacted with third generation computers through </a:t>
            </a:r>
            <a:r>
              <a:rPr lang="en-US" u="sng" dirty="0"/>
              <a:t>keyboards</a:t>
            </a:r>
            <a:r>
              <a:rPr lang="en-US" dirty="0"/>
              <a:t> and </a:t>
            </a:r>
            <a:r>
              <a:rPr lang="en-US" u="sng" dirty="0"/>
              <a:t>monitors</a:t>
            </a:r>
            <a:r>
              <a:rPr lang="en-US" dirty="0"/>
              <a:t> and </a:t>
            </a:r>
            <a:r>
              <a:rPr lang="en-US" u="sng" dirty="0"/>
              <a:t>interfaced</a:t>
            </a:r>
            <a:r>
              <a:rPr lang="en-US" dirty="0"/>
              <a:t> with an </a:t>
            </a:r>
            <a:r>
              <a:rPr lang="en-US" u="sng" dirty="0"/>
              <a:t>operating </a:t>
            </a:r>
            <a:r>
              <a:rPr lang="en-US" u="sng" dirty="0" smtClean="0"/>
              <a:t>system</a:t>
            </a:r>
          </a:p>
          <a:p>
            <a:r>
              <a:rPr lang="en-US" dirty="0" smtClean="0"/>
              <a:t> </a:t>
            </a:r>
            <a:r>
              <a:rPr lang="en-US" dirty="0"/>
              <a:t>Computers for the first time became accessible to a mass audience because they were smaller and cheaper than their predecessors</a:t>
            </a:r>
          </a:p>
        </p:txBody>
      </p:sp>
      <p:sp>
        <p:nvSpPr>
          <p:cNvPr id="3" name="Title 2"/>
          <p:cNvSpPr>
            <a:spLocks noGrp="1"/>
          </p:cNvSpPr>
          <p:nvPr>
            <p:ph type="title"/>
          </p:nvPr>
        </p:nvSpPr>
        <p:spPr/>
        <p:txBody>
          <a:bodyPr/>
          <a:lstStyle/>
          <a:p>
            <a:r>
              <a:rPr lang="en-US" b="1" dirty="0"/>
              <a:t>Third Generation - </a:t>
            </a:r>
            <a:r>
              <a:rPr lang="en-US" b="1" dirty="0" smtClean="0"/>
              <a:t>1964-1971</a:t>
            </a:r>
            <a:endParaRPr lang="en-US" dirty="0"/>
          </a:p>
        </p:txBody>
      </p:sp>
    </p:spTree>
    <p:extLst>
      <p:ext uri="{BB962C8B-B14F-4D97-AF65-F5344CB8AC3E}">
        <p14:creationId xmlns:p14="http://schemas.microsoft.com/office/powerpoint/2010/main" val="27872925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lstStyle/>
          <a:p>
            <a:r>
              <a:rPr lang="en-US"/>
              <a:t>Revolution of IC</a:t>
            </a:r>
          </a:p>
        </p:txBody>
      </p:sp>
      <p:pic>
        <p:nvPicPr>
          <p:cNvPr id="81923" name="Picture 3" descr="CDC7600"/>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872803" y="1722549"/>
            <a:ext cx="2819400" cy="3886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 name="Picture 3" descr="I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7197144" y="1735428"/>
            <a:ext cx="2413000" cy="3886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Striped Right Arrow 1"/>
          <p:cNvSpPr/>
          <p:nvPr/>
        </p:nvSpPr>
        <p:spPr>
          <a:xfrm>
            <a:off x="4984124" y="2923504"/>
            <a:ext cx="1957589" cy="1700011"/>
          </a:xfrm>
          <a:prstGeom prst="stripedRightArrow">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70075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smtClean="0"/>
              <a:t>Major Innovation – Microprocessor</a:t>
            </a:r>
          </a:p>
          <a:p>
            <a:r>
              <a:rPr lang="en-US" dirty="0" smtClean="0"/>
              <a:t>Microprocessor is defined as thousands </a:t>
            </a:r>
            <a:r>
              <a:rPr lang="en-US" dirty="0"/>
              <a:t>of integrated circuits were built onto a single silicon chip. </a:t>
            </a:r>
            <a:endParaRPr lang="en-US" dirty="0" smtClean="0"/>
          </a:p>
          <a:p>
            <a:r>
              <a:rPr lang="en-US" dirty="0" smtClean="0"/>
              <a:t>In </a:t>
            </a:r>
            <a:r>
              <a:rPr lang="en-US" dirty="0"/>
              <a:t>1981 IBM introduced its first computer for the home </a:t>
            </a:r>
            <a:r>
              <a:rPr lang="en-US" dirty="0" smtClean="0"/>
              <a:t>user</a:t>
            </a:r>
          </a:p>
          <a:p>
            <a:r>
              <a:rPr lang="en-US" dirty="0" smtClean="0"/>
              <a:t>In </a:t>
            </a:r>
            <a:r>
              <a:rPr lang="en-US" dirty="0"/>
              <a:t>1984 Apple introduced the Macintosh. </a:t>
            </a:r>
            <a:endParaRPr lang="en-US" dirty="0" smtClean="0"/>
          </a:p>
          <a:p>
            <a:r>
              <a:rPr lang="en-US" dirty="0" smtClean="0"/>
              <a:t>As </a:t>
            </a:r>
            <a:r>
              <a:rPr lang="en-US" dirty="0"/>
              <a:t>these small computers became more powerful, they could be linked together to form networks, which eventually led to the development of the Internet. </a:t>
            </a:r>
          </a:p>
        </p:txBody>
      </p:sp>
      <p:sp>
        <p:nvSpPr>
          <p:cNvPr id="3" name="Title 2"/>
          <p:cNvSpPr>
            <a:spLocks noGrp="1"/>
          </p:cNvSpPr>
          <p:nvPr>
            <p:ph type="title"/>
          </p:nvPr>
        </p:nvSpPr>
        <p:spPr/>
        <p:txBody>
          <a:bodyPr>
            <a:normAutofit/>
          </a:bodyPr>
          <a:lstStyle/>
          <a:p>
            <a:r>
              <a:rPr lang="en-US" b="1" dirty="0"/>
              <a:t>Fourth Generation - </a:t>
            </a:r>
            <a:r>
              <a:rPr lang="en-US" b="1" dirty="0" smtClean="0"/>
              <a:t>1971-Present</a:t>
            </a:r>
            <a:endParaRPr lang="en-US" dirty="0"/>
          </a:p>
        </p:txBody>
      </p:sp>
    </p:spTree>
    <p:extLst>
      <p:ext uri="{BB962C8B-B14F-4D97-AF65-F5344CB8AC3E}">
        <p14:creationId xmlns:p14="http://schemas.microsoft.com/office/powerpoint/2010/main" val="1845618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dirty="0" smtClean="0"/>
              <a:t>Major Innovation – Artificial Intelligence</a:t>
            </a:r>
          </a:p>
          <a:p>
            <a:r>
              <a:rPr lang="en-US" dirty="0" smtClean="0"/>
              <a:t>Computers with intelligence like a human being</a:t>
            </a:r>
          </a:p>
          <a:p>
            <a:pPr lvl="1"/>
            <a:r>
              <a:rPr lang="en-US" dirty="0" smtClean="0"/>
              <a:t>Robotics</a:t>
            </a:r>
          </a:p>
          <a:p>
            <a:pPr lvl="1"/>
            <a:r>
              <a:rPr lang="en-US" dirty="0" smtClean="0"/>
              <a:t>Speech and Voice Recognition</a:t>
            </a:r>
          </a:p>
          <a:p>
            <a:pPr lvl="1"/>
            <a:r>
              <a:rPr lang="en-US" dirty="0" smtClean="0"/>
              <a:t>Image and Thumb recognition</a:t>
            </a:r>
          </a:p>
          <a:p>
            <a:pPr lvl="1"/>
            <a:r>
              <a:rPr lang="en-US" dirty="0" smtClean="0"/>
              <a:t>Simulation</a:t>
            </a:r>
          </a:p>
          <a:p>
            <a:pPr lvl="1"/>
            <a:r>
              <a:rPr lang="en-US" dirty="0" smtClean="0"/>
              <a:t>Virtual Reality</a:t>
            </a:r>
          </a:p>
          <a:p>
            <a:pPr lvl="1"/>
            <a:r>
              <a:rPr lang="en-US" dirty="0" smtClean="0"/>
              <a:t>Expert Systems</a:t>
            </a:r>
          </a:p>
          <a:p>
            <a:pPr lvl="1"/>
            <a:r>
              <a:rPr lang="en-US" smtClean="0"/>
              <a:t>Etc.</a:t>
            </a:r>
            <a:endParaRPr lang="en-US" dirty="0"/>
          </a:p>
        </p:txBody>
      </p:sp>
      <p:sp>
        <p:nvSpPr>
          <p:cNvPr id="3" name="Title 2"/>
          <p:cNvSpPr>
            <a:spLocks noGrp="1"/>
          </p:cNvSpPr>
          <p:nvPr>
            <p:ph type="title"/>
          </p:nvPr>
        </p:nvSpPr>
        <p:spPr/>
        <p:txBody>
          <a:bodyPr/>
          <a:lstStyle/>
          <a:p>
            <a:r>
              <a:rPr lang="en-US" b="1" dirty="0"/>
              <a:t>Fifth Generation - Present and Beyond</a:t>
            </a:r>
            <a:endParaRPr lang="en-US" dirty="0"/>
          </a:p>
        </p:txBody>
      </p:sp>
    </p:spTree>
    <p:extLst>
      <p:ext uri="{BB962C8B-B14F-4D97-AF65-F5344CB8AC3E}">
        <p14:creationId xmlns:p14="http://schemas.microsoft.com/office/powerpoint/2010/main" val="35868044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Microprocessor</a:t>
            </a:r>
            <a:endParaRPr lang="en-US" dirty="0"/>
          </a:p>
        </p:txBody>
      </p:sp>
      <p:sp>
        <p:nvSpPr>
          <p:cNvPr id="4" name="AutoShape 2" descr="Image result for Parts of Processo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Content Placeholder 6"/>
          <p:cNvSpPr>
            <a:spLocks noGrp="1"/>
          </p:cNvSpPr>
          <p:nvPr>
            <p:ph idx="1"/>
          </p:nvPr>
        </p:nvSpPr>
        <p:spPr/>
        <p:txBody>
          <a:bodyPr/>
          <a:lstStyle/>
          <a:p>
            <a:r>
              <a:rPr lang="en-US" dirty="0" smtClean="0"/>
              <a:t>A combination of </a:t>
            </a:r>
            <a:r>
              <a:rPr lang="en-US" dirty="0"/>
              <a:t>integrated circuit that contains all the functions of a central processing unit of a computer.</a:t>
            </a:r>
          </a:p>
        </p:txBody>
      </p:sp>
      <p:pic>
        <p:nvPicPr>
          <p:cNvPr id="9" name="Content Placeholder 5"/>
          <p:cNvPicPr>
            <a:picLocks noChangeAspect="1"/>
          </p:cNvPicPr>
          <p:nvPr/>
        </p:nvPicPr>
        <p:blipFill>
          <a:blip r:embed="rId2"/>
          <a:stretch>
            <a:fillRect/>
          </a:stretch>
        </p:blipFill>
        <p:spPr>
          <a:xfrm>
            <a:off x="3469140" y="2818781"/>
            <a:ext cx="5648734" cy="3358182"/>
          </a:xfrm>
          <a:prstGeom prst="rect">
            <a:avLst/>
          </a:prstGeom>
        </p:spPr>
      </p:pic>
    </p:spTree>
    <p:extLst>
      <p:ext uri="{BB962C8B-B14F-4D97-AF65-F5344CB8AC3E}">
        <p14:creationId xmlns:p14="http://schemas.microsoft.com/office/powerpoint/2010/main" val="7076275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Parts of Microprocessor</a:t>
            </a:r>
            <a:endParaRPr lang="en-US" dirty="0"/>
          </a:p>
        </p:txBody>
      </p:sp>
      <p:sp>
        <p:nvSpPr>
          <p:cNvPr id="5" name="Content Placeholder 4"/>
          <p:cNvSpPr>
            <a:spLocks noGrp="1"/>
          </p:cNvSpPr>
          <p:nvPr>
            <p:ph idx="1"/>
          </p:nvPr>
        </p:nvSpPr>
        <p:spPr/>
        <p:txBody>
          <a:bodyPr>
            <a:normAutofit lnSpcReduction="10000"/>
          </a:bodyPr>
          <a:lstStyle/>
          <a:p>
            <a:r>
              <a:rPr lang="en-US" dirty="0" smtClean="0"/>
              <a:t>Control Unit</a:t>
            </a:r>
          </a:p>
          <a:p>
            <a:pPr marL="457200" lvl="1" indent="0">
              <a:buNone/>
            </a:pPr>
            <a:r>
              <a:rPr lang="en-US" dirty="0"/>
              <a:t>A control unit or </a:t>
            </a:r>
            <a:r>
              <a:rPr lang="en-US" b="1" dirty="0"/>
              <a:t>CU</a:t>
            </a:r>
            <a:r>
              <a:rPr lang="en-US" dirty="0"/>
              <a:t> is circuitry that directs operations within a computer's processor. It lets the computer's logic unit, memory, as well as both input and output devices know how to respond to instructions received from a </a:t>
            </a:r>
            <a:r>
              <a:rPr lang="en-US" dirty="0" smtClean="0"/>
              <a:t>program.</a:t>
            </a:r>
          </a:p>
          <a:p>
            <a:pPr marL="457200" lvl="1" indent="0">
              <a:buNone/>
            </a:pPr>
            <a:endParaRPr lang="en-US" dirty="0"/>
          </a:p>
          <a:p>
            <a:r>
              <a:rPr lang="en-US" dirty="0" smtClean="0"/>
              <a:t>Arithmetic &amp; Logical Unit</a:t>
            </a:r>
          </a:p>
          <a:p>
            <a:pPr marL="457200" lvl="1" indent="0">
              <a:buNone/>
            </a:pPr>
            <a:r>
              <a:rPr lang="en-US" dirty="0"/>
              <a:t>An arithmetic logic unit (</a:t>
            </a:r>
            <a:r>
              <a:rPr lang="en-US" b="1" dirty="0"/>
              <a:t>ALU</a:t>
            </a:r>
            <a:r>
              <a:rPr lang="en-US" dirty="0"/>
              <a:t>) is a digital circuit used to perform arithmetic and logic operations. It represents the fundamental building block of the central processing unit (CPU) of a computer.</a:t>
            </a:r>
          </a:p>
          <a:p>
            <a:endParaRPr lang="en-US" dirty="0" smtClean="0"/>
          </a:p>
          <a:p>
            <a:r>
              <a:rPr lang="en-US" dirty="0" smtClean="0"/>
              <a:t>Memory Unit / Registers</a:t>
            </a:r>
            <a:endParaRPr lang="en-US" dirty="0"/>
          </a:p>
        </p:txBody>
      </p:sp>
    </p:spTree>
    <p:extLst>
      <p:ext uri="{BB962C8B-B14F-4D97-AF65-F5344CB8AC3E}">
        <p14:creationId xmlns:p14="http://schemas.microsoft.com/office/powerpoint/2010/main" val="42257955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Registers</a:t>
            </a:r>
            <a:endParaRPr lang="en-US" dirty="0"/>
          </a:p>
        </p:txBody>
      </p:sp>
      <p:sp>
        <p:nvSpPr>
          <p:cNvPr id="3" name="Content Placeholder 2"/>
          <p:cNvSpPr>
            <a:spLocks noGrp="1"/>
          </p:cNvSpPr>
          <p:nvPr>
            <p:ph idx="1"/>
          </p:nvPr>
        </p:nvSpPr>
        <p:spPr/>
        <p:txBody>
          <a:bodyPr/>
          <a:lstStyle/>
          <a:p>
            <a:r>
              <a:rPr lang="en-US" dirty="0"/>
              <a:t>A processor </a:t>
            </a:r>
            <a:r>
              <a:rPr lang="en-US" b="1" dirty="0"/>
              <a:t>register</a:t>
            </a:r>
            <a:r>
              <a:rPr lang="en-US" dirty="0"/>
              <a:t> (</a:t>
            </a:r>
            <a:r>
              <a:rPr lang="en-US" b="1" dirty="0"/>
              <a:t>CPU register</a:t>
            </a:r>
            <a:r>
              <a:rPr lang="en-US" dirty="0"/>
              <a:t>) is one of a small set of data holding places that are part of the </a:t>
            </a:r>
            <a:r>
              <a:rPr lang="en-US" b="1" dirty="0"/>
              <a:t>computer</a:t>
            </a:r>
            <a:r>
              <a:rPr lang="en-US" dirty="0"/>
              <a:t> processor</a:t>
            </a:r>
            <a:r>
              <a:rPr lang="en-US" dirty="0" smtClean="0"/>
              <a:t>.</a:t>
            </a:r>
          </a:p>
          <a:p>
            <a:endParaRPr lang="en-US" dirty="0"/>
          </a:p>
          <a:p>
            <a:r>
              <a:rPr lang="en-US" dirty="0" smtClean="0"/>
              <a:t>A </a:t>
            </a:r>
            <a:r>
              <a:rPr lang="en-US" dirty="0"/>
              <a:t> </a:t>
            </a:r>
            <a:r>
              <a:rPr lang="en-US" b="1" dirty="0" smtClean="0"/>
              <a:t>Program Counter / Instruction register</a:t>
            </a:r>
            <a:r>
              <a:rPr lang="en-US" dirty="0"/>
              <a:t> </a:t>
            </a:r>
            <a:r>
              <a:rPr lang="en-US" dirty="0" smtClean="0"/>
              <a:t>hold </a:t>
            </a:r>
            <a:r>
              <a:rPr lang="en-US" dirty="0"/>
              <a:t>an </a:t>
            </a:r>
            <a:r>
              <a:rPr lang="en-US" dirty="0" smtClean="0"/>
              <a:t>instruction</a:t>
            </a:r>
          </a:p>
          <a:p>
            <a:r>
              <a:rPr lang="en-US" dirty="0" smtClean="0"/>
              <a:t>An </a:t>
            </a:r>
            <a:r>
              <a:rPr lang="en-US" b="1" dirty="0" smtClean="0"/>
              <a:t>Address register</a:t>
            </a:r>
            <a:r>
              <a:rPr lang="en-US" dirty="0" smtClean="0"/>
              <a:t> holds memory addresses</a:t>
            </a:r>
          </a:p>
          <a:p>
            <a:r>
              <a:rPr lang="en-US" dirty="0" smtClean="0"/>
              <a:t>An </a:t>
            </a:r>
            <a:r>
              <a:rPr lang="en-US" b="1" dirty="0" smtClean="0"/>
              <a:t>Accumulator / Data register </a:t>
            </a:r>
            <a:r>
              <a:rPr lang="en-US" dirty="0" smtClean="0"/>
              <a:t>hold results of frequent calculations within microprocessor</a:t>
            </a:r>
            <a:endParaRPr lang="en-US" dirty="0"/>
          </a:p>
        </p:txBody>
      </p:sp>
    </p:spTree>
    <p:extLst>
      <p:ext uri="{BB962C8B-B14F-4D97-AF65-F5344CB8AC3E}">
        <p14:creationId xmlns:p14="http://schemas.microsoft.com/office/powerpoint/2010/main" val="3494171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Memory</a:t>
            </a:r>
            <a:endParaRPr lang="en-US" dirty="0"/>
          </a:p>
        </p:txBody>
      </p:sp>
      <p:sp>
        <p:nvSpPr>
          <p:cNvPr id="3" name="Content Placeholder 2"/>
          <p:cNvSpPr>
            <a:spLocks noGrp="1"/>
          </p:cNvSpPr>
          <p:nvPr>
            <p:ph idx="1"/>
          </p:nvPr>
        </p:nvSpPr>
        <p:spPr/>
        <p:txBody>
          <a:bodyPr/>
          <a:lstStyle/>
          <a:p>
            <a:r>
              <a:rPr lang="en-US" b="1" dirty="0"/>
              <a:t>Computer memory</a:t>
            </a:r>
            <a:r>
              <a:rPr lang="en-US" dirty="0"/>
              <a:t> is any physical device capable of storing </a:t>
            </a:r>
            <a:r>
              <a:rPr lang="en-US" dirty="0" smtClean="0"/>
              <a:t>information by computer</a:t>
            </a:r>
            <a:endParaRPr lang="en-US" dirty="0"/>
          </a:p>
          <a:p>
            <a:endParaRPr lang="en-US" dirty="0" smtClean="0"/>
          </a:p>
          <a:p>
            <a:r>
              <a:rPr lang="en-US" b="1" dirty="0"/>
              <a:t>Volatile memory </a:t>
            </a:r>
            <a:r>
              <a:rPr lang="en-US" dirty="0"/>
              <a:t>is computer memory that requires power to maintain the stored </a:t>
            </a:r>
            <a:r>
              <a:rPr lang="en-US" dirty="0" smtClean="0"/>
              <a:t>information. (e.g. RAM, Cache, Register)</a:t>
            </a:r>
          </a:p>
          <a:p>
            <a:endParaRPr lang="en-US" dirty="0"/>
          </a:p>
          <a:p>
            <a:r>
              <a:rPr lang="en-US" b="1" dirty="0"/>
              <a:t>Non-volatile memory</a:t>
            </a:r>
            <a:r>
              <a:rPr lang="en-US" dirty="0"/>
              <a:t> is computer memory that can retain the stored information even when not powered. </a:t>
            </a:r>
            <a:r>
              <a:rPr lang="en-US" dirty="0" smtClean="0"/>
              <a:t>(e.g. ROM, CMOS)</a:t>
            </a:r>
          </a:p>
        </p:txBody>
      </p:sp>
    </p:spTree>
    <p:extLst>
      <p:ext uri="{BB962C8B-B14F-4D97-AF65-F5344CB8AC3E}">
        <p14:creationId xmlns:p14="http://schemas.microsoft.com/office/powerpoint/2010/main" val="27045596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RAM</a:t>
            </a:r>
            <a:endParaRPr lang="en-US" dirty="0"/>
          </a:p>
        </p:txBody>
      </p:sp>
      <p:sp>
        <p:nvSpPr>
          <p:cNvPr id="3" name="Content Placeholder 2"/>
          <p:cNvSpPr>
            <a:spLocks noGrp="1"/>
          </p:cNvSpPr>
          <p:nvPr>
            <p:ph idx="1"/>
          </p:nvPr>
        </p:nvSpPr>
        <p:spPr/>
        <p:txBody>
          <a:bodyPr/>
          <a:lstStyle/>
          <a:p>
            <a:r>
              <a:rPr lang="en-US" b="1" dirty="0"/>
              <a:t>Random-access memory</a:t>
            </a:r>
            <a:r>
              <a:rPr lang="en-US" dirty="0"/>
              <a:t> </a:t>
            </a:r>
            <a:r>
              <a:rPr lang="en-US" dirty="0" smtClean="0"/>
              <a:t>is </a:t>
            </a:r>
            <a:r>
              <a:rPr lang="en-US" dirty="0"/>
              <a:t>the most common type of memory </a:t>
            </a:r>
            <a:r>
              <a:rPr lang="en-US" dirty="0" smtClean="0"/>
              <a:t>that </a:t>
            </a:r>
            <a:r>
              <a:rPr lang="en-US" dirty="0"/>
              <a:t>stores </a:t>
            </a:r>
            <a:r>
              <a:rPr lang="en-US" dirty="0" smtClean="0"/>
              <a:t>data and applications currently </a:t>
            </a:r>
            <a:r>
              <a:rPr lang="en-US" dirty="0"/>
              <a:t>being </a:t>
            </a:r>
            <a:r>
              <a:rPr lang="en-US" dirty="0" smtClean="0"/>
              <a:t>used or in execution by computer system. Most </a:t>
            </a:r>
            <a:r>
              <a:rPr lang="en-US" dirty="0"/>
              <a:t>modern semiconductor volatile memory is either Static </a:t>
            </a:r>
            <a:r>
              <a:rPr lang="en-US" dirty="0" smtClean="0"/>
              <a:t>RAM or Dynamic RAM.</a:t>
            </a:r>
            <a:r>
              <a:rPr lang="en-US" dirty="0"/>
              <a:t> </a:t>
            </a:r>
            <a:endParaRPr lang="en-US" dirty="0" smtClean="0"/>
          </a:p>
          <a:p>
            <a:endParaRPr lang="en-US" dirty="0"/>
          </a:p>
          <a:p>
            <a:r>
              <a:rPr lang="en-US" b="1" dirty="0"/>
              <a:t>DRAM</a:t>
            </a:r>
            <a:r>
              <a:rPr lang="en-US" dirty="0"/>
              <a:t>, or Dynamic </a:t>
            </a:r>
            <a:r>
              <a:rPr lang="en-US" b="1" dirty="0"/>
              <a:t>RAM</a:t>
            </a:r>
            <a:r>
              <a:rPr lang="en-US" dirty="0"/>
              <a:t>, is the most widely </a:t>
            </a:r>
            <a:r>
              <a:rPr lang="en-US" dirty="0" smtClean="0"/>
              <a:t>used </a:t>
            </a:r>
            <a:r>
              <a:rPr lang="en-US" b="1" dirty="0" smtClean="0"/>
              <a:t>RAM</a:t>
            </a:r>
            <a:r>
              <a:rPr lang="en-US" dirty="0"/>
              <a:t> that consumers deal with. DDR3 is an example of </a:t>
            </a:r>
            <a:r>
              <a:rPr lang="en-US" b="1" dirty="0"/>
              <a:t>DRAM</a:t>
            </a:r>
            <a:r>
              <a:rPr lang="en-US" dirty="0"/>
              <a:t>. </a:t>
            </a:r>
            <a:r>
              <a:rPr lang="en-US" dirty="0" smtClean="0"/>
              <a:t>It needs </a:t>
            </a:r>
            <a:r>
              <a:rPr lang="en-US" dirty="0"/>
              <a:t>to be refreshed periodically when in use, </a:t>
            </a:r>
            <a:endParaRPr lang="en-US" dirty="0" smtClean="0"/>
          </a:p>
          <a:p>
            <a:r>
              <a:rPr lang="en-US" b="1" dirty="0" smtClean="0"/>
              <a:t>SRAM</a:t>
            </a:r>
            <a:r>
              <a:rPr lang="en-US" dirty="0" smtClean="0"/>
              <a:t> </a:t>
            </a:r>
            <a:r>
              <a:rPr lang="en-US" dirty="0"/>
              <a:t>does </a:t>
            </a:r>
            <a:r>
              <a:rPr lang="en-US" dirty="0" smtClean="0"/>
              <a:t>not need to be refreshed by microprocessor.</a:t>
            </a:r>
            <a:endParaRPr lang="en-US" dirty="0"/>
          </a:p>
        </p:txBody>
      </p:sp>
    </p:spTree>
    <p:extLst>
      <p:ext uri="{BB962C8B-B14F-4D97-AF65-F5344CB8AC3E}">
        <p14:creationId xmlns:p14="http://schemas.microsoft.com/office/powerpoint/2010/main" val="10522167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Cache Memory</a:t>
            </a:r>
            <a:endParaRPr lang="en-US" dirty="0"/>
          </a:p>
        </p:txBody>
      </p:sp>
      <p:sp>
        <p:nvSpPr>
          <p:cNvPr id="3" name="Content Placeholder 2"/>
          <p:cNvSpPr>
            <a:spLocks noGrp="1"/>
          </p:cNvSpPr>
          <p:nvPr>
            <p:ph idx="1"/>
          </p:nvPr>
        </p:nvSpPr>
        <p:spPr/>
        <p:txBody>
          <a:bodyPr/>
          <a:lstStyle/>
          <a:p>
            <a:r>
              <a:rPr lang="en-US" dirty="0"/>
              <a:t>The cache memory lies in the path between the processor and the memory</a:t>
            </a:r>
            <a:r>
              <a:rPr lang="en-US" dirty="0" smtClean="0"/>
              <a:t>. </a:t>
            </a:r>
            <a:r>
              <a:rPr lang="en-US" dirty="0"/>
              <a:t> </a:t>
            </a:r>
            <a:r>
              <a:rPr lang="en-US" dirty="0" smtClean="0"/>
              <a:t>So, it is </a:t>
            </a:r>
            <a:r>
              <a:rPr lang="en-US" dirty="0"/>
              <a:t>very </a:t>
            </a:r>
            <a:r>
              <a:rPr lang="en-US" dirty="0" smtClean="0"/>
              <a:t>near </a:t>
            </a:r>
            <a:r>
              <a:rPr lang="en-US" dirty="0"/>
              <a:t>to the CPU </a:t>
            </a:r>
            <a:r>
              <a:rPr lang="en-US" dirty="0" smtClean="0"/>
              <a:t>and </a:t>
            </a:r>
            <a:r>
              <a:rPr lang="en-US" dirty="0"/>
              <a:t>also called </a:t>
            </a:r>
            <a:r>
              <a:rPr lang="en-US" b="1" dirty="0"/>
              <a:t>CPU memory</a:t>
            </a:r>
            <a:r>
              <a:rPr lang="en-US" dirty="0"/>
              <a:t>, all the Recent </a:t>
            </a:r>
            <a:r>
              <a:rPr lang="en-US" dirty="0" smtClean="0"/>
              <a:t>Instructions </a:t>
            </a:r>
            <a:r>
              <a:rPr lang="en-US" dirty="0"/>
              <a:t>are Stored into the Cache Memory</a:t>
            </a:r>
            <a:r>
              <a:rPr lang="en-US" dirty="0" smtClean="0"/>
              <a:t>.</a:t>
            </a:r>
          </a:p>
          <a:p>
            <a:endParaRPr lang="en-US" dirty="0"/>
          </a:p>
          <a:p>
            <a:endParaRPr lang="en-US" dirty="0"/>
          </a:p>
        </p:txBody>
      </p:sp>
      <p:pic>
        <p:nvPicPr>
          <p:cNvPr id="2050" name="Picture 2" descr="http://ecomputernotes.com/images/Cache%20Memory.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4352" y="3408952"/>
            <a:ext cx="4762500" cy="1647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33813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Cache Memory Types</a:t>
            </a:r>
            <a:endParaRPr lang="en-US" dirty="0"/>
          </a:p>
        </p:txBody>
      </p:sp>
      <p:sp>
        <p:nvSpPr>
          <p:cNvPr id="3" name="Content Placeholder 2"/>
          <p:cNvSpPr>
            <a:spLocks noGrp="1"/>
          </p:cNvSpPr>
          <p:nvPr>
            <p:ph idx="1"/>
          </p:nvPr>
        </p:nvSpPr>
        <p:spPr/>
        <p:txBody>
          <a:bodyPr>
            <a:normAutofit/>
          </a:bodyPr>
          <a:lstStyle/>
          <a:p>
            <a:r>
              <a:rPr lang="en-US" b="1" dirty="0"/>
              <a:t>L1 cache</a:t>
            </a:r>
            <a:r>
              <a:rPr lang="en-US" dirty="0"/>
              <a:t>, or primary cache, is extremely fast but relatively small, and is usually embedded in the processor chip as CPU cache</a:t>
            </a:r>
            <a:r>
              <a:rPr lang="en-US" dirty="0" smtClean="0"/>
              <a:t>.</a:t>
            </a:r>
          </a:p>
          <a:p>
            <a:endParaRPr lang="en-US" dirty="0"/>
          </a:p>
          <a:p>
            <a:r>
              <a:rPr lang="en-US" b="1" dirty="0"/>
              <a:t>L2 cache</a:t>
            </a:r>
            <a:r>
              <a:rPr lang="en-US" dirty="0"/>
              <a:t>, or secondary cache, is </a:t>
            </a:r>
            <a:r>
              <a:rPr lang="en-US" dirty="0" smtClean="0"/>
              <a:t>larger than </a:t>
            </a:r>
            <a:r>
              <a:rPr lang="en-US" dirty="0"/>
              <a:t>L1. L2 cache may be embedded on the CPU, or it can be on a separate </a:t>
            </a:r>
            <a:r>
              <a:rPr lang="en-US" dirty="0" smtClean="0"/>
              <a:t>chip.</a:t>
            </a:r>
          </a:p>
          <a:p>
            <a:endParaRPr lang="en-US" dirty="0"/>
          </a:p>
          <a:p>
            <a:r>
              <a:rPr lang="en-US" b="1" dirty="0"/>
              <a:t>Level 3 (L3) cache</a:t>
            </a:r>
            <a:r>
              <a:rPr lang="en-US" dirty="0"/>
              <a:t> is specialized memory developed to improve the performance of L1 and L2. </a:t>
            </a:r>
            <a:r>
              <a:rPr lang="en-US" dirty="0" smtClean="0"/>
              <a:t>Also called as external cache.</a:t>
            </a:r>
            <a:endParaRPr lang="en-US" dirty="0"/>
          </a:p>
        </p:txBody>
      </p:sp>
    </p:spTree>
    <p:extLst>
      <p:ext uri="{BB962C8B-B14F-4D97-AF65-F5344CB8AC3E}">
        <p14:creationId xmlns:p14="http://schemas.microsoft.com/office/powerpoint/2010/main" val="956012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ROM and Types</a:t>
            </a:r>
            <a:endParaRPr lang="en-US" dirty="0"/>
          </a:p>
        </p:txBody>
      </p:sp>
      <p:sp>
        <p:nvSpPr>
          <p:cNvPr id="3" name="Content Placeholder 2"/>
          <p:cNvSpPr>
            <a:spLocks noGrp="1"/>
          </p:cNvSpPr>
          <p:nvPr>
            <p:ph idx="1"/>
          </p:nvPr>
        </p:nvSpPr>
        <p:spPr/>
        <p:txBody>
          <a:bodyPr>
            <a:normAutofit/>
          </a:bodyPr>
          <a:lstStyle/>
          <a:p>
            <a:r>
              <a:rPr lang="en-US" b="1" dirty="0" smtClean="0"/>
              <a:t>ROM</a:t>
            </a:r>
            <a:r>
              <a:rPr lang="en-US" dirty="0"/>
              <a:t> stands for Read Only Memory. The memory from which we can only read but cannot write on it. This type of memory is non-volatile. The information is stored permanently in such memories during manufacture. A </a:t>
            </a:r>
            <a:r>
              <a:rPr lang="en-US" b="1" dirty="0"/>
              <a:t>ROM</a:t>
            </a:r>
            <a:r>
              <a:rPr lang="en-US" dirty="0"/>
              <a:t> stores such instructions that are required to start a </a:t>
            </a:r>
            <a:r>
              <a:rPr lang="en-US" dirty="0" smtClean="0"/>
              <a:t>computer.</a:t>
            </a:r>
          </a:p>
          <a:p>
            <a:r>
              <a:rPr lang="en-US" dirty="0"/>
              <a:t>PROM (programmable ROM) </a:t>
            </a:r>
            <a:r>
              <a:rPr lang="en-US" dirty="0" smtClean="0"/>
              <a:t>is a one - time </a:t>
            </a:r>
            <a:r>
              <a:rPr lang="en-US" dirty="0"/>
              <a:t>user-programmable memory. </a:t>
            </a:r>
            <a:endParaRPr lang="en-US" dirty="0" smtClean="0"/>
          </a:p>
          <a:p>
            <a:r>
              <a:rPr lang="en-US" dirty="0" smtClean="0"/>
              <a:t>EPROM </a:t>
            </a:r>
            <a:r>
              <a:rPr lang="en-US" dirty="0"/>
              <a:t>(erasable programmable ROM) </a:t>
            </a:r>
            <a:r>
              <a:rPr lang="en-US" dirty="0" smtClean="0"/>
              <a:t>was </a:t>
            </a:r>
            <a:r>
              <a:rPr lang="en-US" dirty="0"/>
              <a:t>invented to allow making changes in the contents of PROM after it is burned. </a:t>
            </a:r>
          </a:p>
        </p:txBody>
      </p:sp>
    </p:spTree>
    <p:extLst>
      <p:ext uri="{BB962C8B-B14F-4D97-AF65-F5344CB8AC3E}">
        <p14:creationId xmlns:p14="http://schemas.microsoft.com/office/powerpoint/2010/main" val="31910489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smtClean="0"/>
              <a:t>EEPROM (Electrically erasable PROM) does not require the entire contents of ROM are erased. However, the main advantage of EEPROM is that one can program and erase its contents while it is still in the system board. it does not require physical removal of the memory chip from its socket. In other words, unlike UV-EPROM, EEPROM does not require an external erasure and programming device.</a:t>
            </a:r>
          </a:p>
          <a:p>
            <a:r>
              <a:rPr lang="en-US" dirty="0" smtClean="0"/>
              <a:t>4. Flash memory is used to store flexible boot instructions. It allows erasure of the entire contents takes less than a second, or one might say in a flash, hence its name, Flash memory. </a:t>
            </a:r>
          </a:p>
        </p:txBody>
      </p:sp>
      <p:sp>
        <p:nvSpPr>
          <p:cNvPr id="4" name="Title 1"/>
          <p:cNvSpPr>
            <a:spLocks noGrp="1"/>
          </p:cNvSpPr>
          <p:nvPr>
            <p:ph type="title"/>
          </p:nvPr>
        </p:nvSpPr>
        <p:spPr/>
        <p:txBody>
          <a:bodyPr/>
          <a:lstStyle/>
          <a:p>
            <a:r>
              <a:rPr lang="en-US" dirty="0" smtClean="0"/>
              <a:t>ROM and Types</a:t>
            </a:r>
            <a:endParaRPr lang="en-US" dirty="0"/>
          </a:p>
        </p:txBody>
      </p:sp>
    </p:spTree>
    <p:extLst>
      <p:ext uri="{BB962C8B-B14F-4D97-AF65-F5344CB8AC3E}">
        <p14:creationId xmlns:p14="http://schemas.microsoft.com/office/powerpoint/2010/main" val="2887617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CMOS</a:t>
            </a:r>
            <a:endParaRPr lang="en-US" dirty="0"/>
          </a:p>
        </p:txBody>
      </p:sp>
      <p:sp>
        <p:nvSpPr>
          <p:cNvPr id="3" name="Content Placeholder 2"/>
          <p:cNvSpPr>
            <a:spLocks noGrp="1"/>
          </p:cNvSpPr>
          <p:nvPr>
            <p:ph idx="1"/>
          </p:nvPr>
        </p:nvSpPr>
        <p:spPr/>
        <p:txBody>
          <a:bodyPr/>
          <a:lstStyle/>
          <a:p>
            <a:r>
              <a:rPr lang="en-US" b="1" dirty="0"/>
              <a:t>CMOS</a:t>
            </a:r>
            <a:r>
              <a:rPr lang="en-US" dirty="0"/>
              <a:t> is short for complementary metal-oxide semiconductor. </a:t>
            </a:r>
            <a:endParaRPr lang="en-US" dirty="0" smtClean="0"/>
          </a:p>
          <a:p>
            <a:endParaRPr lang="en-US" b="1" dirty="0"/>
          </a:p>
          <a:p>
            <a:r>
              <a:rPr lang="en-US" b="1" dirty="0" smtClean="0"/>
              <a:t>CMOS</a:t>
            </a:r>
            <a:r>
              <a:rPr lang="en-US" dirty="0"/>
              <a:t> is an on-board, battery powered semiconductor chip inside </a:t>
            </a:r>
            <a:r>
              <a:rPr lang="en-US" b="1" dirty="0" smtClean="0"/>
              <a:t>computers.</a:t>
            </a:r>
          </a:p>
          <a:p>
            <a:endParaRPr lang="en-US" b="1" dirty="0"/>
          </a:p>
          <a:p>
            <a:r>
              <a:rPr lang="en-US" b="1" dirty="0" smtClean="0"/>
              <a:t>CMOS </a:t>
            </a:r>
            <a:r>
              <a:rPr lang="en-US" dirty="0" smtClean="0"/>
              <a:t>generally </a:t>
            </a:r>
            <a:r>
              <a:rPr lang="en-US" dirty="0"/>
              <a:t>stores </a:t>
            </a:r>
            <a:r>
              <a:rPr lang="en-US" dirty="0" smtClean="0"/>
              <a:t>date/time or BIOS passwords information</a:t>
            </a:r>
            <a:r>
              <a:rPr lang="en-US" dirty="0"/>
              <a:t>.</a:t>
            </a:r>
          </a:p>
        </p:txBody>
      </p:sp>
    </p:spTree>
    <p:extLst>
      <p:ext uri="{BB962C8B-B14F-4D97-AF65-F5344CB8AC3E}">
        <p14:creationId xmlns:p14="http://schemas.microsoft.com/office/powerpoint/2010/main" val="37298845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Computer Bus</a:t>
            </a:r>
            <a:endParaRPr lang="en-US" dirty="0"/>
          </a:p>
        </p:txBody>
      </p:sp>
      <p:sp>
        <p:nvSpPr>
          <p:cNvPr id="3" name="Content Placeholder 2"/>
          <p:cNvSpPr>
            <a:spLocks noGrp="1"/>
          </p:cNvSpPr>
          <p:nvPr>
            <p:ph idx="1"/>
          </p:nvPr>
        </p:nvSpPr>
        <p:spPr/>
        <p:txBody>
          <a:bodyPr>
            <a:normAutofit fontScale="85000" lnSpcReduction="20000"/>
          </a:bodyPr>
          <a:lstStyle/>
          <a:p>
            <a:r>
              <a:rPr lang="en-US" dirty="0"/>
              <a:t>A </a:t>
            </a:r>
            <a:r>
              <a:rPr lang="en-US" b="1" dirty="0"/>
              <a:t>bus</a:t>
            </a:r>
            <a:r>
              <a:rPr lang="en-US" dirty="0"/>
              <a:t> is a subsystem that is used to connect </a:t>
            </a:r>
            <a:r>
              <a:rPr lang="en-US" b="1" dirty="0"/>
              <a:t>computer</a:t>
            </a:r>
            <a:r>
              <a:rPr lang="en-US" dirty="0"/>
              <a:t> components and transfer data between them. </a:t>
            </a:r>
            <a:endParaRPr lang="en-US" dirty="0" smtClean="0"/>
          </a:p>
          <a:p>
            <a:endParaRPr lang="en-US" dirty="0" smtClean="0"/>
          </a:p>
          <a:p>
            <a:r>
              <a:rPr lang="en-US" dirty="0" smtClean="0"/>
              <a:t>A </a:t>
            </a:r>
            <a:r>
              <a:rPr lang="en-US" b="1" dirty="0" smtClean="0"/>
              <a:t>System Bus </a:t>
            </a:r>
            <a:r>
              <a:rPr lang="en-US" dirty="0" smtClean="0"/>
              <a:t>connects microprocessor with RAM while, the </a:t>
            </a:r>
            <a:r>
              <a:rPr lang="en-US" b="1" dirty="0"/>
              <a:t>control </a:t>
            </a:r>
            <a:r>
              <a:rPr lang="en-US" b="1" dirty="0" smtClean="0"/>
              <a:t>bus </a:t>
            </a:r>
            <a:r>
              <a:rPr lang="en-US" dirty="0"/>
              <a:t>a set of connections among the parts in the computer. </a:t>
            </a:r>
            <a:endParaRPr lang="en-US" dirty="0" smtClean="0"/>
          </a:p>
          <a:p>
            <a:endParaRPr lang="en-US" dirty="0"/>
          </a:p>
          <a:p>
            <a:pPr fontAlgn="base"/>
            <a:r>
              <a:rPr lang="en-US" dirty="0"/>
              <a:t>The </a:t>
            </a:r>
            <a:r>
              <a:rPr lang="en-US" b="1" dirty="0"/>
              <a:t>data bus </a:t>
            </a:r>
            <a:r>
              <a:rPr lang="en-US" dirty="0"/>
              <a:t>acts as a </a:t>
            </a:r>
            <a:r>
              <a:rPr lang="en-US" dirty="0" smtClean="0"/>
              <a:t>channel </a:t>
            </a:r>
            <a:r>
              <a:rPr lang="en-US" dirty="0"/>
              <a:t>for data from the keyboard, memory and other devices. It passes information at speeds up to billions of characters per second. </a:t>
            </a:r>
            <a:endParaRPr lang="en-US" dirty="0" smtClean="0"/>
          </a:p>
          <a:p>
            <a:pPr fontAlgn="base"/>
            <a:endParaRPr lang="en-US" dirty="0"/>
          </a:p>
          <a:p>
            <a:pPr fontAlgn="base"/>
            <a:r>
              <a:rPr lang="en-US" dirty="0"/>
              <a:t>The computer must be able to access every character of memory rapidly, so every character has its own address number. </a:t>
            </a:r>
            <a:r>
              <a:rPr lang="en-US" dirty="0" smtClean="0"/>
              <a:t>The </a:t>
            </a:r>
            <a:r>
              <a:rPr lang="en-US" b="1" dirty="0" smtClean="0"/>
              <a:t>address bus </a:t>
            </a:r>
            <a:r>
              <a:rPr lang="en-US" dirty="0" smtClean="0"/>
              <a:t>carries such memory addresses.</a:t>
            </a:r>
            <a:endParaRPr lang="en-US" dirty="0"/>
          </a:p>
          <a:p>
            <a:endParaRPr lang="en-US" dirty="0"/>
          </a:p>
        </p:txBody>
      </p:sp>
    </p:spTree>
    <p:extLst>
      <p:ext uri="{BB962C8B-B14F-4D97-AF65-F5344CB8AC3E}">
        <p14:creationId xmlns:p14="http://schemas.microsoft.com/office/powerpoint/2010/main" val="25842187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TotalTime>
  <Words>1616</Words>
  <Application>Microsoft Office PowerPoint</Application>
  <PresentationFormat>Widescreen</PresentationFormat>
  <Paragraphs>200</Paragraphs>
  <Slides>39</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Calibri Light</vt:lpstr>
      <vt:lpstr>Wingdings</vt:lpstr>
      <vt:lpstr>Office Theme</vt:lpstr>
      <vt:lpstr>PowerPoint Presentation</vt:lpstr>
      <vt:lpstr>Parts of Computer Hardware</vt:lpstr>
      <vt:lpstr>Year : 300 B.C</vt:lpstr>
      <vt:lpstr>Modern Abacus</vt:lpstr>
      <vt:lpstr>Year : 1617 A.D</vt:lpstr>
      <vt:lpstr>Napier’s Bones</vt:lpstr>
      <vt:lpstr>Year : 1642 A.D</vt:lpstr>
      <vt:lpstr>PowerPoint Presentation</vt:lpstr>
      <vt:lpstr>Year: 1801 A.D (Punch Cards)</vt:lpstr>
      <vt:lpstr>Punch card or Jacquard card</vt:lpstr>
      <vt:lpstr>Year : 1822 A.D</vt:lpstr>
      <vt:lpstr>The Difference Engine</vt:lpstr>
      <vt:lpstr>Analytical Engine</vt:lpstr>
      <vt:lpstr>Analytical engine (ctd...)</vt:lpstr>
      <vt:lpstr>Year : 1890 A.D</vt:lpstr>
      <vt:lpstr>Hollerith desks still exist today </vt:lpstr>
      <vt:lpstr>Hollerith and IBM</vt:lpstr>
      <vt:lpstr>More about IBM</vt:lpstr>
      <vt:lpstr>First Generation - 1940-1956</vt:lpstr>
      <vt:lpstr>Mark 1</vt:lpstr>
      <vt:lpstr>Mark 1</vt:lpstr>
      <vt:lpstr>History of ‘Bug’</vt:lpstr>
      <vt:lpstr>Year : 1943 – 1945</vt:lpstr>
      <vt:lpstr>Second Generation - 1956-1963:</vt:lpstr>
      <vt:lpstr>Third Generation - 1964-1971</vt:lpstr>
      <vt:lpstr>Revolution of IC</vt:lpstr>
      <vt:lpstr>Fourth Generation - 1971-Present</vt:lpstr>
      <vt:lpstr>Fifth Generation - Present and Beyond</vt:lpstr>
      <vt:lpstr>The Microprocessor</vt:lpstr>
      <vt:lpstr>Parts of Microprocessor</vt:lpstr>
      <vt:lpstr>Registers</vt:lpstr>
      <vt:lpstr>Memory</vt:lpstr>
      <vt:lpstr>RAM</vt:lpstr>
      <vt:lpstr>Cache Memory</vt:lpstr>
      <vt:lpstr>Cache Memory Types</vt:lpstr>
      <vt:lpstr>ROM and Types</vt:lpstr>
      <vt:lpstr>ROM and Types</vt:lpstr>
      <vt:lpstr>CMOS</vt:lpstr>
      <vt:lpstr>Computer Bus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Theory of Automata</dc:title>
  <dc:creator>Faryal Shamsi</dc:creator>
  <cp:lastModifiedBy>PC</cp:lastModifiedBy>
  <cp:revision>117</cp:revision>
  <dcterms:created xsi:type="dcterms:W3CDTF">2020-08-15T12:25:58Z</dcterms:created>
  <dcterms:modified xsi:type="dcterms:W3CDTF">2026-01-15T08:22:52Z</dcterms:modified>
</cp:coreProperties>
</file>