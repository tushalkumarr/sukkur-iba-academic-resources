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1F6F8B"/>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1F6F8B"/>
                </a:solidFill>
                <a:latin typeface="Comic Sans MS" pitchFamily="34" charset="0"/>
                <a:ea typeface="Comic Sans MS" pitchFamily="34" charset="-122"/>
                <a:cs typeface="Comic Sans MS" pitchFamily="34" charset="-120"/>
              </a:rPr>
              <a:t>2.1</a:t>
            </a:r>
            <a:endParaRPr lang="en-US" sz="1500" dirty="0"/>
          </a:p>
        </p:txBody>
      </p:sp>
      <p:sp>
        <p:nvSpPr>
          <p:cNvPr id="21" name="Shape 19"/>
          <p:cNvSpPr/>
          <p:nvPr/>
        </p:nvSpPr>
        <p:spPr>
          <a:xfrm>
            <a:off x="10561320" y="292608"/>
            <a:ext cx="1143000" cy="1143000"/>
          </a:xfrm>
          <a:prstGeom prst="ellipse">
            <a:avLst/>
          </a:prstGeom>
          <a:solidFill>
            <a:srgbClr val="1F6F8B">
              <a:alpha val="88000"/>
            </a:srgbClr>
          </a:solidFill>
          <a:ln w="19050">
            <a:solidFill>
              <a:srgbClr val="1F6F8B"/>
            </a:solidFill>
            <a:prstDash val="dash"/>
          </a:ln>
        </p:spPr>
      </p:sp>
      <p:pic>
        <p:nvPicPr>
          <p:cNvPr id="22" name="Image 0" descr="/home/claude/icons/cogs.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1F6F8B"/>
                </a:solidFill>
                <a:latin typeface="Calibri" pitchFamily="34" charset="0"/>
                <a:ea typeface="Calibri" pitchFamily="34" charset="-122"/>
                <a:cs typeface="Calibri" pitchFamily="34" charset="-120"/>
              </a:rPr>
              <a:t>Definition — What is it?</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Operating System Overview</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508760"/>
            <a:ext cx="9646920" cy="1417320"/>
          </a:xfrm>
          <a:prstGeom prst="roundRect">
            <a:avLst>
              <a:gd name="adj" fmla="val 7742"/>
            </a:avLst>
          </a:prstGeom>
          <a:solidFill>
            <a:srgbClr val="1F6F8B">
              <a:alpha val="12000"/>
            </a:srgbClr>
          </a:solidFill>
          <a:ln w="15875">
            <a:solidFill>
              <a:srgbClr val="1F6F8B"/>
            </a:solidFill>
            <a:prstDash val="solid"/>
          </a:ln>
        </p:spPr>
      </p:sp>
      <p:sp>
        <p:nvSpPr>
          <p:cNvPr id="27" name="Text 24"/>
          <p:cNvSpPr txBox="1"/>
          <p:nvPr/>
        </p:nvSpPr>
        <p:spPr>
          <a:xfrm>
            <a:off x="1554480" y="1627632"/>
            <a:ext cx="9098280" cy="1188720"/>
          </a:xfrm>
          <a:prstGeom prst="rect">
            <a:avLst/>
          </a:prstGeom>
          <a:noFill/>
          <a:ln/>
        </p:spPr>
        <p:txBody>
          <a:bodyPr wrap="square" lIns="0" tIns="0" rIns="0" bIns="0" rtlCol="0" anchor="ctr"/>
          <a:lstStyle/>
          <a:p>
            <a:pPr indent="0" marL="0">
              <a:lnSpc>
                <a:spcPct val="115000"/>
              </a:lnSpc>
              <a:buNone/>
            </a:pPr>
            <a:r>
              <a:rPr lang="en-US" sz="1600" b="1" dirty="0">
                <a:solidFill>
                  <a:srgbClr val="1F6F8B"/>
                </a:solidFill>
                <a:latin typeface="Comic Sans MS" pitchFamily="34" charset="0"/>
                <a:ea typeface="Comic Sans MS" pitchFamily="34" charset="-122"/>
                <a:cs typeface="Comic Sans MS" pitchFamily="34" charset="-120"/>
              </a:rPr>
              <a:t>✎ Simple Definition:  </a:t>
            </a:r>
            <a:pPr indent="0" marL="0">
              <a:lnSpc>
                <a:spcPct val="115000"/>
              </a:lnSpc>
              <a:buNone/>
            </a:pPr>
            <a:r>
              <a:rPr lang="en-US" sz="1500" dirty="0">
                <a:solidFill>
                  <a:srgbClr val="1B263B"/>
                </a:solidFill>
                <a:latin typeface="Calibri" pitchFamily="34" charset="0"/>
                <a:ea typeface="Calibri" pitchFamily="34" charset="-122"/>
                <a:cs typeface="Calibri" pitchFamily="34" charset="-120"/>
              </a:rPr>
              <a:t>The Operating System (OS) is the program that manages a computer's hardware and provides a convenient, efficient environment in which user programs can run.</a:t>
            </a:r>
            <a:endParaRPr lang="en-US" sz="1600" dirty="0"/>
          </a:p>
        </p:txBody>
      </p:sp>
      <p:sp>
        <p:nvSpPr>
          <p:cNvPr id="28" name="Text 25"/>
          <p:cNvSpPr txBox="1"/>
          <p:nvPr/>
        </p:nvSpPr>
        <p:spPr>
          <a:xfrm>
            <a:off x="1280160" y="3200400"/>
            <a:ext cx="7315200" cy="365760"/>
          </a:xfrm>
          <a:prstGeom prst="rect">
            <a:avLst/>
          </a:prstGeom>
          <a:noFill/>
          <a:ln/>
        </p:spPr>
        <p:txBody>
          <a:bodyPr wrap="square" lIns="0" tIns="0" rIns="0" bIns="0" rtlCol="0" anchor="ctr"/>
          <a:lstStyle/>
          <a:p>
            <a:pPr indent="0" marL="0">
              <a:buNone/>
            </a:pPr>
            <a:r>
              <a:rPr lang="en-US" sz="1700" b="1" dirty="0">
                <a:solidFill>
                  <a:srgbClr val="1B263B"/>
                </a:solidFill>
                <a:latin typeface="Comic Sans MS" pitchFamily="34" charset="0"/>
                <a:ea typeface="Comic Sans MS" pitchFamily="34" charset="-122"/>
                <a:cs typeface="Comic Sans MS" pitchFamily="34" charset="-120"/>
              </a:rPr>
              <a:t>Key Points to Remember</a:t>
            </a:r>
            <a:endParaRPr lang="en-US" sz="1700" dirty="0"/>
          </a:p>
        </p:txBody>
      </p:sp>
      <p:sp>
        <p:nvSpPr>
          <p:cNvPr id="29" name="Shape 26"/>
          <p:cNvSpPr/>
          <p:nvPr/>
        </p:nvSpPr>
        <p:spPr>
          <a:xfrm>
            <a:off x="1261872" y="3666744"/>
            <a:ext cx="292608" cy="292608"/>
          </a:xfrm>
          <a:prstGeom prst="ellipse">
            <a:avLst/>
          </a:prstGeom>
          <a:solidFill>
            <a:srgbClr val="1F6F8B"/>
          </a:solidFill>
          <a:ln/>
        </p:spPr>
      </p:sp>
      <p:pic>
        <p:nvPicPr>
          <p:cNvPr id="30" name="Image 1" descr="/home/claude/icons/check.png">    </p:cNvPr>
          <p:cNvPicPr>
            <a:picLocks noChangeAspect="1"/>
          </p:cNvPicPr>
          <p:nvPr/>
        </p:nvPicPr>
        <p:blipFill>
          <a:blip r:embed="rId2"/>
          <a:stretch>
            <a:fillRect/>
          </a:stretch>
        </p:blipFill>
        <p:spPr>
          <a:xfrm>
            <a:off x="1298448" y="3703320"/>
            <a:ext cx="219456" cy="219456"/>
          </a:xfrm>
          <a:prstGeom prst="rect">
            <a:avLst/>
          </a:prstGeom>
        </p:spPr>
      </p:pic>
      <p:sp>
        <p:nvSpPr>
          <p:cNvPr id="31" name="Text 27"/>
          <p:cNvSpPr txBox="1"/>
          <p:nvPr/>
        </p:nvSpPr>
        <p:spPr>
          <a:xfrm>
            <a:off x="1691640" y="3602736"/>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Convenience — makes the computer easier to use for programs and people</a:t>
            </a:r>
            <a:endParaRPr lang="en-US" sz="1450" dirty="0"/>
          </a:p>
        </p:txBody>
      </p:sp>
      <p:sp>
        <p:nvSpPr>
          <p:cNvPr id="32" name="Shape 28"/>
          <p:cNvSpPr/>
          <p:nvPr/>
        </p:nvSpPr>
        <p:spPr>
          <a:xfrm>
            <a:off x="1261872" y="4197096"/>
            <a:ext cx="292608" cy="292608"/>
          </a:xfrm>
          <a:prstGeom prst="ellipse">
            <a:avLst/>
          </a:prstGeom>
          <a:solidFill>
            <a:srgbClr val="1F6F8B"/>
          </a:solidFill>
          <a:ln/>
        </p:spPr>
      </p:sp>
      <p:pic>
        <p:nvPicPr>
          <p:cNvPr id="33" name="Image 2" descr="/home/claude/icons/check.png">    </p:cNvPr>
          <p:cNvPicPr>
            <a:picLocks noChangeAspect="1"/>
          </p:cNvPicPr>
          <p:nvPr/>
        </p:nvPicPr>
        <p:blipFill>
          <a:blip r:embed="rId3"/>
          <a:stretch>
            <a:fillRect/>
          </a:stretch>
        </p:blipFill>
        <p:spPr>
          <a:xfrm>
            <a:off x="1298448" y="4233672"/>
            <a:ext cx="219456" cy="219456"/>
          </a:xfrm>
          <a:prstGeom prst="rect">
            <a:avLst/>
          </a:prstGeom>
        </p:spPr>
      </p:pic>
      <p:sp>
        <p:nvSpPr>
          <p:cNvPr id="34" name="Text 29"/>
          <p:cNvSpPr txBox="1"/>
          <p:nvPr/>
        </p:nvSpPr>
        <p:spPr>
          <a:xfrm>
            <a:off x="1691640" y="4133088"/>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Efficiency — manages hardware resources so they are used well</a:t>
            </a:r>
            <a:endParaRPr lang="en-US" sz="1450" dirty="0"/>
          </a:p>
        </p:txBody>
      </p:sp>
      <p:sp>
        <p:nvSpPr>
          <p:cNvPr id="35" name="Shape 30"/>
          <p:cNvSpPr/>
          <p:nvPr/>
        </p:nvSpPr>
        <p:spPr>
          <a:xfrm>
            <a:off x="1261872" y="4727448"/>
            <a:ext cx="292608" cy="292608"/>
          </a:xfrm>
          <a:prstGeom prst="ellipse">
            <a:avLst/>
          </a:prstGeom>
          <a:solidFill>
            <a:srgbClr val="1F6F8B"/>
          </a:solidFill>
          <a:ln/>
        </p:spPr>
      </p:sp>
      <p:pic>
        <p:nvPicPr>
          <p:cNvPr id="36" name="Image 3" descr="/home/claude/icons/check.png">    </p:cNvPr>
          <p:cNvPicPr>
            <a:picLocks noChangeAspect="1"/>
          </p:cNvPicPr>
          <p:nvPr/>
        </p:nvPicPr>
        <p:blipFill>
          <a:blip r:embed="rId4"/>
          <a:stretch>
            <a:fillRect/>
          </a:stretch>
        </p:blipFill>
        <p:spPr>
          <a:xfrm>
            <a:off x="1298448" y="4764024"/>
            <a:ext cx="219456" cy="219456"/>
          </a:xfrm>
          <a:prstGeom prst="rect">
            <a:avLst/>
          </a:prstGeom>
        </p:spPr>
      </p:pic>
      <p:sp>
        <p:nvSpPr>
          <p:cNvPr id="37" name="Text 31"/>
          <p:cNvSpPr txBox="1"/>
          <p:nvPr/>
        </p:nvSpPr>
        <p:spPr>
          <a:xfrm>
            <a:off x="1691640" y="4663440"/>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Ability to evolve — new features can be added without breaking everything</a:t>
            </a:r>
            <a:endParaRPr lang="en-US" sz="1450" dirty="0"/>
          </a:p>
        </p:txBody>
      </p:sp>
      <p:sp>
        <p:nvSpPr>
          <p:cNvPr id="38" name="Shape 32"/>
          <p:cNvSpPr/>
          <p:nvPr/>
        </p:nvSpPr>
        <p:spPr>
          <a:xfrm>
            <a:off x="1261872" y="5257800"/>
            <a:ext cx="292608" cy="292608"/>
          </a:xfrm>
          <a:prstGeom prst="ellipse">
            <a:avLst/>
          </a:prstGeom>
          <a:solidFill>
            <a:srgbClr val="1F6F8B"/>
          </a:solidFill>
          <a:ln/>
        </p:spPr>
      </p:sp>
      <p:pic>
        <p:nvPicPr>
          <p:cNvPr id="39" name="Image 4" descr="/home/claude/icons/check.png">    </p:cNvPr>
          <p:cNvPicPr>
            <a:picLocks noChangeAspect="1"/>
          </p:cNvPicPr>
          <p:nvPr/>
        </p:nvPicPr>
        <p:blipFill>
          <a:blip r:embed="rId5"/>
          <a:stretch>
            <a:fillRect/>
          </a:stretch>
        </p:blipFill>
        <p:spPr>
          <a:xfrm>
            <a:off x="1298448" y="5294376"/>
            <a:ext cx="219456" cy="219456"/>
          </a:xfrm>
          <a:prstGeom prst="rect">
            <a:avLst/>
          </a:prstGeom>
        </p:spPr>
      </p:pic>
      <p:sp>
        <p:nvSpPr>
          <p:cNvPr id="40" name="Text 33"/>
          <p:cNvSpPr txBox="1"/>
          <p:nvPr/>
        </p:nvSpPr>
        <p:spPr>
          <a:xfrm>
            <a:off x="1691640" y="5193792"/>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Sits between the raw hardware and every application that runs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1F6F8B"/>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1F6F8B"/>
                </a:solidFill>
                <a:latin typeface="Comic Sans MS" pitchFamily="34" charset="0"/>
                <a:ea typeface="Comic Sans MS" pitchFamily="34" charset="-122"/>
                <a:cs typeface="Comic Sans MS" pitchFamily="34" charset="-120"/>
              </a:rPr>
              <a:t>2.1</a:t>
            </a:r>
            <a:endParaRPr lang="en-US" sz="1500" dirty="0"/>
          </a:p>
        </p:txBody>
      </p:sp>
      <p:sp>
        <p:nvSpPr>
          <p:cNvPr id="21" name="Shape 19"/>
          <p:cNvSpPr/>
          <p:nvPr/>
        </p:nvSpPr>
        <p:spPr>
          <a:xfrm>
            <a:off x="10561320" y="292608"/>
            <a:ext cx="1143000" cy="1143000"/>
          </a:xfrm>
          <a:prstGeom prst="ellipse">
            <a:avLst/>
          </a:prstGeom>
          <a:solidFill>
            <a:srgbClr val="1F6F8B">
              <a:alpha val="88000"/>
            </a:srgbClr>
          </a:solidFill>
          <a:ln w="19050">
            <a:solidFill>
              <a:srgbClr val="1F6F8B"/>
            </a:solidFill>
            <a:prstDash val="dash"/>
          </a:ln>
        </p:spPr>
      </p:sp>
      <p:pic>
        <p:nvPicPr>
          <p:cNvPr id="22" name="Image 0" descr="/home/claude/icons/cogs.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1F6F8B"/>
                </a:solidFill>
                <a:latin typeface="Calibri" pitchFamily="34" charset="0"/>
                <a:ea typeface="Calibri" pitchFamily="34" charset="-122"/>
                <a:cs typeface="Calibri" pitchFamily="34" charset="-120"/>
              </a:rPr>
              <a:t>Technical Example</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Operating System Overview</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828800"/>
            <a:ext cx="9646920" cy="2743200"/>
          </a:xfrm>
          <a:prstGeom prst="roundRect">
            <a:avLst>
              <a:gd name="adj" fmla="val 4667"/>
            </a:avLst>
          </a:prstGeom>
          <a:solidFill>
            <a:srgbClr val="1F6F8B">
              <a:alpha val="10000"/>
            </a:srgbClr>
          </a:solidFill>
          <a:ln w="19050">
            <a:solidFill>
              <a:srgbClr val="1F6F8B"/>
            </a:solidFill>
            <a:prstDash val="dash"/>
          </a:ln>
        </p:spPr>
      </p:sp>
      <p:sp>
        <p:nvSpPr>
          <p:cNvPr id="27" name="Shape 24"/>
          <p:cNvSpPr/>
          <p:nvPr/>
        </p:nvSpPr>
        <p:spPr>
          <a:xfrm>
            <a:off x="1554480" y="2103120"/>
            <a:ext cx="822960" cy="822960"/>
          </a:xfrm>
          <a:prstGeom prst="ellipse">
            <a:avLst/>
          </a:prstGeom>
          <a:solidFill>
            <a:srgbClr val="1F6F8B">
              <a:alpha val="85000"/>
            </a:srgbClr>
          </a:solidFill>
          <a:ln w="15875">
            <a:solidFill>
              <a:srgbClr val="1F6F8B"/>
            </a:solidFill>
            <a:prstDash val="solid"/>
          </a:ln>
        </p:spPr>
      </p:sp>
      <p:pic>
        <p:nvPicPr>
          <p:cNvPr id="28" name="Image 1" descr="/home/claude/icons/map.png">    </p:cNvPr>
          <p:cNvPicPr>
            <a:picLocks noChangeAspect="1"/>
          </p:cNvPicPr>
          <p:nvPr/>
        </p:nvPicPr>
        <p:blipFill>
          <a:blip r:embed="rId2"/>
          <a:stretch>
            <a:fillRect/>
          </a:stretch>
        </p:blipFill>
        <p:spPr>
          <a:xfrm>
            <a:off x="1764792" y="2313432"/>
            <a:ext cx="402336" cy="402336"/>
          </a:xfrm>
          <a:prstGeom prst="rect">
            <a:avLst/>
          </a:prstGeom>
        </p:spPr>
      </p:pic>
      <p:sp>
        <p:nvSpPr>
          <p:cNvPr id="29" name="Text 25"/>
          <p:cNvSpPr txBox="1"/>
          <p:nvPr/>
        </p:nvSpPr>
        <p:spPr>
          <a:xfrm>
            <a:off x="2606040" y="2084832"/>
            <a:ext cx="8046720" cy="457200"/>
          </a:xfrm>
          <a:prstGeom prst="rect">
            <a:avLst/>
          </a:prstGeom>
          <a:noFill/>
          <a:ln/>
        </p:spPr>
        <p:txBody>
          <a:bodyPr wrap="square" lIns="0" tIns="0" rIns="0" bIns="0" rtlCol="0" anchor="ctr"/>
          <a:lstStyle/>
          <a:p>
            <a:pPr indent="0" marL="0">
              <a:buNone/>
            </a:pPr>
            <a:r>
              <a:rPr lang="en-US" sz="2000" b="1" i="1" dirty="0">
                <a:solidFill>
                  <a:srgbClr val="1F6F8B"/>
                </a:solidFill>
                <a:latin typeface="Comic Sans MS" pitchFamily="34" charset="0"/>
                <a:ea typeface="Comic Sans MS" pitchFamily="34" charset="-122"/>
                <a:cs typeface="Comic Sans MS" pitchFamily="34" charset="-120"/>
              </a:rPr>
              <a:t>In Practice:</a:t>
            </a:r>
            <a:endParaRPr lang="en-US" sz="2000" dirty="0"/>
          </a:p>
        </p:txBody>
      </p:sp>
      <p:sp>
        <p:nvSpPr>
          <p:cNvPr id="30" name="Text 26"/>
          <p:cNvSpPr txBox="1"/>
          <p:nvPr/>
        </p:nvSpPr>
        <p:spPr>
          <a:xfrm>
            <a:off x="1600200" y="3063240"/>
            <a:ext cx="9052560" cy="1371600"/>
          </a:xfrm>
          <a:prstGeom prst="rect">
            <a:avLst/>
          </a:prstGeom>
          <a:noFill/>
          <a:ln/>
        </p:spPr>
        <p:txBody>
          <a:bodyPr wrap="square" lIns="0" tIns="0" rIns="0" bIns="0" rtlCol="0" anchor="t"/>
          <a:lstStyle/>
          <a:p>
            <a:pPr indent="0" marL="0">
              <a:lnSpc>
                <a:spcPct val="130000"/>
              </a:lnSpc>
              <a:buNone/>
            </a:pPr>
            <a:r>
              <a:rPr lang="en-US" sz="1650" i="1" dirty="0">
                <a:solidFill>
                  <a:srgbClr val="1B263B"/>
                </a:solidFill>
                <a:latin typeface="Calibri" pitchFamily="34" charset="0"/>
                <a:ea typeface="Calibri" pitchFamily="34" charset="-122"/>
                <a:cs typeface="Calibri" pitchFamily="34" charset="-120"/>
              </a:rPr>
              <a:t>A smartphone's OS (like Android or iOS) lets you run a camera app, a music app, and a messaging app all at once — deciding, moment to moment, which app gets the screen, the microphone, and the network connection, without any of the apps having to negotiate with each other directly.</a:t>
            </a:r>
            <a:endParaRPr lang="en-US" sz="1650" dirty="0"/>
          </a:p>
        </p:txBody>
      </p:sp>
      <p:sp>
        <p:nvSpPr>
          <p:cNvPr id="31" name="Text 27"/>
          <p:cNvSpPr txBox="1"/>
          <p:nvPr/>
        </p:nvSpPr>
        <p:spPr>
          <a:xfrm>
            <a:off x="1280160" y="4983480"/>
            <a:ext cx="9646920" cy="822960"/>
          </a:xfrm>
          <a:prstGeom prst="rect">
            <a:avLst/>
          </a:prstGeom>
          <a:noFill/>
          <a:ln/>
        </p:spPr>
        <p:txBody>
          <a:bodyPr wrap="square" lIns="0" tIns="0" rIns="0" bIns="0" rtlCol="0" anchor="ctr"/>
          <a:lstStyle/>
          <a:p>
            <a:pPr indent="0" marL="0">
              <a:lnSpc>
                <a:spcPct val="120000"/>
              </a:lnSpc>
              <a:buNone/>
            </a:pPr>
            <a:r>
              <a:rPr lang="en-US" sz="1250" i="1" dirty="0">
                <a:solidFill>
                  <a:srgbClr val="5A6B85"/>
                </a:solidFill>
                <a:latin typeface="Calibri" pitchFamily="34" charset="0"/>
                <a:ea typeface="Calibri" pitchFamily="34" charset="-122"/>
                <a:cs typeface="Calibri" pitchFamily="34" charset="-120"/>
              </a:rPr>
              <a:t>✎ Notice how the OS stays invisible in this example — the user just sees things working smoothly, while the OS handles all the coordination underneath.</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1F6F8B"/>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1F6F8B"/>
                </a:solidFill>
                <a:latin typeface="Comic Sans MS" pitchFamily="34" charset="0"/>
                <a:ea typeface="Comic Sans MS" pitchFamily="34" charset="-122"/>
                <a:cs typeface="Comic Sans MS" pitchFamily="34" charset="-120"/>
              </a:rPr>
              <a:t>2.1</a:t>
            </a:r>
            <a:endParaRPr lang="en-US" sz="1500" dirty="0"/>
          </a:p>
        </p:txBody>
      </p:sp>
      <p:sp>
        <p:nvSpPr>
          <p:cNvPr id="21" name="Shape 19"/>
          <p:cNvSpPr/>
          <p:nvPr/>
        </p:nvSpPr>
        <p:spPr>
          <a:xfrm>
            <a:off x="10561320" y="292608"/>
            <a:ext cx="1143000" cy="1143000"/>
          </a:xfrm>
          <a:prstGeom prst="ellipse">
            <a:avLst/>
          </a:prstGeom>
          <a:solidFill>
            <a:srgbClr val="1F6F8B">
              <a:alpha val="88000"/>
            </a:srgbClr>
          </a:solidFill>
          <a:ln w="19050">
            <a:solidFill>
              <a:srgbClr val="1F6F8B"/>
            </a:solidFill>
            <a:prstDash val="dash"/>
          </a:ln>
        </p:spPr>
      </p:sp>
      <p:pic>
        <p:nvPicPr>
          <p:cNvPr id="22" name="Image 0" descr="/home/claude/icons/cogs.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1F6F8B"/>
                </a:solidFill>
                <a:latin typeface="Calibri" pitchFamily="34" charset="0"/>
                <a:ea typeface="Calibri" pitchFamily="34" charset="-122"/>
                <a:cs typeface="Calibri" pitchFamily="34" charset="-120"/>
              </a:rPr>
              <a:t>How It Works — Diagram Flow</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Operating System Overview</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a:off x="1188720" y="1691640"/>
            <a:ext cx="457200" cy="457200"/>
          </a:xfrm>
          <a:prstGeom prst="ellipse">
            <a:avLst/>
          </a:prstGeom>
          <a:solidFill>
            <a:srgbClr val="1F6F8B"/>
          </a:solidFill>
          <a:ln w="9525">
            <a:solidFill>
              <a:srgbClr val="1B263B"/>
            </a:solidFill>
            <a:prstDash val="solid"/>
          </a:ln>
        </p:spPr>
      </p:sp>
      <p:sp>
        <p:nvSpPr>
          <p:cNvPr id="27" name="Text 24"/>
          <p:cNvSpPr txBox="1"/>
          <p:nvPr/>
        </p:nvSpPr>
        <p:spPr>
          <a:xfrm>
            <a:off x="11887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1</a:t>
            </a:r>
            <a:endParaRPr lang="en-US" sz="1600" dirty="0"/>
          </a:p>
        </p:txBody>
      </p:sp>
      <p:sp>
        <p:nvSpPr>
          <p:cNvPr id="28" name="Shape 25"/>
          <p:cNvSpPr/>
          <p:nvPr/>
        </p:nvSpPr>
        <p:spPr>
          <a:xfrm>
            <a:off x="2103120" y="1618488"/>
            <a:ext cx="7863840" cy="585216"/>
          </a:xfrm>
          <a:prstGeom prst="roundRect">
            <a:avLst>
              <a:gd name="adj" fmla="val 12500"/>
            </a:avLst>
          </a:prstGeom>
          <a:solidFill>
            <a:srgbClr val="FFFFFF"/>
          </a:solidFill>
          <a:ln w="15875">
            <a:solidFill>
              <a:srgbClr val="1F6F8B"/>
            </a:solidFill>
            <a:prstDash val="solid"/>
          </a:ln>
        </p:spPr>
      </p:sp>
      <p:sp>
        <p:nvSpPr>
          <p:cNvPr id="29" name="Text 26"/>
          <p:cNvSpPr txBox="1"/>
          <p:nvPr/>
        </p:nvSpPr>
        <p:spPr>
          <a:xfrm>
            <a:off x="2331720" y="1618488"/>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Hardware — CPU, memory, I/O devices</a:t>
            </a:r>
            <a:endParaRPr lang="en-US" sz="1400" dirty="0"/>
          </a:p>
        </p:txBody>
      </p:sp>
      <p:sp>
        <p:nvSpPr>
          <p:cNvPr id="30" name="Shape 27"/>
          <p:cNvSpPr/>
          <p:nvPr/>
        </p:nvSpPr>
        <p:spPr>
          <a:xfrm>
            <a:off x="1417320" y="2194560"/>
            <a:ext cx="0" cy="338328"/>
          </a:xfrm>
          <a:prstGeom prst="line">
            <a:avLst/>
          </a:prstGeom>
          <a:noFill/>
          <a:ln w="22225">
            <a:solidFill>
              <a:srgbClr val="1F6F8B"/>
            </a:solidFill>
            <a:prstDash val="dash"/>
            <a:tailEnd type="triangle"/>
          </a:ln>
        </p:spPr>
      </p:sp>
      <p:sp>
        <p:nvSpPr>
          <p:cNvPr id="31" name="Shape 28"/>
          <p:cNvSpPr/>
          <p:nvPr/>
        </p:nvSpPr>
        <p:spPr>
          <a:xfrm>
            <a:off x="1188720" y="2532888"/>
            <a:ext cx="457200" cy="457200"/>
          </a:xfrm>
          <a:prstGeom prst="ellipse">
            <a:avLst/>
          </a:prstGeom>
          <a:solidFill>
            <a:srgbClr val="1F6F8B"/>
          </a:solidFill>
          <a:ln w="9525">
            <a:solidFill>
              <a:srgbClr val="1B263B"/>
            </a:solidFill>
            <a:prstDash val="solid"/>
          </a:ln>
        </p:spPr>
      </p:sp>
      <p:sp>
        <p:nvSpPr>
          <p:cNvPr id="32" name="Text 29"/>
          <p:cNvSpPr txBox="1"/>
          <p:nvPr/>
        </p:nvSpPr>
        <p:spPr>
          <a:xfrm>
            <a:off x="1188720" y="2532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2</a:t>
            </a:r>
            <a:endParaRPr lang="en-US" sz="1600" dirty="0"/>
          </a:p>
        </p:txBody>
      </p:sp>
      <p:sp>
        <p:nvSpPr>
          <p:cNvPr id="33" name="Shape 30"/>
          <p:cNvSpPr/>
          <p:nvPr/>
        </p:nvSpPr>
        <p:spPr>
          <a:xfrm>
            <a:off x="2103120" y="2459736"/>
            <a:ext cx="7863840" cy="585216"/>
          </a:xfrm>
          <a:prstGeom prst="roundRect">
            <a:avLst>
              <a:gd name="adj" fmla="val 12500"/>
            </a:avLst>
          </a:prstGeom>
          <a:solidFill>
            <a:srgbClr val="FFFFFF"/>
          </a:solidFill>
          <a:ln w="15875">
            <a:solidFill>
              <a:srgbClr val="1F6F8B"/>
            </a:solidFill>
            <a:prstDash val="solid"/>
          </a:ln>
        </p:spPr>
      </p:sp>
      <p:sp>
        <p:nvSpPr>
          <p:cNvPr id="34" name="Text 31"/>
          <p:cNvSpPr txBox="1"/>
          <p:nvPr/>
        </p:nvSpPr>
        <p:spPr>
          <a:xfrm>
            <a:off x="2331720" y="2459736"/>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Operating System — the manager layer</a:t>
            </a:r>
            <a:endParaRPr lang="en-US" sz="1400" dirty="0"/>
          </a:p>
        </p:txBody>
      </p:sp>
      <p:sp>
        <p:nvSpPr>
          <p:cNvPr id="35" name="Shape 32"/>
          <p:cNvSpPr/>
          <p:nvPr/>
        </p:nvSpPr>
        <p:spPr>
          <a:xfrm>
            <a:off x="1417320" y="3035808"/>
            <a:ext cx="0" cy="338328"/>
          </a:xfrm>
          <a:prstGeom prst="line">
            <a:avLst/>
          </a:prstGeom>
          <a:noFill/>
          <a:ln w="22225">
            <a:solidFill>
              <a:srgbClr val="1F6F8B"/>
            </a:solidFill>
            <a:prstDash val="dash"/>
            <a:tailEnd type="triangle"/>
          </a:ln>
        </p:spPr>
      </p:sp>
      <p:sp>
        <p:nvSpPr>
          <p:cNvPr id="36" name="Shape 33"/>
          <p:cNvSpPr/>
          <p:nvPr/>
        </p:nvSpPr>
        <p:spPr>
          <a:xfrm>
            <a:off x="1188720" y="3374136"/>
            <a:ext cx="457200" cy="457200"/>
          </a:xfrm>
          <a:prstGeom prst="ellipse">
            <a:avLst/>
          </a:prstGeom>
          <a:solidFill>
            <a:srgbClr val="1F6F8B"/>
          </a:solidFill>
          <a:ln w="9525">
            <a:solidFill>
              <a:srgbClr val="1B263B"/>
            </a:solidFill>
            <a:prstDash val="solid"/>
          </a:ln>
        </p:spPr>
      </p:sp>
      <p:sp>
        <p:nvSpPr>
          <p:cNvPr id="37" name="Text 34"/>
          <p:cNvSpPr txBox="1"/>
          <p:nvPr/>
        </p:nvSpPr>
        <p:spPr>
          <a:xfrm>
            <a:off x="1188720" y="33741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3</a:t>
            </a:r>
            <a:endParaRPr lang="en-US" sz="1600" dirty="0"/>
          </a:p>
        </p:txBody>
      </p:sp>
      <p:sp>
        <p:nvSpPr>
          <p:cNvPr id="38" name="Shape 35"/>
          <p:cNvSpPr/>
          <p:nvPr/>
        </p:nvSpPr>
        <p:spPr>
          <a:xfrm>
            <a:off x="2103120" y="3300984"/>
            <a:ext cx="7863840" cy="585216"/>
          </a:xfrm>
          <a:prstGeom prst="roundRect">
            <a:avLst>
              <a:gd name="adj" fmla="val 12500"/>
            </a:avLst>
          </a:prstGeom>
          <a:solidFill>
            <a:srgbClr val="FFFFFF"/>
          </a:solidFill>
          <a:ln w="15875">
            <a:solidFill>
              <a:srgbClr val="1F6F8B"/>
            </a:solidFill>
            <a:prstDash val="solid"/>
          </a:ln>
        </p:spPr>
      </p:sp>
      <p:sp>
        <p:nvSpPr>
          <p:cNvPr id="39" name="Text 36"/>
          <p:cNvSpPr txBox="1"/>
          <p:nvPr/>
        </p:nvSpPr>
        <p:spPr>
          <a:xfrm>
            <a:off x="2331720" y="3300984"/>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Utilities &amp; system programs</a:t>
            </a:r>
            <a:endParaRPr lang="en-US" sz="1400" dirty="0"/>
          </a:p>
        </p:txBody>
      </p:sp>
      <p:sp>
        <p:nvSpPr>
          <p:cNvPr id="40" name="Shape 37"/>
          <p:cNvSpPr/>
          <p:nvPr/>
        </p:nvSpPr>
        <p:spPr>
          <a:xfrm>
            <a:off x="1417320" y="3877056"/>
            <a:ext cx="0" cy="338328"/>
          </a:xfrm>
          <a:prstGeom prst="line">
            <a:avLst/>
          </a:prstGeom>
          <a:noFill/>
          <a:ln w="22225">
            <a:solidFill>
              <a:srgbClr val="1F6F8B"/>
            </a:solidFill>
            <a:prstDash val="dash"/>
            <a:tailEnd type="triangle"/>
          </a:ln>
        </p:spPr>
      </p:sp>
      <p:sp>
        <p:nvSpPr>
          <p:cNvPr id="41" name="Shape 38"/>
          <p:cNvSpPr/>
          <p:nvPr/>
        </p:nvSpPr>
        <p:spPr>
          <a:xfrm>
            <a:off x="1188720" y="4215384"/>
            <a:ext cx="457200" cy="457200"/>
          </a:xfrm>
          <a:prstGeom prst="ellipse">
            <a:avLst/>
          </a:prstGeom>
          <a:solidFill>
            <a:srgbClr val="1F6F8B"/>
          </a:solidFill>
          <a:ln w="9525">
            <a:solidFill>
              <a:srgbClr val="1B263B"/>
            </a:solidFill>
            <a:prstDash val="solid"/>
          </a:ln>
        </p:spPr>
      </p:sp>
      <p:sp>
        <p:nvSpPr>
          <p:cNvPr id="42" name="Text 39"/>
          <p:cNvSpPr txBox="1"/>
          <p:nvPr/>
        </p:nvSpPr>
        <p:spPr>
          <a:xfrm>
            <a:off x="1188720" y="4215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4</a:t>
            </a:r>
            <a:endParaRPr lang="en-US" sz="1600" dirty="0"/>
          </a:p>
        </p:txBody>
      </p:sp>
      <p:sp>
        <p:nvSpPr>
          <p:cNvPr id="43" name="Shape 40"/>
          <p:cNvSpPr/>
          <p:nvPr/>
        </p:nvSpPr>
        <p:spPr>
          <a:xfrm>
            <a:off x="2103120" y="4142232"/>
            <a:ext cx="7863840" cy="585216"/>
          </a:xfrm>
          <a:prstGeom prst="roundRect">
            <a:avLst>
              <a:gd name="adj" fmla="val 12500"/>
            </a:avLst>
          </a:prstGeom>
          <a:solidFill>
            <a:srgbClr val="FFFFFF"/>
          </a:solidFill>
          <a:ln w="15875">
            <a:solidFill>
              <a:srgbClr val="1F6F8B"/>
            </a:solidFill>
            <a:prstDash val="solid"/>
          </a:ln>
        </p:spPr>
      </p:sp>
      <p:sp>
        <p:nvSpPr>
          <p:cNvPr id="44" name="Text 41"/>
          <p:cNvSpPr txBox="1"/>
          <p:nvPr/>
        </p:nvSpPr>
        <p:spPr>
          <a:xfrm>
            <a:off x="2331720" y="4142232"/>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Application programs</a:t>
            </a:r>
            <a:endParaRPr lang="en-US" sz="1400" dirty="0"/>
          </a:p>
        </p:txBody>
      </p:sp>
      <p:sp>
        <p:nvSpPr>
          <p:cNvPr id="45" name="Shape 42"/>
          <p:cNvSpPr/>
          <p:nvPr/>
        </p:nvSpPr>
        <p:spPr>
          <a:xfrm>
            <a:off x="1417320" y="4718304"/>
            <a:ext cx="0" cy="338328"/>
          </a:xfrm>
          <a:prstGeom prst="line">
            <a:avLst/>
          </a:prstGeom>
          <a:noFill/>
          <a:ln w="22225">
            <a:solidFill>
              <a:srgbClr val="1F6F8B"/>
            </a:solidFill>
            <a:prstDash val="dash"/>
            <a:tailEnd type="triangle"/>
          </a:ln>
        </p:spPr>
      </p:sp>
      <p:sp>
        <p:nvSpPr>
          <p:cNvPr id="46" name="Shape 43"/>
          <p:cNvSpPr/>
          <p:nvPr/>
        </p:nvSpPr>
        <p:spPr>
          <a:xfrm>
            <a:off x="1188720" y="5056632"/>
            <a:ext cx="457200" cy="457200"/>
          </a:xfrm>
          <a:prstGeom prst="ellipse">
            <a:avLst/>
          </a:prstGeom>
          <a:solidFill>
            <a:srgbClr val="1F6F8B"/>
          </a:solidFill>
          <a:ln w="9525">
            <a:solidFill>
              <a:srgbClr val="1B263B"/>
            </a:solidFill>
            <a:prstDash val="solid"/>
          </a:ln>
        </p:spPr>
      </p:sp>
      <p:sp>
        <p:nvSpPr>
          <p:cNvPr id="47" name="Text 44"/>
          <p:cNvSpPr txBox="1"/>
          <p:nvPr/>
        </p:nvSpPr>
        <p:spPr>
          <a:xfrm>
            <a:off x="1188720" y="5056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5</a:t>
            </a:r>
            <a:endParaRPr lang="en-US" sz="1600" dirty="0"/>
          </a:p>
        </p:txBody>
      </p:sp>
      <p:sp>
        <p:nvSpPr>
          <p:cNvPr id="48" name="Shape 45"/>
          <p:cNvSpPr/>
          <p:nvPr/>
        </p:nvSpPr>
        <p:spPr>
          <a:xfrm>
            <a:off x="2103120" y="4983480"/>
            <a:ext cx="7863840" cy="585216"/>
          </a:xfrm>
          <a:prstGeom prst="roundRect">
            <a:avLst>
              <a:gd name="adj" fmla="val 12500"/>
            </a:avLst>
          </a:prstGeom>
          <a:solidFill>
            <a:srgbClr val="FFFFFF"/>
          </a:solidFill>
          <a:ln w="15875">
            <a:solidFill>
              <a:srgbClr val="1F6F8B"/>
            </a:solidFill>
            <a:prstDash val="solid"/>
          </a:ln>
        </p:spPr>
      </p:sp>
      <p:sp>
        <p:nvSpPr>
          <p:cNvPr id="49" name="Text 46"/>
          <p:cNvSpPr txBox="1"/>
          <p:nvPr/>
        </p:nvSpPr>
        <p:spPr>
          <a:xfrm>
            <a:off x="2331720" y="4983480"/>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Users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A65A2E"/>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A65A2E"/>
                </a:solidFill>
                <a:latin typeface="Comic Sans MS" pitchFamily="34" charset="0"/>
                <a:ea typeface="Comic Sans MS" pitchFamily="34" charset="-122"/>
                <a:cs typeface="Comic Sans MS" pitchFamily="34" charset="-120"/>
              </a:rPr>
              <a:t>2.2</a:t>
            </a:r>
            <a:endParaRPr lang="en-US" sz="1500" dirty="0"/>
          </a:p>
        </p:txBody>
      </p:sp>
      <p:sp>
        <p:nvSpPr>
          <p:cNvPr id="21" name="Shape 19"/>
          <p:cNvSpPr/>
          <p:nvPr/>
        </p:nvSpPr>
        <p:spPr>
          <a:xfrm>
            <a:off x="10561320" y="292608"/>
            <a:ext cx="1143000" cy="1143000"/>
          </a:xfrm>
          <a:prstGeom prst="ellipse">
            <a:avLst/>
          </a:prstGeom>
          <a:solidFill>
            <a:srgbClr val="A65A2E">
              <a:alpha val="88000"/>
            </a:srgbClr>
          </a:solidFill>
          <a:ln w="19050">
            <a:solidFill>
              <a:srgbClr val="A65A2E"/>
            </a:solidFill>
            <a:prstDash val="dash"/>
          </a:ln>
        </p:spPr>
      </p:sp>
      <p:pic>
        <p:nvPicPr>
          <p:cNvPr id="22" name="Image 0" descr="/home/claude/icons/clock.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A65A2E"/>
                </a:solidFill>
                <a:latin typeface="Calibri" pitchFamily="34" charset="0"/>
                <a:ea typeface="Calibri" pitchFamily="34" charset="-122"/>
                <a:cs typeface="Calibri" pitchFamily="34" charset="-120"/>
              </a:rPr>
              <a:t>Definition — What is it?</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Scheduling</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508760"/>
            <a:ext cx="9646920" cy="1417320"/>
          </a:xfrm>
          <a:prstGeom prst="roundRect">
            <a:avLst>
              <a:gd name="adj" fmla="val 7742"/>
            </a:avLst>
          </a:prstGeom>
          <a:solidFill>
            <a:srgbClr val="A65A2E">
              <a:alpha val="12000"/>
            </a:srgbClr>
          </a:solidFill>
          <a:ln w="15875">
            <a:solidFill>
              <a:srgbClr val="A65A2E"/>
            </a:solidFill>
            <a:prstDash val="solid"/>
          </a:ln>
        </p:spPr>
      </p:sp>
      <p:sp>
        <p:nvSpPr>
          <p:cNvPr id="27" name="Text 24"/>
          <p:cNvSpPr txBox="1"/>
          <p:nvPr/>
        </p:nvSpPr>
        <p:spPr>
          <a:xfrm>
            <a:off x="1554480" y="1627632"/>
            <a:ext cx="9098280" cy="1188720"/>
          </a:xfrm>
          <a:prstGeom prst="rect">
            <a:avLst/>
          </a:prstGeom>
          <a:noFill/>
          <a:ln/>
        </p:spPr>
        <p:txBody>
          <a:bodyPr wrap="square" lIns="0" tIns="0" rIns="0" bIns="0" rtlCol="0" anchor="ctr"/>
          <a:lstStyle/>
          <a:p>
            <a:pPr indent="0" marL="0">
              <a:lnSpc>
                <a:spcPct val="115000"/>
              </a:lnSpc>
              <a:buNone/>
            </a:pPr>
            <a:r>
              <a:rPr lang="en-US" sz="1600" b="1" dirty="0">
                <a:solidFill>
                  <a:srgbClr val="A65A2E"/>
                </a:solidFill>
                <a:latin typeface="Comic Sans MS" pitchFamily="34" charset="0"/>
                <a:ea typeface="Comic Sans MS" pitchFamily="34" charset="-122"/>
                <a:cs typeface="Comic Sans MS" pitchFamily="34" charset="-120"/>
              </a:rPr>
              <a:t>✎ Simple Definition:  </a:t>
            </a:r>
            <a:pPr indent="0" marL="0">
              <a:lnSpc>
                <a:spcPct val="115000"/>
              </a:lnSpc>
              <a:buNone/>
            </a:pPr>
            <a:r>
              <a:rPr lang="en-US" sz="1500" dirty="0">
                <a:solidFill>
                  <a:srgbClr val="1B263B"/>
                </a:solidFill>
                <a:latin typeface="Calibri" pitchFamily="34" charset="0"/>
                <a:ea typeface="Calibri" pitchFamily="34" charset="-122"/>
                <a:cs typeface="Calibri" pitchFamily="34" charset="-120"/>
              </a:rPr>
              <a:t>Scheduling is how the OS decides which process gets the CPU, and when — the goal is to keep the CPU busy and give every process a fair, timely turn.</a:t>
            </a:r>
            <a:endParaRPr lang="en-US" sz="1600" dirty="0"/>
          </a:p>
        </p:txBody>
      </p:sp>
      <p:sp>
        <p:nvSpPr>
          <p:cNvPr id="28" name="Text 25"/>
          <p:cNvSpPr txBox="1"/>
          <p:nvPr/>
        </p:nvSpPr>
        <p:spPr>
          <a:xfrm>
            <a:off x="1280160" y="3200400"/>
            <a:ext cx="7315200" cy="365760"/>
          </a:xfrm>
          <a:prstGeom prst="rect">
            <a:avLst/>
          </a:prstGeom>
          <a:noFill/>
          <a:ln/>
        </p:spPr>
        <p:txBody>
          <a:bodyPr wrap="square" lIns="0" tIns="0" rIns="0" bIns="0" rtlCol="0" anchor="ctr"/>
          <a:lstStyle/>
          <a:p>
            <a:pPr indent="0" marL="0">
              <a:buNone/>
            </a:pPr>
            <a:r>
              <a:rPr lang="en-US" sz="1700" b="1" dirty="0">
                <a:solidFill>
                  <a:srgbClr val="1B263B"/>
                </a:solidFill>
                <a:latin typeface="Comic Sans MS" pitchFamily="34" charset="0"/>
                <a:ea typeface="Comic Sans MS" pitchFamily="34" charset="-122"/>
                <a:cs typeface="Comic Sans MS" pitchFamily="34" charset="-120"/>
              </a:rPr>
              <a:t>Key Points to Remember</a:t>
            </a:r>
            <a:endParaRPr lang="en-US" sz="1700" dirty="0"/>
          </a:p>
        </p:txBody>
      </p:sp>
      <p:sp>
        <p:nvSpPr>
          <p:cNvPr id="29" name="Shape 26"/>
          <p:cNvSpPr/>
          <p:nvPr/>
        </p:nvSpPr>
        <p:spPr>
          <a:xfrm>
            <a:off x="1261872" y="3666744"/>
            <a:ext cx="292608" cy="292608"/>
          </a:xfrm>
          <a:prstGeom prst="ellipse">
            <a:avLst/>
          </a:prstGeom>
          <a:solidFill>
            <a:srgbClr val="A65A2E"/>
          </a:solidFill>
          <a:ln/>
        </p:spPr>
      </p:sp>
      <p:pic>
        <p:nvPicPr>
          <p:cNvPr id="30" name="Image 1" descr="/home/claude/icons/check.png">    </p:cNvPr>
          <p:cNvPicPr>
            <a:picLocks noChangeAspect="1"/>
          </p:cNvPicPr>
          <p:nvPr/>
        </p:nvPicPr>
        <p:blipFill>
          <a:blip r:embed="rId2"/>
          <a:stretch>
            <a:fillRect/>
          </a:stretch>
        </p:blipFill>
        <p:spPr>
          <a:xfrm>
            <a:off x="1298448" y="3703320"/>
            <a:ext cx="219456" cy="219456"/>
          </a:xfrm>
          <a:prstGeom prst="rect">
            <a:avLst/>
          </a:prstGeom>
        </p:spPr>
      </p:pic>
      <p:sp>
        <p:nvSpPr>
          <p:cNvPr id="31" name="Text 27"/>
          <p:cNvSpPr txBox="1"/>
          <p:nvPr/>
        </p:nvSpPr>
        <p:spPr>
          <a:xfrm>
            <a:off x="1691640" y="3602736"/>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Long-term scheduling: decides which jobs are admitted into the system</a:t>
            </a:r>
            <a:endParaRPr lang="en-US" sz="1450" dirty="0"/>
          </a:p>
        </p:txBody>
      </p:sp>
      <p:sp>
        <p:nvSpPr>
          <p:cNvPr id="32" name="Shape 28"/>
          <p:cNvSpPr/>
          <p:nvPr/>
        </p:nvSpPr>
        <p:spPr>
          <a:xfrm>
            <a:off x="1261872" y="4197096"/>
            <a:ext cx="292608" cy="292608"/>
          </a:xfrm>
          <a:prstGeom prst="ellipse">
            <a:avLst/>
          </a:prstGeom>
          <a:solidFill>
            <a:srgbClr val="A65A2E"/>
          </a:solidFill>
          <a:ln/>
        </p:spPr>
      </p:sp>
      <p:pic>
        <p:nvPicPr>
          <p:cNvPr id="33" name="Image 2" descr="/home/claude/icons/check.png">    </p:cNvPr>
          <p:cNvPicPr>
            <a:picLocks noChangeAspect="1"/>
          </p:cNvPicPr>
          <p:nvPr/>
        </p:nvPicPr>
        <p:blipFill>
          <a:blip r:embed="rId3"/>
          <a:stretch>
            <a:fillRect/>
          </a:stretch>
        </p:blipFill>
        <p:spPr>
          <a:xfrm>
            <a:off x="1298448" y="4233672"/>
            <a:ext cx="219456" cy="219456"/>
          </a:xfrm>
          <a:prstGeom prst="rect">
            <a:avLst/>
          </a:prstGeom>
        </p:spPr>
      </p:pic>
      <p:sp>
        <p:nvSpPr>
          <p:cNvPr id="34" name="Text 29"/>
          <p:cNvSpPr txBox="1"/>
          <p:nvPr/>
        </p:nvSpPr>
        <p:spPr>
          <a:xfrm>
            <a:off x="1691640" y="4133088"/>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Medium-term scheduling: decides which jobs are swapped in/out of memory</a:t>
            </a:r>
            <a:endParaRPr lang="en-US" sz="1450" dirty="0"/>
          </a:p>
        </p:txBody>
      </p:sp>
      <p:sp>
        <p:nvSpPr>
          <p:cNvPr id="35" name="Shape 30"/>
          <p:cNvSpPr/>
          <p:nvPr/>
        </p:nvSpPr>
        <p:spPr>
          <a:xfrm>
            <a:off x="1261872" y="4727448"/>
            <a:ext cx="292608" cy="292608"/>
          </a:xfrm>
          <a:prstGeom prst="ellipse">
            <a:avLst/>
          </a:prstGeom>
          <a:solidFill>
            <a:srgbClr val="A65A2E"/>
          </a:solidFill>
          <a:ln/>
        </p:spPr>
      </p:sp>
      <p:pic>
        <p:nvPicPr>
          <p:cNvPr id="36" name="Image 3" descr="/home/claude/icons/check.png">    </p:cNvPr>
          <p:cNvPicPr>
            <a:picLocks noChangeAspect="1"/>
          </p:cNvPicPr>
          <p:nvPr/>
        </p:nvPicPr>
        <p:blipFill>
          <a:blip r:embed="rId4"/>
          <a:stretch>
            <a:fillRect/>
          </a:stretch>
        </p:blipFill>
        <p:spPr>
          <a:xfrm>
            <a:off x="1298448" y="4764024"/>
            <a:ext cx="219456" cy="219456"/>
          </a:xfrm>
          <a:prstGeom prst="rect">
            <a:avLst/>
          </a:prstGeom>
        </p:spPr>
      </p:pic>
      <p:sp>
        <p:nvSpPr>
          <p:cNvPr id="37" name="Text 31"/>
          <p:cNvSpPr txBox="1"/>
          <p:nvPr/>
        </p:nvSpPr>
        <p:spPr>
          <a:xfrm>
            <a:off x="1691640" y="4663440"/>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Short-term scheduling: decides which ready process runs next, in milliseconds</a:t>
            </a:r>
            <a:endParaRPr lang="en-US" sz="1450" dirty="0"/>
          </a:p>
        </p:txBody>
      </p:sp>
      <p:sp>
        <p:nvSpPr>
          <p:cNvPr id="38" name="Shape 32"/>
          <p:cNvSpPr/>
          <p:nvPr/>
        </p:nvSpPr>
        <p:spPr>
          <a:xfrm>
            <a:off x="1261872" y="5257800"/>
            <a:ext cx="292608" cy="292608"/>
          </a:xfrm>
          <a:prstGeom prst="ellipse">
            <a:avLst/>
          </a:prstGeom>
          <a:solidFill>
            <a:srgbClr val="A65A2E"/>
          </a:solidFill>
          <a:ln/>
        </p:spPr>
      </p:sp>
      <p:pic>
        <p:nvPicPr>
          <p:cNvPr id="39" name="Image 4" descr="/home/claude/icons/check.png">    </p:cNvPr>
          <p:cNvPicPr>
            <a:picLocks noChangeAspect="1"/>
          </p:cNvPicPr>
          <p:nvPr/>
        </p:nvPicPr>
        <p:blipFill>
          <a:blip r:embed="rId5"/>
          <a:stretch>
            <a:fillRect/>
          </a:stretch>
        </p:blipFill>
        <p:spPr>
          <a:xfrm>
            <a:off x="1298448" y="5294376"/>
            <a:ext cx="219456" cy="219456"/>
          </a:xfrm>
          <a:prstGeom prst="rect">
            <a:avLst/>
          </a:prstGeom>
        </p:spPr>
      </p:pic>
      <p:sp>
        <p:nvSpPr>
          <p:cNvPr id="40" name="Text 33"/>
          <p:cNvSpPr txBox="1"/>
          <p:nvPr/>
        </p:nvSpPr>
        <p:spPr>
          <a:xfrm>
            <a:off x="1691640" y="5193792"/>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A process moves through well-defined states as it runs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A65A2E"/>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A65A2E"/>
                </a:solidFill>
                <a:latin typeface="Comic Sans MS" pitchFamily="34" charset="0"/>
                <a:ea typeface="Comic Sans MS" pitchFamily="34" charset="-122"/>
                <a:cs typeface="Comic Sans MS" pitchFamily="34" charset="-120"/>
              </a:rPr>
              <a:t>2.2</a:t>
            </a:r>
            <a:endParaRPr lang="en-US" sz="1500" dirty="0"/>
          </a:p>
        </p:txBody>
      </p:sp>
      <p:sp>
        <p:nvSpPr>
          <p:cNvPr id="21" name="Shape 19"/>
          <p:cNvSpPr/>
          <p:nvPr/>
        </p:nvSpPr>
        <p:spPr>
          <a:xfrm>
            <a:off x="10561320" y="292608"/>
            <a:ext cx="1143000" cy="1143000"/>
          </a:xfrm>
          <a:prstGeom prst="ellipse">
            <a:avLst/>
          </a:prstGeom>
          <a:solidFill>
            <a:srgbClr val="A65A2E">
              <a:alpha val="88000"/>
            </a:srgbClr>
          </a:solidFill>
          <a:ln w="19050">
            <a:solidFill>
              <a:srgbClr val="A65A2E"/>
            </a:solidFill>
            <a:prstDash val="dash"/>
          </a:ln>
        </p:spPr>
      </p:sp>
      <p:pic>
        <p:nvPicPr>
          <p:cNvPr id="22" name="Image 0" descr="/home/claude/icons/clock.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A65A2E"/>
                </a:solidFill>
                <a:latin typeface="Calibri" pitchFamily="34" charset="0"/>
                <a:ea typeface="Calibri" pitchFamily="34" charset="-122"/>
                <a:cs typeface="Calibri" pitchFamily="34" charset="-120"/>
              </a:rPr>
              <a:t>Technical Example</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Scheduling</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828800"/>
            <a:ext cx="9646920" cy="2743200"/>
          </a:xfrm>
          <a:prstGeom prst="roundRect">
            <a:avLst>
              <a:gd name="adj" fmla="val 4667"/>
            </a:avLst>
          </a:prstGeom>
          <a:solidFill>
            <a:srgbClr val="A65A2E">
              <a:alpha val="10000"/>
            </a:srgbClr>
          </a:solidFill>
          <a:ln w="19050">
            <a:solidFill>
              <a:srgbClr val="A65A2E"/>
            </a:solidFill>
            <a:prstDash val="dash"/>
          </a:ln>
        </p:spPr>
      </p:sp>
      <p:sp>
        <p:nvSpPr>
          <p:cNvPr id="27" name="Shape 24"/>
          <p:cNvSpPr/>
          <p:nvPr/>
        </p:nvSpPr>
        <p:spPr>
          <a:xfrm>
            <a:off x="1554480" y="2103120"/>
            <a:ext cx="822960" cy="822960"/>
          </a:xfrm>
          <a:prstGeom prst="ellipse">
            <a:avLst/>
          </a:prstGeom>
          <a:solidFill>
            <a:srgbClr val="A65A2E">
              <a:alpha val="85000"/>
            </a:srgbClr>
          </a:solidFill>
          <a:ln w="15875">
            <a:solidFill>
              <a:srgbClr val="A65A2E"/>
            </a:solidFill>
            <a:prstDash val="solid"/>
          </a:ln>
        </p:spPr>
      </p:sp>
      <p:pic>
        <p:nvPicPr>
          <p:cNvPr id="28" name="Image 1" descr="/home/claude/icons/map.png">    </p:cNvPr>
          <p:cNvPicPr>
            <a:picLocks noChangeAspect="1"/>
          </p:cNvPicPr>
          <p:nvPr/>
        </p:nvPicPr>
        <p:blipFill>
          <a:blip r:embed="rId2"/>
          <a:stretch>
            <a:fillRect/>
          </a:stretch>
        </p:blipFill>
        <p:spPr>
          <a:xfrm>
            <a:off x="1764792" y="2313432"/>
            <a:ext cx="402336" cy="402336"/>
          </a:xfrm>
          <a:prstGeom prst="rect">
            <a:avLst/>
          </a:prstGeom>
        </p:spPr>
      </p:pic>
      <p:sp>
        <p:nvSpPr>
          <p:cNvPr id="29" name="Text 25"/>
          <p:cNvSpPr txBox="1"/>
          <p:nvPr/>
        </p:nvSpPr>
        <p:spPr>
          <a:xfrm>
            <a:off x="2606040" y="2084832"/>
            <a:ext cx="8046720" cy="457200"/>
          </a:xfrm>
          <a:prstGeom prst="rect">
            <a:avLst/>
          </a:prstGeom>
          <a:noFill/>
          <a:ln/>
        </p:spPr>
        <p:txBody>
          <a:bodyPr wrap="square" lIns="0" tIns="0" rIns="0" bIns="0" rtlCol="0" anchor="ctr"/>
          <a:lstStyle/>
          <a:p>
            <a:pPr indent="0" marL="0">
              <a:buNone/>
            </a:pPr>
            <a:r>
              <a:rPr lang="en-US" sz="2000" b="1" i="1" dirty="0">
                <a:solidFill>
                  <a:srgbClr val="A65A2E"/>
                </a:solidFill>
                <a:latin typeface="Comic Sans MS" pitchFamily="34" charset="0"/>
                <a:ea typeface="Comic Sans MS" pitchFamily="34" charset="-122"/>
                <a:cs typeface="Comic Sans MS" pitchFamily="34" charset="-120"/>
              </a:rPr>
              <a:t>In Practice:</a:t>
            </a:r>
            <a:endParaRPr lang="en-US" sz="2000" dirty="0"/>
          </a:p>
        </p:txBody>
      </p:sp>
      <p:sp>
        <p:nvSpPr>
          <p:cNvPr id="30" name="Text 26"/>
          <p:cNvSpPr txBox="1"/>
          <p:nvPr/>
        </p:nvSpPr>
        <p:spPr>
          <a:xfrm>
            <a:off x="1600200" y="3063240"/>
            <a:ext cx="9052560" cy="1371600"/>
          </a:xfrm>
          <a:prstGeom prst="rect">
            <a:avLst/>
          </a:prstGeom>
          <a:noFill/>
          <a:ln/>
        </p:spPr>
        <p:txBody>
          <a:bodyPr wrap="square" lIns="0" tIns="0" rIns="0" bIns="0" rtlCol="0" anchor="t"/>
          <a:lstStyle/>
          <a:p>
            <a:pPr indent="0" marL="0">
              <a:lnSpc>
                <a:spcPct val="130000"/>
              </a:lnSpc>
              <a:buNone/>
            </a:pPr>
            <a:r>
              <a:rPr lang="en-US" sz="1650" i="1" dirty="0">
                <a:solidFill>
                  <a:srgbClr val="1B263B"/>
                </a:solidFill>
                <a:latin typeface="Calibri" pitchFamily="34" charset="0"/>
                <a:ea typeface="Calibri" pitchFamily="34" charset="-122"/>
                <a:cs typeface="Calibri" pitchFamily="34" charset="-120"/>
              </a:rPr>
              <a:t>A web browser with 10 tabs open is really 10+ processes/threads competing for one CPU. The OS scheduler gives each tab a tiny time slice — a few milliseconds each — switching so fast between them that every tab feels like it's running at the same time.</a:t>
            </a:r>
            <a:endParaRPr lang="en-US" sz="1650" dirty="0"/>
          </a:p>
        </p:txBody>
      </p:sp>
      <p:sp>
        <p:nvSpPr>
          <p:cNvPr id="31" name="Text 27"/>
          <p:cNvSpPr txBox="1"/>
          <p:nvPr/>
        </p:nvSpPr>
        <p:spPr>
          <a:xfrm>
            <a:off x="1280160" y="4983480"/>
            <a:ext cx="9646920" cy="822960"/>
          </a:xfrm>
          <a:prstGeom prst="rect">
            <a:avLst/>
          </a:prstGeom>
          <a:noFill/>
          <a:ln/>
        </p:spPr>
        <p:txBody>
          <a:bodyPr wrap="square" lIns="0" tIns="0" rIns="0" bIns="0" rtlCol="0" anchor="ctr"/>
          <a:lstStyle/>
          <a:p>
            <a:pPr indent="0" marL="0">
              <a:lnSpc>
                <a:spcPct val="120000"/>
              </a:lnSpc>
              <a:buNone/>
            </a:pPr>
            <a:r>
              <a:rPr lang="en-US" sz="1250" i="1" dirty="0">
                <a:solidFill>
                  <a:srgbClr val="5A6B85"/>
                </a:solidFill>
                <a:latin typeface="Calibri" pitchFamily="34" charset="0"/>
                <a:ea typeface="Calibri" pitchFamily="34" charset="-122"/>
                <a:cs typeface="Calibri" pitchFamily="34" charset="-120"/>
              </a:rPr>
              <a:t>✎ Notice how the OS stays invisible in this example — the user just sees things working smoothly, while the OS handles all the coordination underneath.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A65A2E"/>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A65A2E"/>
                </a:solidFill>
                <a:latin typeface="Comic Sans MS" pitchFamily="34" charset="0"/>
                <a:ea typeface="Comic Sans MS" pitchFamily="34" charset="-122"/>
                <a:cs typeface="Comic Sans MS" pitchFamily="34" charset="-120"/>
              </a:rPr>
              <a:t>2.2</a:t>
            </a:r>
            <a:endParaRPr lang="en-US" sz="1500" dirty="0"/>
          </a:p>
        </p:txBody>
      </p:sp>
      <p:sp>
        <p:nvSpPr>
          <p:cNvPr id="21" name="Shape 19"/>
          <p:cNvSpPr/>
          <p:nvPr/>
        </p:nvSpPr>
        <p:spPr>
          <a:xfrm>
            <a:off x="10561320" y="292608"/>
            <a:ext cx="1143000" cy="1143000"/>
          </a:xfrm>
          <a:prstGeom prst="ellipse">
            <a:avLst/>
          </a:prstGeom>
          <a:solidFill>
            <a:srgbClr val="A65A2E">
              <a:alpha val="88000"/>
            </a:srgbClr>
          </a:solidFill>
          <a:ln w="19050">
            <a:solidFill>
              <a:srgbClr val="A65A2E"/>
            </a:solidFill>
            <a:prstDash val="dash"/>
          </a:ln>
        </p:spPr>
      </p:sp>
      <p:pic>
        <p:nvPicPr>
          <p:cNvPr id="22" name="Image 0" descr="/home/claude/icons/clock.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A65A2E"/>
                </a:solidFill>
                <a:latin typeface="Calibri" pitchFamily="34" charset="0"/>
                <a:ea typeface="Calibri" pitchFamily="34" charset="-122"/>
                <a:cs typeface="Calibri" pitchFamily="34" charset="-120"/>
              </a:rPr>
              <a:t>How It Works — Diagram Flow</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Scheduling</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a:off x="1188720" y="1691640"/>
            <a:ext cx="457200" cy="457200"/>
          </a:xfrm>
          <a:prstGeom prst="ellipse">
            <a:avLst/>
          </a:prstGeom>
          <a:solidFill>
            <a:srgbClr val="A65A2E"/>
          </a:solidFill>
          <a:ln w="9525">
            <a:solidFill>
              <a:srgbClr val="1B263B"/>
            </a:solidFill>
            <a:prstDash val="solid"/>
          </a:ln>
        </p:spPr>
      </p:sp>
      <p:sp>
        <p:nvSpPr>
          <p:cNvPr id="27" name="Text 24"/>
          <p:cNvSpPr txBox="1"/>
          <p:nvPr/>
        </p:nvSpPr>
        <p:spPr>
          <a:xfrm>
            <a:off x="11887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1</a:t>
            </a:r>
            <a:endParaRPr lang="en-US" sz="1600" dirty="0"/>
          </a:p>
        </p:txBody>
      </p:sp>
      <p:sp>
        <p:nvSpPr>
          <p:cNvPr id="28" name="Shape 25"/>
          <p:cNvSpPr/>
          <p:nvPr/>
        </p:nvSpPr>
        <p:spPr>
          <a:xfrm>
            <a:off x="2103120" y="1618488"/>
            <a:ext cx="7863840" cy="585216"/>
          </a:xfrm>
          <a:prstGeom prst="roundRect">
            <a:avLst>
              <a:gd name="adj" fmla="val 12500"/>
            </a:avLst>
          </a:prstGeom>
          <a:solidFill>
            <a:srgbClr val="FFFFFF"/>
          </a:solidFill>
          <a:ln w="15875">
            <a:solidFill>
              <a:srgbClr val="A65A2E"/>
            </a:solidFill>
            <a:prstDash val="solid"/>
          </a:ln>
        </p:spPr>
      </p:sp>
      <p:sp>
        <p:nvSpPr>
          <p:cNvPr id="29" name="Text 26"/>
          <p:cNvSpPr txBox="1"/>
          <p:nvPr/>
        </p:nvSpPr>
        <p:spPr>
          <a:xfrm>
            <a:off x="2331720" y="1618488"/>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New — process is being created</a:t>
            </a:r>
            <a:endParaRPr lang="en-US" sz="1400" dirty="0"/>
          </a:p>
        </p:txBody>
      </p:sp>
      <p:sp>
        <p:nvSpPr>
          <p:cNvPr id="30" name="Shape 27"/>
          <p:cNvSpPr/>
          <p:nvPr/>
        </p:nvSpPr>
        <p:spPr>
          <a:xfrm>
            <a:off x="1417320" y="2194560"/>
            <a:ext cx="0" cy="338328"/>
          </a:xfrm>
          <a:prstGeom prst="line">
            <a:avLst/>
          </a:prstGeom>
          <a:noFill/>
          <a:ln w="22225">
            <a:solidFill>
              <a:srgbClr val="A65A2E"/>
            </a:solidFill>
            <a:prstDash val="dash"/>
            <a:tailEnd type="triangle"/>
          </a:ln>
        </p:spPr>
      </p:sp>
      <p:sp>
        <p:nvSpPr>
          <p:cNvPr id="31" name="Shape 28"/>
          <p:cNvSpPr/>
          <p:nvPr/>
        </p:nvSpPr>
        <p:spPr>
          <a:xfrm>
            <a:off x="1188720" y="2532888"/>
            <a:ext cx="457200" cy="457200"/>
          </a:xfrm>
          <a:prstGeom prst="ellipse">
            <a:avLst/>
          </a:prstGeom>
          <a:solidFill>
            <a:srgbClr val="A65A2E"/>
          </a:solidFill>
          <a:ln w="9525">
            <a:solidFill>
              <a:srgbClr val="1B263B"/>
            </a:solidFill>
            <a:prstDash val="solid"/>
          </a:ln>
        </p:spPr>
      </p:sp>
      <p:sp>
        <p:nvSpPr>
          <p:cNvPr id="32" name="Text 29"/>
          <p:cNvSpPr txBox="1"/>
          <p:nvPr/>
        </p:nvSpPr>
        <p:spPr>
          <a:xfrm>
            <a:off x="1188720" y="2532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2</a:t>
            </a:r>
            <a:endParaRPr lang="en-US" sz="1600" dirty="0"/>
          </a:p>
        </p:txBody>
      </p:sp>
      <p:sp>
        <p:nvSpPr>
          <p:cNvPr id="33" name="Shape 30"/>
          <p:cNvSpPr/>
          <p:nvPr/>
        </p:nvSpPr>
        <p:spPr>
          <a:xfrm>
            <a:off x="2103120" y="2459736"/>
            <a:ext cx="7863840" cy="585216"/>
          </a:xfrm>
          <a:prstGeom prst="roundRect">
            <a:avLst>
              <a:gd name="adj" fmla="val 12500"/>
            </a:avLst>
          </a:prstGeom>
          <a:solidFill>
            <a:srgbClr val="FFFFFF"/>
          </a:solidFill>
          <a:ln w="15875">
            <a:solidFill>
              <a:srgbClr val="A65A2E"/>
            </a:solidFill>
            <a:prstDash val="solid"/>
          </a:ln>
        </p:spPr>
      </p:sp>
      <p:sp>
        <p:nvSpPr>
          <p:cNvPr id="34" name="Text 31"/>
          <p:cNvSpPr txBox="1"/>
          <p:nvPr/>
        </p:nvSpPr>
        <p:spPr>
          <a:xfrm>
            <a:off x="2331720" y="2459736"/>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Ready — waiting in line for the CPU</a:t>
            </a:r>
            <a:endParaRPr lang="en-US" sz="1400" dirty="0"/>
          </a:p>
        </p:txBody>
      </p:sp>
      <p:sp>
        <p:nvSpPr>
          <p:cNvPr id="35" name="Shape 32"/>
          <p:cNvSpPr/>
          <p:nvPr/>
        </p:nvSpPr>
        <p:spPr>
          <a:xfrm>
            <a:off x="1417320" y="3035808"/>
            <a:ext cx="0" cy="338328"/>
          </a:xfrm>
          <a:prstGeom prst="line">
            <a:avLst/>
          </a:prstGeom>
          <a:noFill/>
          <a:ln w="22225">
            <a:solidFill>
              <a:srgbClr val="A65A2E"/>
            </a:solidFill>
            <a:prstDash val="dash"/>
            <a:tailEnd type="triangle"/>
          </a:ln>
        </p:spPr>
      </p:sp>
      <p:sp>
        <p:nvSpPr>
          <p:cNvPr id="36" name="Shape 33"/>
          <p:cNvSpPr/>
          <p:nvPr/>
        </p:nvSpPr>
        <p:spPr>
          <a:xfrm>
            <a:off x="1188720" y="3374136"/>
            <a:ext cx="457200" cy="457200"/>
          </a:xfrm>
          <a:prstGeom prst="ellipse">
            <a:avLst/>
          </a:prstGeom>
          <a:solidFill>
            <a:srgbClr val="A65A2E"/>
          </a:solidFill>
          <a:ln w="9525">
            <a:solidFill>
              <a:srgbClr val="1B263B"/>
            </a:solidFill>
            <a:prstDash val="solid"/>
          </a:ln>
        </p:spPr>
      </p:sp>
      <p:sp>
        <p:nvSpPr>
          <p:cNvPr id="37" name="Text 34"/>
          <p:cNvSpPr txBox="1"/>
          <p:nvPr/>
        </p:nvSpPr>
        <p:spPr>
          <a:xfrm>
            <a:off x="1188720" y="33741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3</a:t>
            </a:r>
            <a:endParaRPr lang="en-US" sz="1600" dirty="0"/>
          </a:p>
        </p:txBody>
      </p:sp>
      <p:sp>
        <p:nvSpPr>
          <p:cNvPr id="38" name="Shape 35"/>
          <p:cNvSpPr/>
          <p:nvPr/>
        </p:nvSpPr>
        <p:spPr>
          <a:xfrm>
            <a:off x="2103120" y="3300984"/>
            <a:ext cx="7863840" cy="585216"/>
          </a:xfrm>
          <a:prstGeom prst="roundRect">
            <a:avLst>
              <a:gd name="adj" fmla="val 12500"/>
            </a:avLst>
          </a:prstGeom>
          <a:solidFill>
            <a:srgbClr val="FFFFFF"/>
          </a:solidFill>
          <a:ln w="15875">
            <a:solidFill>
              <a:srgbClr val="A65A2E"/>
            </a:solidFill>
            <a:prstDash val="solid"/>
          </a:ln>
        </p:spPr>
      </p:sp>
      <p:sp>
        <p:nvSpPr>
          <p:cNvPr id="39" name="Text 36"/>
          <p:cNvSpPr txBox="1"/>
          <p:nvPr/>
        </p:nvSpPr>
        <p:spPr>
          <a:xfrm>
            <a:off x="2331720" y="3300984"/>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Running — currently using the CPU</a:t>
            </a:r>
            <a:endParaRPr lang="en-US" sz="1400" dirty="0"/>
          </a:p>
        </p:txBody>
      </p:sp>
      <p:sp>
        <p:nvSpPr>
          <p:cNvPr id="40" name="Shape 37"/>
          <p:cNvSpPr/>
          <p:nvPr/>
        </p:nvSpPr>
        <p:spPr>
          <a:xfrm>
            <a:off x="1417320" y="3877056"/>
            <a:ext cx="0" cy="338328"/>
          </a:xfrm>
          <a:prstGeom prst="line">
            <a:avLst/>
          </a:prstGeom>
          <a:noFill/>
          <a:ln w="22225">
            <a:solidFill>
              <a:srgbClr val="A65A2E"/>
            </a:solidFill>
            <a:prstDash val="dash"/>
            <a:tailEnd type="triangle"/>
          </a:ln>
        </p:spPr>
      </p:sp>
      <p:sp>
        <p:nvSpPr>
          <p:cNvPr id="41" name="Shape 38"/>
          <p:cNvSpPr/>
          <p:nvPr/>
        </p:nvSpPr>
        <p:spPr>
          <a:xfrm>
            <a:off x="1188720" y="4215384"/>
            <a:ext cx="457200" cy="457200"/>
          </a:xfrm>
          <a:prstGeom prst="ellipse">
            <a:avLst/>
          </a:prstGeom>
          <a:solidFill>
            <a:srgbClr val="A65A2E"/>
          </a:solidFill>
          <a:ln w="9525">
            <a:solidFill>
              <a:srgbClr val="1B263B"/>
            </a:solidFill>
            <a:prstDash val="solid"/>
          </a:ln>
        </p:spPr>
      </p:sp>
      <p:sp>
        <p:nvSpPr>
          <p:cNvPr id="42" name="Text 39"/>
          <p:cNvSpPr txBox="1"/>
          <p:nvPr/>
        </p:nvSpPr>
        <p:spPr>
          <a:xfrm>
            <a:off x="1188720" y="4215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4</a:t>
            </a:r>
            <a:endParaRPr lang="en-US" sz="1600" dirty="0"/>
          </a:p>
        </p:txBody>
      </p:sp>
      <p:sp>
        <p:nvSpPr>
          <p:cNvPr id="43" name="Shape 40"/>
          <p:cNvSpPr/>
          <p:nvPr/>
        </p:nvSpPr>
        <p:spPr>
          <a:xfrm>
            <a:off x="2103120" y="4142232"/>
            <a:ext cx="7863840" cy="585216"/>
          </a:xfrm>
          <a:prstGeom prst="roundRect">
            <a:avLst>
              <a:gd name="adj" fmla="val 12500"/>
            </a:avLst>
          </a:prstGeom>
          <a:solidFill>
            <a:srgbClr val="FFFFFF"/>
          </a:solidFill>
          <a:ln w="15875">
            <a:solidFill>
              <a:srgbClr val="A65A2E"/>
            </a:solidFill>
            <a:prstDash val="solid"/>
          </a:ln>
        </p:spPr>
      </p:sp>
      <p:sp>
        <p:nvSpPr>
          <p:cNvPr id="44" name="Text 41"/>
          <p:cNvSpPr txBox="1"/>
          <p:nvPr/>
        </p:nvSpPr>
        <p:spPr>
          <a:xfrm>
            <a:off x="2331720" y="4142232"/>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Blocked — waiting for I/O or an event</a:t>
            </a:r>
            <a:endParaRPr lang="en-US" sz="1400" dirty="0"/>
          </a:p>
        </p:txBody>
      </p:sp>
      <p:sp>
        <p:nvSpPr>
          <p:cNvPr id="45" name="Shape 42"/>
          <p:cNvSpPr/>
          <p:nvPr/>
        </p:nvSpPr>
        <p:spPr>
          <a:xfrm>
            <a:off x="1417320" y="4718304"/>
            <a:ext cx="0" cy="338328"/>
          </a:xfrm>
          <a:prstGeom prst="line">
            <a:avLst/>
          </a:prstGeom>
          <a:noFill/>
          <a:ln w="22225">
            <a:solidFill>
              <a:srgbClr val="A65A2E"/>
            </a:solidFill>
            <a:prstDash val="dash"/>
            <a:tailEnd type="triangle"/>
          </a:ln>
        </p:spPr>
      </p:sp>
      <p:sp>
        <p:nvSpPr>
          <p:cNvPr id="46" name="Shape 43"/>
          <p:cNvSpPr/>
          <p:nvPr/>
        </p:nvSpPr>
        <p:spPr>
          <a:xfrm>
            <a:off x="1188720" y="5056632"/>
            <a:ext cx="457200" cy="457200"/>
          </a:xfrm>
          <a:prstGeom prst="ellipse">
            <a:avLst/>
          </a:prstGeom>
          <a:solidFill>
            <a:srgbClr val="A65A2E"/>
          </a:solidFill>
          <a:ln w="9525">
            <a:solidFill>
              <a:srgbClr val="1B263B"/>
            </a:solidFill>
            <a:prstDash val="solid"/>
          </a:ln>
        </p:spPr>
      </p:sp>
      <p:sp>
        <p:nvSpPr>
          <p:cNvPr id="47" name="Text 44"/>
          <p:cNvSpPr txBox="1"/>
          <p:nvPr/>
        </p:nvSpPr>
        <p:spPr>
          <a:xfrm>
            <a:off x="1188720" y="5056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5</a:t>
            </a:r>
            <a:endParaRPr lang="en-US" sz="1600" dirty="0"/>
          </a:p>
        </p:txBody>
      </p:sp>
      <p:sp>
        <p:nvSpPr>
          <p:cNvPr id="48" name="Shape 45"/>
          <p:cNvSpPr/>
          <p:nvPr/>
        </p:nvSpPr>
        <p:spPr>
          <a:xfrm>
            <a:off x="2103120" y="4983480"/>
            <a:ext cx="7863840" cy="585216"/>
          </a:xfrm>
          <a:prstGeom prst="roundRect">
            <a:avLst>
              <a:gd name="adj" fmla="val 12500"/>
            </a:avLst>
          </a:prstGeom>
          <a:solidFill>
            <a:srgbClr val="FFFFFF"/>
          </a:solidFill>
          <a:ln w="15875">
            <a:solidFill>
              <a:srgbClr val="A65A2E"/>
            </a:solidFill>
            <a:prstDash val="solid"/>
          </a:ln>
        </p:spPr>
      </p:sp>
      <p:sp>
        <p:nvSpPr>
          <p:cNvPr id="49" name="Text 46"/>
          <p:cNvSpPr txBox="1"/>
          <p:nvPr/>
        </p:nvSpPr>
        <p:spPr>
          <a:xfrm>
            <a:off x="2331720" y="4983480"/>
            <a:ext cx="7406640" cy="58521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Terminated — process has finished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4C6B3C"/>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4C6B3C"/>
                </a:solidFill>
                <a:latin typeface="Comic Sans MS" pitchFamily="34" charset="0"/>
                <a:ea typeface="Comic Sans MS" pitchFamily="34" charset="-122"/>
                <a:cs typeface="Comic Sans MS" pitchFamily="34" charset="-120"/>
              </a:rPr>
              <a:t>2.3</a:t>
            </a:r>
            <a:endParaRPr lang="en-US" sz="1500" dirty="0"/>
          </a:p>
        </p:txBody>
      </p:sp>
      <p:sp>
        <p:nvSpPr>
          <p:cNvPr id="21" name="Shape 19"/>
          <p:cNvSpPr/>
          <p:nvPr/>
        </p:nvSpPr>
        <p:spPr>
          <a:xfrm>
            <a:off x="10561320" y="292608"/>
            <a:ext cx="1143000" cy="1143000"/>
          </a:xfrm>
          <a:prstGeom prst="ellipse">
            <a:avLst/>
          </a:prstGeom>
          <a:solidFill>
            <a:srgbClr val="4C6B3C">
              <a:alpha val="88000"/>
            </a:srgbClr>
          </a:solidFill>
          <a:ln w="19050">
            <a:solidFill>
              <a:srgbClr val="4C6B3C"/>
            </a:solidFill>
            <a:prstDash val="dash"/>
          </a:ln>
        </p:spPr>
      </p:sp>
      <p:pic>
        <p:nvPicPr>
          <p:cNvPr id="22" name="Image 0" descr="/home/claude/icons/databas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4C6B3C"/>
                </a:solidFill>
                <a:latin typeface="Calibri" pitchFamily="34" charset="0"/>
                <a:ea typeface="Calibri" pitchFamily="34" charset="-122"/>
                <a:cs typeface="Calibri" pitchFamily="34" charset="-120"/>
              </a:rPr>
              <a:t>Definition — What is it?</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508760"/>
            <a:ext cx="9646920" cy="1417320"/>
          </a:xfrm>
          <a:prstGeom prst="roundRect">
            <a:avLst>
              <a:gd name="adj" fmla="val 7742"/>
            </a:avLst>
          </a:prstGeom>
          <a:solidFill>
            <a:srgbClr val="4C6B3C">
              <a:alpha val="12000"/>
            </a:srgbClr>
          </a:solidFill>
          <a:ln w="15875">
            <a:solidFill>
              <a:srgbClr val="4C6B3C"/>
            </a:solidFill>
            <a:prstDash val="solid"/>
          </a:ln>
        </p:spPr>
      </p:sp>
      <p:sp>
        <p:nvSpPr>
          <p:cNvPr id="27" name="Text 24"/>
          <p:cNvSpPr txBox="1"/>
          <p:nvPr/>
        </p:nvSpPr>
        <p:spPr>
          <a:xfrm>
            <a:off x="1554480" y="1627632"/>
            <a:ext cx="9098280" cy="1188720"/>
          </a:xfrm>
          <a:prstGeom prst="rect">
            <a:avLst/>
          </a:prstGeom>
          <a:noFill/>
          <a:ln/>
        </p:spPr>
        <p:txBody>
          <a:bodyPr wrap="square" lIns="0" tIns="0" rIns="0" bIns="0" rtlCol="0" anchor="ctr"/>
          <a:lstStyle/>
          <a:p>
            <a:pPr indent="0" marL="0">
              <a:lnSpc>
                <a:spcPct val="115000"/>
              </a:lnSpc>
              <a:buNone/>
            </a:pPr>
            <a:r>
              <a:rPr lang="en-US" sz="1600" b="1" dirty="0">
                <a:solidFill>
                  <a:srgbClr val="4C6B3C"/>
                </a:solidFill>
                <a:latin typeface="Comic Sans MS" pitchFamily="34" charset="0"/>
                <a:ea typeface="Comic Sans MS" pitchFamily="34" charset="-122"/>
                <a:cs typeface="Comic Sans MS" pitchFamily="34" charset="-120"/>
              </a:rPr>
              <a:t>✎ Simple Definition:  </a:t>
            </a:r>
            <a:pPr indent="0" marL="0">
              <a:lnSpc>
                <a:spcPct val="115000"/>
              </a:lnSpc>
              <a:buNone/>
            </a:pPr>
            <a:r>
              <a:rPr lang="en-US" sz="1500" dirty="0">
                <a:solidFill>
                  <a:srgbClr val="1B263B"/>
                </a:solidFill>
                <a:latin typeface="Calibri" pitchFamily="34" charset="0"/>
                <a:ea typeface="Calibri" pitchFamily="34" charset="-122"/>
                <a:cs typeface="Calibri" pitchFamily="34" charset="-120"/>
              </a:rPr>
              <a:t>Memory management is how the OS keeps track of which parts of memory are in use, allocates memory to processes, and protects each process's memory from the others.</a:t>
            </a:r>
            <a:endParaRPr lang="en-US" sz="1600" dirty="0"/>
          </a:p>
        </p:txBody>
      </p:sp>
      <p:sp>
        <p:nvSpPr>
          <p:cNvPr id="28" name="Text 25"/>
          <p:cNvSpPr txBox="1"/>
          <p:nvPr/>
        </p:nvSpPr>
        <p:spPr>
          <a:xfrm>
            <a:off x="1280160" y="3200400"/>
            <a:ext cx="7315200" cy="365760"/>
          </a:xfrm>
          <a:prstGeom prst="rect">
            <a:avLst/>
          </a:prstGeom>
          <a:noFill/>
          <a:ln/>
        </p:spPr>
        <p:txBody>
          <a:bodyPr wrap="square" lIns="0" tIns="0" rIns="0" bIns="0" rtlCol="0" anchor="ctr"/>
          <a:lstStyle/>
          <a:p>
            <a:pPr indent="0" marL="0">
              <a:buNone/>
            </a:pPr>
            <a:r>
              <a:rPr lang="en-US" sz="1700" b="1" dirty="0">
                <a:solidFill>
                  <a:srgbClr val="1B263B"/>
                </a:solidFill>
                <a:latin typeface="Comic Sans MS" pitchFamily="34" charset="0"/>
                <a:ea typeface="Comic Sans MS" pitchFamily="34" charset="-122"/>
                <a:cs typeface="Comic Sans MS" pitchFamily="34" charset="-120"/>
              </a:rPr>
              <a:t>Key Points to Remember</a:t>
            </a:r>
            <a:endParaRPr lang="en-US" sz="1700" dirty="0"/>
          </a:p>
        </p:txBody>
      </p:sp>
      <p:sp>
        <p:nvSpPr>
          <p:cNvPr id="29" name="Shape 26"/>
          <p:cNvSpPr/>
          <p:nvPr/>
        </p:nvSpPr>
        <p:spPr>
          <a:xfrm>
            <a:off x="1261872" y="3666744"/>
            <a:ext cx="292608" cy="292608"/>
          </a:xfrm>
          <a:prstGeom prst="ellipse">
            <a:avLst/>
          </a:prstGeom>
          <a:solidFill>
            <a:srgbClr val="4C6B3C"/>
          </a:solidFill>
          <a:ln/>
        </p:spPr>
      </p:sp>
      <p:pic>
        <p:nvPicPr>
          <p:cNvPr id="30" name="Image 1" descr="/home/claude/icons/check.png">    </p:cNvPr>
          <p:cNvPicPr>
            <a:picLocks noChangeAspect="1"/>
          </p:cNvPicPr>
          <p:nvPr/>
        </p:nvPicPr>
        <p:blipFill>
          <a:blip r:embed="rId2"/>
          <a:stretch>
            <a:fillRect/>
          </a:stretch>
        </p:blipFill>
        <p:spPr>
          <a:xfrm>
            <a:off x="1298448" y="3703320"/>
            <a:ext cx="219456" cy="219456"/>
          </a:xfrm>
          <a:prstGeom prst="rect">
            <a:avLst/>
          </a:prstGeom>
        </p:spPr>
      </p:pic>
      <p:sp>
        <p:nvSpPr>
          <p:cNvPr id="31" name="Text 27"/>
          <p:cNvSpPr txBox="1"/>
          <p:nvPr/>
        </p:nvSpPr>
        <p:spPr>
          <a:xfrm>
            <a:off x="1691640" y="3602736"/>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Relocation — a program may run at a different address each time it runs</a:t>
            </a:r>
            <a:endParaRPr lang="en-US" sz="1450" dirty="0"/>
          </a:p>
        </p:txBody>
      </p:sp>
      <p:sp>
        <p:nvSpPr>
          <p:cNvPr id="32" name="Shape 28"/>
          <p:cNvSpPr/>
          <p:nvPr/>
        </p:nvSpPr>
        <p:spPr>
          <a:xfrm>
            <a:off x="1261872" y="4197096"/>
            <a:ext cx="292608" cy="292608"/>
          </a:xfrm>
          <a:prstGeom prst="ellipse">
            <a:avLst/>
          </a:prstGeom>
          <a:solidFill>
            <a:srgbClr val="4C6B3C"/>
          </a:solidFill>
          <a:ln/>
        </p:spPr>
      </p:sp>
      <p:pic>
        <p:nvPicPr>
          <p:cNvPr id="33" name="Image 2" descr="/home/claude/icons/check.png">    </p:cNvPr>
          <p:cNvPicPr>
            <a:picLocks noChangeAspect="1"/>
          </p:cNvPicPr>
          <p:nvPr/>
        </p:nvPicPr>
        <p:blipFill>
          <a:blip r:embed="rId3"/>
          <a:stretch>
            <a:fillRect/>
          </a:stretch>
        </p:blipFill>
        <p:spPr>
          <a:xfrm>
            <a:off x="1298448" y="4233672"/>
            <a:ext cx="219456" cy="219456"/>
          </a:xfrm>
          <a:prstGeom prst="rect">
            <a:avLst/>
          </a:prstGeom>
        </p:spPr>
      </p:pic>
      <p:sp>
        <p:nvSpPr>
          <p:cNvPr id="34" name="Text 29"/>
          <p:cNvSpPr txBox="1"/>
          <p:nvPr/>
        </p:nvSpPr>
        <p:spPr>
          <a:xfrm>
            <a:off x="1691640" y="4133088"/>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Protection — one process must never touch another process’s memory</a:t>
            </a:r>
            <a:endParaRPr lang="en-US" sz="1450" dirty="0"/>
          </a:p>
        </p:txBody>
      </p:sp>
      <p:sp>
        <p:nvSpPr>
          <p:cNvPr id="35" name="Shape 30"/>
          <p:cNvSpPr/>
          <p:nvPr/>
        </p:nvSpPr>
        <p:spPr>
          <a:xfrm>
            <a:off x="1261872" y="4727448"/>
            <a:ext cx="292608" cy="292608"/>
          </a:xfrm>
          <a:prstGeom prst="ellipse">
            <a:avLst/>
          </a:prstGeom>
          <a:solidFill>
            <a:srgbClr val="4C6B3C"/>
          </a:solidFill>
          <a:ln/>
        </p:spPr>
      </p:sp>
      <p:pic>
        <p:nvPicPr>
          <p:cNvPr id="36" name="Image 3" descr="/home/claude/icons/check.png">    </p:cNvPr>
          <p:cNvPicPr>
            <a:picLocks noChangeAspect="1"/>
          </p:cNvPicPr>
          <p:nvPr/>
        </p:nvPicPr>
        <p:blipFill>
          <a:blip r:embed="rId4"/>
          <a:stretch>
            <a:fillRect/>
          </a:stretch>
        </p:blipFill>
        <p:spPr>
          <a:xfrm>
            <a:off x="1298448" y="4764024"/>
            <a:ext cx="219456" cy="219456"/>
          </a:xfrm>
          <a:prstGeom prst="rect">
            <a:avLst/>
          </a:prstGeom>
        </p:spPr>
      </p:pic>
      <p:sp>
        <p:nvSpPr>
          <p:cNvPr id="37" name="Text 31"/>
          <p:cNvSpPr txBox="1"/>
          <p:nvPr/>
        </p:nvSpPr>
        <p:spPr>
          <a:xfrm>
            <a:off x="1691640" y="4663440"/>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Sharing — some memory (like libraries) can safely be shared</a:t>
            </a:r>
            <a:endParaRPr lang="en-US" sz="1450" dirty="0"/>
          </a:p>
        </p:txBody>
      </p:sp>
      <p:sp>
        <p:nvSpPr>
          <p:cNvPr id="38" name="Shape 32"/>
          <p:cNvSpPr/>
          <p:nvPr/>
        </p:nvSpPr>
        <p:spPr>
          <a:xfrm>
            <a:off x="1261872" y="5257800"/>
            <a:ext cx="292608" cy="292608"/>
          </a:xfrm>
          <a:prstGeom prst="ellipse">
            <a:avLst/>
          </a:prstGeom>
          <a:solidFill>
            <a:srgbClr val="4C6B3C"/>
          </a:solidFill>
          <a:ln/>
        </p:spPr>
      </p:sp>
      <p:pic>
        <p:nvPicPr>
          <p:cNvPr id="39" name="Image 4" descr="/home/claude/icons/check.png">    </p:cNvPr>
          <p:cNvPicPr>
            <a:picLocks noChangeAspect="1"/>
          </p:cNvPicPr>
          <p:nvPr/>
        </p:nvPicPr>
        <p:blipFill>
          <a:blip r:embed="rId5"/>
          <a:stretch>
            <a:fillRect/>
          </a:stretch>
        </p:blipFill>
        <p:spPr>
          <a:xfrm>
            <a:off x="1298448" y="5294376"/>
            <a:ext cx="219456" cy="219456"/>
          </a:xfrm>
          <a:prstGeom prst="rect">
            <a:avLst/>
          </a:prstGeom>
        </p:spPr>
      </p:pic>
      <p:sp>
        <p:nvSpPr>
          <p:cNvPr id="40" name="Text 33"/>
          <p:cNvSpPr txBox="1"/>
          <p:nvPr/>
        </p:nvSpPr>
        <p:spPr>
          <a:xfrm>
            <a:off x="1691640" y="5193792"/>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Logical vs physical organization — addresses get translated behind the scenes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4C6B3C"/>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4C6B3C"/>
                </a:solidFill>
                <a:latin typeface="Comic Sans MS" pitchFamily="34" charset="0"/>
                <a:ea typeface="Comic Sans MS" pitchFamily="34" charset="-122"/>
                <a:cs typeface="Comic Sans MS" pitchFamily="34" charset="-120"/>
              </a:rPr>
              <a:t>2.3</a:t>
            </a:r>
            <a:endParaRPr lang="en-US" sz="1500" dirty="0"/>
          </a:p>
        </p:txBody>
      </p:sp>
      <p:sp>
        <p:nvSpPr>
          <p:cNvPr id="21" name="Shape 19"/>
          <p:cNvSpPr/>
          <p:nvPr/>
        </p:nvSpPr>
        <p:spPr>
          <a:xfrm>
            <a:off x="10561320" y="292608"/>
            <a:ext cx="1143000" cy="1143000"/>
          </a:xfrm>
          <a:prstGeom prst="ellipse">
            <a:avLst/>
          </a:prstGeom>
          <a:solidFill>
            <a:srgbClr val="4C6B3C">
              <a:alpha val="88000"/>
            </a:srgbClr>
          </a:solidFill>
          <a:ln w="19050">
            <a:solidFill>
              <a:srgbClr val="4C6B3C"/>
            </a:solidFill>
            <a:prstDash val="dash"/>
          </a:ln>
        </p:spPr>
      </p:sp>
      <p:pic>
        <p:nvPicPr>
          <p:cNvPr id="22" name="Image 0" descr="/home/claude/icons/databas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4C6B3C"/>
                </a:solidFill>
                <a:latin typeface="Calibri" pitchFamily="34" charset="0"/>
                <a:ea typeface="Calibri" pitchFamily="34" charset="-122"/>
                <a:cs typeface="Calibri" pitchFamily="34" charset="-120"/>
              </a:rPr>
              <a:t>Technical Example</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828800"/>
            <a:ext cx="9646920" cy="2743200"/>
          </a:xfrm>
          <a:prstGeom prst="roundRect">
            <a:avLst>
              <a:gd name="adj" fmla="val 4667"/>
            </a:avLst>
          </a:prstGeom>
          <a:solidFill>
            <a:srgbClr val="4C6B3C">
              <a:alpha val="10000"/>
            </a:srgbClr>
          </a:solidFill>
          <a:ln w="19050">
            <a:solidFill>
              <a:srgbClr val="4C6B3C"/>
            </a:solidFill>
            <a:prstDash val="dash"/>
          </a:ln>
        </p:spPr>
      </p:sp>
      <p:sp>
        <p:nvSpPr>
          <p:cNvPr id="27" name="Shape 24"/>
          <p:cNvSpPr/>
          <p:nvPr/>
        </p:nvSpPr>
        <p:spPr>
          <a:xfrm>
            <a:off x="1554480" y="2103120"/>
            <a:ext cx="822960" cy="822960"/>
          </a:xfrm>
          <a:prstGeom prst="ellipse">
            <a:avLst/>
          </a:prstGeom>
          <a:solidFill>
            <a:srgbClr val="4C6B3C">
              <a:alpha val="85000"/>
            </a:srgbClr>
          </a:solidFill>
          <a:ln w="15875">
            <a:solidFill>
              <a:srgbClr val="4C6B3C"/>
            </a:solidFill>
            <a:prstDash val="solid"/>
          </a:ln>
        </p:spPr>
      </p:sp>
      <p:pic>
        <p:nvPicPr>
          <p:cNvPr id="28" name="Image 1" descr="/home/claude/icons/map.png">    </p:cNvPr>
          <p:cNvPicPr>
            <a:picLocks noChangeAspect="1"/>
          </p:cNvPicPr>
          <p:nvPr/>
        </p:nvPicPr>
        <p:blipFill>
          <a:blip r:embed="rId2"/>
          <a:stretch>
            <a:fillRect/>
          </a:stretch>
        </p:blipFill>
        <p:spPr>
          <a:xfrm>
            <a:off x="1764792" y="2313432"/>
            <a:ext cx="402336" cy="402336"/>
          </a:xfrm>
          <a:prstGeom prst="rect">
            <a:avLst/>
          </a:prstGeom>
        </p:spPr>
      </p:pic>
      <p:sp>
        <p:nvSpPr>
          <p:cNvPr id="29" name="Text 25"/>
          <p:cNvSpPr txBox="1"/>
          <p:nvPr/>
        </p:nvSpPr>
        <p:spPr>
          <a:xfrm>
            <a:off x="2606040" y="2084832"/>
            <a:ext cx="8046720" cy="457200"/>
          </a:xfrm>
          <a:prstGeom prst="rect">
            <a:avLst/>
          </a:prstGeom>
          <a:noFill/>
          <a:ln/>
        </p:spPr>
        <p:txBody>
          <a:bodyPr wrap="square" lIns="0" tIns="0" rIns="0" bIns="0" rtlCol="0" anchor="ctr"/>
          <a:lstStyle/>
          <a:p>
            <a:pPr indent="0" marL="0">
              <a:buNone/>
            </a:pPr>
            <a:r>
              <a:rPr lang="en-US" sz="2000" b="1" i="1" dirty="0">
                <a:solidFill>
                  <a:srgbClr val="4C6B3C"/>
                </a:solidFill>
                <a:latin typeface="Comic Sans MS" pitchFamily="34" charset="0"/>
                <a:ea typeface="Comic Sans MS" pitchFamily="34" charset="-122"/>
                <a:cs typeface="Comic Sans MS" pitchFamily="34" charset="-120"/>
              </a:rPr>
              <a:t>In Practice:</a:t>
            </a:r>
            <a:endParaRPr lang="en-US" sz="2000" dirty="0"/>
          </a:p>
        </p:txBody>
      </p:sp>
      <p:sp>
        <p:nvSpPr>
          <p:cNvPr id="30" name="Text 26"/>
          <p:cNvSpPr txBox="1"/>
          <p:nvPr/>
        </p:nvSpPr>
        <p:spPr>
          <a:xfrm>
            <a:off x="1600200" y="3063240"/>
            <a:ext cx="9052560" cy="1371600"/>
          </a:xfrm>
          <a:prstGeom prst="rect">
            <a:avLst/>
          </a:prstGeom>
          <a:noFill/>
          <a:ln/>
        </p:spPr>
        <p:txBody>
          <a:bodyPr wrap="square" lIns="0" tIns="0" rIns="0" bIns="0" rtlCol="0" anchor="t"/>
          <a:lstStyle/>
          <a:p>
            <a:pPr indent="0" marL="0">
              <a:lnSpc>
                <a:spcPct val="130000"/>
              </a:lnSpc>
              <a:buNone/>
            </a:pPr>
            <a:r>
              <a:rPr lang="en-US" sz="1650" i="1" dirty="0">
                <a:solidFill>
                  <a:srgbClr val="1B263B"/>
                </a:solidFill>
                <a:latin typeface="Calibri" pitchFamily="34" charset="0"/>
                <a:ea typeface="Calibri" pitchFamily="34" charset="-122"/>
                <a:cs typeface="Calibri" pitchFamily="34" charset="-120"/>
              </a:rPr>
              <a:t>When you open 5 Chrome tabs and a Word document at the same time, each program believes it has its own private, continuous block of memory starting at address zero. In reality, the OS is scattering them across physical RAM and quietly translating addresses so none of them ever collide.</a:t>
            </a:r>
            <a:endParaRPr lang="en-US" sz="1650" dirty="0"/>
          </a:p>
        </p:txBody>
      </p:sp>
      <p:sp>
        <p:nvSpPr>
          <p:cNvPr id="31" name="Text 27"/>
          <p:cNvSpPr txBox="1"/>
          <p:nvPr/>
        </p:nvSpPr>
        <p:spPr>
          <a:xfrm>
            <a:off x="1280160" y="4983480"/>
            <a:ext cx="9646920" cy="822960"/>
          </a:xfrm>
          <a:prstGeom prst="rect">
            <a:avLst/>
          </a:prstGeom>
          <a:noFill/>
          <a:ln/>
        </p:spPr>
        <p:txBody>
          <a:bodyPr wrap="square" lIns="0" tIns="0" rIns="0" bIns="0" rtlCol="0" anchor="ctr"/>
          <a:lstStyle/>
          <a:p>
            <a:pPr indent="0" marL="0">
              <a:lnSpc>
                <a:spcPct val="120000"/>
              </a:lnSpc>
              <a:buNone/>
            </a:pPr>
            <a:r>
              <a:rPr lang="en-US" sz="1250" i="1" dirty="0">
                <a:solidFill>
                  <a:srgbClr val="5A6B85"/>
                </a:solidFill>
                <a:latin typeface="Calibri" pitchFamily="34" charset="0"/>
                <a:ea typeface="Calibri" pitchFamily="34" charset="-122"/>
                <a:cs typeface="Calibri" pitchFamily="34" charset="-120"/>
              </a:rPr>
              <a:t>✎ Notice how the OS stays invisible in this example — the user just sees things working smoothly, while the OS handles all the coordination underneath.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4C6B3C"/>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4C6B3C"/>
                </a:solidFill>
                <a:latin typeface="Comic Sans MS" pitchFamily="34" charset="0"/>
                <a:ea typeface="Comic Sans MS" pitchFamily="34" charset="-122"/>
                <a:cs typeface="Comic Sans MS" pitchFamily="34" charset="-120"/>
              </a:rPr>
              <a:t>2.3</a:t>
            </a:r>
            <a:endParaRPr lang="en-US" sz="1500" dirty="0"/>
          </a:p>
        </p:txBody>
      </p:sp>
      <p:sp>
        <p:nvSpPr>
          <p:cNvPr id="21" name="Shape 19"/>
          <p:cNvSpPr/>
          <p:nvPr/>
        </p:nvSpPr>
        <p:spPr>
          <a:xfrm>
            <a:off x="10561320" y="292608"/>
            <a:ext cx="1143000" cy="1143000"/>
          </a:xfrm>
          <a:prstGeom prst="ellipse">
            <a:avLst/>
          </a:prstGeom>
          <a:solidFill>
            <a:srgbClr val="4C6B3C">
              <a:alpha val="88000"/>
            </a:srgbClr>
          </a:solidFill>
          <a:ln w="19050">
            <a:solidFill>
              <a:srgbClr val="4C6B3C"/>
            </a:solidFill>
            <a:prstDash val="dash"/>
          </a:ln>
        </p:spPr>
      </p:sp>
      <p:pic>
        <p:nvPicPr>
          <p:cNvPr id="22" name="Image 0" descr="/home/claude/icons/databas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4C6B3C"/>
                </a:solidFill>
                <a:latin typeface="Calibri" pitchFamily="34" charset="0"/>
                <a:ea typeface="Calibri" pitchFamily="34" charset="-122"/>
                <a:cs typeface="Calibri" pitchFamily="34" charset="-120"/>
              </a:rPr>
              <a:t>How It Works — Diagram Flow</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a:off x="1188720" y="1691640"/>
            <a:ext cx="457200" cy="457200"/>
          </a:xfrm>
          <a:prstGeom prst="ellipse">
            <a:avLst/>
          </a:prstGeom>
          <a:solidFill>
            <a:srgbClr val="4C6B3C"/>
          </a:solidFill>
          <a:ln w="9525">
            <a:solidFill>
              <a:srgbClr val="1B263B"/>
            </a:solidFill>
            <a:prstDash val="solid"/>
          </a:ln>
        </p:spPr>
      </p:sp>
      <p:sp>
        <p:nvSpPr>
          <p:cNvPr id="27" name="Text 24"/>
          <p:cNvSpPr txBox="1"/>
          <p:nvPr/>
        </p:nvSpPr>
        <p:spPr>
          <a:xfrm>
            <a:off x="11887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1</a:t>
            </a:r>
            <a:endParaRPr lang="en-US" sz="1600" dirty="0"/>
          </a:p>
        </p:txBody>
      </p:sp>
      <p:sp>
        <p:nvSpPr>
          <p:cNvPr id="28" name="Shape 25"/>
          <p:cNvSpPr/>
          <p:nvPr/>
        </p:nvSpPr>
        <p:spPr>
          <a:xfrm>
            <a:off x="2103120" y="1618488"/>
            <a:ext cx="7863840" cy="768096"/>
          </a:xfrm>
          <a:prstGeom prst="roundRect">
            <a:avLst>
              <a:gd name="adj" fmla="val 9524"/>
            </a:avLst>
          </a:prstGeom>
          <a:solidFill>
            <a:srgbClr val="FFFFFF"/>
          </a:solidFill>
          <a:ln w="15875">
            <a:solidFill>
              <a:srgbClr val="4C6B3C"/>
            </a:solidFill>
            <a:prstDash val="solid"/>
          </a:ln>
        </p:spPr>
      </p:sp>
      <p:sp>
        <p:nvSpPr>
          <p:cNvPr id="29" name="Text 26"/>
          <p:cNvSpPr txBox="1"/>
          <p:nvPr/>
        </p:nvSpPr>
        <p:spPr>
          <a:xfrm>
            <a:off x="2331720" y="1618488"/>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CPU generates a logical (virtual) address</a:t>
            </a:r>
            <a:endParaRPr lang="en-US" sz="1400" dirty="0"/>
          </a:p>
        </p:txBody>
      </p:sp>
      <p:sp>
        <p:nvSpPr>
          <p:cNvPr id="30" name="Shape 27"/>
          <p:cNvSpPr/>
          <p:nvPr/>
        </p:nvSpPr>
        <p:spPr>
          <a:xfrm>
            <a:off x="1417320" y="2194560"/>
            <a:ext cx="0" cy="521208"/>
          </a:xfrm>
          <a:prstGeom prst="line">
            <a:avLst/>
          </a:prstGeom>
          <a:noFill/>
          <a:ln w="22225">
            <a:solidFill>
              <a:srgbClr val="4C6B3C"/>
            </a:solidFill>
            <a:prstDash val="dash"/>
            <a:tailEnd type="triangle"/>
          </a:ln>
        </p:spPr>
      </p:sp>
      <p:sp>
        <p:nvSpPr>
          <p:cNvPr id="31" name="Shape 28"/>
          <p:cNvSpPr/>
          <p:nvPr/>
        </p:nvSpPr>
        <p:spPr>
          <a:xfrm>
            <a:off x="1188720" y="2715768"/>
            <a:ext cx="457200" cy="457200"/>
          </a:xfrm>
          <a:prstGeom prst="ellipse">
            <a:avLst/>
          </a:prstGeom>
          <a:solidFill>
            <a:srgbClr val="4C6B3C"/>
          </a:solidFill>
          <a:ln w="9525">
            <a:solidFill>
              <a:srgbClr val="1B263B"/>
            </a:solidFill>
            <a:prstDash val="solid"/>
          </a:ln>
        </p:spPr>
      </p:sp>
      <p:sp>
        <p:nvSpPr>
          <p:cNvPr id="32" name="Text 29"/>
          <p:cNvSpPr txBox="1"/>
          <p:nvPr/>
        </p:nvSpPr>
        <p:spPr>
          <a:xfrm>
            <a:off x="1188720" y="2715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2</a:t>
            </a:r>
            <a:endParaRPr lang="en-US" sz="1600" dirty="0"/>
          </a:p>
        </p:txBody>
      </p:sp>
      <p:sp>
        <p:nvSpPr>
          <p:cNvPr id="33" name="Shape 30"/>
          <p:cNvSpPr/>
          <p:nvPr/>
        </p:nvSpPr>
        <p:spPr>
          <a:xfrm>
            <a:off x="2103120" y="2642616"/>
            <a:ext cx="7863840" cy="768096"/>
          </a:xfrm>
          <a:prstGeom prst="roundRect">
            <a:avLst>
              <a:gd name="adj" fmla="val 9524"/>
            </a:avLst>
          </a:prstGeom>
          <a:solidFill>
            <a:srgbClr val="FFFFFF"/>
          </a:solidFill>
          <a:ln w="15875">
            <a:solidFill>
              <a:srgbClr val="4C6B3C"/>
            </a:solidFill>
            <a:prstDash val="solid"/>
          </a:ln>
        </p:spPr>
      </p:sp>
      <p:sp>
        <p:nvSpPr>
          <p:cNvPr id="34" name="Text 31"/>
          <p:cNvSpPr txBox="1"/>
          <p:nvPr/>
        </p:nvSpPr>
        <p:spPr>
          <a:xfrm>
            <a:off x="2331720" y="2642616"/>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Memory Management Unit (MMU) looks it up</a:t>
            </a:r>
            <a:endParaRPr lang="en-US" sz="1400" dirty="0"/>
          </a:p>
        </p:txBody>
      </p:sp>
      <p:sp>
        <p:nvSpPr>
          <p:cNvPr id="35" name="Shape 32"/>
          <p:cNvSpPr/>
          <p:nvPr/>
        </p:nvSpPr>
        <p:spPr>
          <a:xfrm>
            <a:off x="1417320" y="3218688"/>
            <a:ext cx="0" cy="521208"/>
          </a:xfrm>
          <a:prstGeom prst="line">
            <a:avLst/>
          </a:prstGeom>
          <a:noFill/>
          <a:ln w="22225">
            <a:solidFill>
              <a:srgbClr val="4C6B3C"/>
            </a:solidFill>
            <a:prstDash val="dash"/>
            <a:tailEnd type="triangle"/>
          </a:ln>
        </p:spPr>
      </p:sp>
      <p:sp>
        <p:nvSpPr>
          <p:cNvPr id="36" name="Shape 33"/>
          <p:cNvSpPr/>
          <p:nvPr/>
        </p:nvSpPr>
        <p:spPr>
          <a:xfrm>
            <a:off x="1188720" y="3739896"/>
            <a:ext cx="457200" cy="457200"/>
          </a:xfrm>
          <a:prstGeom prst="ellipse">
            <a:avLst/>
          </a:prstGeom>
          <a:solidFill>
            <a:srgbClr val="4C6B3C"/>
          </a:solidFill>
          <a:ln w="9525">
            <a:solidFill>
              <a:srgbClr val="1B263B"/>
            </a:solidFill>
            <a:prstDash val="solid"/>
          </a:ln>
        </p:spPr>
      </p:sp>
      <p:sp>
        <p:nvSpPr>
          <p:cNvPr id="37" name="Text 34"/>
          <p:cNvSpPr txBox="1"/>
          <p:nvPr/>
        </p:nvSpPr>
        <p:spPr>
          <a:xfrm>
            <a:off x="1188720" y="37398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3</a:t>
            </a:r>
            <a:endParaRPr lang="en-US" sz="1600" dirty="0"/>
          </a:p>
        </p:txBody>
      </p:sp>
      <p:sp>
        <p:nvSpPr>
          <p:cNvPr id="38" name="Shape 35"/>
          <p:cNvSpPr/>
          <p:nvPr/>
        </p:nvSpPr>
        <p:spPr>
          <a:xfrm>
            <a:off x="2103120" y="3666744"/>
            <a:ext cx="7863840" cy="768096"/>
          </a:xfrm>
          <a:prstGeom prst="roundRect">
            <a:avLst>
              <a:gd name="adj" fmla="val 9524"/>
            </a:avLst>
          </a:prstGeom>
          <a:solidFill>
            <a:srgbClr val="FFFFFF"/>
          </a:solidFill>
          <a:ln w="15875">
            <a:solidFill>
              <a:srgbClr val="4C6B3C"/>
            </a:solidFill>
            <a:prstDash val="solid"/>
          </a:ln>
        </p:spPr>
      </p:sp>
      <p:sp>
        <p:nvSpPr>
          <p:cNvPr id="39" name="Text 36"/>
          <p:cNvSpPr txBox="1"/>
          <p:nvPr/>
        </p:nvSpPr>
        <p:spPr>
          <a:xfrm>
            <a:off x="2331720" y="3666744"/>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MMU translates it into a physical address</a:t>
            </a:r>
            <a:endParaRPr lang="en-US" sz="1400" dirty="0"/>
          </a:p>
        </p:txBody>
      </p:sp>
      <p:sp>
        <p:nvSpPr>
          <p:cNvPr id="40" name="Shape 37"/>
          <p:cNvSpPr/>
          <p:nvPr/>
        </p:nvSpPr>
        <p:spPr>
          <a:xfrm>
            <a:off x="1417320" y="4242816"/>
            <a:ext cx="0" cy="521208"/>
          </a:xfrm>
          <a:prstGeom prst="line">
            <a:avLst/>
          </a:prstGeom>
          <a:noFill/>
          <a:ln w="22225">
            <a:solidFill>
              <a:srgbClr val="4C6B3C"/>
            </a:solidFill>
            <a:prstDash val="dash"/>
            <a:tailEnd type="triangle"/>
          </a:ln>
        </p:spPr>
      </p:sp>
      <p:sp>
        <p:nvSpPr>
          <p:cNvPr id="41" name="Shape 38"/>
          <p:cNvSpPr/>
          <p:nvPr/>
        </p:nvSpPr>
        <p:spPr>
          <a:xfrm>
            <a:off x="1188720" y="4764024"/>
            <a:ext cx="457200" cy="457200"/>
          </a:xfrm>
          <a:prstGeom prst="ellipse">
            <a:avLst/>
          </a:prstGeom>
          <a:solidFill>
            <a:srgbClr val="4C6B3C"/>
          </a:solidFill>
          <a:ln w="9525">
            <a:solidFill>
              <a:srgbClr val="1B263B"/>
            </a:solidFill>
            <a:prstDash val="solid"/>
          </a:ln>
        </p:spPr>
      </p:sp>
      <p:sp>
        <p:nvSpPr>
          <p:cNvPr id="42" name="Text 39"/>
          <p:cNvSpPr txBox="1"/>
          <p:nvPr/>
        </p:nvSpPr>
        <p:spPr>
          <a:xfrm>
            <a:off x="1188720" y="4764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4</a:t>
            </a:r>
            <a:endParaRPr lang="en-US" sz="1600" dirty="0"/>
          </a:p>
        </p:txBody>
      </p:sp>
      <p:sp>
        <p:nvSpPr>
          <p:cNvPr id="43" name="Shape 40"/>
          <p:cNvSpPr/>
          <p:nvPr/>
        </p:nvSpPr>
        <p:spPr>
          <a:xfrm>
            <a:off x="2103120" y="4690872"/>
            <a:ext cx="7863840" cy="768096"/>
          </a:xfrm>
          <a:prstGeom prst="roundRect">
            <a:avLst>
              <a:gd name="adj" fmla="val 9524"/>
            </a:avLst>
          </a:prstGeom>
          <a:solidFill>
            <a:srgbClr val="FFFFFF"/>
          </a:solidFill>
          <a:ln w="15875">
            <a:solidFill>
              <a:srgbClr val="4C6B3C"/>
            </a:solidFill>
            <a:prstDash val="solid"/>
          </a:ln>
        </p:spPr>
      </p:sp>
      <p:sp>
        <p:nvSpPr>
          <p:cNvPr id="44" name="Text 41"/>
          <p:cNvSpPr txBox="1"/>
          <p:nvPr/>
        </p:nvSpPr>
        <p:spPr>
          <a:xfrm>
            <a:off x="2331720" y="4690872"/>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CPU accesses the real location in RAM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8B3A62"/>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8B3A62"/>
                </a:solidFill>
                <a:latin typeface="Comic Sans MS" pitchFamily="34" charset="0"/>
                <a:ea typeface="Comic Sans MS" pitchFamily="34" charset="-122"/>
                <a:cs typeface="Comic Sans MS" pitchFamily="34" charset="-120"/>
              </a:rPr>
              <a:t>2.4</a:t>
            </a:r>
            <a:endParaRPr lang="en-US" sz="1500" dirty="0"/>
          </a:p>
        </p:txBody>
      </p:sp>
      <p:sp>
        <p:nvSpPr>
          <p:cNvPr id="21" name="Shape 19"/>
          <p:cNvSpPr/>
          <p:nvPr/>
        </p:nvSpPr>
        <p:spPr>
          <a:xfrm>
            <a:off x="10561320" y="292608"/>
            <a:ext cx="1143000" cy="1143000"/>
          </a:xfrm>
          <a:prstGeom prst="ellipse">
            <a:avLst/>
          </a:prstGeom>
          <a:solidFill>
            <a:srgbClr val="8B3A62">
              <a:alpha val="88000"/>
            </a:srgbClr>
          </a:solidFill>
          <a:ln w="19050">
            <a:solidFill>
              <a:srgbClr val="8B3A62"/>
            </a:solidFill>
            <a:prstDash val="dash"/>
          </a:ln>
        </p:spPr>
      </p:sp>
      <p:pic>
        <p:nvPicPr>
          <p:cNvPr id="22" name="Image 0" descr="/home/claude/icons/microchip.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8B3A62"/>
                </a:solidFill>
                <a:latin typeface="Calibri" pitchFamily="34" charset="0"/>
                <a:ea typeface="Calibri" pitchFamily="34" charset="-122"/>
                <a:cs typeface="Calibri" pitchFamily="34" charset="-120"/>
              </a:rPr>
              <a:t>Definition — What is it?</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Intel x86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508760"/>
            <a:ext cx="9646920" cy="1417320"/>
          </a:xfrm>
          <a:prstGeom prst="roundRect">
            <a:avLst>
              <a:gd name="adj" fmla="val 7742"/>
            </a:avLst>
          </a:prstGeom>
          <a:solidFill>
            <a:srgbClr val="8B3A62">
              <a:alpha val="12000"/>
            </a:srgbClr>
          </a:solidFill>
          <a:ln w="15875">
            <a:solidFill>
              <a:srgbClr val="8B3A62"/>
            </a:solidFill>
            <a:prstDash val="solid"/>
          </a:ln>
        </p:spPr>
      </p:sp>
      <p:sp>
        <p:nvSpPr>
          <p:cNvPr id="27" name="Text 24"/>
          <p:cNvSpPr txBox="1"/>
          <p:nvPr/>
        </p:nvSpPr>
        <p:spPr>
          <a:xfrm>
            <a:off x="1554480" y="1627632"/>
            <a:ext cx="9098280" cy="1188720"/>
          </a:xfrm>
          <a:prstGeom prst="rect">
            <a:avLst/>
          </a:prstGeom>
          <a:noFill/>
          <a:ln/>
        </p:spPr>
        <p:txBody>
          <a:bodyPr wrap="square" lIns="0" tIns="0" rIns="0" bIns="0" rtlCol="0" anchor="ctr"/>
          <a:lstStyle/>
          <a:p>
            <a:pPr indent="0" marL="0">
              <a:lnSpc>
                <a:spcPct val="115000"/>
              </a:lnSpc>
              <a:buNone/>
            </a:pPr>
            <a:r>
              <a:rPr lang="en-US" sz="1600" b="1" dirty="0">
                <a:solidFill>
                  <a:srgbClr val="8B3A62"/>
                </a:solidFill>
                <a:latin typeface="Comic Sans MS" pitchFamily="34" charset="0"/>
                <a:ea typeface="Comic Sans MS" pitchFamily="34" charset="-122"/>
                <a:cs typeface="Comic Sans MS" pitchFamily="34" charset="-120"/>
              </a:rPr>
              <a:t>✎ Simple Definition:  </a:t>
            </a:r>
            <a:pPr indent="0" marL="0">
              <a:lnSpc>
                <a:spcPct val="115000"/>
              </a:lnSpc>
              <a:buNone/>
            </a:pPr>
            <a:r>
              <a:rPr lang="en-US" sz="1500" dirty="0">
                <a:solidFill>
                  <a:srgbClr val="1B263B"/>
                </a:solidFill>
                <a:latin typeface="Calibri" pitchFamily="34" charset="0"/>
                <a:ea typeface="Calibri" pitchFamily="34" charset="-122"/>
                <a:cs typeface="Calibri" pitchFamily="34" charset="-120"/>
              </a:rPr>
              <a:t>Intel x86 processors manage memory in two stages: segmentation first, then paging — giving both logical structure and efficient physical memory use.</a:t>
            </a:r>
            <a:endParaRPr lang="en-US" sz="1600" dirty="0"/>
          </a:p>
        </p:txBody>
      </p:sp>
      <p:sp>
        <p:nvSpPr>
          <p:cNvPr id="28" name="Text 25"/>
          <p:cNvSpPr txBox="1"/>
          <p:nvPr/>
        </p:nvSpPr>
        <p:spPr>
          <a:xfrm>
            <a:off x="1280160" y="3200400"/>
            <a:ext cx="7315200" cy="365760"/>
          </a:xfrm>
          <a:prstGeom prst="rect">
            <a:avLst/>
          </a:prstGeom>
          <a:noFill/>
          <a:ln/>
        </p:spPr>
        <p:txBody>
          <a:bodyPr wrap="square" lIns="0" tIns="0" rIns="0" bIns="0" rtlCol="0" anchor="ctr"/>
          <a:lstStyle/>
          <a:p>
            <a:pPr indent="0" marL="0">
              <a:buNone/>
            </a:pPr>
            <a:r>
              <a:rPr lang="en-US" sz="1700" b="1" dirty="0">
                <a:solidFill>
                  <a:srgbClr val="1B263B"/>
                </a:solidFill>
                <a:latin typeface="Comic Sans MS" pitchFamily="34" charset="0"/>
                <a:ea typeface="Comic Sans MS" pitchFamily="34" charset="-122"/>
                <a:cs typeface="Comic Sans MS" pitchFamily="34" charset="-120"/>
              </a:rPr>
              <a:t>Key Points to Remember</a:t>
            </a:r>
            <a:endParaRPr lang="en-US" sz="1700" dirty="0"/>
          </a:p>
        </p:txBody>
      </p:sp>
      <p:sp>
        <p:nvSpPr>
          <p:cNvPr id="29" name="Shape 26"/>
          <p:cNvSpPr/>
          <p:nvPr/>
        </p:nvSpPr>
        <p:spPr>
          <a:xfrm>
            <a:off x="1261872" y="3666744"/>
            <a:ext cx="292608" cy="292608"/>
          </a:xfrm>
          <a:prstGeom prst="ellipse">
            <a:avLst/>
          </a:prstGeom>
          <a:solidFill>
            <a:srgbClr val="8B3A62"/>
          </a:solidFill>
          <a:ln/>
        </p:spPr>
      </p:sp>
      <p:pic>
        <p:nvPicPr>
          <p:cNvPr id="30" name="Image 1" descr="/home/claude/icons/check.png">    </p:cNvPr>
          <p:cNvPicPr>
            <a:picLocks noChangeAspect="1"/>
          </p:cNvPicPr>
          <p:nvPr/>
        </p:nvPicPr>
        <p:blipFill>
          <a:blip r:embed="rId2"/>
          <a:stretch>
            <a:fillRect/>
          </a:stretch>
        </p:blipFill>
        <p:spPr>
          <a:xfrm>
            <a:off x="1298448" y="3703320"/>
            <a:ext cx="219456" cy="219456"/>
          </a:xfrm>
          <a:prstGeom prst="rect">
            <a:avLst/>
          </a:prstGeom>
        </p:spPr>
      </p:pic>
      <p:sp>
        <p:nvSpPr>
          <p:cNvPr id="31" name="Text 27"/>
          <p:cNvSpPr txBox="1"/>
          <p:nvPr/>
        </p:nvSpPr>
        <p:spPr>
          <a:xfrm>
            <a:off x="1691640" y="3602736"/>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Segmentation divides a program into logical parts: code, data, stack</a:t>
            </a:r>
            <a:endParaRPr lang="en-US" sz="1450" dirty="0"/>
          </a:p>
        </p:txBody>
      </p:sp>
      <p:sp>
        <p:nvSpPr>
          <p:cNvPr id="32" name="Shape 28"/>
          <p:cNvSpPr/>
          <p:nvPr/>
        </p:nvSpPr>
        <p:spPr>
          <a:xfrm>
            <a:off x="1261872" y="4197096"/>
            <a:ext cx="292608" cy="292608"/>
          </a:xfrm>
          <a:prstGeom prst="ellipse">
            <a:avLst/>
          </a:prstGeom>
          <a:solidFill>
            <a:srgbClr val="8B3A62"/>
          </a:solidFill>
          <a:ln/>
        </p:spPr>
      </p:sp>
      <p:pic>
        <p:nvPicPr>
          <p:cNvPr id="33" name="Image 2" descr="/home/claude/icons/check.png">    </p:cNvPr>
          <p:cNvPicPr>
            <a:picLocks noChangeAspect="1"/>
          </p:cNvPicPr>
          <p:nvPr/>
        </p:nvPicPr>
        <p:blipFill>
          <a:blip r:embed="rId3"/>
          <a:stretch>
            <a:fillRect/>
          </a:stretch>
        </p:blipFill>
        <p:spPr>
          <a:xfrm>
            <a:off x="1298448" y="4233672"/>
            <a:ext cx="219456" cy="219456"/>
          </a:xfrm>
          <a:prstGeom prst="rect">
            <a:avLst/>
          </a:prstGeom>
        </p:spPr>
      </p:pic>
      <p:sp>
        <p:nvSpPr>
          <p:cNvPr id="34" name="Text 29"/>
          <p:cNvSpPr txBox="1"/>
          <p:nvPr/>
        </p:nvSpPr>
        <p:spPr>
          <a:xfrm>
            <a:off x="1691640" y="4133088"/>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Segment tables (GDT / LDT) describe where each segment lives</a:t>
            </a:r>
            <a:endParaRPr lang="en-US" sz="1450" dirty="0"/>
          </a:p>
        </p:txBody>
      </p:sp>
      <p:sp>
        <p:nvSpPr>
          <p:cNvPr id="35" name="Shape 30"/>
          <p:cNvSpPr/>
          <p:nvPr/>
        </p:nvSpPr>
        <p:spPr>
          <a:xfrm>
            <a:off x="1261872" y="4727448"/>
            <a:ext cx="292608" cy="292608"/>
          </a:xfrm>
          <a:prstGeom prst="ellipse">
            <a:avLst/>
          </a:prstGeom>
          <a:solidFill>
            <a:srgbClr val="8B3A62"/>
          </a:solidFill>
          <a:ln/>
        </p:spPr>
      </p:sp>
      <p:pic>
        <p:nvPicPr>
          <p:cNvPr id="36" name="Image 3" descr="/home/claude/icons/check.png">    </p:cNvPr>
          <p:cNvPicPr>
            <a:picLocks noChangeAspect="1"/>
          </p:cNvPicPr>
          <p:nvPr/>
        </p:nvPicPr>
        <p:blipFill>
          <a:blip r:embed="rId4"/>
          <a:stretch>
            <a:fillRect/>
          </a:stretch>
        </p:blipFill>
        <p:spPr>
          <a:xfrm>
            <a:off x="1298448" y="4764024"/>
            <a:ext cx="219456" cy="219456"/>
          </a:xfrm>
          <a:prstGeom prst="rect">
            <a:avLst/>
          </a:prstGeom>
        </p:spPr>
      </p:pic>
      <p:sp>
        <p:nvSpPr>
          <p:cNvPr id="37" name="Text 31"/>
          <p:cNvSpPr txBox="1"/>
          <p:nvPr/>
        </p:nvSpPr>
        <p:spPr>
          <a:xfrm>
            <a:off x="1691640" y="4663440"/>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After segmentation, paging further splits memory into fixed 4KB pages</a:t>
            </a:r>
            <a:endParaRPr lang="en-US" sz="1450" dirty="0"/>
          </a:p>
        </p:txBody>
      </p:sp>
      <p:sp>
        <p:nvSpPr>
          <p:cNvPr id="38" name="Shape 32"/>
          <p:cNvSpPr/>
          <p:nvPr/>
        </p:nvSpPr>
        <p:spPr>
          <a:xfrm>
            <a:off x="1261872" y="5257800"/>
            <a:ext cx="292608" cy="292608"/>
          </a:xfrm>
          <a:prstGeom prst="ellipse">
            <a:avLst/>
          </a:prstGeom>
          <a:solidFill>
            <a:srgbClr val="8B3A62"/>
          </a:solidFill>
          <a:ln/>
        </p:spPr>
      </p:sp>
      <p:pic>
        <p:nvPicPr>
          <p:cNvPr id="39" name="Image 4" descr="/home/claude/icons/check.png">    </p:cNvPr>
          <p:cNvPicPr>
            <a:picLocks noChangeAspect="1"/>
          </p:cNvPicPr>
          <p:nvPr/>
        </p:nvPicPr>
        <p:blipFill>
          <a:blip r:embed="rId5"/>
          <a:stretch>
            <a:fillRect/>
          </a:stretch>
        </p:blipFill>
        <p:spPr>
          <a:xfrm>
            <a:off x="1298448" y="5294376"/>
            <a:ext cx="219456" cy="219456"/>
          </a:xfrm>
          <a:prstGeom prst="rect">
            <a:avLst/>
          </a:prstGeom>
        </p:spPr>
      </p:pic>
      <p:sp>
        <p:nvSpPr>
          <p:cNvPr id="40" name="Text 33"/>
          <p:cNvSpPr txBox="1"/>
          <p:nvPr/>
        </p:nvSpPr>
        <p:spPr>
          <a:xfrm>
            <a:off x="1691640" y="5193792"/>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Protection rings (0–3) control what code is allowed to do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8B3A62"/>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8B3A62"/>
                </a:solidFill>
                <a:latin typeface="Comic Sans MS" pitchFamily="34" charset="0"/>
                <a:ea typeface="Comic Sans MS" pitchFamily="34" charset="-122"/>
                <a:cs typeface="Comic Sans MS" pitchFamily="34" charset="-120"/>
              </a:rPr>
              <a:t>2.4</a:t>
            </a:r>
            <a:endParaRPr lang="en-US" sz="1500" dirty="0"/>
          </a:p>
        </p:txBody>
      </p:sp>
      <p:sp>
        <p:nvSpPr>
          <p:cNvPr id="21" name="Shape 19"/>
          <p:cNvSpPr/>
          <p:nvPr/>
        </p:nvSpPr>
        <p:spPr>
          <a:xfrm>
            <a:off x="10561320" y="292608"/>
            <a:ext cx="1143000" cy="1143000"/>
          </a:xfrm>
          <a:prstGeom prst="ellipse">
            <a:avLst/>
          </a:prstGeom>
          <a:solidFill>
            <a:srgbClr val="8B3A62">
              <a:alpha val="88000"/>
            </a:srgbClr>
          </a:solidFill>
          <a:ln w="19050">
            <a:solidFill>
              <a:srgbClr val="8B3A62"/>
            </a:solidFill>
            <a:prstDash val="dash"/>
          </a:ln>
        </p:spPr>
      </p:sp>
      <p:pic>
        <p:nvPicPr>
          <p:cNvPr id="22" name="Image 0" descr="/home/claude/icons/microchip.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8B3A62"/>
                </a:solidFill>
                <a:latin typeface="Calibri" pitchFamily="34" charset="0"/>
                <a:ea typeface="Calibri" pitchFamily="34" charset="-122"/>
                <a:cs typeface="Calibri" pitchFamily="34" charset="-120"/>
              </a:rPr>
              <a:t>Technical Example</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Intel x86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828800"/>
            <a:ext cx="9646920" cy="2743200"/>
          </a:xfrm>
          <a:prstGeom prst="roundRect">
            <a:avLst>
              <a:gd name="adj" fmla="val 4667"/>
            </a:avLst>
          </a:prstGeom>
          <a:solidFill>
            <a:srgbClr val="8B3A62">
              <a:alpha val="10000"/>
            </a:srgbClr>
          </a:solidFill>
          <a:ln w="19050">
            <a:solidFill>
              <a:srgbClr val="8B3A62"/>
            </a:solidFill>
            <a:prstDash val="dash"/>
          </a:ln>
        </p:spPr>
      </p:sp>
      <p:sp>
        <p:nvSpPr>
          <p:cNvPr id="27" name="Shape 24"/>
          <p:cNvSpPr/>
          <p:nvPr/>
        </p:nvSpPr>
        <p:spPr>
          <a:xfrm>
            <a:off x="1554480" y="2103120"/>
            <a:ext cx="822960" cy="822960"/>
          </a:xfrm>
          <a:prstGeom prst="ellipse">
            <a:avLst/>
          </a:prstGeom>
          <a:solidFill>
            <a:srgbClr val="8B3A62">
              <a:alpha val="85000"/>
            </a:srgbClr>
          </a:solidFill>
          <a:ln w="15875">
            <a:solidFill>
              <a:srgbClr val="8B3A62"/>
            </a:solidFill>
            <a:prstDash val="solid"/>
          </a:ln>
        </p:spPr>
      </p:sp>
      <p:pic>
        <p:nvPicPr>
          <p:cNvPr id="28" name="Image 1" descr="/home/claude/icons/map.png">    </p:cNvPr>
          <p:cNvPicPr>
            <a:picLocks noChangeAspect="1"/>
          </p:cNvPicPr>
          <p:nvPr/>
        </p:nvPicPr>
        <p:blipFill>
          <a:blip r:embed="rId2"/>
          <a:stretch>
            <a:fillRect/>
          </a:stretch>
        </p:blipFill>
        <p:spPr>
          <a:xfrm>
            <a:off x="1764792" y="2313432"/>
            <a:ext cx="402336" cy="402336"/>
          </a:xfrm>
          <a:prstGeom prst="rect">
            <a:avLst/>
          </a:prstGeom>
        </p:spPr>
      </p:pic>
      <p:sp>
        <p:nvSpPr>
          <p:cNvPr id="29" name="Text 25"/>
          <p:cNvSpPr txBox="1"/>
          <p:nvPr/>
        </p:nvSpPr>
        <p:spPr>
          <a:xfrm>
            <a:off x="2606040" y="2084832"/>
            <a:ext cx="8046720" cy="457200"/>
          </a:xfrm>
          <a:prstGeom prst="rect">
            <a:avLst/>
          </a:prstGeom>
          <a:noFill/>
          <a:ln/>
        </p:spPr>
        <p:txBody>
          <a:bodyPr wrap="square" lIns="0" tIns="0" rIns="0" bIns="0" rtlCol="0" anchor="ctr"/>
          <a:lstStyle/>
          <a:p>
            <a:pPr indent="0" marL="0">
              <a:buNone/>
            </a:pPr>
            <a:r>
              <a:rPr lang="en-US" sz="2000" b="1" i="1" dirty="0">
                <a:solidFill>
                  <a:srgbClr val="8B3A62"/>
                </a:solidFill>
                <a:latin typeface="Comic Sans MS" pitchFamily="34" charset="0"/>
                <a:ea typeface="Comic Sans MS" pitchFamily="34" charset="-122"/>
                <a:cs typeface="Comic Sans MS" pitchFamily="34" charset="-120"/>
              </a:rPr>
              <a:t>In Practice:</a:t>
            </a:r>
            <a:endParaRPr lang="en-US" sz="2000" dirty="0"/>
          </a:p>
        </p:txBody>
      </p:sp>
      <p:sp>
        <p:nvSpPr>
          <p:cNvPr id="30" name="Text 26"/>
          <p:cNvSpPr txBox="1"/>
          <p:nvPr/>
        </p:nvSpPr>
        <p:spPr>
          <a:xfrm>
            <a:off x="1600200" y="3063240"/>
            <a:ext cx="9052560" cy="1371600"/>
          </a:xfrm>
          <a:prstGeom prst="rect">
            <a:avLst/>
          </a:prstGeom>
          <a:noFill/>
          <a:ln/>
        </p:spPr>
        <p:txBody>
          <a:bodyPr wrap="square" lIns="0" tIns="0" rIns="0" bIns="0" rtlCol="0" anchor="t"/>
          <a:lstStyle/>
          <a:p>
            <a:pPr indent="0" marL="0">
              <a:lnSpc>
                <a:spcPct val="130000"/>
              </a:lnSpc>
              <a:buNone/>
            </a:pPr>
            <a:r>
              <a:rPr lang="en-US" sz="1650" i="1" dirty="0">
                <a:solidFill>
                  <a:srgbClr val="1B263B"/>
                </a:solidFill>
                <a:latin typeface="Calibri" pitchFamily="34" charset="0"/>
                <a:ea typeface="Calibri" pitchFamily="34" charset="-122"/>
                <a:cs typeface="Calibri" pitchFamily="34" charset="-120"/>
              </a:rPr>
              <a:t>When Windows runs on an x86 PC, the kernel executes in Ring 0 with full hardware access, while your web browser runs in Ring 3. If the browser tries to directly access a disk controller, the x86 protection hardware blocks it — forcing it to politely ask the kernel instead.</a:t>
            </a:r>
            <a:endParaRPr lang="en-US" sz="1650" dirty="0"/>
          </a:p>
        </p:txBody>
      </p:sp>
      <p:sp>
        <p:nvSpPr>
          <p:cNvPr id="31" name="Text 27"/>
          <p:cNvSpPr txBox="1"/>
          <p:nvPr/>
        </p:nvSpPr>
        <p:spPr>
          <a:xfrm>
            <a:off x="1280160" y="4983480"/>
            <a:ext cx="9646920" cy="822960"/>
          </a:xfrm>
          <a:prstGeom prst="rect">
            <a:avLst/>
          </a:prstGeom>
          <a:noFill/>
          <a:ln/>
        </p:spPr>
        <p:txBody>
          <a:bodyPr wrap="square" lIns="0" tIns="0" rIns="0" bIns="0" rtlCol="0" anchor="ctr"/>
          <a:lstStyle/>
          <a:p>
            <a:pPr indent="0" marL="0">
              <a:lnSpc>
                <a:spcPct val="120000"/>
              </a:lnSpc>
              <a:buNone/>
            </a:pPr>
            <a:r>
              <a:rPr lang="en-US" sz="1250" i="1" dirty="0">
                <a:solidFill>
                  <a:srgbClr val="5A6B85"/>
                </a:solidFill>
                <a:latin typeface="Calibri" pitchFamily="34" charset="0"/>
                <a:ea typeface="Calibri" pitchFamily="34" charset="-122"/>
                <a:cs typeface="Calibri" pitchFamily="34" charset="-120"/>
              </a:rPr>
              <a:t>✎ Notice how the OS stays invisible in this example — the user just sees things working smoothly, while the OS handles all the coordination underneath.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8B3A62"/>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8B3A62"/>
                </a:solidFill>
                <a:latin typeface="Comic Sans MS" pitchFamily="34" charset="0"/>
                <a:ea typeface="Comic Sans MS" pitchFamily="34" charset="-122"/>
                <a:cs typeface="Comic Sans MS" pitchFamily="34" charset="-120"/>
              </a:rPr>
              <a:t>2.4</a:t>
            </a:r>
            <a:endParaRPr lang="en-US" sz="1500" dirty="0"/>
          </a:p>
        </p:txBody>
      </p:sp>
      <p:sp>
        <p:nvSpPr>
          <p:cNvPr id="21" name="Shape 19"/>
          <p:cNvSpPr/>
          <p:nvPr/>
        </p:nvSpPr>
        <p:spPr>
          <a:xfrm>
            <a:off x="10561320" y="292608"/>
            <a:ext cx="1143000" cy="1143000"/>
          </a:xfrm>
          <a:prstGeom prst="ellipse">
            <a:avLst/>
          </a:prstGeom>
          <a:solidFill>
            <a:srgbClr val="8B3A62">
              <a:alpha val="88000"/>
            </a:srgbClr>
          </a:solidFill>
          <a:ln w="19050">
            <a:solidFill>
              <a:srgbClr val="8B3A62"/>
            </a:solidFill>
            <a:prstDash val="dash"/>
          </a:ln>
        </p:spPr>
      </p:sp>
      <p:pic>
        <p:nvPicPr>
          <p:cNvPr id="22" name="Image 0" descr="/home/claude/icons/microchip.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8B3A62"/>
                </a:solidFill>
                <a:latin typeface="Calibri" pitchFamily="34" charset="0"/>
                <a:ea typeface="Calibri" pitchFamily="34" charset="-122"/>
                <a:cs typeface="Calibri" pitchFamily="34" charset="-120"/>
              </a:rPr>
              <a:t>How It Works — Diagram Flow</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Intel x86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a:off x="1188720" y="1691640"/>
            <a:ext cx="457200" cy="457200"/>
          </a:xfrm>
          <a:prstGeom prst="ellipse">
            <a:avLst/>
          </a:prstGeom>
          <a:solidFill>
            <a:srgbClr val="8B3A62"/>
          </a:solidFill>
          <a:ln w="9525">
            <a:solidFill>
              <a:srgbClr val="1B263B"/>
            </a:solidFill>
            <a:prstDash val="solid"/>
          </a:ln>
        </p:spPr>
      </p:sp>
      <p:sp>
        <p:nvSpPr>
          <p:cNvPr id="27" name="Text 24"/>
          <p:cNvSpPr txBox="1"/>
          <p:nvPr/>
        </p:nvSpPr>
        <p:spPr>
          <a:xfrm>
            <a:off x="11887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1</a:t>
            </a:r>
            <a:endParaRPr lang="en-US" sz="1600" dirty="0"/>
          </a:p>
        </p:txBody>
      </p:sp>
      <p:sp>
        <p:nvSpPr>
          <p:cNvPr id="28" name="Shape 25"/>
          <p:cNvSpPr/>
          <p:nvPr/>
        </p:nvSpPr>
        <p:spPr>
          <a:xfrm>
            <a:off x="2103120" y="1618488"/>
            <a:ext cx="7863840" cy="768096"/>
          </a:xfrm>
          <a:prstGeom prst="roundRect">
            <a:avLst>
              <a:gd name="adj" fmla="val 9524"/>
            </a:avLst>
          </a:prstGeom>
          <a:solidFill>
            <a:srgbClr val="FFFFFF"/>
          </a:solidFill>
          <a:ln w="15875">
            <a:solidFill>
              <a:srgbClr val="8B3A62"/>
            </a:solidFill>
            <a:prstDash val="solid"/>
          </a:ln>
        </p:spPr>
      </p:sp>
      <p:sp>
        <p:nvSpPr>
          <p:cNvPr id="29" name="Text 26"/>
          <p:cNvSpPr txBox="1"/>
          <p:nvPr/>
        </p:nvSpPr>
        <p:spPr>
          <a:xfrm>
            <a:off x="2331720" y="1618488"/>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Logical address (segment : offset)</a:t>
            </a:r>
            <a:endParaRPr lang="en-US" sz="1400" dirty="0"/>
          </a:p>
        </p:txBody>
      </p:sp>
      <p:sp>
        <p:nvSpPr>
          <p:cNvPr id="30" name="Shape 27"/>
          <p:cNvSpPr/>
          <p:nvPr/>
        </p:nvSpPr>
        <p:spPr>
          <a:xfrm>
            <a:off x="1417320" y="2194560"/>
            <a:ext cx="0" cy="521208"/>
          </a:xfrm>
          <a:prstGeom prst="line">
            <a:avLst/>
          </a:prstGeom>
          <a:noFill/>
          <a:ln w="22225">
            <a:solidFill>
              <a:srgbClr val="8B3A62"/>
            </a:solidFill>
            <a:prstDash val="dash"/>
            <a:tailEnd type="triangle"/>
          </a:ln>
        </p:spPr>
      </p:sp>
      <p:sp>
        <p:nvSpPr>
          <p:cNvPr id="31" name="Shape 28"/>
          <p:cNvSpPr/>
          <p:nvPr/>
        </p:nvSpPr>
        <p:spPr>
          <a:xfrm>
            <a:off x="1188720" y="2715768"/>
            <a:ext cx="457200" cy="457200"/>
          </a:xfrm>
          <a:prstGeom prst="ellipse">
            <a:avLst/>
          </a:prstGeom>
          <a:solidFill>
            <a:srgbClr val="8B3A62"/>
          </a:solidFill>
          <a:ln w="9525">
            <a:solidFill>
              <a:srgbClr val="1B263B"/>
            </a:solidFill>
            <a:prstDash val="solid"/>
          </a:ln>
        </p:spPr>
      </p:sp>
      <p:sp>
        <p:nvSpPr>
          <p:cNvPr id="32" name="Text 29"/>
          <p:cNvSpPr txBox="1"/>
          <p:nvPr/>
        </p:nvSpPr>
        <p:spPr>
          <a:xfrm>
            <a:off x="1188720" y="2715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2</a:t>
            </a:r>
            <a:endParaRPr lang="en-US" sz="1600" dirty="0"/>
          </a:p>
        </p:txBody>
      </p:sp>
      <p:sp>
        <p:nvSpPr>
          <p:cNvPr id="33" name="Shape 30"/>
          <p:cNvSpPr/>
          <p:nvPr/>
        </p:nvSpPr>
        <p:spPr>
          <a:xfrm>
            <a:off x="2103120" y="2642616"/>
            <a:ext cx="7863840" cy="768096"/>
          </a:xfrm>
          <a:prstGeom prst="roundRect">
            <a:avLst>
              <a:gd name="adj" fmla="val 9524"/>
            </a:avLst>
          </a:prstGeom>
          <a:solidFill>
            <a:srgbClr val="FFFFFF"/>
          </a:solidFill>
          <a:ln w="15875">
            <a:solidFill>
              <a:srgbClr val="8B3A62"/>
            </a:solidFill>
            <a:prstDash val="solid"/>
          </a:ln>
        </p:spPr>
      </p:sp>
      <p:sp>
        <p:nvSpPr>
          <p:cNvPr id="34" name="Text 31"/>
          <p:cNvSpPr txBox="1"/>
          <p:nvPr/>
        </p:nvSpPr>
        <p:spPr>
          <a:xfrm>
            <a:off x="2331720" y="2642616"/>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Segmentation unit converts it to a linear address</a:t>
            </a:r>
            <a:endParaRPr lang="en-US" sz="1400" dirty="0"/>
          </a:p>
        </p:txBody>
      </p:sp>
      <p:sp>
        <p:nvSpPr>
          <p:cNvPr id="35" name="Shape 32"/>
          <p:cNvSpPr/>
          <p:nvPr/>
        </p:nvSpPr>
        <p:spPr>
          <a:xfrm>
            <a:off x="1417320" y="3218688"/>
            <a:ext cx="0" cy="521208"/>
          </a:xfrm>
          <a:prstGeom prst="line">
            <a:avLst/>
          </a:prstGeom>
          <a:noFill/>
          <a:ln w="22225">
            <a:solidFill>
              <a:srgbClr val="8B3A62"/>
            </a:solidFill>
            <a:prstDash val="dash"/>
            <a:tailEnd type="triangle"/>
          </a:ln>
        </p:spPr>
      </p:sp>
      <p:sp>
        <p:nvSpPr>
          <p:cNvPr id="36" name="Shape 33"/>
          <p:cNvSpPr/>
          <p:nvPr/>
        </p:nvSpPr>
        <p:spPr>
          <a:xfrm>
            <a:off x="1188720" y="3739896"/>
            <a:ext cx="457200" cy="457200"/>
          </a:xfrm>
          <a:prstGeom prst="ellipse">
            <a:avLst/>
          </a:prstGeom>
          <a:solidFill>
            <a:srgbClr val="8B3A62"/>
          </a:solidFill>
          <a:ln w="9525">
            <a:solidFill>
              <a:srgbClr val="1B263B"/>
            </a:solidFill>
            <a:prstDash val="solid"/>
          </a:ln>
        </p:spPr>
      </p:sp>
      <p:sp>
        <p:nvSpPr>
          <p:cNvPr id="37" name="Text 34"/>
          <p:cNvSpPr txBox="1"/>
          <p:nvPr/>
        </p:nvSpPr>
        <p:spPr>
          <a:xfrm>
            <a:off x="1188720" y="37398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3</a:t>
            </a:r>
            <a:endParaRPr lang="en-US" sz="1600" dirty="0"/>
          </a:p>
        </p:txBody>
      </p:sp>
      <p:sp>
        <p:nvSpPr>
          <p:cNvPr id="38" name="Shape 35"/>
          <p:cNvSpPr/>
          <p:nvPr/>
        </p:nvSpPr>
        <p:spPr>
          <a:xfrm>
            <a:off x="2103120" y="3666744"/>
            <a:ext cx="7863840" cy="768096"/>
          </a:xfrm>
          <a:prstGeom prst="roundRect">
            <a:avLst>
              <a:gd name="adj" fmla="val 9524"/>
            </a:avLst>
          </a:prstGeom>
          <a:solidFill>
            <a:srgbClr val="FFFFFF"/>
          </a:solidFill>
          <a:ln w="15875">
            <a:solidFill>
              <a:srgbClr val="8B3A62"/>
            </a:solidFill>
            <a:prstDash val="solid"/>
          </a:ln>
        </p:spPr>
      </p:sp>
      <p:sp>
        <p:nvSpPr>
          <p:cNvPr id="39" name="Text 36"/>
          <p:cNvSpPr txBox="1"/>
          <p:nvPr/>
        </p:nvSpPr>
        <p:spPr>
          <a:xfrm>
            <a:off x="2331720" y="3666744"/>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Paging unit converts the linear address to a physical address</a:t>
            </a:r>
            <a:endParaRPr lang="en-US" sz="1400" dirty="0"/>
          </a:p>
        </p:txBody>
      </p:sp>
      <p:sp>
        <p:nvSpPr>
          <p:cNvPr id="40" name="Shape 37"/>
          <p:cNvSpPr/>
          <p:nvPr/>
        </p:nvSpPr>
        <p:spPr>
          <a:xfrm>
            <a:off x="1417320" y="4242816"/>
            <a:ext cx="0" cy="521208"/>
          </a:xfrm>
          <a:prstGeom prst="line">
            <a:avLst/>
          </a:prstGeom>
          <a:noFill/>
          <a:ln w="22225">
            <a:solidFill>
              <a:srgbClr val="8B3A62"/>
            </a:solidFill>
            <a:prstDash val="dash"/>
            <a:tailEnd type="triangle"/>
          </a:ln>
        </p:spPr>
      </p:sp>
      <p:sp>
        <p:nvSpPr>
          <p:cNvPr id="41" name="Shape 38"/>
          <p:cNvSpPr/>
          <p:nvPr/>
        </p:nvSpPr>
        <p:spPr>
          <a:xfrm>
            <a:off x="1188720" y="4764024"/>
            <a:ext cx="457200" cy="457200"/>
          </a:xfrm>
          <a:prstGeom prst="ellipse">
            <a:avLst/>
          </a:prstGeom>
          <a:solidFill>
            <a:srgbClr val="8B3A62"/>
          </a:solidFill>
          <a:ln w="9525">
            <a:solidFill>
              <a:srgbClr val="1B263B"/>
            </a:solidFill>
            <a:prstDash val="solid"/>
          </a:ln>
        </p:spPr>
      </p:sp>
      <p:sp>
        <p:nvSpPr>
          <p:cNvPr id="42" name="Text 39"/>
          <p:cNvSpPr txBox="1"/>
          <p:nvPr/>
        </p:nvSpPr>
        <p:spPr>
          <a:xfrm>
            <a:off x="1188720" y="4764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4</a:t>
            </a:r>
            <a:endParaRPr lang="en-US" sz="1600" dirty="0"/>
          </a:p>
        </p:txBody>
      </p:sp>
      <p:sp>
        <p:nvSpPr>
          <p:cNvPr id="43" name="Shape 40"/>
          <p:cNvSpPr/>
          <p:nvPr/>
        </p:nvSpPr>
        <p:spPr>
          <a:xfrm>
            <a:off x="2103120" y="4690872"/>
            <a:ext cx="7863840" cy="768096"/>
          </a:xfrm>
          <a:prstGeom prst="roundRect">
            <a:avLst>
              <a:gd name="adj" fmla="val 9524"/>
            </a:avLst>
          </a:prstGeom>
          <a:solidFill>
            <a:srgbClr val="FFFFFF"/>
          </a:solidFill>
          <a:ln w="15875">
            <a:solidFill>
              <a:srgbClr val="8B3A62"/>
            </a:solidFill>
            <a:prstDash val="solid"/>
          </a:ln>
        </p:spPr>
      </p:sp>
      <p:sp>
        <p:nvSpPr>
          <p:cNvPr id="44" name="Text 41"/>
          <p:cNvSpPr txBox="1"/>
          <p:nvPr/>
        </p:nvSpPr>
        <p:spPr>
          <a:xfrm>
            <a:off x="2331720" y="4690872"/>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CPU accesses the physical memory location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2F5233"/>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2F5233"/>
                </a:solidFill>
                <a:latin typeface="Comic Sans MS" pitchFamily="34" charset="0"/>
                <a:ea typeface="Comic Sans MS" pitchFamily="34" charset="-122"/>
                <a:cs typeface="Comic Sans MS" pitchFamily="34" charset="-120"/>
              </a:rPr>
              <a:t>2.5</a:t>
            </a:r>
            <a:endParaRPr lang="en-US" sz="1500" dirty="0"/>
          </a:p>
        </p:txBody>
      </p:sp>
      <p:sp>
        <p:nvSpPr>
          <p:cNvPr id="21" name="Shape 19"/>
          <p:cNvSpPr/>
          <p:nvPr/>
        </p:nvSpPr>
        <p:spPr>
          <a:xfrm>
            <a:off x="10561320" y="292608"/>
            <a:ext cx="1143000" cy="1143000"/>
          </a:xfrm>
          <a:prstGeom prst="ellipse">
            <a:avLst/>
          </a:prstGeom>
          <a:solidFill>
            <a:srgbClr val="2F5233">
              <a:alpha val="88000"/>
            </a:srgbClr>
          </a:solidFill>
          <a:ln w="19050">
            <a:solidFill>
              <a:srgbClr val="2F5233"/>
            </a:solidFill>
            <a:prstDash val="dash"/>
          </a:ln>
        </p:spPr>
      </p:sp>
      <p:pic>
        <p:nvPicPr>
          <p:cNvPr id="22" name="Image 0" descr="/home/claude/icons/mobil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2F5233"/>
                </a:solidFill>
                <a:latin typeface="Calibri" pitchFamily="34" charset="0"/>
                <a:ea typeface="Calibri" pitchFamily="34" charset="-122"/>
                <a:cs typeface="Calibri" pitchFamily="34" charset="-120"/>
              </a:rPr>
              <a:t>Definition — What is it?</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ARM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508760"/>
            <a:ext cx="9646920" cy="1417320"/>
          </a:xfrm>
          <a:prstGeom prst="roundRect">
            <a:avLst>
              <a:gd name="adj" fmla="val 7742"/>
            </a:avLst>
          </a:prstGeom>
          <a:solidFill>
            <a:srgbClr val="2F5233">
              <a:alpha val="12000"/>
            </a:srgbClr>
          </a:solidFill>
          <a:ln w="15875">
            <a:solidFill>
              <a:srgbClr val="2F5233"/>
            </a:solidFill>
            <a:prstDash val="solid"/>
          </a:ln>
        </p:spPr>
      </p:sp>
      <p:sp>
        <p:nvSpPr>
          <p:cNvPr id="27" name="Text 24"/>
          <p:cNvSpPr txBox="1"/>
          <p:nvPr/>
        </p:nvSpPr>
        <p:spPr>
          <a:xfrm>
            <a:off x="1554480" y="1627632"/>
            <a:ext cx="9098280" cy="1188720"/>
          </a:xfrm>
          <a:prstGeom prst="rect">
            <a:avLst/>
          </a:prstGeom>
          <a:noFill/>
          <a:ln/>
        </p:spPr>
        <p:txBody>
          <a:bodyPr wrap="square" lIns="0" tIns="0" rIns="0" bIns="0" rtlCol="0" anchor="ctr"/>
          <a:lstStyle/>
          <a:p>
            <a:pPr indent="0" marL="0">
              <a:lnSpc>
                <a:spcPct val="115000"/>
              </a:lnSpc>
              <a:buNone/>
            </a:pPr>
            <a:r>
              <a:rPr lang="en-US" sz="1600" b="1" dirty="0">
                <a:solidFill>
                  <a:srgbClr val="2F5233"/>
                </a:solidFill>
                <a:latin typeface="Comic Sans MS" pitchFamily="34" charset="0"/>
                <a:ea typeface="Comic Sans MS" pitchFamily="34" charset="-122"/>
                <a:cs typeface="Comic Sans MS" pitchFamily="34" charset="-120"/>
              </a:rPr>
              <a:t>✎ Simple Definition:  </a:t>
            </a:r>
            <a:pPr indent="0" marL="0">
              <a:lnSpc>
                <a:spcPct val="115000"/>
              </a:lnSpc>
              <a:buNone/>
            </a:pPr>
            <a:r>
              <a:rPr lang="en-US" sz="1500" dirty="0">
                <a:solidFill>
                  <a:srgbClr val="1B263B"/>
                </a:solidFill>
                <a:latin typeface="Calibri" pitchFamily="34" charset="0"/>
                <a:ea typeface="Calibri" pitchFamily="34" charset="-122"/>
                <a:cs typeface="Calibri" pitchFamily="34" charset="-120"/>
              </a:rPr>
              <a:t>ARM processors use a Memory Management Unit (MMU) with multi-level translation tables to convert virtual addresses into physical addresses, supporting several page sizes.</a:t>
            </a:r>
            <a:endParaRPr lang="en-US" sz="1600" dirty="0"/>
          </a:p>
        </p:txBody>
      </p:sp>
      <p:sp>
        <p:nvSpPr>
          <p:cNvPr id="28" name="Text 25"/>
          <p:cNvSpPr txBox="1"/>
          <p:nvPr/>
        </p:nvSpPr>
        <p:spPr>
          <a:xfrm>
            <a:off x="1280160" y="3200400"/>
            <a:ext cx="7315200" cy="365760"/>
          </a:xfrm>
          <a:prstGeom prst="rect">
            <a:avLst/>
          </a:prstGeom>
          <a:noFill/>
          <a:ln/>
        </p:spPr>
        <p:txBody>
          <a:bodyPr wrap="square" lIns="0" tIns="0" rIns="0" bIns="0" rtlCol="0" anchor="ctr"/>
          <a:lstStyle/>
          <a:p>
            <a:pPr indent="0" marL="0">
              <a:buNone/>
            </a:pPr>
            <a:r>
              <a:rPr lang="en-US" sz="1700" b="1" dirty="0">
                <a:solidFill>
                  <a:srgbClr val="1B263B"/>
                </a:solidFill>
                <a:latin typeface="Comic Sans MS" pitchFamily="34" charset="0"/>
                <a:ea typeface="Comic Sans MS" pitchFamily="34" charset="-122"/>
                <a:cs typeface="Comic Sans MS" pitchFamily="34" charset="-120"/>
              </a:rPr>
              <a:t>Key Points to Remember</a:t>
            </a:r>
            <a:endParaRPr lang="en-US" sz="1700" dirty="0"/>
          </a:p>
        </p:txBody>
      </p:sp>
      <p:sp>
        <p:nvSpPr>
          <p:cNvPr id="29" name="Shape 26"/>
          <p:cNvSpPr/>
          <p:nvPr/>
        </p:nvSpPr>
        <p:spPr>
          <a:xfrm>
            <a:off x="1261872" y="3666744"/>
            <a:ext cx="292608" cy="292608"/>
          </a:xfrm>
          <a:prstGeom prst="ellipse">
            <a:avLst/>
          </a:prstGeom>
          <a:solidFill>
            <a:srgbClr val="2F5233"/>
          </a:solidFill>
          <a:ln/>
        </p:spPr>
      </p:sp>
      <p:pic>
        <p:nvPicPr>
          <p:cNvPr id="30" name="Image 1" descr="/home/claude/icons/check.png">    </p:cNvPr>
          <p:cNvPicPr>
            <a:picLocks noChangeAspect="1"/>
          </p:cNvPicPr>
          <p:nvPr/>
        </p:nvPicPr>
        <p:blipFill>
          <a:blip r:embed="rId2"/>
          <a:stretch>
            <a:fillRect/>
          </a:stretch>
        </p:blipFill>
        <p:spPr>
          <a:xfrm>
            <a:off x="1298448" y="3703320"/>
            <a:ext cx="219456" cy="219456"/>
          </a:xfrm>
          <a:prstGeom prst="rect">
            <a:avLst/>
          </a:prstGeom>
        </p:spPr>
      </p:pic>
      <p:sp>
        <p:nvSpPr>
          <p:cNvPr id="31" name="Text 27"/>
          <p:cNvSpPr txBox="1"/>
          <p:nvPr/>
        </p:nvSpPr>
        <p:spPr>
          <a:xfrm>
            <a:off x="1691640" y="3602736"/>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Uses translation tables — the same role as x86 page tables</a:t>
            </a:r>
            <a:endParaRPr lang="en-US" sz="1450" dirty="0"/>
          </a:p>
        </p:txBody>
      </p:sp>
      <p:sp>
        <p:nvSpPr>
          <p:cNvPr id="32" name="Shape 28"/>
          <p:cNvSpPr/>
          <p:nvPr/>
        </p:nvSpPr>
        <p:spPr>
          <a:xfrm>
            <a:off x="1261872" y="4197096"/>
            <a:ext cx="292608" cy="292608"/>
          </a:xfrm>
          <a:prstGeom prst="ellipse">
            <a:avLst/>
          </a:prstGeom>
          <a:solidFill>
            <a:srgbClr val="2F5233"/>
          </a:solidFill>
          <a:ln/>
        </p:spPr>
      </p:sp>
      <p:pic>
        <p:nvPicPr>
          <p:cNvPr id="33" name="Image 2" descr="/home/claude/icons/check.png">    </p:cNvPr>
          <p:cNvPicPr>
            <a:picLocks noChangeAspect="1"/>
          </p:cNvPicPr>
          <p:nvPr/>
        </p:nvPicPr>
        <p:blipFill>
          <a:blip r:embed="rId3"/>
          <a:stretch>
            <a:fillRect/>
          </a:stretch>
        </p:blipFill>
        <p:spPr>
          <a:xfrm>
            <a:off x="1298448" y="4233672"/>
            <a:ext cx="219456" cy="219456"/>
          </a:xfrm>
          <a:prstGeom prst="rect">
            <a:avLst/>
          </a:prstGeom>
        </p:spPr>
      </p:pic>
      <p:sp>
        <p:nvSpPr>
          <p:cNvPr id="34" name="Text 29"/>
          <p:cNvSpPr txBox="1"/>
          <p:nvPr/>
        </p:nvSpPr>
        <p:spPr>
          <a:xfrm>
            <a:off x="1691640" y="4133088"/>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Supports multiple page/section sizes: 4KB, 64KB, 1MB, 16MB</a:t>
            </a:r>
            <a:endParaRPr lang="en-US" sz="1450" dirty="0"/>
          </a:p>
        </p:txBody>
      </p:sp>
      <p:sp>
        <p:nvSpPr>
          <p:cNvPr id="35" name="Shape 30"/>
          <p:cNvSpPr/>
          <p:nvPr/>
        </p:nvSpPr>
        <p:spPr>
          <a:xfrm>
            <a:off x="1261872" y="4727448"/>
            <a:ext cx="292608" cy="292608"/>
          </a:xfrm>
          <a:prstGeom prst="ellipse">
            <a:avLst/>
          </a:prstGeom>
          <a:solidFill>
            <a:srgbClr val="2F5233"/>
          </a:solidFill>
          <a:ln/>
        </p:spPr>
      </p:sp>
      <p:pic>
        <p:nvPicPr>
          <p:cNvPr id="36" name="Image 3" descr="/home/claude/icons/check.png">    </p:cNvPr>
          <p:cNvPicPr>
            <a:picLocks noChangeAspect="1"/>
          </p:cNvPicPr>
          <p:nvPr/>
        </p:nvPicPr>
        <p:blipFill>
          <a:blip r:embed="rId4"/>
          <a:stretch>
            <a:fillRect/>
          </a:stretch>
        </p:blipFill>
        <p:spPr>
          <a:xfrm>
            <a:off x="1298448" y="4764024"/>
            <a:ext cx="219456" cy="219456"/>
          </a:xfrm>
          <a:prstGeom prst="rect">
            <a:avLst/>
          </a:prstGeom>
        </p:spPr>
      </p:pic>
      <p:sp>
        <p:nvSpPr>
          <p:cNvPr id="37" name="Text 31"/>
          <p:cNvSpPr txBox="1"/>
          <p:nvPr/>
        </p:nvSpPr>
        <p:spPr>
          <a:xfrm>
            <a:off x="1691640" y="4663440"/>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A Translation Lookaside Buffer (TLB) caches recent translations for speed</a:t>
            </a:r>
            <a:endParaRPr lang="en-US" sz="1450" dirty="0"/>
          </a:p>
        </p:txBody>
      </p:sp>
      <p:sp>
        <p:nvSpPr>
          <p:cNvPr id="38" name="Shape 32"/>
          <p:cNvSpPr/>
          <p:nvPr/>
        </p:nvSpPr>
        <p:spPr>
          <a:xfrm>
            <a:off x="1261872" y="5257800"/>
            <a:ext cx="292608" cy="292608"/>
          </a:xfrm>
          <a:prstGeom prst="ellipse">
            <a:avLst/>
          </a:prstGeom>
          <a:solidFill>
            <a:srgbClr val="2F5233"/>
          </a:solidFill>
          <a:ln/>
        </p:spPr>
      </p:sp>
      <p:pic>
        <p:nvPicPr>
          <p:cNvPr id="39" name="Image 4" descr="/home/claude/icons/check.png">    </p:cNvPr>
          <p:cNvPicPr>
            <a:picLocks noChangeAspect="1"/>
          </p:cNvPicPr>
          <p:nvPr/>
        </p:nvPicPr>
        <p:blipFill>
          <a:blip r:embed="rId5"/>
          <a:stretch>
            <a:fillRect/>
          </a:stretch>
        </p:blipFill>
        <p:spPr>
          <a:xfrm>
            <a:off x="1298448" y="5294376"/>
            <a:ext cx="219456" cy="219456"/>
          </a:xfrm>
          <a:prstGeom prst="rect">
            <a:avLst/>
          </a:prstGeom>
        </p:spPr>
      </p:pic>
      <p:sp>
        <p:nvSpPr>
          <p:cNvPr id="40" name="Text 33"/>
          <p:cNvSpPr txBox="1"/>
          <p:nvPr/>
        </p:nvSpPr>
        <p:spPr>
          <a:xfrm>
            <a:off x="1691640" y="5193792"/>
            <a:ext cx="9052560" cy="411480"/>
          </a:xfrm>
          <a:prstGeom prst="rect">
            <a:avLst/>
          </a:prstGeom>
          <a:noFill/>
          <a:ln/>
        </p:spPr>
        <p:txBody>
          <a:bodyPr wrap="square" lIns="0" tIns="0" rIns="0" bIns="0" rtlCol="0" anchor="ctr"/>
          <a:lstStyle/>
          <a:p>
            <a:pPr indent="0" marL="0">
              <a:buNone/>
            </a:pPr>
            <a:r>
              <a:rPr lang="en-US" sz="1450" dirty="0">
                <a:solidFill>
                  <a:srgbClr val="1B263B"/>
                </a:solidFill>
                <a:latin typeface="Calibri" pitchFamily="34" charset="0"/>
                <a:ea typeface="Calibri" pitchFamily="34" charset="-122"/>
                <a:cs typeface="Calibri" pitchFamily="34" charset="-120"/>
              </a:rPr>
              <a:t>Access permissions and domains control which processes can access which memory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2F5233"/>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2F5233"/>
                </a:solidFill>
                <a:latin typeface="Comic Sans MS" pitchFamily="34" charset="0"/>
                <a:ea typeface="Comic Sans MS" pitchFamily="34" charset="-122"/>
                <a:cs typeface="Comic Sans MS" pitchFamily="34" charset="-120"/>
              </a:rPr>
              <a:t>2.5</a:t>
            </a:r>
            <a:endParaRPr lang="en-US" sz="1500" dirty="0"/>
          </a:p>
        </p:txBody>
      </p:sp>
      <p:sp>
        <p:nvSpPr>
          <p:cNvPr id="21" name="Shape 19"/>
          <p:cNvSpPr/>
          <p:nvPr/>
        </p:nvSpPr>
        <p:spPr>
          <a:xfrm>
            <a:off x="10561320" y="292608"/>
            <a:ext cx="1143000" cy="1143000"/>
          </a:xfrm>
          <a:prstGeom prst="ellipse">
            <a:avLst/>
          </a:prstGeom>
          <a:solidFill>
            <a:srgbClr val="2F5233">
              <a:alpha val="88000"/>
            </a:srgbClr>
          </a:solidFill>
          <a:ln w="19050">
            <a:solidFill>
              <a:srgbClr val="2F5233"/>
            </a:solidFill>
            <a:prstDash val="dash"/>
          </a:ln>
        </p:spPr>
      </p:sp>
      <p:pic>
        <p:nvPicPr>
          <p:cNvPr id="22" name="Image 0" descr="/home/claude/icons/mobil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2F5233"/>
                </a:solidFill>
                <a:latin typeface="Calibri" pitchFamily="34" charset="0"/>
                <a:ea typeface="Calibri" pitchFamily="34" charset="-122"/>
                <a:cs typeface="Calibri" pitchFamily="34" charset="-120"/>
              </a:rPr>
              <a:t>Technical Example</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ARM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rot="36000">
            <a:off x="1280160" y="1828800"/>
            <a:ext cx="9646920" cy="2743200"/>
          </a:xfrm>
          <a:prstGeom prst="roundRect">
            <a:avLst>
              <a:gd name="adj" fmla="val 4667"/>
            </a:avLst>
          </a:prstGeom>
          <a:solidFill>
            <a:srgbClr val="2F5233">
              <a:alpha val="10000"/>
            </a:srgbClr>
          </a:solidFill>
          <a:ln w="19050">
            <a:solidFill>
              <a:srgbClr val="2F5233"/>
            </a:solidFill>
            <a:prstDash val="dash"/>
          </a:ln>
        </p:spPr>
      </p:sp>
      <p:sp>
        <p:nvSpPr>
          <p:cNvPr id="27" name="Shape 24"/>
          <p:cNvSpPr/>
          <p:nvPr/>
        </p:nvSpPr>
        <p:spPr>
          <a:xfrm>
            <a:off x="1554480" y="2103120"/>
            <a:ext cx="822960" cy="822960"/>
          </a:xfrm>
          <a:prstGeom prst="ellipse">
            <a:avLst/>
          </a:prstGeom>
          <a:solidFill>
            <a:srgbClr val="2F5233">
              <a:alpha val="85000"/>
            </a:srgbClr>
          </a:solidFill>
          <a:ln w="15875">
            <a:solidFill>
              <a:srgbClr val="2F5233"/>
            </a:solidFill>
            <a:prstDash val="solid"/>
          </a:ln>
        </p:spPr>
      </p:sp>
      <p:pic>
        <p:nvPicPr>
          <p:cNvPr id="28" name="Image 1" descr="/home/claude/icons/map.png">    </p:cNvPr>
          <p:cNvPicPr>
            <a:picLocks noChangeAspect="1"/>
          </p:cNvPicPr>
          <p:nvPr/>
        </p:nvPicPr>
        <p:blipFill>
          <a:blip r:embed="rId2"/>
          <a:stretch>
            <a:fillRect/>
          </a:stretch>
        </p:blipFill>
        <p:spPr>
          <a:xfrm>
            <a:off x="1764792" y="2313432"/>
            <a:ext cx="402336" cy="402336"/>
          </a:xfrm>
          <a:prstGeom prst="rect">
            <a:avLst/>
          </a:prstGeom>
        </p:spPr>
      </p:pic>
      <p:sp>
        <p:nvSpPr>
          <p:cNvPr id="29" name="Text 25"/>
          <p:cNvSpPr txBox="1"/>
          <p:nvPr/>
        </p:nvSpPr>
        <p:spPr>
          <a:xfrm>
            <a:off x="2606040" y="2084832"/>
            <a:ext cx="8046720" cy="457200"/>
          </a:xfrm>
          <a:prstGeom prst="rect">
            <a:avLst/>
          </a:prstGeom>
          <a:noFill/>
          <a:ln/>
        </p:spPr>
        <p:txBody>
          <a:bodyPr wrap="square" lIns="0" tIns="0" rIns="0" bIns="0" rtlCol="0" anchor="ctr"/>
          <a:lstStyle/>
          <a:p>
            <a:pPr indent="0" marL="0">
              <a:buNone/>
            </a:pPr>
            <a:r>
              <a:rPr lang="en-US" sz="2000" b="1" i="1" dirty="0">
                <a:solidFill>
                  <a:srgbClr val="2F5233"/>
                </a:solidFill>
                <a:latin typeface="Comic Sans MS" pitchFamily="34" charset="0"/>
                <a:ea typeface="Comic Sans MS" pitchFamily="34" charset="-122"/>
                <a:cs typeface="Comic Sans MS" pitchFamily="34" charset="-120"/>
              </a:rPr>
              <a:t>In Practice:</a:t>
            </a:r>
            <a:endParaRPr lang="en-US" sz="2000" dirty="0"/>
          </a:p>
        </p:txBody>
      </p:sp>
      <p:sp>
        <p:nvSpPr>
          <p:cNvPr id="30" name="Text 26"/>
          <p:cNvSpPr txBox="1"/>
          <p:nvPr/>
        </p:nvSpPr>
        <p:spPr>
          <a:xfrm>
            <a:off x="1600200" y="3063240"/>
            <a:ext cx="9052560" cy="1371600"/>
          </a:xfrm>
          <a:prstGeom prst="rect">
            <a:avLst/>
          </a:prstGeom>
          <a:noFill/>
          <a:ln/>
        </p:spPr>
        <p:txBody>
          <a:bodyPr wrap="square" lIns="0" tIns="0" rIns="0" bIns="0" rtlCol="0" anchor="t"/>
          <a:lstStyle/>
          <a:p>
            <a:pPr indent="0" marL="0">
              <a:lnSpc>
                <a:spcPct val="130000"/>
              </a:lnSpc>
              <a:buNone/>
            </a:pPr>
            <a:r>
              <a:rPr lang="en-US" sz="1650" i="1" dirty="0">
                <a:solidFill>
                  <a:srgbClr val="1B263B"/>
                </a:solidFill>
                <a:latin typeface="Calibri" pitchFamily="34" charset="0"/>
                <a:ea typeface="Calibri" pitchFamily="34" charset="-122"/>
                <a:cs typeface="Calibri" pitchFamily="34" charset="-120"/>
              </a:rPr>
              <a:t>Your phone's ARM chip runs dozens of background apps (mail sync, maps, notifications) at once without draining the battery instantly. Fast TLB lookups mean the CPU rarely has to do a full, power-hungry page-table walk just to read or write memory.</a:t>
            </a:r>
            <a:endParaRPr lang="en-US" sz="1650" dirty="0"/>
          </a:p>
        </p:txBody>
      </p:sp>
      <p:sp>
        <p:nvSpPr>
          <p:cNvPr id="31" name="Text 27"/>
          <p:cNvSpPr txBox="1"/>
          <p:nvPr/>
        </p:nvSpPr>
        <p:spPr>
          <a:xfrm>
            <a:off x="1280160" y="4983480"/>
            <a:ext cx="9646920" cy="822960"/>
          </a:xfrm>
          <a:prstGeom prst="rect">
            <a:avLst/>
          </a:prstGeom>
          <a:noFill/>
          <a:ln/>
        </p:spPr>
        <p:txBody>
          <a:bodyPr wrap="square" lIns="0" tIns="0" rIns="0" bIns="0" rtlCol="0" anchor="ctr"/>
          <a:lstStyle/>
          <a:p>
            <a:pPr indent="0" marL="0">
              <a:lnSpc>
                <a:spcPct val="120000"/>
              </a:lnSpc>
              <a:buNone/>
            </a:pPr>
            <a:r>
              <a:rPr lang="en-US" sz="1250" i="1" dirty="0">
                <a:solidFill>
                  <a:srgbClr val="5A6B85"/>
                </a:solidFill>
                <a:latin typeface="Calibri" pitchFamily="34" charset="0"/>
                <a:ea typeface="Calibri" pitchFamily="34" charset="-122"/>
                <a:cs typeface="Calibri" pitchFamily="34" charset="-120"/>
              </a:rPr>
              <a:t>✎ Notice how the OS stays invisible in this example — the user just sees things working smoothly, while the OS handles all the coordination underneath.</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868680"/>
            <a:ext cx="12188952" cy="0"/>
          </a:xfrm>
          <a:prstGeom prst="line">
            <a:avLst/>
          </a:prstGeom>
          <a:noFill/>
          <a:ln w="12700">
            <a:solidFill>
              <a:srgbClr val="CFE0F0"/>
            </a:solidFill>
            <a:prstDash val="solid"/>
          </a:ln>
        </p:spPr>
      </p:sp>
      <p:sp>
        <p:nvSpPr>
          <p:cNvPr id="3" name="Shape 1"/>
          <p:cNvSpPr/>
          <p:nvPr/>
        </p:nvSpPr>
        <p:spPr>
          <a:xfrm>
            <a:off x="0" y="1252728"/>
            <a:ext cx="12188952" cy="0"/>
          </a:xfrm>
          <a:prstGeom prst="line">
            <a:avLst/>
          </a:prstGeom>
          <a:noFill/>
          <a:ln w="12700">
            <a:solidFill>
              <a:srgbClr val="CFE0F0"/>
            </a:solidFill>
            <a:prstDash val="solid"/>
          </a:ln>
        </p:spPr>
      </p:sp>
      <p:sp>
        <p:nvSpPr>
          <p:cNvPr id="4" name="Shape 2"/>
          <p:cNvSpPr/>
          <p:nvPr/>
        </p:nvSpPr>
        <p:spPr>
          <a:xfrm>
            <a:off x="0" y="1636776"/>
            <a:ext cx="12188952" cy="0"/>
          </a:xfrm>
          <a:prstGeom prst="line">
            <a:avLst/>
          </a:prstGeom>
          <a:noFill/>
          <a:ln w="12700">
            <a:solidFill>
              <a:srgbClr val="CFE0F0"/>
            </a:solidFill>
            <a:prstDash val="solid"/>
          </a:ln>
        </p:spPr>
      </p:sp>
      <p:sp>
        <p:nvSpPr>
          <p:cNvPr id="5" name="Shape 3"/>
          <p:cNvSpPr/>
          <p:nvPr/>
        </p:nvSpPr>
        <p:spPr>
          <a:xfrm>
            <a:off x="0" y="2020824"/>
            <a:ext cx="12188952" cy="0"/>
          </a:xfrm>
          <a:prstGeom prst="line">
            <a:avLst/>
          </a:prstGeom>
          <a:noFill/>
          <a:ln w="12700">
            <a:solidFill>
              <a:srgbClr val="CFE0F0"/>
            </a:solidFill>
            <a:prstDash val="solid"/>
          </a:ln>
        </p:spPr>
      </p:sp>
      <p:sp>
        <p:nvSpPr>
          <p:cNvPr id="6" name="Shape 4"/>
          <p:cNvSpPr/>
          <p:nvPr/>
        </p:nvSpPr>
        <p:spPr>
          <a:xfrm>
            <a:off x="0" y="2404872"/>
            <a:ext cx="12188952" cy="0"/>
          </a:xfrm>
          <a:prstGeom prst="line">
            <a:avLst/>
          </a:prstGeom>
          <a:noFill/>
          <a:ln w="12700">
            <a:solidFill>
              <a:srgbClr val="CFE0F0"/>
            </a:solidFill>
            <a:prstDash val="solid"/>
          </a:ln>
        </p:spPr>
      </p:sp>
      <p:sp>
        <p:nvSpPr>
          <p:cNvPr id="7" name="Shape 5"/>
          <p:cNvSpPr/>
          <p:nvPr/>
        </p:nvSpPr>
        <p:spPr>
          <a:xfrm>
            <a:off x="0" y="2788920"/>
            <a:ext cx="12188952" cy="0"/>
          </a:xfrm>
          <a:prstGeom prst="line">
            <a:avLst/>
          </a:prstGeom>
          <a:noFill/>
          <a:ln w="12700">
            <a:solidFill>
              <a:srgbClr val="CFE0F0"/>
            </a:solidFill>
            <a:prstDash val="solid"/>
          </a:ln>
        </p:spPr>
      </p:sp>
      <p:sp>
        <p:nvSpPr>
          <p:cNvPr id="8" name="Shape 6"/>
          <p:cNvSpPr/>
          <p:nvPr/>
        </p:nvSpPr>
        <p:spPr>
          <a:xfrm>
            <a:off x="0" y="3172968"/>
            <a:ext cx="12188952" cy="0"/>
          </a:xfrm>
          <a:prstGeom prst="line">
            <a:avLst/>
          </a:prstGeom>
          <a:noFill/>
          <a:ln w="12700">
            <a:solidFill>
              <a:srgbClr val="CFE0F0"/>
            </a:solidFill>
            <a:prstDash val="solid"/>
          </a:ln>
        </p:spPr>
      </p:sp>
      <p:sp>
        <p:nvSpPr>
          <p:cNvPr id="9" name="Shape 7"/>
          <p:cNvSpPr/>
          <p:nvPr/>
        </p:nvSpPr>
        <p:spPr>
          <a:xfrm>
            <a:off x="0" y="3557016"/>
            <a:ext cx="12188952" cy="0"/>
          </a:xfrm>
          <a:prstGeom prst="line">
            <a:avLst/>
          </a:prstGeom>
          <a:noFill/>
          <a:ln w="12700">
            <a:solidFill>
              <a:srgbClr val="CFE0F0"/>
            </a:solidFill>
            <a:prstDash val="solid"/>
          </a:ln>
        </p:spPr>
      </p:sp>
      <p:sp>
        <p:nvSpPr>
          <p:cNvPr id="10" name="Shape 8"/>
          <p:cNvSpPr/>
          <p:nvPr/>
        </p:nvSpPr>
        <p:spPr>
          <a:xfrm>
            <a:off x="0" y="3941064"/>
            <a:ext cx="12188952" cy="0"/>
          </a:xfrm>
          <a:prstGeom prst="line">
            <a:avLst/>
          </a:prstGeom>
          <a:noFill/>
          <a:ln w="12700">
            <a:solidFill>
              <a:srgbClr val="CFE0F0"/>
            </a:solidFill>
            <a:prstDash val="solid"/>
          </a:ln>
        </p:spPr>
      </p:sp>
      <p:sp>
        <p:nvSpPr>
          <p:cNvPr id="11" name="Shape 9"/>
          <p:cNvSpPr/>
          <p:nvPr/>
        </p:nvSpPr>
        <p:spPr>
          <a:xfrm>
            <a:off x="0" y="4325112"/>
            <a:ext cx="12188952" cy="0"/>
          </a:xfrm>
          <a:prstGeom prst="line">
            <a:avLst/>
          </a:prstGeom>
          <a:noFill/>
          <a:ln w="12700">
            <a:solidFill>
              <a:srgbClr val="CFE0F0"/>
            </a:solidFill>
            <a:prstDash val="solid"/>
          </a:ln>
        </p:spPr>
      </p:sp>
      <p:sp>
        <p:nvSpPr>
          <p:cNvPr id="12" name="Shape 10"/>
          <p:cNvSpPr/>
          <p:nvPr/>
        </p:nvSpPr>
        <p:spPr>
          <a:xfrm>
            <a:off x="0" y="4709160"/>
            <a:ext cx="12188952" cy="0"/>
          </a:xfrm>
          <a:prstGeom prst="line">
            <a:avLst/>
          </a:prstGeom>
          <a:noFill/>
          <a:ln w="12700">
            <a:solidFill>
              <a:srgbClr val="CFE0F0"/>
            </a:solidFill>
            <a:prstDash val="solid"/>
          </a:ln>
        </p:spPr>
      </p:sp>
      <p:sp>
        <p:nvSpPr>
          <p:cNvPr id="13" name="Shape 11"/>
          <p:cNvSpPr/>
          <p:nvPr/>
        </p:nvSpPr>
        <p:spPr>
          <a:xfrm>
            <a:off x="0" y="5093208"/>
            <a:ext cx="12188952" cy="0"/>
          </a:xfrm>
          <a:prstGeom prst="line">
            <a:avLst/>
          </a:prstGeom>
          <a:noFill/>
          <a:ln w="12700">
            <a:solidFill>
              <a:srgbClr val="CFE0F0"/>
            </a:solidFill>
            <a:prstDash val="solid"/>
          </a:ln>
        </p:spPr>
      </p:sp>
      <p:sp>
        <p:nvSpPr>
          <p:cNvPr id="14" name="Shape 12"/>
          <p:cNvSpPr/>
          <p:nvPr/>
        </p:nvSpPr>
        <p:spPr>
          <a:xfrm>
            <a:off x="0" y="5477256"/>
            <a:ext cx="12188952" cy="0"/>
          </a:xfrm>
          <a:prstGeom prst="line">
            <a:avLst/>
          </a:prstGeom>
          <a:noFill/>
          <a:ln w="12700">
            <a:solidFill>
              <a:srgbClr val="CFE0F0"/>
            </a:solidFill>
            <a:prstDash val="solid"/>
          </a:ln>
        </p:spPr>
      </p:sp>
      <p:sp>
        <p:nvSpPr>
          <p:cNvPr id="15" name="Shape 13"/>
          <p:cNvSpPr/>
          <p:nvPr/>
        </p:nvSpPr>
        <p:spPr>
          <a:xfrm>
            <a:off x="0" y="5861304"/>
            <a:ext cx="12188952" cy="0"/>
          </a:xfrm>
          <a:prstGeom prst="line">
            <a:avLst/>
          </a:prstGeom>
          <a:noFill/>
          <a:ln w="12700">
            <a:solidFill>
              <a:srgbClr val="CFE0F0"/>
            </a:solidFill>
            <a:prstDash val="solid"/>
          </a:ln>
        </p:spPr>
      </p:sp>
      <p:sp>
        <p:nvSpPr>
          <p:cNvPr id="16" name="Shape 14"/>
          <p:cNvSpPr/>
          <p:nvPr/>
        </p:nvSpPr>
        <p:spPr>
          <a:xfrm>
            <a:off x="0" y="6245352"/>
            <a:ext cx="12188952" cy="0"/>
          </a:xfrm>
          <a:prstGeom prst="line">
            <a:avLst/>
          </a:prstGeom>
          <a:noFill/>
          <a:ln w="12700">
            <a:solidFill>
              <a:srgbClr val="CFE0F0"/>
            </a:solidFill>
            <a:prstDash val="solid"/>
          </a:ln>
        </p:spPr>
      </p:sp>
      <p:sp>
        <p:nvSpPr>
          <p:cNvPr id="17" name="Shape 15"/>
          <p:cNvSpPr/>
          <p:nvPr/>
        </p:nvSpPr>
        <p:spPr>
          <a:xfrm>
            <a:off x="0" y="6629400"/>
            <a:ext cx="12188952" cy="0"/>
          </a:xfrm>
          <a:prstGeom prst="line">
            <a:avLst/>
          </a:prstGeom>
          <a:noFill/>
          <a:ln w="12700">
            <a:solidFill>
              <a:srgbClr val="CFE0F0"/>
            </a:solidFill>
            <a:prstDash val="solid"/>
          </a:ln>
        </p:spPr>
      </p:sp>
      <p:sp>
        <p:nvSpPr>
          <p:cNvPr id="18" name="Shape 16"/>
          <p:cNvSpPr/>
          <p:nvPr/>
        </p:nvSpPr>
        <p:spPr>
          <a:xfrm>
            <a:off x="1051560" y="0"/>
            <a:ext cx="0" cy="6858000"/>
          </a:xfrm>
          <a:prstGeom prst="line">
            <a:avLst/>
          </a:prstGeom>
          <a:noFill/>
          <a:ln w="19050">
            <a:solidFill>
              <a:srgbClr val="E29A94"/>
            </a:solidFill>
            <a:prstDash val="solid"/>
          </a:ln>
        </p:spPr>
      </p:sp>
      <p:sp>
        <p:nvSpPr>
          <p:cNvPr id="19" name="Shape 17"/>
          <p:cNvSpPr/>
          <p:nvPr/>
        </p:nvSpPr>
        <p:spPr>
          <a:xfrm>
            <a:off x="292608" y="256032"/>
            <a:ext cx="566928" cy="566928"/>
          </a:xfrm>
          <a:prstGeom prst="ellipse">
            <a:avLst/>
          </a:prstGeom>
          <a:solidFill>
            <a:srgbClr val="FFFFFF"/>
          </a:solidFill>
          <a:ln w="25400">
            <a:solidFill>
              <a:srgbClr val="2F5233"/>
            </a:solidFill>
            <a:prstDash val="dash"/>
          </a:ln>
        </p:spPr>
      </p:sp>
      <p:sp>
        <p:nvSpPr>
          <p:cNvPr id="20" name="Text 18"/>
          <p:cNvSpPr txBox="1"/>
          <p:nvPr/>
        </p:nvSpPr>
        <p:spPr>
          <a:xfrm>
            <a:off x="292608" y="256032"/>
            <a:ext cx="566928" cy="566928"/>
          </a:xfrm>
          <a:prstGeom prst="rect">
            <a:avLst/>
          </a:prstGeom>
          <a:noFill/>
          <a:ln/>
        </p:spPr>
        <p:txBody>
          <a:bodyPr wrap="square" lIns="0" tIns="0" rIns="0" bIns="0" rtlCol="0" anchor="ctr"/>
          <a:lstStyle/>
          <a:p>
            <a:pPr algn="ctr" indent="0" marL="0">
              <a:buNone/>
            </a:pPr>
            <a:r>
              <a:rPr lang="en-US" sz="1500" b="1" dirty="0">
                <a:solidFill>
                  <a:srgbClr val="2F5233"/>
                </a:solidFill>
                <a:latin typeface="Comic Sans MS" pitchFamily="34" charset="0"/>
                <a:ea typeface="Comic Sans MS" pitchFamily="34" charset="-122"/>
                <a:cs typeface="Comic Sans MS" pitchFamily="34" charset="-120"/>
              </a:rPr>
              <a:t>2.5</a:t>
            </a:r>
            <a:endParaRPr lang="en-US" sz="1500" dirty="0"/>
          </a:p>
        </p:txBody>
      </p:sp>
      <p:sp>
        <p:nvSpPr>
          <p:cNvPr id="21" name="Shape 19"/>
          <p:cNvSpPr/>
          <p:nvPr/>
        </p:nvSpPr>
        <p:spPr>
          <a:xfrm>
            <a:off x="10561320" y="292608"/>
            <a:ext cx="1143000" cy="1143000"/>
          </a:xfrm>
          <a:prstGeom prst="ellipse">
            <a:avLst/>
          </a:prstGeom>
          <a:solidFill>
            <a:srgbClr val="2F5233">
              <a:alpha val="88000"/>
            </a:srgbClr>
          </a:solidFill>
          <a:ln w="19050">
            <a:solidFill>
              <a:srgbClr val="2F5233"/>
            </a:solidFill>
            <a:prstDash val="dash"/>
          </a:ln>
        </p:spPr>
      </p:sp>
      <p:pic>
        <p:nvPicPr>
          <p:cNvPr id="22" name="Image 0" descr="/home/claude/icons/mobile.png">    </p:cNvPr>
          <p:cNvPicPr>
            <a:picLocks noChangeAspect="1"/>
          </p:cNvPicPr>
          <p:nvPr/>
        </p:nvPicPr>
        <p:blipFill>
          <a:blip r:embed="rId1"/>
          <a:stretch>
            <a:fillRect/>
          </a:stretch>
        </p:blipFill>
        <p:spPr>
          <a:xfrm>
            <a:off x="10835640" y="566928"/>
            <a:ext cx="594360" cy="594360"/>
          </a:xfrm>
          <a:prstGeom prst="rect">
            <a:avLst/>
          </a:prstGeom>
        </p:spPr>
      </p:pic>
      <p:sp>
        <p:nvSpPr>
          <p:cNvPr id="23" name="Text 20"/>
          <p:cNvSpPr txBox="1"/>
          <p:nvPr/>
        </p:nvSpPr>
        <p:spPr>
          <a:xfrm>
            <a:off x="1280160" y="256032"/>
            <a:ext cx="8961120" cy="320040"/>
          </a:xfrm>
          <a:prstGeom prst="rect">
            <a:avLst/>
          </a:prstGeom>
          <a:noFill/>
          <a:ln/>
        </p:spPr>
        <p:txBody>
          <a:bodyPr wrap="square" lIns="0" tIns="0" rIns="0" bIns="0" rtlCol="0" anchor="ctr"/>
          <a:lstStyle/>
          <a:p>
            <a:pPr indent="0" marL="0">
              <a:buNone/>
            </a:pPr>
            <a:r>
              <a:rPr lang="en-US" sz="1300" i="1" dirty="0">
                <a:solidFill>
                  <a:srgbClr val="2F5233"/>
                </a:solidFill>
                <a:latin typeface="Calibri" pitchFamily="34" charset="0"/>
                <a:ea typeface="Calibri" pitchFamily="34" charset="-122"/>
                <a:cs typeface="Calibri" pitchFamily="34" charset="-120"/>
              </a:rPr>
              <a:t>How It Works — Diagram Flow</a:t>
            </a:r>
            <a:endParaRPr lang="en-US" sz="1300" dirty="0"/>
          </a:p>
        </p:txBody>
      </p:sp>
      <p:sp>
        <p:nvSpPr>
          <p:cNvPr id="24" name="Text 21"/>
          <p:cNvSpPr txBox="1"/>
          <p:nvPr/>
        </p:nvSpPr>
        <p:spPr>
          <a:xfrm>
            <a:off x="1280160" y="548640"/>
            <a:ext cx="9052560" cy="685800"/>
          </a:xfrm>
          <a:prstGeom prst="rect">
            <a:avLst/>
          </a:prstGeom>
          <a:noFill/>
          <a:ln/>
        </p:spPr>
        <p:txBody>
          <a:bodyPr wrap="square" lIns="0" tIns="0" rIns="0" bIns="0" rtlCol="0" anchor="ctr"/>
          <a:lstStyle/>
          <a:p>
            <a:pPr indent="0" marL="0">
              <a:buNone/>
            </a:pPr>
            <a:r>
              <a:rPr lang="en-US" sz="2800" b="1" dirty="0">
                <a:solidFill>
                  <a:srgbClr val="1B263B"/>
                </a:solidFill>
                <a:latin typeface="Comic Sans MS" pitchFamily="34" charset="0"/>
                <a:ea typeface="Comic Sans MS" pitchFamily="34" charset="-122"/>
                <a:cs typeface="Comic Sans MS" pitchFamily="34" charset="-120"/>
              </a:rPr>
              <a:t>ARM Memory Management</a:t>
            </a:r>
            <a:endParaRPr lang="en-US" sz="2800" dirty="0"/>
          </a:p>
        </p:txBody>
      </p:sp>
      <p:sp>
        <p:nvSpPr>
          <p:cNvPr id="25" name="Text 22"/>
          <p:cNvSpPr txBox="1"/>
          <p:nvPr/>
        </p:nvSpPr>
        <p:spPr>
          <a:xfrm>
            <a:off x="1051560" y="6537960"/>
            <a:ext cx="10789920" cy="274320"/>
          </a:xfrm>
          <a:prstGeom prst="rect">
            <a:avLst/>
          </a:prstGeom>
          <a:noFill/>
          <a:ln/>
        </p:spPr>
        <p:txBody>
          <a:bodyPr wrap="square" lIns="0" tIns="0" rIns="0" bIns="0" rtlCol="0" anchor="ctr"/>
          <a:lstStyle/>
          <a:p>
            <a:pPr indent="0" marL="0">
              <a:buNone/>
            </a:pPr>
            <a:r>
              <a:rPr lang="en-US" sz="900" dirty="0">
                <a:solidFill>
                  <a:srgbClr val="8A97A8"/>
                </a:solidFill>
                <a:latin typeface="Calibri" pitchFamily="34" charset="0"/>
                <a:ea typeface="Calibri" pitchFamily="34" charset="-122"/>
                <a:cs typeface="Calibri" pitchFamily="34" charset="-120"/>
              </a:rPr>
              <a:t>Computer Architecture — Operating System Support — Ch.8, William Stallings</a:t>
            </a:r>
            <a:endParaRPr lang="en-US" sz="900" dirty="0"/>
          </a:p>
        </p:txBody>
      </p:sp>
      <p:sp>
        <p:nvSpPr>
          <p:cNvPr id="26" name="Shape 23"/>
          <p:cNvSpPr/>
          <p:nvPr/>
        </p:nvSpPr>
        <p:spPr>
          <a:xfrm>
            <a:off x="1188720" y="1691640"/>
            <a:ext cx="457200" cy="457200"/>
          </a:xfrm>
          <a:prstGeom prst="ellipse">
            <a:avLst/>
          </a:prstGeom>
          <a:solidFill>
            <a:srgbClr val="2F5233"/>
          </a:solidFill>
          <a:ln w="9525">
            <a:solidFill>
              <a:srgbClr val="1B263B"/>
            </a:solidFill>
            <a:prstDash val="solid"/>
          </a:ln>
        </p:spPr>
      </p:sp>
      <p:sp>
        <p:nvSpPr>
          <p:cNvPr id="27" name="Text 24"/>
          <p:cNvSpPr txBox="1"/>
          <p:nvPr/>
        </p:nvSpPr>
        <p:spPr>
          <a:xfrm>
            <a:off x="11887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1</a:t>
            </a:r>
            <a:endParaRPr lang="en-US" sz="1600" dirty="0"/>
          </a:p>
        </p:txBody>
      </p:sp>
      <p:sp>
        <p:nvSpPr>
          <p:cNvPr id="28" name="Shape 25"/>
          <p:cNvSpPr/>
          <p:nvPr/>
        </p:nvSpPr>
        <p:spPr>
          <a:xfrm>
            <a:off x="2103120" y="1618488"/>
            <a:ext cx="7863840" cy="768096"/>
          </a:xfrm>
          <a:prstGeom prst="roundRect">
            <a:avLst>
              <a:gd name="adj" fmla="val 9524"/>
            </a:avLst>
          </a:prstGeom>
          <a:solidFill>
            <a:srgbClr val="FFFFFF"/>
          </a:solidFill>
          <a:ln w="15875">
            <a:solidFill>
              <a:srgbClr val="2F5233"/>
            </a:solidFill>
            <a:prstDash val="solid"/>
          </a:ln>
        </p:spPr>
      </p:sp>
      <p:sp>
        <p:nvSpPr>
          <p:cNvPr id="29" name="Text 26"/>
          <p:cNvSpPr txBox="1"/>
          <p:nvPr/>
        </p:nvSpPr>
        <p:spPr>
          <a:xfrm>
            <a:off x="2331720" y="1618488"/>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CPU requests a virtual address</a:t>
            </a:r>
            <a:endParaRPr lang="en-US" sz="1400" dirty="0"/>
          </a:p>
        </p:txBody>
      </p:sp>
      <p:sp>
        <p:nvSpPr>
          <p:cNvPr id="30" name="Shape 27"/>
          <p:cNvSpPr/>
          <p:nvPr/>
        </p:nvSpPr>
        <p:spPr>
          <a:xfrm>
            <a:off x="1417320" y="2194560"/>
            <a:ext cx="0" cy="521208"/>
          </a:xfrm>
          <a:prstGeom prst="line">
            <a:avLst/>
          </a:prstGeom>
          <a:noFill/>
          <a:ln w="22225">
            <a:solidFill>
              <a:srgbClr val="2F5233"/>
            </a:solidFill>
            <a:prstDash val="dash"/>
            <a:tailEnd type="triangle"/>
          </a:ln>
        </p:spPr>
      </p:sp>
      <p:sp>
        <p:nvSpPr>
          <p:cNvPr id="31" name="Shape 28"/>
          <p:cNvSpPr/>
          <p:nvPr/>
        </p:nvSpPr>
        <p:spPr>
          <a:xfrm>
            <a:off x="1188720" y="2715768"/>
            <a:ext cx="457200" cy="457200"/>
          </a:xfrm>
          <a:prstGeom prst="ellipse">
            <a:avLst/>
          </a:prstGeom>
          <a:solidFill>
            <a:srgbClr val="2F5233"/>
          </a:solidFill>
          <a:ln w="9525">
            <a:solidFill>
              <a:srgbClr val="1B263B"/>
            </a:solidFill>
            <a:prstDash val="solid"/>
          </a:ln>
        </p:spPr>
      </p:sp>
      <p:sp>
        <p:nvSpPr>
          <p:cNvPr id="32" name="Text 29"/>
          <p:cNvSpPr txBox="1"/>
          <p:nvPr/>
        </p:nvSpPr>
        <p:spPr>
          <a:xfrm>
            <a:off x="1188720" y="2715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2</a:t>
            </a:r>
            <a:endParaRPr lang="en-US" sz="1600" dirty="0"/>
          </a:p>
        </p:txBody>
      </p:sp>
      <p:sp>
        <p:nvSpPr>
          <p:cNvPr id="33" name="Shape 30"/>
          <p:cNvSpPr/>
          <p:nvPr/>
        </p:nvSpPr>
        <p:spPr>
          <a:xfrm>
            <a:off x="2103120" y="2642616"/>
            <a:ext cx="7863840" cy="768096"/>
          </a:xfrm>
          <a:prstGeom prst="roundRect">
            <a:avLst>
              <a:gd name="adj" fmla="val 9524"/>
            </a:avLst>
          </a:prstGeom>
          <a:solidFill>
            <a:srgbClr val="FFFFFF"/>
          </a:solidFill>
          <a:ln w="15875">
            <a:solidFill>
              <a:srgbClr val="2F5233"/>
            </a:solidFill>
            <a:prstDash val="solid"/>
          </a:ln>
        </p:spPr>
      </p:sp>
      <p:sp>
        <p:nvSpPr>
          <p:cNvPr id="34" name="Text 31"/>
          <p:cNvSpPr txBox="1"/>
          <p:nvPr/>
        </p:nvSpPr>
        <p:spPr>
          <a:xfrm>
            <a:off x="2331720" y="2642616"/>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MMU checks the TLB first (fast cache)</a:t>
            </a:r>
            <a:endParaRPr lang="en-US" sz="1400" dirty="0"/>
          </a:p>
        </p:txBody>
      </p:sp>
      <p:sp>
        <p:nvSpPr>
          <p:cNvPr id="35" name="Shape 32"/>
          <p:cNvSpPr/>
          <p:nvPr/>
        </p:nvSpPr>
        <p:spPr>
          <a:xfrm>
            <a:off x="1417320" y="3218688"/>
            <a:ext cx="0" cy="521208"/>
          </a:xfrm>
          <a:prstGeom prst="line">
            <a:avLst/>
          </a:prstGeom>
          <a:noFill/>
          <a:ln w="22225">
            <a:solidFill>
              <a:srgbClr val="2F5233"/>
            </a:solidFill>
            <a:prstDash val="dash"/>
            <a:tailEnd type="triangle"/>
          </a:ln>
        </p:spPr>
      </p:sp>
      <p:sp>
        <p:nvSpPr>
          <p:cNvPr id="36" name="Shape 33"/>
          <p:cNvSpPr/>
          <p:nvPr/>
        </p:nvSpPr>
        <p:spPr>
          <a:xfrm>
            <a:off x="1188720" y="3739896"/>
            <a:ext cx="457200" cy="457200"/>
          </a:xfrm>
          <a:prstGeom prst="ellipse">
            <a:avLst/>
          </a:prstGeom>
          <a:solidFill>
            <a:srgbClr val="2F5233"/>
          </a:solidFill>
          <a:ln w="9525">
            <a:solidFill>
              <a:srgbClr val="1B263B"/>
            </a:solidFill>
            <a:prstDash val="solid"/>
          </a:ln>
        </p:spPr>
      </p:sp>
      <p:sp>
        <p:nvSpPr>
          <p:cNvPr id="37" name="Text 34"/>
          <p:cNvSpPr txBox="1"/>
          <p:nvPr/>
        </p:nvSpPr>
        <p:spPr>
          <a:xfrm>
            <a:off x="1188720" y="37398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3</a:t>
            </a:r>
            <a:endParaRPr lang="en-US" sz="1600" dirty="0"/>
          </a:p>
        </p:txBody>
      </p:sp>
      <p:sp>
        <p:nvSpPr>
          <p:cNvPr id="38" name="Shape 35"/>
          <p:cNvSpPr/>
          <p:nvPr/>
        </p:nvSpPr>
        <p:spPr>
          <a:xfrm>
            <a:off x="2103120" y="3666744"/>
            <a:ext cx="7863840" cy="768096"/>
          </a:xfrm>
          <a:prstGeom prst="roundRect">
            <a:avLst>
              <a:gd name="adj" fmla="val 9524"/>
            </a:avLst>
          </a:prstGeom>
          <a:solidFill>
            <a:srgbClr val="FFFFFF"/>
          </a:solidFill>
          <a:ln w="15875">
            <a:solidFill>
              <a:srgbClr val="2F5233"/>
            </a:solidFill>
            <a:prstDash val="solid"/>
          </a:ln>
        </p:spPr>
      </p:sp>
      <p:sp>
        <p:nvSpPr>
          <p:cNvPr id="39" name="Text 36"/>
          <p:cNvSpPr txBox="1"/>
          <p:nvPr/>
        </p:nvSpPr>
        <p:spPr>
          <a:xfrm>
            <a:off x="2331720" y="3666744"/>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If missing, MMU walks the translation tables in memory</a:t>
            </a:r>
            <a:endParaRPr lang="en-US" sz="1400" dirty="0"/>
          </a:p>
        </p:txBody>
      </p:sp>
      <p:sp>
        <p:nvSpPr>
          <p:cNvPr id="40" name="Shape 37"/>
          <p:cNvSpPr/>
          <p:nvPr/>
        </p:nvSpPr>
        <p:spPr>
          <a:xfrm>
            <a:off x="1417320" y="4242816"/>
            <a:ext cx="0" cy="521208"/>
          </a:xfrm>
          <a:prstGeom prst="line">
            <a:avLst/>
          </a:prstGeom>
          <a:noFill/>
          <a:ln w="22225">
            <a:solidFill>
              <a:srgbClr val="2F5233"/>
            </a:solidFill>
            <a:prstDash val="dash"/>
            <a:tailEnd type="triangle"/>
          </a:ln>
        </p:spPr>
      </p:sp>
      <p:sp>
        <p:nvSpPr>
          <p:cNvPr id="41" name="Shape 38"/>
          <p:cNvSpPr/>
          <p:nvPr/>
        </p:nvSpPr>
        <p:spPr>
          <a:xfrm>
            <a:off x="1188720" y="4764024"/>
            <a:ext cx="457200" cy="457200"/>
          </a:xfrm>
          <a:prstGeom prst="ellipse">
            <a:avLst/>
          </a:prstGeom>
          <a:solidFill>
            <a:srgbClr val="2F5233"/>
          </a:solidFill>
          <a:ln w="9525">
            <a:solidFill>
              <a:srgbClr val="1B263B"/>
            </a:solidFill>
            <a:prstDash val="solid"/>
          </a:ln>
        </p:spPr>
      </p:sp>
      <p:sp>
        <p:nvSpPr>
          <p:cNvPr id="42" name="Text 39"/>
          <p:cNvSpPr txBox="1"/>
          <p:nvPr/>
        </p:nvSpPr>
        <p:spPr>
          <a:xfrm>
            <a:off x="1188720" y="4764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4</a:t>
            </a:r>
            <a:endParaRPr lang="en-US" sz="1600" dirty="0"/>
          </a:p>
        </p:txBody>
      </p:sp>
      <p:sp>
        <p:nvSpPr>
          <p:cNvPr id="43" name="Shape 40"/>
          <p:cNvSpPr/>
          <p:nvPr/>
        </p:nvSpPr>
        <p:spPr>
          <a:xfrm>
            <a:off x="2103120" y="4690872"/>
            <a:ext cx="7863840" cy="768096"/>
          </a:xfrm>
          <a:prstGeom prst="roundRect">
            <a:avLst>
              <a:gd name="adj" fmla="val 9524"/>
            </a:avLst>
          </a:prstGeom>
          <a:solidFill>
            <a:srgbClr val="FFFFFF"/>
          </a:solidFill>
          <a:ln w="15875">
            <a:solidFill>
              <a:srgbClr val="2F5233"/>
            </a:solidFill>
            <a:prstDash val="solid"/>
          </a:ln>
        </p:spPr>
      </p:sp>
      <p:sp>
        <p:nvSpPr>
          <p:cNvPr id="44" name="Text 41"/>
          <p:cNvSpPr txBox="1"/>
          <p:nvPr/>
        </p:nvSpPr>
        <p:spPr>
          <a:xfrm>
            <a:off x="2331720" y="4690872"/>
            <a:ext cx="7406640" cy="768096"/>
          </a:xfrm>
          <a:prstGeom prst="rect">
            <a:avLst/>
          </a:prstGeom>
          <a:noFill/>
          <a:ln/>
        </p:spPr>
        <p:txBody>
          <a:bodyPr wrap="square" lIns="0" tIns="0" rIns="0" bIns="0" rtlCol="0" anchor="ctr"/>
          <a:lstStyle/>
          <a:p>
            <a:pPr indent="0" marL="0">
              <a:buNone/>
            </a:pPr>
            <a:r>
              <a:rPr lang="en-US" sz="1400" dirty="0">
                <a:solidFill>
                  <a:srgbClr val="1B263B"/>
                </a:solidFill>
                <a:latin typeface="Calibri" pitchFamily="34" charset="0"/>
                <a:ea typeface="Calibri" pitchFamily="34" charset="-122"/>
                <a:cs typeface="Calibri" pitchFamily="34" charset="-120"/>
              </a:rPr>
              <a:t>Result is stored in the TLB and used to reach physical memory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2026-09-17T03:07:44Z</dcterms:created>
  <dcterms:modified xsi:type="dcterms:W3CDTF">2026-09-17T03:07:44Z</dcterms:modified>
</cp:coreProperties>
</file>