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313" r:id="rId2"/>
    <p:sldId id="314" r:id="rId3"/>
    <p:sldId id="315" r:id="rId4"/>
    <p:sldId id="316" r:id="rId5"/>
    <p:sldId id="317" r:id="rId6"/>
    <p:sldId id="318" r:id="rId7"/>
    <p:sldId id="319" r:id="rId8"/>
    <p:sldId id="320" r:id="rId9"/>
    <p:sldId id="321" r:id="rId10"/>
    <p:sldId id="322" r:id="rId11"/>
    <p:sldId id="323" r:id="rId12"/>
    <p:sldId id="324" r:id="rId13"/>
    <p:sldId id="257" r:id="rId14"/>
    <p:sldId id="259" r:id="rId15"/>
    <p:sldId id="258" r:id="rId16"/>
    <p:sldId id="260" r:id="rId17"/>
    <p:sldId id="261" r:id="rId18"/>
    <p:sldId id="262" r:id="rId19"/>
    <p:sldId id="263" r:id="rId20"/>
    <p:sldId id="265" r:id="rId21"/>
    <p:sldId id="266" r:id="rId22"/>
    <p:sldId id="267" r:id="rId23"/>
    <p:sldId id="268" r:id="rId24"/>
    <p:sldId id="269" r:id="rId25"/>
    <p:sldId id="270" r:id="rId26"/>
    <p:sldId id="271" r:id="rId27"/>
    <p:sldId id="273" r:id="rId28"/>
    <p:sldId id="272"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71" autoAdjust="0"/>
    <p:restoredTop sz="94660"/>
  </p:normalViewPr>
  <p:slideViewPr>
    <p:cSldViewPr snapToGrid="0">
      <p:cViewPr varScale="1">
        <p:scale>
          <a:sx n="74" d="100"/>
          <a:sy n="74"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8F56D5-AD18-4B2C-ADFA-F34F82E4B33F}" type="datetimeFigureOut">
              <a:rPr lang="en-US" smtClean="0"/>
              <a:t>9/3/2026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098554-E780-4ECE-8F43-C9F1F8C2BA9C}" type="slidenum">
              <a:rPr lang="en-US" smtClean="0"/>
              <a:t>‹#›</a:t>
            </a:fld>
            <a:endParaRPr lang="en-US"/>
          </a:p>
        </p:txBody>
      </p:sp>
    </p:spTree>
    <p:extLst>
      <p:ext uri="{BB962C8B-B14F-4D97-AF65-F5344CB8AC3E}">
        <p14:creationId xmlns:p14="http://schemas.microsoft.com/office/powerpoint/2010/main" val="2649913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6D3402-EEB3-4BCD-BCDC-BB7ED814FEF7}" type="slidenum">
              <a:rPr lang="en-US" altLang="en-US"/>
              <a:pPr/>
              <a:t>11</a:t>
            </a:fld>
            <a:endParaRPr lang="en-US" altLang="en-US"/>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4139844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535A1B1-C60F-4059-88FA-344C071C8635}" type="slidenum">
              <a:rPr lang="en-US" altLang="en-US"/>
              <a:pPr/>
              <a:t>20</a:t>
            </a:fld>
            <a:endParaRPr lang="en-US" alt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latin typeface="Times New Roman" panose="02020603050405020304" pitchFamily="18" charset="0"/>
            </a:endParaRPr>
          </a:p>
        </p:txBody>
      </p:sp>
    </p:spTree>
    <p:extLst>
      <p:ext uri="{BB962C8B-B14F-4D97-AF65-F5344CB8AC3E}">
        <p14:creationId xmlns:p14="http://schemas.microsoft.com/office/powerpoint/2010/main" val="1909423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8F3FDB1-5A36-4B7B-8899-6EFCA94BC1E0}" type="slidenum">
              <a:rPr lang="en-US" altLang="en-US"/>
              <a:pPr/>
              <a:t>21</a:t>
            </a:fld>
            <a:endParaRPr lang="en-US" alt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latin typeface="Times New Roman" panose="02020603050405020304" pitchFamily="18" charset="0"/>
            </a:endParaRPr>
          </a:p>
        </p:txBody>
      </p:sp>
    </p:spTree>
    <p:extLst>
      <p:ext uri="{BB962C8B-B14F-4D97-AF65-F5344CB8AC3E}">
        <p14:creationId xmlns:p14="http://schemas.microsoft.com/office/powerpoint/2010/main" val="25196405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75F6458-B5D3-4D6B-AA1C-02E7F08B3643}" type="slidenum">
              <a:rPr lang="en-US" altLang="en-US"/>
              <a:pPr/>
              <a:t>22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latin typeface="Times New Roman" panose="02020603050405020304" pitchFamily="18" charset="0"/>
            </a:endParaRPr>
          </a:p>
        </p:txBody>
      </p:sp>
    </p:spTree>
    <p:extLst>
      <p:ext uri="{BB962C8B-B14F-4D97-AF65-F5344CB8AC3E}">
        <p14:creationId xmlns:p14="http://schemas.microsoft.com/office/powerpoint/2010/main" val="312498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247DFC6-A931-4797-802B-53B212726125}" type="slidenum">
              <a:rPr lang="en-US" altLang="en-US"/>
              <a:pPr/>
              <a:t>23</a:t>
            </a:fld>
            <a:endParaRPr lang="en-US" alt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latin typeface="Times New Roman" panose="02020603050405020304" pitchFamily="18" charset="0"/>
            </a:endParaRPr>
          </a:p>
        </p:txBody>
      </p:sp>
    </p:spTree>
    <p:extLst>
      <p:ext uri="{BB962C8B-B14F-4D97-AF65-F5344CB8AC3E}">
        <p14:creationId xmlns:p14="http://schemas.microsoft.com/office/powerpoint/2010/main" val="1720115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CCCFA64-D6F5-4E40-818B-B396C1C229F2}" type="slidenum">
              <a:rPr lang="en-US" altLang="en-US"/>
              <a:pPr/>
              <a:t>24</a:t>
            </a:fld>
            <a:endParaRPr lang="en-US" alt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latin typeface="Times New Roman" panose="02020603050405020304" pitchFamily="18" charset="0"/>
            </a:endParaRPr>
          </a:p>
        </p:txBody>
      </p:sp>
    </p:spTree>
    <p:extLst>
      <p:ext uri="{BB962C8B-B14F-4D97-AF65-F5344CB8AC3E}">
        <p14:creationId xmlns:p14="http://schemas.microsoft.com/office/powerpoint/2010/main" val="3777176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75695A5-1758-4196-81F5-88430326139B}" type="slidenum">
              <a:rPr lang="en-US" altLang="en-US"/>
              <a:pPr/>
              <a:t>25</a:t>
            </a:fld>
            <a:endParaRPr lang="en-US" altLang="en-US"/>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latin typeface="Times New Roman" panose="02020603050405020304" pitchFamily="18" charset="0"/>
            </a:endParaRPr>
          </a:p>
        </p:txBody>
      </p:sp>
    </p:spTree>
    <p:extLst>
      <p:ext uri="{BB962C8B-B14F-4D97-AF65-F5344CB8AC3E}">
        <p14:creationId xmlns:p14="http://schemas.microsoft.com/office/powerpoint/2010/main" val="551310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9158EA9-BEE3-47B8-AA4D-2E4A3FFEAFF8}" type="slidenum">
              <a:rPr lang="en-US" altLang="en-US"/>
              <a:pPr/>
              <a:t>26</a:t>
            </a:fld>
            <a:endParaRPr lang="en-US" altLang="en-US"/>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latin typeface="Times New Roman" panose="02020603050405020304" pitchFamily="18" charset="0"/>
            </a:endParaRPr>
          </a:p>
        </p:txBody>
      </p:sp>
    </p:spTree>
    <p:extLst>
      <p:ext uri="{BB962C8B-B14F-4D97-AF65-F5344CB8AC3E}">
        <p14:creationId xmlns:p14="http://schemas.microsoft.com/office/powerpoint/2010/main" val="2099218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913816-03D9-4569-8033-96027ACED805}" type="slidenum">
              <a:rPr lang="en-US"/>
              <a:pPr/>
              <a:t>30</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77681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E8B492-35F5-490C-95C8-B1F620EBBF6F}" type="slidenum">
              <a:rPr lang="en-US"/>
              <a:pPr/>
              <a:t>31</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08191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497067-C6A8-41F3-AEB9-3AA1F85B6E20}" type="slidenum">
              <a:rPr lang="en-US"/>
              <a:pPr/>
              <a:t>32</a:t>
            </a:fld>
            <a:endParaRPr lang="en-US"/>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98872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7F8663-344B-443C-AB52-4E2543C2D16E}" type="slidenum">
              <a:rPr lang="en-US"/>
              <a:pPr/>
              <a:t>33</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442894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08B5C9-40A3-4BAF-A38B-BBAE216A21A2}" type="slidenum">
              <a:rPr lang="en-US"/>
              <a:pPr/>
              <a:t>34</a:t>
            </a:fld>
            <a:endParaRPr lang="en-US"/>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70067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ED0F16-C8A9-4B7D-B357-8F5234257DE2}" type="slidenum">
              <a:rPr lang="en-US"/>
              <a:pPr/>
              <a:t>35</a:t>
            </a:fld>
            <a:endParaRPr lang="en-US"/>
          </a:p>
        </p:txBody>
      </p:sp>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20601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BC9875-E537-4EA1-AB51-D2732ED67557}" type="slidenum">
              <a:rPr lang="en-US"/>
              <a:pPr/>
              <a:t>36</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44612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B80ED5-8BB8-4210-BAE6-BBD070469AF6}" type="slidenum">
              <a:rPr lang="en-US"/>
              <a:pPr/>
              <a:t>37</a:t>
            </a:fld>
            <a:endParaRPr lang="en-US"/>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67400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51919-DA8C-45D0-98CC-C143C093B493}" type="slidenum">
              <a:rPr lang="en-US"/>
              <a:pPr/>
              <a:t>38</a:t>
            </a:fld>
            <a:endParaRPr lang="en-US"/>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90260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D4FAD3-D8C8-42AF-9228-4609A2E0D2D0}" type="slidenum">
              <a:rPr lang="en-US"/>
              <a:pPr/>
              <a:t>39</a:t>
            </a:fld>
            <a:endParaRPr lang="en-US"/>
          </a:p>
        </p:txBody>
      </p:sp>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50372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5E4B91-2856-4E19-9929-9C45052439B0}" type="slidenum">
              <a:rPr lang="en-US"/>
              <a:pPr/>
              <a:t>40</a:t>
            </a:fld>
            <a:endParaRPr lang="en-US"/>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61921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2C89A0-BF8B-4A98-9BD2-88D1C9B9FC5C}" type="slidenum">
              <a:rPr lang="en-US"/>
              <a:pPr/>
              <a:t>41</a:t>
            </a:fld>
            <a:endParaRPr lang="en-US"/>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30109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CE0DBA-25B5-4A61-A77B-91C1D671CCAD}" type="slidenum">
              <a:rPr lang="en-US"/>
              <a:pPr/>
              <a:t>42</a:t>
            </a:fld>
            <a:endParaRPr lang="en-US"/>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613384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2A3634-C8C6-4C85-8E36-2767FED90584}" type="slidenum">
              <a:rPr lang="en-US"/>
              <a:pPr/>
              <a:t>43</a:t>
            </a:fld>
            <a:endParaRPr lang="en-US"/>
          </a:p>
        </p:txBody>
      </p:sp>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371821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4C5D2B-908B-4160-84EA-F9FA71F70A19}" type="slidenum">
              <a:rPr lang="en-US"/>
              <a:pPr/>
              <a:t>44</a:t>
            </a:fld>
            <a:endParaRPr 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49586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F01C80-37E8-40A2-9081-2D89414857A0}" type="slidenum">
              <a:rPr lang="en-US"/>
              <a:pPr/>
              <a:t>45</a:t>
            </a:fld>
            <a:endParaRPr lang="en-US"/>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49773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9D9B5B-FFC9-46BA-BB4C-4FC0DD96B39B}" type="slidenum">
              <a:rPr lang="en-US"/>
              <a:pPr/>
              <a:t>48</a:t>
            </a:fld>
            <a:endParaRPr lang="en-US"/>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864935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1A6B6B-8AC5-4B31-A962-D2B04EDB5F3C}" type="slidenum">
              <a:rPr lang="en-US"/>
              <a:pPr/>
              <a:t>49</a:t>
            </a:fld>
            <a:endParaRPr lang="en-US"/>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221290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8B0DA2-F954-46A8-B3A1-DD754DEF5C25}" type="slidenum">
              <a:rPr lang="en-US"/>
              <a:pPr/>
              <a:t>50</a:t>
            </a:fld>
            <a:endParaRPr lang="en-US"/>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658609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F426FB-A600-4C26-9C81-09266FB52ED0}" type="slidenum">
              <a:rPr lang="en-US"/>
              <a:pPr/>
              <a:t>53</a:t>
            </a:fld>
            <a:endParaRPr lang="en-US"/>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14688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5B564E-9212-46C3-9E2E-4565FCD036AB}"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405187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5B564E-9212-46C3-9E2E-4565FCD036AB}"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1927319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55B564E-9212-46C3-9E2E-4565FCD036AB}"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2304252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55B564E-9212-46C3-9E2E-4565FCD036AB}"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1589743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55B564E-9212-46C3-9E2E-4565FCD036AB}"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930827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55B564E-9212-46C3-9E2E-4565FCD036AB}"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677225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5B564E-9212-46C3-9E2E-4565FCD036AB}"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818558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5B564E-9212-46C3-9E2E-4565FCD036AB}"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4076711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5B564E-9212-46C3-9E2E-4565FCD036AB}"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775673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5B564E-9212-46C3-9E2E-4565FCD036AB}"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1155000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5B564E-9212-46C3-9E2E-4565FCD036AB}"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25511523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p>
        </p:txBody>
      </p:sp>
      <p:sp>
        <p:nvSpPr>
          <p:cNvPr id="3" name="Text Placeholder 2"/>
          <p:cNvSpPr>
            <a:spLocks noGrp="1"/>
          </p:cNvSpPr>
          <p:nvPr>
            <p:ph type="body"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4165600" y="6248400"/>
            <a:ext cx="3860800" cy="457200"/>
          </a:xfrm>
        </p:spPr>
        <p:txBody>
          <a:bodyPr/>
          <a:lstStyle>
            <a:lvl1pPr>
              <a:defRPr/>
            </a:lvl1pPr>
          </a:lstStyle>
          <a:p>
            <a:endParaRPr lang="en-US"/>
          </a:p>
        </p:txBody>
      </p:sp>
      <p:sp>
        <p:nvSpPr>
          <p:cNvPr id="6" name="Slide Number Placeholder 5"/>
          <p:cNvSpPr>
            <a:spLocks noGrp="1"/>
          </p:cNvSpPr>
          <p:nvPr>
            <p:ph type="sldNum" sz="quarter" idx="11"/>
          </p:nvPr>
        </p:nvSpPr>
        <p:spPr>
          <a:xfrm>
            <a:off x="8737600" y="6248400"/>
            <a:ext cx="2844800" cy="457200"/>
          </a:xfrm>
        </p:spPr>
        <p:txBody>
          <a:bodyPr/>
          <a:lstStyle>
            <a:lvl1pPr>
              <a:defRPr/>
            </a:lvl1pPr>
          </a:lstStyle>
          <a:p>
            <a:fld id="{DF490137-BF9C-4F8C-9815-DD2962A03CA4}" type="slidenum">
              <a:rPr lang="en-US"/>
              <a:pPr/>
              <a:t>‹#›</a:t>
            </a:fld>
            <a:endParaRPr lang="en-US"/>
          </a:p>
        </p:txBody>
      </p:sp>
      <p:sp>
        <p:nvSpPr>
          <p:cNvPr id="7" name="Date Placeholder 6"/>
          <p:cNvSpPr>
            <a:spLocks noGrp="1"/>
          </p:cNvSpPr>
          <p:nvPr>
            <p:ph type="dt" sz="half" idx="12"/>
          </p:nvPr>
        </p:nvSpPr>
        <p:spPr>
          <a:xfrm>
            <a:off x="609600" y="6245225"/>
            <a:ext cx="2844800" cy="476250"/>
          </a:xfrm>
        </p:spPr>
        <p:txBody>
          <a:bodyPr/>
          <a:lstStyle>
            <a:lvl1pPr>
              <a:defRPr/>
            </a:lvl1pPr>
          </a:lstStyle>
          <a:p>
            <a:endParaRPr lang="en-US"/>
          </a:p>
        </p:txBody>
      </p:sp>
    </p:spTree>
    <p:extLst>
      <p:ext uri="{BB962C8B-B14F-4D97-AF65-F5344CB8AC3E}">
        <p14:creationId xmlns:p14="http://schemas.microsoft.com/office/powerpoint/2010/main" val="1125392639"/>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5B564E-9212-46C3-9E2E-4565FCD036AB}" type="datetimeFigureOut">
              <a:rPr lang="en-US" smtClean="0"/>
              <a:t>9/3/2026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1FE318-34B9-4ED6-ACB4-94F83F14D9D3}" type="slidenum">
              <a:rPr lang="en-US" smtClean="0"/>
              <a:t>‹#›</a:t>
            </a:fld>
            <a:endParaRPr lang="en-US"/>
          </a:p>
        </p:txBody>
      </p:sp>
    </p:spTree>
    <p:extLst>
      <p:ext uri="{BB962C8B-B14F-4D97-AF65-F5344CB8AC3E}">
        <p14:creationId xmlns:p14="http://schemas.microsoft.com/office/powerpoint/2010/main" val="1549075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rgbClr val="FF0000"/>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6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32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9.jpe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9300" y="697707"/>
            <a:ext cx="10820400" cy="2387600"/>
          </a:xfrm>
        </p:spPr>
        <p:txBody>
          <a:bodyPr>
            <a:normAutofit/>
          </a:bodyPr>
          <a:lstStyle/>
          <a:p>
            <a:r>
              <a:rPr lang="en-US" sz="4000" dirty="0" smtClean="0">
                <a:latin typeface="Times New Roman" panose="02020603050405020304" pitchFamily="18" charset="0"/>
                <a:cs typeface="Times New Roman" panose="02020603050405020304" pitchFamily="18" charset="0"/>
              </a:rPr>
              <a:t>  Computer </a:t>
            </a:r>
            <a:r>
              <a:rPr lang="en-US" sz="4000" dirty="0" smtClean="0">
                <a:latin typeface="Times New Roman" panose="02020603050405020304" pitchFamily="18" charset="0"/>
                <a:cs typeface="Times New Roman" panose="02020603050405020304" pitchFamily="18" charset="0"/>
              </a:rPr>
              <a:t>Architecture</a:t>
            </a:r>
            <a:r>
              <a:rPr lang="en-US" sz="4000" dirty="0" smtClean="0">
                <a:latin typeface="Times New Roman" panose="02020603050405020304" pitchFamily="18" charset="0"/>
                <a:cs typeface="Times New Roman" panose="02020603050405020304" pitchFamily="18" charset="0"/>
              </a:rPr>
              <a:t/>
            </a:r>
            <a:br>
              <a:rPr lang="en-US" sz="4000" dirty="0" smtClean="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CSC-250</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3618707"/>
            <a:ext cx="9144000" cy="1655762"/>
          </a:xfrm>
        </p:spPr>
        <p:txBody>
          <a:bodyPr>
            <a:normAutofit fontScale="92500" lnSpcReduction="10000"/>
          </a:bodyPr>
          <a:lstStyle/>
          <a:p>
            <a:r>
              <a:rPr lang="en-US" b="1" u="sng" dirty="0" smtClean="0">
                <a:latin typeface="Times New Roman" panose="02020603050405020304" pitchFamily="18" charset="0"/>
                <a:cs typeface="Times New Roman" panose="02020603050405020304" pitchFamily="18" charset="0"/>
              </a:rPr>
              <a:t>COURSE  LECTURE </a:t>
            </a:r>
          </a:p>
          <a:p>
            <a:endParaRPr lang="en-US" dirty="0"/>
          </a:p>
          <a:p>
            <a:r>
              <a:rPr lang="en-US" sz="2800" dirty="0" smtClean="0">
                <a:latin typeface="Times New Roman" panose="02020603050405020304" pitchFamily="18" charset="0"/>
                <a:cs typeface="Times New Roman" panose="02020603050405020304" pitchFamily="18" charset="0"/>
              </a:rPr>
              <a:t>COMPUTER SCIENCE DEPARTMENT </a:t>
            </a:r>
          </a:p>
          <a:p>
            <a:r>
              <a:rPr lang="en-US" dirty="0" smtClean="0">
                <a:latin typeface="Times New Roman" panose="02020603050405020304" pitchFamily="18" charset="0"/>
                <a:cs typeface="Times New Roman" panose="02020603050405020304" pitchFamily="18" charset="0"/>
              </a:rPr>
              <a:t>SIBAU KANDHKOT CAMPUS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9665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latin typeface="Times New Roman" panose="02020603050405020304" pitchFamily="18" charset="0"/>
                <a:cs typeface="Times New Roman" panose="02020603050405020304" pitchFamily="18" charset="0"/>
              </a:rPr>
              <a:t>Computer Architecture</a:t>
            </a:r>
            <a:endParaRPr lang="en-US"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A very good example of computer architecture is von Neumann architecture, which is still used by most types of computers today. </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was proposed by the mathematician John von Neumann in 1945. It describes the design of an electronic computer with its CPU, which includes the arithmetic logic unit, control unit, registers, memory for data and instructions, an input/output interface and external storage </a:t>
            </a:r>
            <a:r>
              <a:rPr lang="en-US" sz="2400" dirty="0" smtClean="0">
                <a:latin typeface="Times New Roman" panose="02020603050405020304" pitchFamily="18" charset="0"/>
                <a:cs typeface="Times New Roman" panose="02020603050405020304" pitchFamily="18" charset="0"/>
              </a:rPr>
              <a:t>functions</a:t>
            </a:r>
          </a:p>
          <a:p>
            <a:r>
              <a:rPr lang="en-US" sz="2400" dirty="0" smtClean="0">
                <a:latin typeface="Times New Roman" panose="02020603050405020304" pitchFamily="18" charset="0"/>
                <a:cs typeface="Times New Roman" panose="02020603050405020304" pitchFamily="18" charset="0"/>
              </a:rPr>
              <a:t>Involves Logics (instruction address data types memory optimization)</a:t>
            </a:r>
          </a:p>
          <a:p>
            <a:r>
              <a:rPr lang="en-US" sz="2400" dirty="0" smtClean="0">
                <a:latin typeface="Times New Roman" panose="02020603050405020304" pitchFamily="18" charset="0"/>
                <a:cs typeface="Times New Roman" panose="02020603050405020304" pitchFamily="18" charset="0"/>
              </a:rPr>
              <a:t>Show responsibility who does interconnect &amp; connectivity structure</a:t>
            </a:r>
          </a:p>
          <a:p>
            <a:r>
              <a:rPr lang="en-US" sz="2400" dirty="0" smtClean="0">
                <a:latin typeface="Times New Roman" panose="02020603050405020304" pitchFamily="18" charset="0"/>
                <a:cs typeface="Times New Roman" panose="02020603050405020304" pitchFamily="18" charset="0"/>
              </a:rPr>
              <a:t>Functional requirements</a:t>
            </a:r>
          </a:p>
          <a:p>
            <a:r>
              <a:rPr lang="en-US" sz="2400" dirty="0" smtClean="0">
                <a:latin typeface="Times New Roman" panose="02020603050405020304" pitchFamily="18" charset="0"/>
                <a:cs typeface="Times New Roman" panose="02020603050405020304" pitchFamily="18" charset="0"/>
              </a:rPr>
              <a:t>High level design</a:t>
            </a:r>
          </a:p>
          <a:p>
            <a:r>
              <a:rPr lang="en-US" sz="2400" dirty="0" smtClean="0">
                <a:latin typeface="Times New Roman" panose="02020603050405020304" pitchFamily="18" charset="0"/>
                <a:cs typeface="Times New Roman" panose="02020603050405020304" pitchFamily="18" charset="0"/>
              </a:rPr>
              <a:t>Focus on understanding problem</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5999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Computer Architecture</a:t>
            </a:r>
            <a:endParaRPr lang="en-US" dirty="0"/>
          </a:p>
        </p:txBody>
      </p:sp>
      <p:sp>
        <p:nvSpPr>
          <p:cNvPr id="3" name="Content Placeholder 2"/>
          <p:cNvSpPr>
            <a:spLocks noGrp="1"/>
          </p:cNvSpPr>
          <p:nvPr>
            <p:ph idx="1"/>
          </p:nvPr>
        </p:nvSpPr>
        <p:spPr/>
        <p:txBody>
          <a:bodyPr>
            <a:normAutofit fontScale="92500" lnSpcReduction="10000"/>
          </a:bodyPr>
          <a:lstStyle/>
          <a:p>
            <a:r>
              <a:rPr lang="en-US" altLang="en-US" sz="2400" dirty="0"/>
              <a:t>A modern computer is an electronic, digital, general purpose computing machine that automatically follows a step-by-step list of instructions to solve a problem. This step-by step list of instructions that a computer follows is also called an algorithm or a computer </a:t>
            </a:r>
            <a:r>
              <a:rPr lang="af-ZA" altLang="en-US" sz="2400" dirty="0"/>
              <a:t>program.</a:t>
            </a:r>
            <a:r>
              <a:rPr lang="en-US" altLang="en-US" sz="2400" dirty="0"/>
              <a:t>  </a:t>
            </a:r>
          </a:p>
          <a:p>
            <a:pPr>
              <a:lnSpc>
                <a:spcPct val="80000"/>
              </a:lnSpc>
              <a:spcBef>
                <a:spcPct val="40000"/>
              </a:spcBef>
            </a:pPr>
            <a:r>
              <a:rPr lang="en-US" altLang="en-US" sz="2500" dirty="0"/>
              <a:t> </a:t>
            </a:r>
            <a:r>
              <a:rPr lang="en-US" altLang="en-US" sz="2500" dirty="0">
                <a:solidFill>
                  <a:srgbClr val="FF3300"/>
                </a:solidFill>
              </a:rPr>
              <a:t>Why study computer organization and architecture?</a:t>
            </a:r>
            <a:endParaRPr lang="en-US" altLang="en-US" dirty="0">
              <a:solidFill>
                <a:srgbClr val="FF3300"/>
              </a:solidFill>
            </a:endParaRPr>
          </a:p>
          <a:p>
            <a:pPr lvl="1">
              <a:lnSpc>
                <a:spcPct val="80000"/>
              </a:lnSpc>
              <a:spcBef>
                <a:spcPct val="40000"/>
              </a:spcBef>
            </a:pPr>
            <a:r>
              <a:rPr lang="en-US" altLang="en-US" sz="2000" dirty="0"/>
              <a:t>Design better programs, including system software such as compilers, operating systems, and device drivers.</a:t>
            </a:r>
          </a:p>
          <a:p>
            <a:pPr lvl="1">
              <a:lnSpc>
                <a:spcPct val="80000"/>
              </a:lnSpc>
              <a:spcBef>
                <a:spcPct val="40000"/>
              </a:spcBef>
            </a:pPr>
            <a:r>
              <a:rPr lang="en-US" altLang="en-US" sz="2000" dirty="0"/>
              <a:t>Optimize program behavior.</a:t>
            </a:r>
          </a:p>
          <a:p>
            <a:pPr lvl="1">
              <a:lnSpc>
                <a:spcPct val="80000"/>
              </a:lnSpc>
              <a:spcBef>
                <a:spcPct val="40000"/>
              </a:spcBef>
            </a:pPr>
            <a:r>
              <a:rPr lang="en-US" altLang="en-US" sz="2000" dirty="0"/>
              <a:t>Evaluate (benchmark) computer system performance.</a:t>
            </a:r>
          </a:p>
          <a:p>
            <a:pPr lvl="1">
              <a:lnSpc>
                <a:spcPct val="80000"/>
              </a:lnSpc>
              <a:spcBef>
                <a:spcPct val="40000"/>
              </a:spcBef>
            </a:pPr>
            <a:r>
              <a:rPr lang="en-US" altLang="en-US" sz="2000" dirty="0"/>
              <a:t>Understand time, space, and price tradeoffs.</a:t>
            </a:r>
          </a:p>
          <a:p>
            <a:pPr>
              <a:lnSpc>
                <a:spcPct val="80000"/>
              </a:lnSpc>
            </a:pPr>
            <a:r>
              <a:rPr lang="en-US" altLang="en-US" sz="2500" dirty="0">
                <a:solidFill>
                  <a:srgbClr val="FF3300"/>
                </a:solidFill>
              </a:rPr>
              <a:t>Computer organization</a:t>
            </a:r>
          </a:p>
          <a:p>
            <a:pPr lvl="1">
              <a:lnSpc>
                <a:spcPct val="80000"/>
              </a:lnSpc>
            </a:pPr>
            <a:r>
              <a:rPr lang="en-US" altLang="en-US" sz="2000" dirty="0"/>
              <a:t>Encompasses all physical aspects of computer systems.</a:t>
            </a:r>
          </a:p>
          <a:p>
            <a:pPr lvl="1">
              <a:lnSpc>
                <a:spcPct val="80000"/>
              </a:lnSpc>
            </a:pPr>
            <a:r>
              <a:rPr lang="en-US" altLang="en-US" sz="2000" dirty="0"/>
              <a:t>E.g., circuit design, control signals, memory types.</a:t>
            </a:r>
          </a:p>
          <a:p>
            <a:pPr lvl="1">
              <a:lnSpc>
                <a:spcPct val="80000"/>
              </a:lnSpc>
            </a:pPr>
            <a:r>
              <a:rPr lang="en-US" altLang="en-US" sz="2000" i="1" dirty="0"/>
              <a:t>How does a computer work?</a:t>
            </a:r>
          </a:p>
          <a:p>
            <a:endParaRPr lang="en-US" dirty="0"/>
          </a:p>
        </p:txBody>
      </p:sp>
    </p:spTree>
    <p:extLst>
      <p:ext uri="{BB962C8B-B14F-4D97-AF65-F5344CB8AC3E}">
        <p14:creationId xmlns:p14="http://schemas.microsoft.com/office/powerpoint/2010/main" val="2958470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025"/>
            <a:ext cx="10515600" cy="1325563"/>
          </a:xfrm>
        </p:spPr>
        <p:txBody>
          <a:bodyPr>
            <a:normAutofit/>
          </a:bodyPr>
          <a:lstStyle/>
          <a:p>
            <a:r>
              <a:rPr lang="en-US" sz="4000" dirty="0" smtClean="0">
                <a:latin typeface="Times New Roman" panose="02020603050405020304" pitchFamily="18" charset="0"/>
                <a:cs typeface="Times New Roman" panose="02020603050405020304" pitchFamily="18" charset="0"/>
              </a:rPr>
              <a:t>Computer Architecture</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62100"/>
            <a:ext cx="10515600" cy="4914900"/>
          </a:xfrm>
        </p:spPr>
        <p:txBody>
          <a:bodyPr>
            <a:normAutofit fontScale="92500" lnSpcReduction="10000"/>
          </a:bodyPr>
          <a:lstStyle/>
          <a:p>
            <a:r>
              <a:rPr lang="en-US" sz="2400" dirty="0" smtClean="0">
                <a:latin typeface="Times New Roman" panose="02020603050405020304" pitchFamily="18" charset="0"/>
                <a:cs typeface="Times New Roman" panose="02020603050405020304" pitchFamily="18" charset="0"/>
              </a:rPr>
              <a:t>Visible attributes of system to programmer </a:t>
            </a:r>
          </a:p>
          <a:p>
            <a:r>
              <a:rPr lang="en-US" sz="2400" dirty="0" smtClean="0">
                <a:latin typeface="Times New Roman" panose="02020603050405020304" pitchFamily="18" charset="0"/>
                <a:cs typeface="Times New Roman" panose="02020603050405020304" pitchFamily="18" charset="0"/>
              </a:rPr>
              <a:t>System competitive techniques for addressing design</a:t>
            </a:r>
          </a:p>
          <a:p>
            <a:r>
              <a:rPr lang="en-US" sz="2400" dirty="0" smtClean="0">
                <a:latin typeface="Times New Roman" panose="02020603050405020304" pitchFamily="18" charset="0"/>
                <a:cs typeface="Times New Roman" panose="02020603050405020304" pitchFamily="18" charset="0"/>
              </a:rPr>
              <a:t>Structural behavior</a:t>
            </a:r>
          </a:p>
          <a:p>
            <a:endParaRPr lang="en-US" sz="2400" dirty="0" smtClean="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Instruction Set Architecture (ISA): </a:t>
            </a:r>
            <a:r>
              <a:rPr lang="en-US" sz="2400" dirty="0">
                <a:latin typeface="Times New Roman" panose="02020603050405020304" pitchFamily="18" charset="0"/>
                <a:cs typeface="Times New Roman" panose="02020603050405020304" pitchFamily="18" charset="0"/>
              </a:rPr>
              <a:t>This is the embedded programming language of the central processing unit.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defines the CPU's functions and capabilities based on what programming it can perform or process</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This includes the word size, processor register types, memory addressing modes, data formats and the instruction set that programmers use</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b="1" u="sng" dirty="0">
                <a:latin typeface="Times New Roman" panose="02020603050405020304" pitchFamily="18" charset="0"/>
                <a:cs typeface="Times New Roman" panose="02020603050405020304" pitchFamily="18" charset="0"/>
              </a:rPr>
              <a:t>Microarchitecture</a:t>
            </a:r>
            <a:r>
              <a:rPr lang="en-US" sz="2400" u="sng"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Otherwise known as </a:t>
            </a:r>
            <a:r>
              <a:rPr lang="en-US" sz="2400" b="1" dirty="0">
                <a:latin typeface="Times New Roman" panose="02020603050405020304" pitchFamily="18" charset="0"/>
                <a:cs typeface="Times New Roman" panose="02020603050405020304" pitchFamily="18" charset="0"/>
              </a:rPr>
              <a:t>computer organization</a:t>
            </a:r>
            <a:r>
              <a:rPr lang="en-US" sz="2400" dirty="0">
                <a:latin typeface="Times New Roman" panose="02020603050405020304" pitchFamily="18" charset="0"/>
                <a:cs typeface="Times New Roman" panose="02020603050405020304" pitchFamily="18" charset="0"/>
              </a:rPr>
              <a:t>, this type of architecture defines the data paths, data processing and storage elements, as well as how they should be implemented in the ISA.</a:t>
            </a:r>
          </a:p>
        </p:txBody>
      </p:sp>
    </p:spTree>
    <p:extLst>
      <p:ext uri="{BB962C8B-B14F-4D97-AF65-F5344CB8AC3E}">
        <p14:creationId xmlns:p14="http://schemas.microsoft.com/office/powerpoint/2010/main" val="193875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Computer Architecture</a:t>
            </a:r>
            <a:endParaRPr lang="en-US" dirty="0"/>
          </a:p>
        </p:txBody>
      </p:sp>
      <p:sp>
        <p:nvSpPr>
          <p:cNvPr id="3" name="Content Placeholder 2"/>
          <p:cNvSpPr>
            <a:spLocks noGrp="1"/>
          </p:cNvSpPr>
          <p:nvPr>
            <p:ph idx="1"/>
          </p:nvPr>
        </p:nvSpPr>
        <p:spPr/>
        <p:txBody>
          <a:bodyPr>
            <a:normAutofit fontScale="55000" lnSpcReduction="20000"/>
          </a:bodyPr>
          <a:lstStyle/>
          <a:p>
            <a:r>
              <a:rPr lang="en-US" altLang="en-US" sz="3800" dirty="0">
                <a:latin typeface="Times New Roman" panose="02020603050405020304" pitchFamily="18" charset="0"/>
                <a:cs typeface="Times New Roman" panose="02020603050405020304" pitchFamily="18" charset="0"/>
              </a:rPr>
              <a:t>Focuses on the </a:t>
            </a:r>
            <a:r>
              <a:rPr lang="en-US" altLang="en-US" sz="3800" b="1" dirty="0" smtClean="0">
                <a:latin typeface="Times New Roman" panose="02020603050405020304" pitchFamily="18" charset="0"/>
                <a:cs typeface="Times New Roman" panose="02020603050405020304" pitchFamily="18" charset="0"/>
              </a:rPr>
              <a:t>structure (</a:t>
            </a:r>
            <a:r>
              <a:rPr lang="en-US" altLang="en-US" sz="3800" dirty="0">
                <a:latin typeface="Times New Roman" panose="02020603050405020304" pitchFamily="18" charset="0"/>
                <a:cs typeface="Times New Roman" panose="02020603050405020304" pitchFamily="18" charset="0"/>
              </a:rPr>
              <a:t>the way in which the components are interrelated</a:t>
            </a:r>
            <a:r>
              <a:rPr lang="en-US" altLang="en-US" sz="3800" b="1" dirty="0">
                <a:latin typeface="Times New Roman" panose="02020603050405020304" pitchFamily="18" charset="0"/>
                <a:cs typeface="Times New Roman" panose="02020603050405020304" pitchFamily="18" charset="0"/>
              </a:rPr>
              <a:t>)</a:t>
            </a:r>
            <a:r>
              <a:rPr lang="en-US" altLang="en-US" sz="3800" dirty="0">
                <a:latin typeface="Times New Roman" panose="02020603050405020304" pitchFamily="18" charset="0"/>
                <a:cs typeface="Times New Roman" panose="02020603050405020304" pitchFamily="18" charset="0"/>
              </a:rPr>
              <a:t> and behavior of the computer system and refers to the logical aspects of system implementation as seen by the </a:t>
            </a:r>
            <a:r>
              <a:rPr lang="en-US" altLang="en-US" sz="3800" dirty="0" smtClean="0">
                <a:latin typeface="Times New Roman" panose="02020603050405020304" pitchFamily="18" charset="0"/>
                <a:cs typeface="Times New Roman" panose="02020603050405020304" pitchFamily="18" charset="0"/>
              </a:rPr>
              <a:t>programmer</a:t>
            </a:r>
          </a:p>
          <a:p>
            <a:endParaRPr lang="en-US" altLang="en-US" sz="3800" dirty="0">
              <a:latin typeface="Times New Roman" panose="02020603050405020304" pitchFamily="18" charset="0"/>
              <a:cs typeface="Times New Roman" panose="02020603050405020304" pitchFamily="18" charset="0"/>
            </a:endParaRPr>
          </a:p>
          <a:p>
            <a:r>
              <a:rPr lang="en-US" altLang="en-US" sz="3800" dirty="0">
                <a:latin typeface="Times New Roman" panose="02020603050405020304" pitchFamily="18" charset="0"/>
                <a:cs typeface="Times New Roman" panose="02020603050405020304" pitchFamily="18" charset="0"/>
              </a:rPr>
              <a:t>Computer architecture includes many elements such as </a:t>
            </a:r>
          </a:p>
          <a:p>
            <a:pPr lvl="1"/>
            <a:r>
              <a:rPr lang="en-US" altLang="en-US" sz="3800" dirty="0">
                <a:latin typeface="Times New Roman" panose="02020603050405020304" pitchFamily="18" charset="0"/>
                <a:cs typeface="Times New Roman" panose="02020603050405020304" pitchFamily="18" charset="0"/>
              </a:rPr>
              <a:t>instruction sets and formats, operation codes, data types, the number and types of registers, addressing modes, main memory access methods, and various I/O mechanisms. </a:t>
            </a:r>
            <a:endParaRPr lang="en-US" altLang="en-US" sz="3800" dirty="0" smtClean="0">
              <a:latin typeface="Times New Roman" panose="02020603050405020304" pitchFamily="18" charset="0"/>
              <a:cs typeface="Times New Roman" panose="02020603050405020304" pitchFamily="18" charset="0"/>
            </a:endParaRPr>
          </a:p>
          <a:p>
            <a:pPr lvl="1"/>
            <a:endParaRPr lang="en-US" altLang="en-US" sz="3800" dirty="0">
              <a:latin typeface="Times New Roman" panose="02020603050405020304" pitchFamily="18" charset="0"/>
              <a:cs typeface="Times New Roman" panose="02020603050405020304" pitchFamily="18" charset="0"/>
            </a:endParaRPr>
          </a:p>
          <a:p>
            <a:r>
              <a:rPr lang="en-US" altLang="en-US" sz="3800" dirty="0">
                <a:latin typeface="Times New Roman" panose="02020603050405020304" pitchFamily="18" charset="0"/>
                <a:cs typeface="Times New Roman" panose="02020603050405020304" pitchFamily="18" charset="0"/>
              </a:rPr>
              <a:t>The architecture of a system directly affects the logical execution of programs. </a:t>
            </a:r>
          </a:p>
          <a:p>
            <a:r>
              <a:rPr lang="en-US" altLang="en-US" sz="3800" dirty="0">
                <a:latin typeface="Times New Roman" panose="02020603050405020304" pitchFamily="18" charset="0"/>
                <a:cs typeface="Times New Roman" panose="02020603050405020304" pitchFamily="18" charset="0"/>
              </a:rPr>
              <a:t>The computer architecture for a given machine is the combination of its hardware components plus its instruction set architecture (ISA). </a:t>
            </a:r>
          </a:p>
          <a:p>
            <a:r>
              <a:rPr lang="en-US" altLang="en-US" sz="3800" dirty="0">
                <a:latin typeface="Times New Roman" panose="02020603050405020304" pitchFamily="18" charset="0"/>
                <a:cs typeface="Times New Roman" panose="02020603050405020304" pitchFamily="18" charset="0"/>
              </a:rPr>
              <a:t>The ISA is the interface between all the software that runs on the machine and the hard</a:t>
            </a:r>
          </a:p>
          <a:p>
            <a:r>
              <a:rPr lang="en-US" altLang="en-US" sz="3800" b="1" dirty="0">
                <a:solidFill>
                  <a:srgbClr val="FF0000"/>
                </a:solidFill>
                <a:latin typeface="Times New Roman" panose="02020603050405020304" pitchFamily="18" charset="0"/>
                <a:cs typeface="Times New Roman" panose="02020603050405020304" pitchFamily="18" charset="0"/>
              </a:rPr>
              <a:t>Studying computer architecture helps us to answer the question: How do I design a computer</a:t>
            </a:r>
            <a:r>
              <a:rPr lang="en-US" altLang="en-US" sz="3800" b="1" dirty="0">
                <a:solidFill>
                  <a:srgbClr val="FF0000"/>
                </a:solidFill>
              </a:rPr>
              <a:t>?</a:t>
            </a:r>
          </a:p>
          <a:p>
            <a:endParaRPr lang="en-US" dirty="0"/>
          </a:p>
        </p:txBody>
      </p:sp>
    </p:spTree>
    <p:extLst>
      <p:ext uri="{BB962C8B-B14F-4D97-AF65-F5344CB8AC3E}">
        <p14:creationId xmlns:p14="http://schemas.microsoft.com/office/powerpoint/2010/main" val="3556532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Computer Architecture Layer</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r>
              <a:rPr lang="en-US" sz="2400" dirty="0">
                <a:latin typeface="Times New Roman" panose="02020603050405020304" pitchFamily="18" charset="0"/>
                <a:cs typeface="Times New Roman" panose="02020603050405020304" pitchFamily="18" charset="0"/>
              </a:rPr>
              <a:t>The term layer with regard to computer architecture typically represents the way abstraction is used to describe computer systems</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A layer </a:t>
            </a:r>
            <a:r>
              <a:rPr lang="en-US" sz="2400" dirty="0">
                <a:latin typeface="Times New Roman" panose="02020603050405020304" pitchFamily="18" charset="0"/>
                <a:cs typeface="Times New Roman" panose="02020603050405020304" pitchFamily="18" charset="0"/>
              </a:rPr>
              <a:t>is the term used to describe the different levels at which you can place an </a:t>
            </a:r>
            <a:r>
              <a:rPr lang="en-US" sz="2400" dirty="0" smtClean="0">
                <a:latin typeface="Times New Roman" panose="02020603050405020304" pitchFamily="18" charset="0"/>
                <a:cs typeface="Times New Roman" panose="02020603050405020304" pitchFamily="18" charset="0"/>
              </a:rPr>
              <a:t>object.</a:t>
            </a:r>
          </a:p>
          <a:p>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There are many different abstractions that have been used in computer architecture.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you restricted yourself to four layers, they may be defined as</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 algorithm</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2) programming language/compiler,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processor/memory</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4) I/O.</a:t>
            </a:r>
          </a:p>
        </p:txBody>
      </p:sp>
    </p:spTree>
    <p:extLst>
      <p:ext uri="{BB962C8B-B14F-4D97-AF65-F5344CB8AC3E}">
        <p14:creationId xmlns:p14="http://schemas.microsoft.com/office/powerpoint/2010/main" val="585360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b="7778"/>
          <a:stretch/>
        </p:blipFill>
        <p:spPr>
          <a:xfrm>
            <a:off x="457200" y="850901"/>
            <a:ext cx="11112500" cy="5715000"/>
          </a:xfrm>
          <a:prstGeom prst="rect">
            <a:avLst/>
          </a:prstGeom>
        </p:spPr>
      </p:pic>
    </p:spTree>
    <p:extLst>
      <p:ext uri="{BB962C8B-B14F-4D97-AF65-F5344CB8AC3E}">
        <p14:creationId xmlns:p14="http://schemas.microsoft.com/office/powerpoint/2010/main" val="1195352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result for hardware of computer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Image result for hardware of computer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6535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Design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This includes all hardware components in the system, including data processors aside from the CPU, such as the graphics processing unit and direct memory access. </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also includes memory controllers, data paths and miscellaneous things like multiprocessing and virtualization.</a:t>
            </a:r>
            <a:endParaRPr lang="en-US" dirty="0" smtClean="0">
              <a:latin typeface="Times New Roman" panose="02020603050405020304" pitchFamily="18" charset="0"/>
              <a:cs typeface="Times New Roman" panose="02020603050405020304" pitchFamily="18" charset="0"/>
            </a:endParaRPr>
          </a:p>
          <a:p>
            <a:endParaRPr lang="en-US" dirty="0"/>
          </a:p>
          <a:p>
            <a:r>
              <a:rPr lang="en-US" dirty="0" smtClean="0">
                <a:latin typeface="Times New Roman" panose="02020603050405020304" pitchFamily="18" charset="0"/>
                <a:cs typeface="Times New Roman" panose="02020603050405020304" pitchFamily="18" charset="0"/>
              </a:rPr>
              <a:t>Develop system components</a:t>
            </a:r>
          </a:p>
          <a:p>
            <a:r>
              <a:rPr lang="en-US" dirty="0" smtClean="0">
                <a:latin typeface="Times New Roman" panose="02020603050405020304" pitchFamily="18" charset="0"/>
                <a:cs typeface="Times New Roman" panose="02020603050405020304" pitchFamily="18" charset="0"/>
              </a:rPr>
              <a:t>Understand configuration</a:t>
            </a:r>
          </a:p>
          <a:p>
            <a:r>
              <a:rPr lang="en-US" dirty="0" smtClean="0">
                <a:latin typeface="Times New Roman" panose="02020603050405020304" pitchFamily="18" charset="0"/>
                <a:cs typeface="Times New Roman" panose="02020603050405020304" pitchFamily="18" charset="0"/>
              </a:rPr>
              <a:t>Hardware design</a:t>
            </a:r>
          </a:p>
          <a:p>
            <a:endParaRPr lang="en-US"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49089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Why We Study Computer Architecture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The study of computer architecture and organization focuses on the interface between hardware and software, and emphasizes the structure and behavior of the system</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As computer users, we probably do not have to worry about this anymore than we need to know what our cars look like under the hood in order to drive them.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can certainly write high label language programs without understanding how these programs execute</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We can use various application packages without understanding how they really work.  But what happens when the program we have written needs to be faster and more efficient or the application we are using does not do precisely what we want?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As </a:t>
            </a:r>
            <a:r>
              <a:rPr lang="en-US" dirty="0">
                <a:latin typeface="Times New Roman" panose="02020603050405020304" pitchFamily="18" charset="0"/>
                <a:cs typeface="Times New Roman" panose="02020603050405020304" pitchFamily="18" charset="0"/>
              </a:rPr>
              <a:t>Computer Scientists, we need a basic understanding of computer system itself in order to rectify these problems.</a:t>
            </a:r>
          </a:p>
        </p:txBody>
      </p:sp>
    </p:spTree>
    <p:extLst>
      <p:ext uri="{BB962C8B-B14F-4D97-AF65-F5344CB8AC3E}">
        <p14:creationId xmlns:p14="http://schemas.microsoft.com/office/powerpoint/2010/main" val="3707687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GB" altLang="en-US" u="sng" dirty="0" smtClean="0">
                <a:latin typeface="Times New Roman" panose="02020603050405020304" pitchFamily="18" charset="0"/>
                <a:cs typeface="Times New Roman" panose="02020603050405020304" pitchFamily="18" charset="0"/>
              </a:rPr>
              <a:t>Computer Architecture </a:t>
            </a:r>
            <a:r>
              <a:rPr lang="en-GB" altLang="en-US" u="sng" dirty="0">
                <a:latin typeface="Times New Roman" panose="02020603050405020304" pitchFamily="18" charset="0"/>
                <a:cs typeface="Times New Roman" panose="02020603050405020304" pitchFamily="18" charset="0"/>
              </a:rPr>
              <a:t>&amp; Organization </a:t>
            </a:r>
          </a:p>
        </p:txBody>
      </p:sp>
      <p:sp>
        <p:nvSpPr>
          <p:cNvPr id="5123" name="Rectangle 3"/>
          <p:cNvSpPr>
            <a:spLocks noGrp="1" noChangeArrowheads="1"/>
          </p:cNvSpPr>
          <p:nvPr>
            <p:ph idx="1"/>
          </p:nvPr>
        </p:nvSpPr>
        <p:spPr/>
        <p:txBody>
          <a:bodyPr>
            <a:normAutofit fontScale="85000" lnSpcReduction="20000"/>
          </a:bodyPr>
          <a:lstStyle/>
          <a:p>
            <a:r>
              <a:rPr lang="en-GB" altLang="en-US" dirty="0"/>
              <a:t>Architecture is those attributes visible to the programmer</a:t>
            </a:r>
          </a:p>
          <a:p>
            <a:pPr lvl="1"/>
            <a:r>
              <a:rPr lang="en-GB" altLang="en-US" dirty="0"/>
              <a:t>Instruction set, number of bits used for data representation, I/O mechanisms, addressing techniques.</a:t>
            </a:r>
          </a:p>
          <a:p>
            <a:pPr lvl="1"/>
            <a:r>
              <a:rPr lang="en-GB" altLang="en-US" dirty="0"/>
              <a:t>e.g. Is there a multiply instruction</a:t>
            </a:r>
            <a:r>
              <a:rPr lang="en-GB" altLang="en-US" dirty="0" smtClean="0"/>
              <a:t>?</a:t>
            </a:r>
          </a:p>
          <a:p>
            <a:pPr lvl="1"/>
            <a:endParaRPr lang="en-GB" altLang="en-US" dirty="0"/>
          </a:p>
          <a:p>
            <a:pPr marL="457200" lvl="1" indent="0">
              <a:buNone/>
            </a:pPr>
            <a:endParaRPr lang="en-GB" altLang="en-US" dirty="0"/>
          </a:p>
          <a:p>
            <a:r>
              <a:rPr lang="en-GB" altLang="en-US" dirty="0"/>
              <a:t>Organization is how features are implemented</a:t>
            </a:r>
          </a:p>
          <a:p>
            <a:pPr lvl="1"/>
            <a:r>
              <a:rPr lang="en-GB" altLang="en-US" dirty="0"/>
              <a:t>Control signals, interfaces, memory technology</a:t>
            </a:r>
            <a:r>
              <a:rPr lang="en-GB" altLang="en-US" dirty="0" smtClean="0"/>
              <a:t>.</a:t>
            </a:r>
          </a:p>
          <a:p>
            <a:pPr lvl="1"/>
            <a:r>
              <a:rPr lang="en-GB" altLang="en-US" dirty="0" smtClean="0"/>
              <a:t>Organization differs between different versions</a:t>
            </a:r>
          </a:p>
          <a:p>
            <a:pPr lvl="1"/>
            <a:endParaRPr lang="en-GB" altLang="en-US" dirty="0"/>
          </a:p>
          <a:p>
            <a:pPr lvl="1"/>
            <a:r>
              <a:rPr lang="en-GB" altLang="en-US" dirty="0"/>
              <a:t>e.g. Is there a hardware multiply unit or is it done by repeated addition?</a:t>
            </a:r>
          </a:p>
        </p:txBody>
      </p:sp>
    </p:spTree>
    <p:extLst>
      <p:ext uri="{BB962C8B-B14F-4D97-AF65-F5344CB8AC3E}">
        <p14:creationId xmlns:p14="http://schemas.microsoft.com/office/powerpoint/2010/main" val="1507168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latin typeface="Times New Roman" panose="02020603050405020304" pitchFamily="18" charset="0"/>
                <a:cs typeface="Times New Roman" panose="02020603050405020304" pitchFamily="18" charset="0"/>
              </a:rPr>
              <a:t>Structure</a:t>
            </a:r>
            <a:r>
              <a:rPr lang="en-US" dirty="0" smtClean="0"/>
              <a:t> </a:t>
            </a:r>
            <a:endParaRPr lang="en-US" dirty="0"/>
          </a:p>
        </p:txBody>
      </p:sp>
      <p:sp>
        <p:nvSpPr>
          <p:cNvPr id="3" name="Content Placeholder 2"/>
          <p:cNvSpPr>
            <a:spLocks noGrp="1"/>
          </p:cNvSpPr>
          <p:nvPr>
            <p:ph idx="1"/>
          </p:nvPr>
        </p:nvSpPr>
        <p:spPr/>
        <p:txBody>
          <a:bodyPr>
            <a:normAutofit/>
          </a:bodyPr>
          <a:lstStyle/>
          <a:p>
            <a:r>
              <a:rPr lang="en-US" sz="2400" dirty="0" smtClean="0">
                <a:latin typeface="Times New Roman" panose="02020603050405020304" pitchFamily="18" charset="0"/>
                <a:cs typeface="Times New Roman" panose="02020603050405020304" pitchFamily="18" charset="0"/>
              </a:rPr>
              <a:t>A hierarchical set of interrelated sub system</a:t>
            </a:r>
          </a:p>
          <a:p>
            <a:r>
              <a:rPr lang="en-US" sz="2400" dirty="0" smtClean="0">
                <a:latin typeface="Times New Roman" panose="02020603050405020304" pitchFamily="18" charset="0"/>
                <a:cs typeface="Times New Roman" panose="02020603050405020304" pitchFamily="18" charset="0"/>
              </a:rPr>
              <a:t>At each level system is consist of a set of components</a:t>
            </a:r>
          </a:p>
          <a:p>
            <a:r>
              <a:rPr lang="en-US" sz="2400" dirty="0" smtClean="0">
                <a:latin typeface="Times New Roman" panose="02020603050405020304" pitchFamily="18" charset="0"/>
                <a:cs typeface="Times New Roman" panose="02020603050405020304" pitchFamily="18" charset="0"/>
              </a:rPr>
              <a:t>The way in which the components are interrelated </a:t>
            </a:r>
          </a:p>
          <a:p>
            <a:r>
              <a:rPr lang="en-US" sz="2400" dirty="0" smtClean="0">
                <a:latin typeface="Times New Roman" panose="02020603050405020304" pitchFamily="18" charset="0"/>
                <a:cs typeface="Times New Roman" panose="02020603050405020304" pitchFamily="18" charset="0"/>
              </a:rPr>
              <a:t>Internal </a:t>
            </a:r>
            <a:r>
              <a:rPr lang="en-US" sz="2400" dirty="0">
                <a:latin typeface="Times New Roman" panose="02020603050405020304" pitchFamily="18" charset="0"/>
                <a:cs typeface="Times New Roman" panose="02020603050405020304" pitchFamily="18" charset="0"/>
              </a:rPr>
              <a:t>structure of a digital computer, encompassing the design and layout of its instruction </a:t>
            </a:r>
            <a:r>
              <a:rPr lang="en-US" sz="2400" dirty="0" smtClean="0">
                <a:latin typeface="Times New Roman" panose="02020603050405020304" pitchFamily="18" charset="0"/>
                <a:cs typeface="Times New Roman" panose="02020603050405020304" pitchFamily="18" charset="0"/>
              </a:rPr>
              <a:t>set </a:t>
            </a:r>
            <a:r>
              <a:rPr lang="en-US" sz="2400" dirty="0">
                <a:latin typeface="Times New Roman" panose="02020603050405020304" pitchFamily="18" charset="0"/>
                <a:cs typeface="Times New Roman" panose="02020603050405020304" pitchFamily="18" charset="0"/>
              </a:rPr>
              <a:t>and storage registers</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Top to Bottom</a:t>
            </a:r>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Bottom to Top </a:t>
            </a:r>
          </a:p>
          <a:p>
            <a:endParaRPr lang="en-US" dirty="0"/>
          </a:p>
        </p:txBody>
      </p:sp>
    </p:spTree>
    <p:extLst>
      <p:ext uri="{BB962C8B-B14F-4D97-AF65-F5344CB8AC3E}">
        <p14:creationId xmlns:p14="http://schemas.microsoft.com/office/powerpoint/2010/main" val="1904847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Computer Organization Vs Architecture</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endParaRPr lang="en-US" dirty="0" smtClean="0"/>
          </a:p>
          <a:p>
            <a:r>
              <a:rPr lang="en-US" dirty="0" smtClean="0"/>
              <a:t>Computer </a:t>
            </a:r>
            <a:r>
              <a:rPr lang="en-US" dirty="0"/>
              <a:t>organization refers to the </a:t>
            </a:r>
            <a:r>
              <a:rPr lang="en-US" dirty="0" smtClean="0"/>
              <a:t>operational </a:t>
            </a:r>
            <a:r>
              <a:rPr lang="en-US" dirty="0"/>
              <a:t>units and their interconnections that realize the architectural specifications</a:t>
            </a:r>
            <a:r>
              <a:rPr lang="en-US" dirty="0" smtClean="0"/>
              <a:t>.</a:t>
            </a:r>
          </a:p>
          <a:p>
            <a:endParaRPr lang="en-US" dirty="0"/>
          </a:p>
          <a:p>
            <a:r>
              <a:rPr lang="en-US" dirty="0"/>
              <a:t>Computer architecture refers to those attributes of a system visible to a programmer or, put another way, those attributes that have a direct impact on the logical execution of a program.</a:t>
            </a:r>
          </a:p>
        </p:txBody>
      </p:sp>
    </p:spTree>
    <p:extLst>
      <p:ext uri="{BB962C8B-B14F-4D97-AF65-F5344CB8AC3E}">
        <p14:creationId xmlns:p14="http://schemas.microsoft.com/office/powerpoint/2010/main" val="3976040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Computer Organization includes………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971399"/>
            <a:ext cx="10515600" cy="4351338"/>
          </a:xfrm>
        </p:spPr>
        <p:txBody>
          <a:bodyPr/>
          <a:lstStyle/>
          <a:p>
            <a:r>
              <a:rPr lang="en-GB" altLang="en-US" dirty="0"/>
              <a:t>Realization of a hardware</a:t>
            </a:r>
          </a:p>
          <a:p>
            <a:r>
              <a:rPr lang="en-GB" altLang="en-US" dirty="0" smtClean="0"/>
              <a:t>Organization </a:t>
            </a:r>
            <a:r>
              <a:rPr lang="en-GB" altLang="en-US" dirty="0"/>
              <a:t>is how features are implemented</a:t>
            </a:r>
          </a:p>
          <a:p>
            <a:endParaRPr lang="en-GB" altLang="en-US" dirty="0"/>
          </a:p>
          <a:p>
            <a:pPr lvl="2"/>
            <a:r>
              <a:rPr lang="en-US" altLang="en-US" sz="2800" dirty="0" smtClean="0"/>
              <a:t>Hardware </a:t>
            </a:r>
            <a:r>
              <a:rPr lang="en-US" altLang="en-US" sz="2800" dirty="0"/>
              <a:t>details – Such as RAM, Hard drive , graphic card technology used.</a:t>
            </a:r>
          </a:p>
          <a:p>
            <a:pPr lvl="2"/>
            <a:r>
              <a:rPr lang="en-US" altLang="en-US" sz="2800" dirty="0"/>
              <a:t>Peripherals Devices – How devices such as mouse and keyboard, connected to the computer.</a:t>
            </a:r>
          </a:p>
          <a:p>
            <a:pPr lvl="2"/>
            <a:r>
              <a:rPr lang="en-US" altLang="en-US" sz="2800" dirty="0"/>
              <a:t>Control signals. Generating from above mentioned controls</a:t>
            </a:r>
          </a:p>
          <a:p>
            <a:endParaRPr lang="en-US" dirty="0"/>
          </a:p>
        </p:txBody>
      </p:sp>
    </p:spTree>
    <p:extLst>
      <p:ext uri="{BB962C8B-B14F-4D97-AF65-F5344CB8AC3E}">
        <p14:creationId xmlns:p14="http://schemas.microsoft.com/office/powerpoint/2010/main" val="3922634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Computer architecture includes……..</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20000"/>
          </a:bodyPr>
          <a:lstStyle/>
          <a:p>
            <a:r>
              <a:rPr lang="en-US" dirty="0"/>
              <a:t>Instruction set, number of bits used for data representation, I/O mechanisms, addressing techniques</a:t>
            </a:r>
            <a:r>
              <a:rPr lang="en-US" dirty="0" smtClean="0"/>
              <a:t>.</a:t>
            </a:r>
          </a:p>
          <a:p>
            <a:endParaRPr lang="en-US" dirty="0"/>
          </a:p>
          <a:p>
            <a:pPr lvl="1"/>
            <a:r>
              <a:rPr lang="en-US" dirty="0"/>
              <a:t>Physical memory – Allocated and Available</a:t>
            </a:r>
          </a:p>
          <a:p>
            <a:pPr lvl="1"/>
            <a:r>
              <a:rPr lang="en-US" dirty="0"/>
              <a:t>ISA (Instruction Set Architecture) of the processor.</a:t>
            </a:r>
          </a:p>
          <a:p>
            <a:pPr lvl="1"/>
            <a:r>
              <a:rPr lang="en-US" dirty="0"/>
              <a:t>The number of bits used to represent data types like integer , character , double </a:t>
            </a:r>
            <a:r>
              <a:rPr lang="en-US" dirty="0" smtClean="0"/>
              <a:t>etc.</a:t>
            </a:r>
            <a:endParaRPr lang="en-US" dirty="0"/>
          </a:p>
          <a:p>
            <a:pPr lvl="1"/>
            <a:r>
              <a:rPr lang="en-US" dirty="0"/>
              <a:t>Input Output mechanism – Depends on programming language.</a:t>
            </a:r>
          </a:p>
          <a:p>
            <a:pPr lvl="1"/>
            <a:r>
              <a:rPr lang="en-US" dirty="0"/>
              <a:t>Technique for addressing memories – Depends on programming language</a:t>
            </a:r>
          </a:p>
          <a:p>
            <a:endParaRPr lang="en-US" dirty="0"/>
          </a:p>
        </p:txBody>
      </p:sp>
    </p:spTree>
    <p:extLst>
      <p:ext uri="{BB962C8B-B14F-4D97-AF65-F5344CB8AC3E}">
        <p14:creationId xmlns:p14="http://schemas.microsoft.com/office/powerpoint/2010/main" val="287486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Concept of </a:t>
            </a:r>
            <a:r>
              <a:rPr lang="en-US" smtClean="0">
                <a:effectLst>
                  <a:outerShdw blurRad="38100" dist="38100" dir="2700000" algn="tl">
                    <a:srgbClr val="000000">
                      <a:alpha val="43137"/>
                    </a:srgbClr>
                  </a:outerShdw>
                </a:effectLst>
              </a:rPr>
              <a:t>computer ‘Family’</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lnSpcReduction="10000"/>
          </a:bodyPr>
          <a:lstStyle/>
          <a:p>
            <a:r>
              <a:rPr lang="en-US" dirty="0"/>
              <a:t>A computer family is a category of computers with similar designs and microprocessors that are compatible. </a:t>
            </a:r>
            <a:endParaRPr lang="en-US" dirty="0" smtClean="0"/>
          </a:p>
          <a:p>
            <a:endParaRPr lang="en-US" dirty="0"/>
          </a:p>
          <a:p>
            <a:r>
              <a:rPr lang="en-US" dirty="0"/>
              <a:t>Good examples of different computer families are the IBM or PC family versus the Apple or Mac family of computers</a:t>
            </a:r>
            <a:endParaRPr lang="en-US" dirty="0" smtClean="0"/>
          </a:p>
          <a:p>
            <a:endParaRPr lang="en-US" dirty="0" smtClean="0"/>
          </a:p>
          <a:p>
            <a:r>
              <a:rPr lang="en-US" dirty="0" smtClean="0"/>
              <a:t>Mostly, all </a:t>
            </a:r>
            <a:r>
              <a:rPr lang="en-US" dirty="0"/>
              <a:t>computer families have successive generations, they do share the same architecture</a:t>
            </a:r>
            <a:r>
              <a:rPr lang="en-US" dirty="0" smtClean="0"/>
              <a:t>. But there are always exceptions </a:t>
            </a:r>
            <a:endParaRPr lang="en-US" dirty="0"/>
          </a:p>
        </p:txBody>
      </p:sp>
    </p:spTree>
    <p:extLst>
      <p:ext uri="{BB962C8B-B14F-4D97-AF65-F5344CB8AC3E}">
        <p14:creationId xmlns:p14="http://schemas.microsoft.com/office/powerpoint/2010/main" val="3104677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Structure Vs Function</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92500"/>
          </a:bodyPr>
          <a:lstStyle/>
          <a:p>
            <a:r>
              <a:rPr lang="en-US" dirty="0"/>
              <a:t>Computer is a complex system with millions of elementary electronic </a:t>
            </a:r>
            <a:r>
              <a:rPr lang="en-US" dirty="0" smtClean="0"/>
              <a:t>components. How </a:t>
            </a:r>
            <a:r>
              <a:rPr lang="en-US" dirty="0"/>
              <a:t>can one describe them? </a:t>
            </a:r>
            <a:endParaRPr lang="en-US" dirty="0" smtClean="0"/>
          </a:p>
          <a:p>
            <a:pPr lvl="1"/>
            <a:r>
              <a:rPr lang="en-US" dirty="0" smtClean="0"/>
              <a:t>Key </a:t>
            </a:r>
            <a:r>
              <a:rPr lang="en-US" dirty="0"/>
              <a:t>is to recognize the hierarchical nature of the </a:t>
            </a:r>
            <a:r>
              <a:rPr lang="en-US" dirty="0" smtClean="0"/>
              <a:t>system</a:t>
            </a:r>
          </a:p>
          <a:p>
            <a:pPr lvl="1"/>
            <a:endParaRPr lang="en-US" dirty="0"/>
          </a:p>
          <a:p>
            <a:r>
              <a:rPr lang="en-US" dirty="0" smtClean="0"/>
              <a:t>At </a:t>
            </a:r>
            <a:r>
              <a:rPr lang="en-US" dirty="0"/>
              <a:t>each level of hierarchy designer is concerned with two things:</a:t>
            </a:r>
          </a:p>
          <a:p>
            <a:pPr lvl="1"/>
            <a:r>
              <a:rPr lang="en-US" dirty="0"/>
              <a:t>Structure: the way in which components relate to each other</a:t>
            </a:r>
          </a:p>
          <a:p>
            <a:pPr lvl="1"/>
            <a:r>
              <a:rPr lang="en-US" dirty="0"/>
              <a:t>Function: the operation of individual components as part of the structure</a:t>
            </a:r>
          </a:p>
          <a:p>
            <a:endParaRPr lang="en-US" dirty="0"/>
          </a:p>
        </p:txBody>
      </p:sp>
    </p:spTree>
    <p:extLst>
      <p:ext uri="{BB962C8B-B14F-4D97-AF65-F5344CB8AC3E}">
        <p14:creationId xmlns:p14="http://schemas.microsoft.com/office/powerpoint/2010/main" val="2440854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7912"/>
          </a:xfrm>
        </p:spPr>
        <p:txBody>
          <a:bodyPr>
            <a:normAutofit fontScale="90000"/>
          </a:bodyPr>
          <a:lstStyle/>
          <a:p>
            <a:r>
              <a:rPr lang="en-US" dirty="0" smtClean="0">
                <a:effectLst>
                  <a:outerShdw blurRad="38100" dist="38100" dir="2700000" algn="tl">
                    <a:srgbClr val="000000">
                      <a:alpha val="43137"/>
                    </a:srgbClr>
                  </a:outerShdw>
                </a:effectLst>
              </a:rPr>
              <a:t>Functions of Computer</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657896" y="962742"/>
            <a:ext cx="5181600" cy="4351338"/>
          </a:xfrm>
        </p:spPr>
        <p:txBody>
          <a:bodyPr>
            <a:noAutofit/>
          </a:bodyPr>
          <a:lstStyle/>
          <a:p>
            <a:r>
              <a:rPr lang="en-US" dirty="0"/>
              <a:t>Data processing</a:t>
            </a:r>
          </a:p>
          <a:p>
            <a:pPr lvl="2"/>
            <a:r>
              <a:rPr lang="en-US" dirty="0"/>
              <a:t>Sorting</a:t>
            </a:r>
          </a:p>
          <a:p>
            <a:pPr lvl="2"/>
            <a:r>
              <a:rPr lang="en-US" dirty="0" smtClean="0"/>
              <a:t>Arithmetic</a:t>
            </a:r>
          </a:p>
          <a:p>
            <a:pPr marL="0" indent="0">
              <a:buNone/>
            </a:pPr>
            <a:endParaRPr lang="en-US" dirty="0" smtClean="0"/>
          </a:p>
          <a:p>
            <a:r>
              <a:rPr lang="en-US" dirty="0" smtClean="0"/>
              <a:t>Data </a:t>
            </a:r>
            <a:r>
              <a:rPr lang="en-US" dirty="0"/>
              <a:t>movement</a:t>
            </a:r>
          </a:p>
          <a:p>
            <a:pPr lvl="2"/>
            <a:r>
              <a:rPr lang="en-US" dirty="0"/>
              <a:t>Moving data to directly connected device, known as I/O</a:t>
            </a:r>
          </a:p>
          <a:p>
            <a:pPr lvl="2"/>
            <a:r>
              <a:rPr lang="en-US" dirty="0"/>
              <a:t>Moving data to remote device, known as Data </a:t>
            </a:r>
            <a:r>
              <a:rPr lang="en-US" dirty="0" smtClean="0"/>
              <a:t>Communication</a:t>
            </a:r>
            <a:endParaRPr lang="en-US" dirty="0"/>
          </a:p>
        </p:txBody>
      </p:sp>
      <p:sp>
        <p:nvSpPr>
          <p:cNvPr id="4" name="Content Placeholder 3"/>
          <p:cNvSpPr>
            <a:spLocks noGrp="1"/>
          </p:cNvSpPr>
          <p:nvPr>
            <p:ph sz="half" idx="2"/>
          </p:nvPr>
        </p:nvSpPr>
        <p:spPr>
          <a:xfrm>
            <a:off x="6494172" y="1349106"/>
            <a:ext cx="5181600" cy="4351338"/>
          </a:xfrm>
        </p:spPr>
        <p:txBody>
          <a:bodyPr>
            <a:normAutofit fontScale="85000" lnSpcReduction="20000"/>
          </a:bodyPr>
          <a:lstStyle/>
          <a:p>
            <a:r>
              <a:rPr lang="en-US" dirty="0"/>
              <a:t>Data storage</a:t>
            </a:r>
          </a:p>
          <a:p>
            <a:pPr lvl="2"/>
            <a:r>
              <a:rPr lang="en-US" dirty="0"/>
              <a:t>Must be able to store data</a:t>
            </a:r>
          </a:p>
          <a:p>
            <a:pPr lvl="2"/>
            <a:r>
              <a:rPr lang="en-US" dirty="0"/>
              <a:t>Even if data is processed on fly</a:t>
            </a:r>
          </a:p>
          <a:p>
            <a:pPr lvl="2"/>
            <a:r>
              <a:rPr lang="en-US" dirty="0"/>
              <a:t>Short term storage, Long term storage</a:t>
            </a:r>
          </a:p>
          <a:p>
            <a:endParaRPr lang="en-US" dirty="0"/>
          </a:p>
          <a:p>
            <a:r>
              <a:rPr lang="en-US" dirty="0" smtClean="0"/>
              <a:t>Control </a:t>
            </a:r>
            <a:endParaRPr lang="en-US" dirty="0"/>
          </a:p>
          <a:p>
            <a:pPr lvl="2"/>
            <a:r>
              <a:rPr lang="en-US" dirty="0"/>
              <a:t>Programmers control these functions by providing instructions</a:t>
            </a:r>
          </a:p>
          <a:p>
            <a:pPr lvl="2"/>
            <a:r>
              <a:rPr lang="en-US" dirty="0"/>
              <a:t>Control unit manages the resources in response to those instructions</a:t>
            </a:r>
          </a:p>
          <a:p>
            <a:endParaRPr lang="en-US" dirty="0"/>
          </a:p>
        </p:txBody>
      </p:sp>
    </p:spTree>
    <p:extLst>
      <p:ext uri="{BB962C8B-B14F-4D97-AF65-F5344CB8AC3E}">
        <p14:creationId xmlns:p14="http://schemas.microsoft.com/office/powerpoint/2010/main" val="3348851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effectLst>
                  <a:outerShdw blurRad="38100" dist="38100" dir="2700000" algn="tl">
                    <a:srgbClr val="000000">
                      <a:alpha val="43137"/>
                    </a:srgbClr>
                  </a:outerShdw>
                </a:effectLst>
              </a:rPr>
              <a:t>Functional View</a:t>
            </a:r>
            <a:endParaRPr lang="en-US" dirty="0">
              <a:effectLst>
                <a:outerShdw blurRad="38100" dist="38100" dir="2700000" algn="tl">
                  <a:srgbClr val="000000">
                    <a:alpha val="43137"/>
                  </a:srgbClr>
                </a:outerShdw>
              </a:effectLst>
            </a:endParaRPr>
          </a:p>
        </p:txBody>
      </p:sp>
      <p:pic>
        <p:nvPicPr>
          <p:cNvPr id="7" name="Picture 4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5031" t="11363" r="23865" b="17046"/>
          <a:stretch>
            <a:fillRect/>
          </a:stretch>
        </p:blipFill>
        <p:spPr bwMode="auto">
          <a:xfrm>
            <a:off x="5056086" y="502083"/>
            <a:ext cx="3412054" cy="6191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48014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705677" y="471142"/>
            <a:ext cx="10515600" cy="1325563"/>
          </a:xfrm>
          <a:noFill/>
        </p:spPr>
        <p:txBody>
          <a:bodyPr/>
          <a:lstStyle/>
          <a:p>
            <a:r>
              <a:rPr lang="en-GB" altLang="en-US" dirty="0" smtClean="0">
                <a:effectLst>
                  <a:outerShdw blurRad="38100" dist="38100" dir="2700000" algn="tl">
                    <a:srgbClr val="000000">
                      <a:alpha val="43137"/>
                    </a:srgbClr>
                  </a:outerShdw>
                </a:effectLst>
              </a:rPr>
              <a:t>Data movement</a:t>
            </a:r>
          </a:p>
        </p:txBody>
      </p:sp>
      <p:pic>
        <p:nvPicPr>
          <p:cNvPr id="19459" name="Picture 48"/>
          <p:cNvPicPr>
            <a:picLocks noChangeAspect="1" noChangeArrowheads="1"/>
          </p:cNvPicPr>
          <p:nvPr/>
        </p:nvPicPr>
        <p:blipFill>
          <a:blip r:embed="rId3">
            <a:extLst>
              <a:ext uri="{28A0092B-C50C-407E-A947-70E740481C1C}">
                <a14:useLocalDpi xmlns:a14="http://schemas.microsoft.com/office/drawing/2010/main" val="0"/>
              </a:ext>
            </a:extLst>
          </a:blip>
          <a:srcRect l="8835" t="6470" r="54846" b="58243"/>
          <a:stretch>
            <a:fillRect/>
          </a:stretch>
        </p:blipFill>
        <p:spPr bwMode="auto">
          <a:xfrm>
            <a:off x="4986129" y="798443"/>
            <a:ext cx="4419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9210140"/>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noFill/>
        </p:spPr>
        <p:txBody>
          <a:bodyPr/>
          <a:lstStyle/>
          <a:p>
            <a:r>
              <a:rPr lang="en-GB" altLang="en-US" dirty="0" smtClean="0">
                <a:effectLst>
                  <a:outerShdw blurRad="38100" dist="38100" dir="2700000" algn="tl">
                    <a:srgbClr val="000000">
                      <a:alpha val="43137"/>
                    </a:srgbClr>
                  </a:outerShdw>
                </a:effectLst>
              </a:rPr>
              <a:t>Storage </a:t>
            </a:r>
          </a:p>
        </p:txBody>
      </p:sp>
      <p:pic>
        <p:nvPicPr>
          <p:cNvPr id="21507" name="Picture 49"/>
          <p:cNvPicPr>
            <a:picLocks noChangeAspect="1" noChangeArrowheads="1"/>
          </p:cNvPicPr>
          <p:nvPr/>
        </p:nvPicPr>
        <p:blipFill>
          <a:blip r:embed="rId3">
            <a:extLst>
              <a:ext uri="{28A0092B-C50C-407E-A947-70E740481C1C}">
                <a14:useLocalDpi xmlns:a14="http://schemas.microsoft.com/office/drawing/2010/main" val="0"/>
              </a:ext>
            </a:extLst>
          </a:blip>
          <a:srcRect l="54970" t="6207" r="9694" b="58510"/>
          <a:stretch>
            <a:fillRect/>
          </a:stretch>
        </p:blipFill>
        <p:spPr bwMode="auto">
          <a:xfrm>
            <a:off x="4437753" y="612913"/>
            <a:ext cx="4418012"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1814898"/>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noFill/>
        </p:spPr>
        <p:txBody>
          <a:bodyPr/>
          <a:lstStyle/>
          <a:p>
            <a:r>
              <a:rPr lang="en-GB" altLang="en-US" dirty="0" smtClean="0">
                <a:effectLst>
                  <a:outerShdw blurRad="38100" dist="38100" dir="2700000" algn="tl">
                    <a:srgbClr val="000000">
                      <a:alpha val="43137"/>
                    </a:srgbClr>
                  </a:outerShdw>
                </a:effectLst>
              </a:rPr>
              <a:t>Processing</a:t>
            </a:r>
          </a:p>
        </p:txBody>
      </p:sp>
      <p:pic>
        <p:nvPicPr>
          <p:cNvPr id="23555" name="Picture 61"/>
          <p:cNvPicPr>
            <a:picLocks noChangeAspect="1" noChangeArrowheads="1"/>
          </p:cNvPicPr>
          <p:nvPr/>
        </p:nvPicPr>
        <p:blipFill>
          <a:blip r:embed="rId3">
            <a:extLst>
              <a:ext uri="{28A0092B-C50C-407E-A947-70E740481C1C}">
                <a14:useLocalDpi xmlns:a14="http://schemas.microsoft.com/office/drawing/2010/main" val="0"/>
              </a:ext>
            </a:extLst>
          </a:blip>
          <a:srcRect l="8772" t="50000" r="52945" b="13637"/>
          <a:stretch>
            <a:fillRect/>
          </a:stretch>
        </p:blipFill>
        <p:spPr bwMode="auto">
          <a:xfrm>
            <a:off x="5363816" y="629478"/>
            <a:ext cx="470535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941227" y="1362525"/>
            <a:ext cx="2798267" cy="461665"/>
          </a:xfrm>
          <a:prstGeom prst="rect">
            <a:avLst/>
          </a:prstGeom>
        </p:spPr>
        <p:txBody>
          <a:bodyPr wrap="none">
            <a:spAutoFit/>
          </a:bodyPr>
          <a:lstStyle/>
          <a:p>
            <a:r>
              <a:rPr lang="en-GB" altLang="en-US" sz="2400" dirty="0" smtClean="0">
                <a:effectLst>
                  <a:outerShdw blurRad="38100" dist="38100" dir="2700000" algn="tl">
                    <a:srgbClr val="000000">
                      <a:alpha val="43137"/>
                    </a:srgbClr>
                  </a:outerShdw>
                </a:effectLst>
              </a:rPr>
              <a:t>(From or To Storage) </a:t>
            </a:r>
            <a:endParaRPr lang="en-US" sz="2400" dirty="0"/>
          </a:p>
        </p:txBody>
      </p:sp>
    </p:spTree>
    <p:extLst>
      <p:ext uri="{BB962C8B-B14F-4D97-AF65-F5344CB8AC3E}">
        <p14:creationId xmlns:p14="http://schemas.microsoft.com/office/powerpoint/2010/main" val="283072878"/>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3" name="Picture 62"/>
          <p:cNvPicPr>
            <a:picLocks noChangeAspect="1" noChangeArrowheads="1"/>
          </p:cNvPicPr>
          <p:nvPr/>
        </p:nvPicPr>
        <p:blipFill>
          <a:blip r:embed="rId3">
            <a:extLst>
              <a:ext uri="{28A0092B-C50C-407E-A947-70E740481C1C}">
                <a14:useLocalDpi xmlns:a14="http://schemas.microsoft.com/office/drawing/2010/main" val="0"/>
              </a:ext>
            </a:extLst>
          </a:blip>
          <a:srcRect l="54907" t="50000" r="7791" b="13637"/>
          <a:stretch>
            <a:fillRect/>
          </a:stretch>
        </p:blipFill>
        <p:spPr bwMode="auto">
          <a:xfrm>
            <a:off x="4711148" y="828260"/>
            <a:ext cx="45847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p:cNvSpPr txBox="1">
            <a:spLocks noChangeArrowheads="1"/>
          </p:cNvSpPr>
          <p:nvPr/>
        </p:nvSpPr>
        <p:spPr>
          <a:xfrm>
            <a:off x="838200" y="365125"/>
            <a:ext cx="105156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ltLang="en-US" smtClean="0">
                <a:effectLst>
                  <a:outerShdw blurRad="38100" dist="38100" dir="2700000" algn="tl">
                    <a:srgbClr val="000000">
                      <a:alpha val="43137"/>
                    </a:srgbClr>
                  </a:outerShdw>
                </a:effectLst>
              </a:rPr>
              <a:t>Processing</a:t>
            </a:r>
            <a:endParaRPr lang="en-GB" altLang="en-US" dirty="0" smtClean="0">
              <a:effectLst>
                <a:outerShdw blurRad="38100" dist="38100" dir="2700000" algn="tl">
                  <a:srgbClr val="000000">
                    <a:alpha val="43137"/>
                  </a:srgbClr>
                </a:outerShdw>
              </a:effectLst>
            </a:endParaRPr>
          </a:p>
        </p:txBody>
      </p:sp>
      <p:sp>
        <p:nvSpPr>
          <p:cNvPr id="5" name="Rectangle 4"/>
          <p:cNvSpPr/>
          <p:nvPr/>
        </p:nvSpPr>
        <p:spPr>
          <a:xfrm>
            <a:off x="941227" y="1362525"/>
            <a:ext cx="2250681" cy="461665"/>
          </a:xfrm>
          <a:prstGeom prst="rect">
            <a:avLst/>
          </a:prstGeom>
        </p:spPr>
        <p:txBody>
          <a:bodyPr wrap="none">
            <a:spAutoFit/>
          </a:bodyPr>
          <a:lstStyle/>
          <a:p>
            <a:r>
              <a:rPr lang="en-GB" altLang="en-US" sz="2400" dirty="0" smtClean="0">
                <a:effectLst>
                  <a:outerShdw blurRad="38100" dist="38100" dir="2700000" algn="tl">
                    <a:srgbClr val="000000">
                      <a:alpha val="43137"/>
                    </a:srgbClr>
                  </a:outerShdw>
                </a:effectLst>
              </a:rPr>
              <a:t>(From or To I/O) </a:t>
            </a:r>
            <a:endParaRPr lang="en-US" sz="2400" dirty="0"/>
          </a:p>
        </p:txBody>
      </p:sp>
    </p:spTree>
    <p:extLst>
      <p:ext uri="{BB962C8B-B14F-4D97-AF65-F5344CB8AC3E}">
        <p14:creationId xmlns:p14="http://schemas.microsoft.com/office/powerpoint/2010/main" val="1793642636"/>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Oval 5" descr="50%"/>
          <p:cNvSpPr>
            <a:spLocks noChangeArrowheads="1"/>
          </p:cNvSpPr>
          <p:nvPr/>
        </p:nvSpPr>
        <p:spPr bwMode="auto">
          <a:xfrm>
            <a:off x="5410200" y="2057400"/>
            <a:ext cx="4724400" cy="4648200"/>
          </a:xfrm>
          <a:prstGeom prst="ellipse">
            <a:avLst/>
          </a:prstGeom>
          <a:pattFill prst="pct50">
            <a:fgClr>
              <a:schemeClr val="tx1"/>
            </a:fgClr>
            <a:bgClr>
              <a:schemeClr val="bg1"/>
            </a:bgClr>
          </a:patt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endParaRPr kumimoji="0" lang="en-GB" altLang="en-US" sz="1600">
              <a:latin typeface="Arial" panose="020B0604020202020204" pitchFamily="34" charset="0"/>
            </a:endParaRPr>
          </a:p>
        </p:txBody>
      </p:sp>
      <p:sp>
        <p:nvSpPr>
          <p:cNvPr id="27651" name="Oval 9"/>
          <p:cNvSpPr>
            <a:spLocks noChangeArrowheads="1"/>
          </p:cNvSpPr>
          <p:nvPr/>
        </p:nvSpPr>
        <p:spPr bwMode="auto">
          <a:xfrm>
            <a:off x="6934200" y="3581400"/>
            <a:ext cx="1524000" cy="15240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7652" name="Oval 6"/>
          <p:cNvSpPr>
            <a:spLocks noChangeArrowheads="1"/>
          </p:cNvSpPr>
          <p:nvPr/>
        </p:nvSpPr>
        <p:spPr bwMode="auto">
          <a:xfrm>
            <a:off x="6172200" y="27432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7654" name="Oval 4"/>
          <p:cNvSpPr>
            <a:spLocks noChangeArrowheads="1"/>
          </p:cNvSpPr>
          <p:nvPr/>
        </p:nvSpPr>
        <p:spPr bwMode="auto">
          <a:xfrm>
            <a:off x="2057400" y="3657600"/>
            <a:ext cx="1066800" cy="1066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7655" name="Oval 7"/>
          <p:cNvSpPr>
            <a:spLocks noChangeArrowheads="1"/>
          </p:cNvSpPr>
          <p:nvPr/>
        </p:nvSpPr>
        <p:spPr bwMode="auto">
          <a:xfrm>
            <a:off x="7924800" y="27432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7656" name="Oval 8"/>
          <p:cNvSpPr>
            <a:spLocks noChangeArrowheads="1"/>
          </p:cNvSpPr>
          <p:nvPr/>
        </p:nvSpPr>
        <p:spPr bwMode="auto">
          <a:xfrm>
            <a:off x="7010400" y="48006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7657" name="Text Box 10"/>
          <p:cNvSpPr txBox="1">
            <a:spLocks noChangeArrowheads="1"/>
          </p:cNvSpPr>
          <p:nvPr/>
        </p:nvSpPr>
        <p:spPr bwMode="auto">
          <a:xfrm>
            <a:off x="2043114" y="3946526"/>
            <a:ext cx="108264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Computer</a:t>
            </a:r>
            <a:endParaRPr kumimoji="0" lang="en-GB" altLang="en-US" sz="2400">
              <a:latin typeface="Times New Roman" panose="02020603050405020304" pitchFamily="18" charset="0"/>
            </a:endParaRPr>
          </a:p>
        </p:txBody>
      </p:sp>
      <p:sp>
        <p:nvSpPr>
          <p:cNvPr id="27658" name="Text Box 12"/>
          <p:cNvSpPr txBox="1">
            <a:spLocks noChangeArrowheads="1"/>
          </p:cNvSpPr>
          <p:nvPr/>
        </p:nvSpPr>
        <p:spPr bwMode="auto">
          <a:xfrm>
            <a:off x="8153401" y="3048001"/>
            <a:ext cx="92394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Main </a:t>
            </a:r>
          </a:p>
          <a:p>
            <a:pPr>
              <a:spcBef>
                <a:spcPct val="0"/>
              </a:spcBef>
              <a:buClrTx/>
              <a:buFontTx/>
              <a:buNone/>
            </a:pPr>
            <a:r>
              <a:rPr kumimoji="0" lang="en-GB" altLang="en-US" sz="1600">
                <a:latin typeface="Arial" panose="020B0604020202020204" pitchFamily="34" charset="0"/>
              </a:rPr>
              <a:t>Memory</a:t>
            </a:r>
          </a:p>
        </p:txBody>
      </p:sp>
      <p:sp>
        <p:nvSpPr>
          <p:cNvPr id="27659" name="Text Box 13"/>
          <p:cNvSpPr txBox="1">
            <a:spLocks noChangeArrowheads="1"/>
          </p:cNvSpPr>
          <p:nvPr/>
        </p:nvSpPr>
        <p:spPr bwMode="auto">
          <a:xfrm>
            <a:off x="7315200" y="5133976"/>
            <a:ext cx="798914"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Input</a:t>
            </a:r>
          </a:p>
          <a:p>
            <a:pPr>
              <a:spcBef>
                <a:spcPct val="0"/>
              </a:spcBef>
              <a:buClrTx/>
              <a:buFontTx/>
              <a:buNone/>
            </a:pPr>
            <a:r>
              <a:rPr kumimoji="0" lang="en-GB" altLang="en-US" sz="1600">
                <a:latin typeface="Arial" panose="020B0604020202020204" pitchFamily="34" charset="0"/>
              </a:rPr>
              <a:t>Output</a:t>
            </a:r>
          </a:p>
        </p:txBody>
      </p:sp>
      <p:sp>
        <p:nvSpPr>
          <p:cNvPr id="27660" name="Text Box 14"/>
          <p:cNvSpPr txBox="1">
            <a:spLocks noChangeArrowheads="1"/>
          </p:cNvSpPr>
          <p:nvPr/>
        </p:nvSpPr>
        <p:spPr bwMode="auto">
          <a:xfrm>
            <a:off x="6934200" y="4067176"/>
            <a:ext cx="1584386"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Systems</a:t>
            </a:r>
          </a:p>
          <a:p>
            <a:pPr>
              <a:spcBef>
                <a:spcPct val="0"/>
              </a:spcBef>
              <a:buClrTx/>
              <a:buFontTx/>
              <a:buNone/>
            </a:pPr>
            <a:r>
              <a:rPr kumimoji="0" lang="en-GB" altLang="en-US" sz="1600">
                <a:latin typeface="Arial" panose="020B0604020202020204" pitchFamily="34" charset="0"/>
              </a:rPr>
              <a:t>Interconnection</a:t>
            </a:r>
          </a:p>
        </p:txBody>
      </p:sp>
      <p:sp>
        <p:nvSpPr>
          <p:cNvPr id="27661" name="Line 15"/>
          <p:cNvSpPr>
            <a:spLocks noChangeShapeType="1"/>
          </p:cNvSpPr>
          <p:nvPr/>
        </p:nvSpPr>
        <p:spPr bwMode="auto">
          <a:xfrm flipV="1">
            <a:off x="2590800" y="2209800"/>
            <a:ext cx="4343400" cy="144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7662" name="Line 16"/>
          <p:cNvSpPr>
            <a:spLocks noChangeShapeType="1"/>
          </p:cNvSpPr>
          <p:nvPr/>
        </p:nvSpPr>
        <p:spPr bwMode="auto">
          <a:xfrm>
            <a:off x="2590800" y="4724400"/>
            <a:ext cx="419100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7663" name="Text Box 19"/>
          <p:cNvSpPr txBox="1">
            <a:spLocks noChangeArrowheads="1"/>
          </p:cNvSpPr>
          <p:nvPr/>
        </p:nvSpPr>
        <p:spPr bwMode="auto">
          <a:xfrm>
            <a:off x="1814513" y="2346326"/>
            <a:ext cx="1217298"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Peripherals</a:t>
            </a:r>
          </a:p>
        </p:txBody>
      </p:sp>
      <p:sp>
        <p:nvSpPr>
          <p:cNvPr id="27664" name="Text Box 20"/>
          <p:cNvSpPr txBox="1">
            <a:spLocks noChangeArrowheads="1"/>
          </p:cNvSpPr>
          <p:nvPr/>
        </p:nvSpPr>
        <p:spPr bwMode="auto">
          <a:xfrm>
            <a:off x="1662113" y="5622926"/>
            <a:ext cx="1605224"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Communication</a:t>
            </a:r>
          </a:p>
          <a:p>
            <a:pPr>
              <a:spcBef>
                <a:spcPct val="0"/>
              </a:spcBef>
              <a:buClrTx/>
              <a:buFontTx/>
              <a:buNone/>
            </a:pPr>
            <a:r>
              <a:rPr kumimoji="0" lang="en-GB" altLang="en-US" sz="1600">
                <a:latin typeface="Arial" panose="020B0604020202020204" pitchFamily="34" charset="0"/>
              </a:rPr>
              <a:t>lines</a:t>
            </a:r>
          </a:p>
        </p:txBody>
      </p:sp>
      <p:sp>
        <p:nvSpPr>
          <p:cNvPr id="27665" name="Text Box 11"/>
          <p:cNvSpPr txBox="1">
            <a:spLocks noChangeArrowheads="1"/>
          </p:cNvSpPr>
          <p:nvPr/>
        </p:nvSpPr>
        <p:spPr bwMode="auto">
          <a:xfrm>
            <a:off x="6324601" y="2971800"/>
            <a:ext cx="124142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Central</a:t>
            </a:r>
          </a:p>
          <a:p>
            <a:pPr>
              <a:spcBef>
                <a:spcPct val="0"/>
              </a:spcBef>
              <a:buClrTx/>
              <a:buFontTx/>
              <a:buNone/>
            </a:pPr>
            <a:r>
              <a:rPr kumimoji="0" lang="en-GB" altLang="en-US" sz="1600">
                <a:latin typeface="Arial" panose="020B0604020202020204" pitchFamily="34" charset="0"/>
              </a:rPr>
              <a:t>Processing </a:t>
            </a:r>
          </a:p>
          <a:p>
            <a:pPr>
              <a:spcBef>
                <a:spcPct val="0"/>
              </a:spcBef>
              <a:buClrTx/>
              <a:buFontTx/>
              <a:buNone/>
            </a:pPr>
            <a:r>
              <a:rPr kumimoji="0" lang="en-GB" altLang="en-US" sz="1600">
                <a:latin typeface="Arial" panose="020B0604020202020204" pitchFamily="34" charset="0"/>
              </a:rPr>
              <a:t>Unit</a:t>
            </a:r>
          </a:p>
        </p:txBody>
      </p:sp>
      <p:sp>
        <p:nvSpPr>
          <p:cNvPr id="27666" name="Line 21"/>
          <p:cNvSpPr>
            <a:spLocks noChangeShapeType="1"/>
          </p:cNvSpPr>
          <p:nvPr/>
        </p:nvSpPr>
        <p:spPr bwMode="auto">
          <a:xfrm>
            <a:off x="2438400" y="2743200"/>
            <a:ext cx="0" cy="914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7667" name="Line 22"/>
          <p:cNvSpPr>
            <a:spLocks noChangeShapeType="1"/>
          </p:cNvSpPr>
          <p:nvPr/>
        </p:nvSpPr>
        <p:spPr bwMode="auto">
          <a:xfrm>
            <a:off x="2438400" y="4724400"/>
            <a:ext cx="0" cy="9144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7668" name="Text Box 24"/>
          <p:cNvSpPr txBox="1">
            <a:spLocks noChangeArrowheads="1"/>
          </p:cNvSpPr>
          <p:nvPr/>
        </p:nvSpPr>
        <p:spPr bwMode="auto">
          <a:xfrm>
            <a:off x="7122042" y="2254718"/>
            <a:ext cx="1307066"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en-US" sz="2000">
                <a:latin typeface="Arial" panose="020B0604020202020204" pitchFamily="34" charset="0"/>
              </a:rPr>
              <a:t>Computer</a:t>
            </a:r>
            <a:endParaRPr kumimoji="0" lang="en-US" altLang="en-US" sz="1600">
              <a:latin typeface="Arial" panose="020B0604020202020204" pitchFamily="34" charset="0"/>
            </a:endParaRPr>
          </a:p>
        </p:txBody>
      </p:sp>
      <p:sp>
        <p:nvSpPr>
          <p:cNvPr id="23" name="Rounded Rectangular Callout 22"/>
          <p:cNvSpPr/>
          <p:nvPr/>
        </p:nvSpPr>
        <p:spPr bwMode="auto">
          <a:xfrm>
            <a:off x="3276600" y="2133600"/>
            <a:ext cx="2590800" cy="1600200"/>
          </a:xfrm>
          <a:prstGeom prst="wedgeRoundRectCallout">
            <a:avLst>
              <a:gd name="adj1" fmla="val 80932"/>
              <a:gd name="adj2" fmla="val 87262"/>
              <a:gd name="adj3" fmla="val 16667"/>
            </a:avLst>
          </a:prstGeom>
          <a:ln>
            <a:headEnd type="none" w="med" len="med"/>
            <a:tailEnd type="none" w="med" len="med"/>
          </a:ln>
        </p:spPr>
        <p:style>
          <a:lnRef idx="2">
            <a:schemeClr val="accent5"/>
          </a:lnRef>
          <a:fillRef idx="1003">
            <a:schemeClr val="lt1"/>
          </a:fillRef>
          <a:effectRef idx="0">
            <a:schemeClr val="accent5"/>
          </a:effectRef>
          <a:fontRef idx="minor">
            <a:schemeClr val="dk1"/>
          </a:fontRef>
        </p:style>
        <p:txBody>
          <a:bodyPr lIns="90000" tIns="46800" rIns="90000" bIns="46800" anchor="ctr"/>
          <a:lstStyle/>
          <a:p>
            <a:pPr>
              <a:defRPr/>
            </a:pPr>
            <a:r>
              <a:rPr lang="en-US" sz="2400" dirty="0">
                <a:solidFill>
                  <a:srgbClr val="0000FF"/>
                </a:solidFill>
                <a:latin typeface="Times New Roman" charset="0"/>
              </a:rPr>
              <a:t>There may be one or more of each of these components</a:t>
            </a:r>
          </a:p>
        </p:txBody>
      </p:sp>
      <p:sp>
        <p:nvSpPr>
          <p:cNvPr id="2" name="Title 1"/>
          <p:cNvSpPr>
            <a:spLocks noGrp="1"/>
          </p:cNvSpPr>
          <p:nvPr>
            <p:ph type="title"/>
          </p:nvPr>
        </p:nvSpPr>
        <p:spPr/>
        <p:txBody>
          <a:bodyPr/>
          <a:lstStyle/>
          <a:p>
            <a:r>
              <a:rPr lang="en-US" dirty="0">
                <a:effectLst>
                  <a:outerShdw blurRad="38100" dist="38100" dir="2700000" algn="tl">
                    <a:srgbClr val="000000">
                      <a:alpha val="43137"/>
                    </a:srgbClr>
                  </a:outerShdw>
                </a:effectLst>
              </a:rPr>
              <a:t>Structure - Top Level </a:t>
            </a:r>
            <a:br>
              <a:rPr lang="en-US" dirty="0">
                <a:effectLst>
                  <a:outerShdw blurRad="38100" dist="38100" dir="2700000" algn="tl">
                    <a:srgbClr val="000000">
                      <a:alpha val="43137"/>
                    </a:srgbClr>
                  </a:outerShdw>
                </a:effectLst>
              </a:rPr>
            </a:br>
            <a:r>
              <a:rPr lang="en-US" sz="2000" dirty="0">
                <a:effectLst>
                  <a:outerShdw blurRad="38100" dist="38100" dir="2700000" algn="tl">
                    <a:srgbClr val="000000">
                      <a:alpha val="43137"/>
                    </a:srgbClr>
                  </a:outerShdw>
                </a:effectLst>
              </a:rPr>
              <a:t>(Four main structural Components)</a:t>
            </a:r>
          </a:p>
        </p:txBody>
      </p:sp>
    </p:spTree>
    <p:extLst>
      <p:ext uri="{BB962C8B-B14F-4D97-AF65-F5344CB8AC3E}">
        <p14:creationId xmlns:p14="http://schemas.microsoft.com/office/powerpoint/2010/main" val="30992733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Oval 20" descr="50%"/>
          <p:cNvSpPr>
            <a:spLocks noChangeArrowheads="1"/>
          </p:cNvSpPr>
          <p:nvPr/>
        </p:nvSpPr>
        <p:spPr bwMode="auto">
          <a:xfrm>
            <a:off x="5410200" y="2057400"/>
            <a:ext cx="4724400" cy="4648200"/>
          </a:xfrm>
          <a:prstGeom prst="ellipse">
            <a:avLst/>
          </a:prstGeom>
          <a:pattFill prst="pct50">
            <a:fgClr>
              <a:schemeClr val="tx1"/>
            </a:fgClr>
            <a:bgClr>
              <a:schemeClr val="bg1"/>
            </a:bgClr>
          </a:patt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endParaRPr kumimoji="0" lang="en-GB" altLang="en-US" sz="1600">
              <a:latin typeface="Arial" panose="020B0604020202020204" pitchFamily="34" charset="0"/>
            </a:endParaRPr>
          </a:p>
        </p:txBody>
      </p:sp>
      <p:sp>
        <p:nvSpPr>
          <p:cNvPr id="29699" name="Oval 25"/>
          <p:cNvSpPr>
            <a:spLocks noChangeArrowheads="1"/>
          </p:cNvSpPr>
          <p:nvPr/>
        </p:nvSpPr>
        <p:spPr bwMode="auto">
          <a:xfrm>
            <a:off x="6934200" y="3581400"/>
            <a:ext cx="1524000" cy="15240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9700" name="Rectangle 2"/>
          <p:cNvSpPr>
            <a:spLocks noGrp="1" noChangeArrowheads="1"/>
          </p:cNvSpPr>
          <p:nvPr>
            <p:ph type="title" idx="4294967295"/>
          </p:nvPr>
        </p:nvSpPr>
        <p:spPr/>
        <p:txBody>
          <a:bodyPr vert="horz" lIns="91440" tIns="45720" rIns="91440" bIns="45720" rtlCol="0" anchor="ctr">
            <a:normAutofit/>
          </a:bodyPr>
          <a:lstStyle/>
          <a:p>
            <a:r>
              <a:rPr lang="en-GB" altLang="en-US" dirty="0">
                <a:effectLst>
                  <a:outerShdw blurRad="38100" dist="38100" dir="2700000" algn="tl">
                    <a:srgbClr val="000000">
                      <a:alpha val="43137"/>
                    </a:srgbClr>
                  </a:outerShdw>
                </a:effectLst>
              </a:rPr>
              <a:t>Structure - The CPU</a:t>
            </a:r>
          </a:p>
        </p:txBody>
      </p:sp>
      <p:sp>
        <p:nvSpPr>
          <p:cNvPr id="29701" name="Oval 21"/>
          <p:cNvSpPr>
            <a:spLocks noChangeArrowheads="1"/>
          </p:cNvSpPr>
          <p:nvPr/>
        </p:nvSpPr>
        <p:spPr bwMode="auto">
          <a:xfrm>
            <a:off x="6172200" y="27432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9702" name="Oval 22"/>
          <p:cNvSpPr>
            <a:spLocks noChangeArrowheads="1"/>
          </p:cNvSpPr>
          <p:nvPr/>
        </p:nvSpPr>
        <p:spPr bwMode="auto">
          <a:xfrm>
            <a:off x="1600200" y="2971800"/>
            <a:ext cx="1981200" cy="2057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9703" name="Oval 23"/>
          <p:cNvSpPr>
            <a:spLocks noChangeArrowheads="1"/>
          </p:cNvSpPr>
          <p:nvPr/>
        </p:nvSpPr>
        <p:spPr bwMode="auto">
          <a:xfrm>
            <a:off x="7924800" y="27432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9704" name="Oval 24"/>
          <p:cNvSpPr>
            <a:spLocks noChangeArrowheads="1"/>
          </p:cNvSpPr>
          <p:nvPr/>
        </p:nvSpPr>
        <p:spPr bwMode="auto">
          <a:xfrm>
            <a:off x="7010400" y="48006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9705" name="Text Box 26"/>
          <p:cNvSpPr txBox="1">
            <a:spLocks noChangeArrowheads="1"/>
          </p:cNvSpPr>
          <p:nvPr/>
        </p:nvSpPr>
        <p:spPr bwMode="auto">
          <a:xfrm>
            <a:off x="2127251" y="3016251"/>
            <a:ext cx="108264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Computer</a:t>
            </a:r>
            <a:endParaRPr kumimoji="0" lang="en-GB" altLang="en-US" sz="2400">
              <a:latin typeface="Times New Roman" panose="02020603050405020304" pitchFamily="18" charset="0"/>
            </a:endParaRPr>
          </a:p>
        </p:txBody>
      </p:sp>
      <p:sp>
        <p:nvSpPr>
          <p:cNvPr id="29706" name="Text Box 27"/>
          <p:cNvSpPr txBox="1">
            <a:spLocks noChangeArrowheads="1"/>
          </p:cNvSpPr>
          <p:nvPr/>
        </p:nvSpPr>
        <p:spPr bwMode="auto">
          <a:xfrm>
            <a:off x="8077200" y="2971800"/>
            <a:ext cx="109378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Arithmetic</a:t>
            </a:r>
          </a:p>
          <a:p>
            <a:pPr>
              <a:spcBef>
                <a:spcPct val="0"/>
              </a:spcBef>
              <a:buClrTx/>
              <a:buFontTx/>
              <a:buNone/>
            </a:pPr>
            <a:r>
              <a:rPr kumimoji="0" lang="en-GB" altLang="en-US" sz="1600">
                <a:latin typeface="Arial" panose="020B0604020202020204" pitchFamily="34" charset="0"/>
              </a:rPr>
              <a:t>and </a:t>
            </a:r>
          </a:p>
          <a:p>
            <a:pPr>
              <a:spcBef>
                <a:spcPct val="0"/>
              </a:spcBef>
              <a:buClrTx/>
              <a:buFontTx/>
              <a:buNone/>
            </a:pPr>
            <a:r>
              <a:rPr kumimoji="0" lang="en-GB" altLang="en-US" sz="1600">
                <a:latin typeface="Arial" panose="020B0604020202020204" pitchFamily="34" charset="0"/>
              </a:rPr>
              <a:t>Login Unit</a:t>
            </a:r>
          </a:p>
        </p:txBody>
      </p:sp>
      <p:sp>
        <p:nvSpPr>
          <p:cNvPr id="29707" name="Text Box 28"/>
          <p:cNvSpPr txBox="1">
            <a:spLocks noChangeArrowheads="1"/>
          </p:cNvSpPr>
          <p:nvPr/>
        </p:nvSpPr>
        <p:spPr bwMode="auto">
          <a:xfrm>
            <a:off x="7239001" y="5133976"/>
            <a:ext cx="842195"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Control</a:t>
            </a:r>
          </a:p>
          <a:p>
            <a:pPr>
              <a:spcBef>
                <a:spcPct val="0"/>
              </a:spcBef>
              <a:buClrTx/>
              <a:buFontTx/>
              <a:buNone/>
            </a:pPr>
            <a:r>
              <a:rPr kumimoji="0" lang="en-GB" altLang="en-US" sz="1600">
                <a:latin typeface="Arial" panose="020B0604020202020204" pitchFamily="34" charset="0"/>
              </a:rPr>
              <a:t>Unit</a:t>
            </a:r>
          </a:p>
        </p:txBody>
      </p:sp>
      <p:sp>
        <p:nvSpPr>
          <p:cNvPr id="29708" name="Text Box 29"/>
          <p:cNvSpPr txBox="1">
            <a:spLocks noChangeArrowheads="1"/>
          </p:cNvSpPr>
          <p:nvPr/>
        </p:nvSpPr>
        <p:spPr bwMode="auto">
          <a:xfrm>
            <a:off x="6934200" y="4067176"/>
            <a:ext cx="1584386"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Internal CPU</a:t>
            </a:r>
          </a:p>
          <a:p>
            <a:pPr>
              <a:spcBef>
                <a:spcPct val="0"/>
              </a:spcBef>
              <a:buClrTx/>
              <a:buFontTx/>
              <a:buNone/>
            </a:pPr>
            <a:r>
              <a:rPr kumimoji="0" lang="en-GB" altLang="en-US" sz="1600">
                <a:latin typeface="Arial" panose="020B0604020202020204" pitchFamily="34" charset="0"/>
              </a:rPr>
              <a:t>Interconnection</a:t>
            </a:r>
          </a:p>
        </p:txBody>
      </p:sp>
      <p:sp>
        <p:nvSpPr>
          <p:cNvPr id="29709" name="Line 30"/>
          <p:cNvSpPr>
            <a:spLocks noChangeShapeType="1"/>
          </p:cNvSpPr>
          <p:nvPr/>
        </p:nvSpPr>
        <p:spPr bwMode="auto">
          <a:xfrm flipV="1">
            <a:off x="3048000" y="2209800"/>
            <a:ext cx="388620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9710" name="Line 31"/>
          <p:cNvSpPr>
            <a:spLocks noChangeShapeType="1"/>
          </p:cNvSpPr>
          <p:nvPr/>
        </p:nvSpPr>
        <p:spPr bwMode="auto">
          <a:xfrm>
            <a:off x="3048000" y="4343400"/>
            <a:ext cx="373380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29711" name="Text Box 34"/>
          <p:cNvSpPr txBox="1">
            <a:spLocks noChangeArrowheads="1"/>
          </p:cNvSpPr>
          <p:nvPr/>
        </p:nvSpPr>
        <p:spPr bwMode="auto">
          <a:xfrm>
            <a:off x="6353176" y="3168651"/>
            <a:ext cx="104737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Registers</a:t>
            </a:r>
          </a:p>
        </p:txBody>
      </p:sp>
      <p:sp>
        <p:nvSpPr>
          <p:cNvPr id="29712" name="Oval 37"/>
          <p:cNvSpPr>
            <a:spLocks noChangeArrowheads="1"/>
          </p:cNvSpPr>
          <p:nvPr/>
        </p:nvSpPr>
        <p:spPr bwMode="auto">
          <a:xfrm>
            <a:off x="2743200" y="3581400"/>
            <a:ext cx="6858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9713" name="Text Box 38"/>
          <p:cNvSpPr txBox="1">
            <a:spLocks noChangeArrowheads="1"/>
          </p:cNvSpPr>
          <p:nvPr/>
        </p:nvSpPr>
        <p:spPr bwMode="auto">
          <a:xfrm>
            <a:off x="2849193" y="3807729"/>
            <a:ext cx="505564"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CPU</a:t>
            </a:r>
            <a:endParaRPr kumimoji="0" lang="en-US" altLang="en-US" sz="1600">
              <a:latin typeface="Arial" panose="020B0604020202020204" pitchFamily="34" charset="0"/>
            </a:endParaRPr>
          </a:p>
        </p:txBody>
      </p:sp>
      <p:sp>
        <p:nvSpPr>
          <p:cNvPr id="29714" name="Oval 39"/>
          <p:cNvSpPr>
            <a:spLocks noChangeArrowheads="1"/>
          </p:cNvSpPr>
          <p:nvPr/>
        </p:nvSpPr>
        <p:spPr bwMode="auto">
          <a:xfrm>
            <a:off x="1828800" y="32766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I/O</a:t>
            </a:r>
            <a:endParaRPr kumimoji="0" lang="en-US" altLang="en-US" sz="1600">
              <a:latin typeface="Arial" panose="020B0604020202020204" pitchFamily="34" charset="0"/>
            </a:endParaRPr>
          </a:p>
        </p:txBody>
      </p:sp>
      <p:sp>
        <p:nvSpPr>
          <p:cNvPr id="29715" name="Oval 40"/>
          <p:cNvSpPr>
            <a:spLocks noChangeArrowheads="1"/>
          </p:cNvSpPr>
          <p:nvPr/>
        </p:nvSpPr>
        <p:spPr bwMode="auto">
          <a:xfrm>
            <a:off x="19050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9716" name="Oval 41"/>
          <p:cNvSpPr>
            <a:spLocks noChangeArrowheads="1"/>
          </p:cNvSpPr>
          <p:nvPr/>
        </p:nvSpPr>
        <p:spPr bwMode="auto">
          <a:xfrm>
            <a:off x="2133600" y="3581400"/>
            <a:ext cx="6858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29717" name="Text Box 43"/>
          <p:cNvSpPr txBox="1">
            <a:spLocks noChangeArrowheads="1"/>
          </p:cNvSpPr>
          <p:nvPr/>
        </p:nvSpPr>
        <p:spPr bwMode="auto">
          <a:xfrm>
            <a:off x="1901928" y="4371292"/>
            <a:ext cx="736397"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Memory</a:t>
            </a:r>
            <a:endParaRPr kumimoji="0" lang="en-US" altLang="en-US" sz="1600">
              <a:latin typeface="Arial" panose="020B0604020202020204" pitchFamily="34" charset="0"/>
            </a:endParaRPr>
          </a:p>
        </p:txBody>
      </p:sp>
      <p:sp>
        <p:nvSpPr>
          <p:cNvPr id="29718" name="Text Box 44"/>
          <p:cNvSpPr txBox="1">
            <a:spLocks noChangeArrowheads="1"/>
          </p:cNvSpPr>
          <p:nvPr/>
        </p:nvSpPr>
        <p:spPr bwMode="auto">
          <a:xfrm>
            <a:off x="2127554" y="3806677"/>
            <a:ext cx="694719"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System</a:t>
            </a:r>
          </a:p>
          <a:p>
            <a:pPr algn="ctr">
              <a:spcBef>
                <a:spcPct val="0"/>
              </a:spcBef>
              <a:buClrTx/>
              <a:buFontTx/>
              <a:buNone/>
            </a:pPr>
            <a:r>
              <a:rPr kumimoji="0" lang="en-US" altLang="en-US" sz="1200">
                <a:latin typeface="Arial" panose="020B0604020202020204" pitchFamily="34" charset="0"/>
              </a:rPr>
              <a:t>Bus</a:t>
            </a:r>
          </a:p>
        </p:txBody>
      </p:sp>
      <p:sp>
        <p:nvSpPr>
          <p:cNvPr id="29719" name="Text Box 46"/>
          <p:cNvSpPr txBox="1">
            <a:spLocks noChangeArrowheads="1"/>
          </p:cNvSpPr>
          <p:nvPr/>
        </p:nvSpPr>
        <p:spPr bwMode="auto">
          <a:xfrm>
            <a:off x="7431244" y="2315043"/>
            <a:ext cx="725176"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en-US" sz="2000">
                <a:latin typeface="Arial" panose="020B0604020202020204" pitchFamily="34" charset="0"/>
              </a:rPr>
              <a:t>CPU</a:t>
            </a:r>
            <a:endParaRPr kumimoji="0" lang="en-US" altLang="en-US" sz="1600">
              <a:latin typeface="Arial" panose="020B0604020202020204" pitchFamily="34" charset="0"/>
            </a:endParaRPr>
          </a:p>
        </p:txBody>
      </p:sp>
    </p:spTree>
    <p:extLst>
      <p:ext uri="{BB962C8B-B14F-4D97-AF65-F5344CB8AC3E}">
        <p14:creationId xmlns:p14="http://schemas.microsoft.com/office/powerpoint/2010/main" val="4145134859"/>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Oval 35" descr="50%"/>
          <p:cNvSpPr>
            <a:spLocks noChangeArrowheads="1"/>
          </p:cNvSpPr>
          <p:nvPr/>
        </p:nvSpPr>
        <p:spPr bwMode="auto">
          <a:xfrm>
            <a:off x="5410200" y="2057400"/>
            <a:ext cx="4724400" cy="4648200"/>
          </a:xfrm>
          <a:prstGeom prst="ellipse">
            <a:avLst/>
          </a:prstGeom>
          <a:pattFill prst="pct50">
            <a:fgClr>
              <a:schemeClr val="tx1"/>
            </a:fgClr>
            <a:bgClr>
              <a:schemeClr val="bg1"/>
            </a:bgClr>
          </a:patt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31747" name="Oval 40"/>
          <p:cNvSpPr>
            <a:spLocks noChangeArrowheads="1"/>
          </p:cNvSpPr>
          <p:nvPr/>
        </p:nvSpPr>
        <p:spPr bwMode="auto">
          <a:xfrm>
            <a:off x="6934200" y="3581400"/>
            <a:ext cx="1828800" cy="18288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31748" name="Rectangle 2"/>
          <p:cNvSpPr>
            <a:spLocks noGrp="1" noChangeArrowheads="1"/>
          </p:cNvSpPr>
          <p:nvPr>
            <p:ph type="title" idx="4294967295"/>
          </p:nvPr>
        </p:nvSpPr>
        <p:spPr/>
        <p:txBody>
          <a:bodyPr vert="horz" lIns="91440" tIns="45720" rIns="91440" bIns="45720" rtlCol="0" anchor="ctr">
            <a:normAutofit/>
          </a:bodyPr>
          <a:lstStyle/>
          <a:p>
            <a:r>
              <a:rPr lang="en-GB" altLang="en-US" dirty="0">
                <a:effectLst>
                  <a:outerShdw blurRad="38100" dist="38100" dir="2700000" algn="tl">
                    <a:srgbClr val="000000">
                      <a:alpha val="43137"/>
                    </a:srgbClr>
                  </a:outerShdw>
                </a:effectLst>
              </a:rPr>
              <a:t>Structure - The Control Unit</a:t>
            </a:r>
          </a:p>
        </p:txBody>
      </p:sp>
      <p:sp>
        <p:nvSpPr>
          <p:cNvPr id="31749" name="Oval 36"/>
          <p:cNvSpPr>
            <a:spLocks noChangeArrowheads="1"/>
          </p:cNvSpPr>
          <p:nvPr/>
        </p:nvSpPr>
        <p:spPr bwMode="auto">
          <a:xfrm>
            <a:off x="6172200" y="27432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31750" name="Oval 37"/>
          <p:cNvSpPr>
            <a:spLocks noChangeArrowheads="1"/>
          </p:cNvSpPr>
          <p:nvPr/>
        </p:nvSpPr>
        <p:spPr bwMode="auto">
          <a:xfrm>
            <a:off x="1600200" y="2971800"/>
            <a:ext cx="1981200" cy="2057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31751" name="Oval 39"/>
          <p:cNvSpPr>
            <a:spLocks noChangeArrowheads="1"/>
          </p:cNvSpPr>
          <p:nvPr/>
        </p:nvSpPr>
        <p:spPr bwMode="auto">
          <a:xfrm>
            <a:off x="7239000" y="5029200"/>
            <a:ext cx="1371600" cy="1371600"/>
          </a:xfrm>
          <a:prstGeom prst="ellipse">
            <a:avLst/>
          </a:prstGeom>
          <a:solidFill>
            <a:schemeClr val="bg1"/>
          </a:solidFill>
          <a:ln w="9525">
            <a:solidFill>
              <a:schemeClr val="tx1"/>
            </a:solidFill>
            <a:round/>
            <a:headEnd/>
            <a:tailEnd/>
          </a:ln>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31752" name="Text Box 41"/>
          <p:cNvSpPr txBox="1">
            <a:spLocks noChangeArrowheads="1"/>
          </p:cNvSpPr>
          <p:nvPr/>
        </p:nvSpPr>
        <p:spPr bwMode="auto">
          <a:xfrm>
            <a:off x="2287588" y="3016251"/>
            <a:ext cx="612966"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a:latin typeface="Arial" panose="020B0604020202020204" pitchFamily="34" charset="0"/>
              </a:rPr>
              <a:t>CPU</a:t>
            </a:r>
            <a:endParaRPr kumimoji="0" lang="en-GB" altLang="en-US" sz="2400">
              <a:latin typeface="Times New Roman" panose="02020603050405020304" pitchFamily="18" charset="0"/>
            </a:endParaRPr>
          </a:p>
        </p:txBody>
      </p:sp>
      <p:sp>
        <p:nvSpPr>
          <p:cNvPr id="31753" name="Text Box 43"/>
          <p:cNvSpPr txBox="1">
            <a:spLocks noChangeArrowheads="1"/>
          </p:cNvSpPr>
          <p:nvPr/>
        </p:nvSpPr>
        <p:spPr bwMode="auto">
          <a:xfrm>
            <a:off x="7466014" y="5362576"/>
            <a:ext cx="923949" cy="5869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dirty="0">
                <a:latin typeface="Arial" panose="020B0604020202020204" pitchFamily="34" charset="0"/>
              </a:rPr>
              <a:t>Control</a:t>
            </a:r>
          </a:p>
          <a:p>
            <a:pPr>
              <a:spcBef>
                <a:spcPct val="0"/>
              </a:spcBef>
              <a:buClrTx/>
              <a:buFontTx/>
              <a:buNone/>
            </a:pPr>
            <a:r>
              <a:rPr kumimoji="0" lang="en-GB" altLang="en-US" sz="1600" dirty="0">
                <a:latin typeface="Arial" panose="020B0604020202020204" pitchFamily="34" charset="0"/>
              </a:rPr>
              <a:t>Memory</a:t>
            </a:r>
          </a:p>
        </p:txBody>
      </p:sp>
      <p:sp>
        <p:nvSpPr>
          <p:cNvPr id="31754" name="Text Box 44"/>
          <p:cNvSpPr txBox="1">
            <a:spLocks noChangeArrowheads="1"/>
          </p:cNvSpPr>
          <p:nvPr/>
        </p:nvSpPr>
        <p:spPr bwMode="auto">
          <a:xfrm>
            <a:off x="7196138" y="4067175"/>
            <a:ext cx="1490662"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dirty="0">
                <a:latin typeface="Arial" panose="020B0604020202020204" pitchFamily="34" charset="0"/>
              </a:rPr>
              <a:t>Control Unit </a:t>
            </a:r>
          </a:p>
          <a:p>
            <a:pPr>
              <a:spcBef>
                <a:spcPct val="0"/>
              </a:spcBef>
              <a:buClrTx/>
              <a:buFontTx/>
              <a:buNone/>
            </a:pPr>
            <a:r>
              <a:rPr kumimoji="0" lang="en-GB" altLang="en-US" sz="1600" dirty="0">
                <a:latin typeface="Arial" panose="020B0604020202020204" pitchFamily="34" charset="0"/>
              </a:rPr>
              <a:t>Registers and </a:t>
            </a:r>
          </a:p>
          <a:p>
            <a:pPr>
              <a:spcBef>
                <a:spcPct val="0"/>
              </a:spcBef>
              <a:buClrTx/>
              <a:buFontTx/>
              <a:buNone/>
            </a:pPr>
            <a:r>
              <a:rPr kumimoji="0" lang="en-GB" altLang="en-US" sz="1600" dirty="0">
                <a:latin typeface="Arial" panose="020B0604020202020204" pitchFamily="34" charset="0"/>
              </a:rPr>
              <a:t>Decoders</a:t>
            </a:r>
          </a:p>
        </p:txBody>
      </p:sp>
      <p:sp>
        <p:nvSpPr>
          <p:cNvPr id="31755" name="Line 45"/>
          <p:cNvSpPr>
            <a:spLocks noChangeShapeType="1"/>
          </p:cNvSpPr>
          <p:nvPr/>
        </p:nvSpPr>
        <p:spPr bwMode="auto">
          <a:xfrm flipV="1">
            <a:off x="3048000" y="2209800"/>
            <a:ext cx="3886200" cy="1371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31756" name="Line 46"/>
          <p:cNvSpPr>
            <a:spLocks noChangeShapeType="1"/>
          </p:cNvSpPr>
          <p:nvPr/>
        </p:nvSpPr>
        <p:spPr bwMode="auto">
          <a:xfrm>
            <a:off x="3048000" y="4343400"/>
            <a:ext cx="373380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US"/>
          </a:p>
        </p:txBody>
      </p:sp>
      <p:sp>
        <p:nvSpPr>
          <p:cNvPr id="31757" name="Text Box 47"/>
          <p:cNvSpPr txBox="1">
            <a:spLocks noChangeArrowheads="1"/>
          </p:cNvSpPr>
          <p:nvPr/>
        </p:nvSpPr>
        <p:spPr bwMode="auto">
          <a:xfrm>
            <a:off x="6357818" y="3103663"/>
            <a:ext cx="1262182" cy="1079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r>
              <a:rPr kumimoji="0" lang="en-GB" altLang="en-US" sz="1600" dirty="0">
                <a:latin typeface="Arial" panose="020B0604020202020204" pitchFamily="34" charset="0"/>
              </a:rPr>
              <a:t>Sequencing</a:t>
            </a:r>
          </a:p>
          <a:p>
            <a:pPr>
              <a:spcBef>
                <a:spcPct val="0"/>
              </a:spcBef>
              <a:buClrTx/>
              <a:buFontTx/>
              <a:buNone/>
            </a:pPr>
            <a:r>
              <a:rPr kumimoji="0" lang="en-GB" altLang="en-US" sz="1600" dirty="0" smtClean="0">
                <a:latin typeface="Arial" panose="020B0604020202020204" pitchFamily="34" charset="0"/>
              </a:rPr>
              <a:t>Logic </a:t>
            </a:r>
          </a:p>
          <a:p>
            <a:pPr>
              <a:spcBef>
                <a:spcPct val="0"/>
              </a:spcBef>
              <a:buClrTx/>
              <a:buFontTx/>
              <a:buNone/>
            </a:pPr>
            <a:r>
              <a:rPr kumimoji="0" lang="en-GB" altLang="en-US" sz="1600" dirty="0" smtClean="0">
                <a:latin typeface="Arial" panose="020B0604020202020204" pitchFamily="34" charset="0"/>
              </a:rPr>
              <a:t>circuit</a:t>
            </a:r>
          </a:p>
          <a:p>
            <a:pPr>
              <a:spcBef>
                <a:spcPct val="0"/>
              </a:spcBef>
              <a:buClrTx/>
              <a:buFontTx/>
              <a:buNone/>
            </a:pPr>
            <a:endParaRPr kumimoji="0" lang="en-GB" altLang="en-US" sz="1600" dirty="0">
              <a:latin typeface="Arial" panose="020B0604020202020204" pitchFamily="34" charset="0"/>
            </a:endParaRPr>
          </a:p>
        </p:txBody>
      </p:sp>
      <p:sp>
        <p:nvSpPr>
          <p:cNvPr id="31758" name="Oval 48"/>
          <p:cNvSpPr>
            <a:spLocks noChangeArrowheads="1"/>
          </p:cNvSpPr>
          <p:nvPr/>
        </p:nvSpPr>
        <p:spPr bwMode="auto">
          <a:xfrm>
            <a:off x="2743200" y="3581400"/>
            <a:ext cx="6858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31759" name="Text Box 49"/>
          <p:cNvSpPr txBox="1">
            <a:spLocks noChangeArrowheads="1"/>
          </p:cNvSpPr>
          <p:nvPr/>
        </p:nvSpPr>
        <p:spPr bwMode="auto">
          <a:xfrm>
            <a:off x="2767410" y="3716190"/>
            <a:ext cx="675483"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Control</a:t>
            </a:r>
          </a:p>
          <a:p>
            <a:pPr algn="ctr">
              <a:spcBef>
                <a:spcPct val="0"/>
              </a:spcBef>
              <a:buClrTx/>
              <a:buFontTx/>
              <a:buNone/>
            </a:pPr>
            <a:r>
              <a:rPr kumimoji="0" lang="en-US" altLang="en-US" sz="1200">
                <a:latin typeface="Arial" panose="020B0604020202020204" pitchFamily="34" charset="0"/>
              </a:rPr>
              <a:t>Unit</a:t>
            </a:r>
            <a:endParaRPr kumimoji="0" lang="en-US" altLang="en-US" sz="1600">
              <a:latin typeface="Arial" panose="020B0604020202020204" pitchFamily="34" charset="0"/>
            </a:endParaRPr>
          </a:p>
        </p:txBody>
      </p:sp>
      <p:sp>
        <p:nvSpPr>
          <p:cNvPr id="31760" name="Oval 50"/>
          <p:cNvSpPr>
            <a:spLocks noChangeArrowheads="1"/>
          </p:cNvSpPr>
          <p:nvPr/>
        </p:nvSpPr>
        <p:spPr bwMode="auto">
          <a:xfrm>
            <a:off x="1828800" y="3276600"/>
            <a:ext cx="609600" cy="609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ALU</a:t>
            </a:r>
            <a:endParaRPr kumimoji="0" lang="en-US" altLang="en-US" sz="1600">
              <a:latin typeface="Arial" panose="020B0604020202020204" pitchFamily="34" charset="0"/>
            </a:endParaRPr>
          </a:p>
        </p:txBody>
      </p:sp>
      <p:sp>
        <p:nvSpPr>
          <p:cNvPr id="31761" name="Oval 51"/>
          <p:cNvSpPr>
            <a:spLocks noChangeArrowheads="1"/>
          </p:cNvSpPr>
          <p:nvPr/>
        </p:nvSpPr>
        <p:spPr bwMode="auto">
          <a:xfrm>
            <a:off x="1905000" y="4191000"/>
            <a:ext cx="685800" cy="685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31762" name="Oval 52"/>
          <p:cNvSpPr>
            <a:spLocks noChangeArrowheads="1"/>
          </p:cNvSpPr>
          <p:nvPr/>
        </p:nvSpPr>
        <p:spPr bwMode="auto">
          <a:xfrm>
            <a:off x="2133600" y="3581400"/>
            <a:ext cx="6858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spcBef>
                <a:spcPct val="0"/>
              </a:spcBef>
              <a:buClrTx/>
              <a:buFontTx/>
              <a:buNone/>
            </a:pPr>
            <a:endParaRPr kumimoji="0" lang="en-US" altLang="en-US" sz="2400">
              <a:latin typeface="Times New Roman" panose="02020603050405020304" pitchFamily="18" charset="0"/>
            </a:endParaRPr>
          </a:p>
        </p:txBody>
      </p:sp>
      <p:sp>
        <p:nvSpPr>
          <p:cNvPr id="31763" name="Text Box 53"/>
          <p:cNvSpPr txBox="1">
            <a:spLocks noChangeArrowheads="1"/>
          </p:cNvSpPr>
          <p:nvPr/>
        </p:nvSpPr>
        <p:spPr bwMode="auto">
          <a:xfrm>
            <a:off x="1858616" y="4371292"/>
            <a:ext cx="829371" cy="279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Registers</a:t>
            </a:r>
            <a:endParaRPr kumimoji="0" lang="en-US" altLang="en-US" sz="1600">
              <a:latin typeface="Arial" panose="020B0604020202020204" pitchFamily="34" charset="0"/>
            </a:endParaRPr>
          </a:p>
        </p:txBody>
      </p:sp>
      <p:sp>
        <p:nvSpPr>
          <p:cNvPr id="31764" name="Text Box 54"/>
          <p:cNvSpPr txBox="1">
            <a:spLocks noChangeArrowheads="1"/>
          </p:cNvSpPr>
          <p:nvPr/>
        </p:nvSpPr>
        <p:spPr bwMode="auto">
          <a:xfrm>
            <a:off x="2130736" y="3806677"/>
            <a:ext cx="693116"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0"/>
              </a:spcBef>
              <a:buClrTx/>
              <a:buFontTx/>
              <a:buNone/>
            </a:pPr>
            <a:r>
              <a:rPr kumimoji="0" lang="en-US" altLang="en-US" sz="1200">
                <a:latin typeface="Arial" panose="020B0604020202020204" pitchFamily="34" charset="0"/>
              </a:rPr>
              <a:t>Internal</a:t>
            </a:r>
          </a:p>
          <a:p>
            <a:pPr algn="ctr">
              <a:spcBef>
                <a:spcPct val="0"/>
              </a:spcBef>
              <a:buClrTx/>
              <a:buFontTx/>
              <a:buNone/>
            </a:pPr>
            <a:r>
              <a:rPr kumimoji="0" lang="en-US" altLang="en-US" sz="1200">
                <a:latin typeface="Arial" panose="020B0604020202020204" pitchFamily="34" charset="0"/>
              </a:rPr>
              <a:t>Bus</a:t>
            </a:r>
          </a:p>
        </p:txBody>
      </p:sp>
      <p:sp>
        <p:nvSpPr>
          <p:cNvPr id="31765" name="Text Box 55"/>
          <p:cNvSpPr txBox="1">
            <a:spLocks noChangeArrowheads="1"/>
          </p:cNvSpPr>
          <p:nvPr/>
        </p:nvSpPr>
        <p:spPr bwMode="auto">
          <a:xfrm>
            <a:off x="6928846" y="2283293"/>
            <a:ext cx="1536296"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spAutoFit/>
          </a:bodyPr>
          <a:lstStyle>
            <a:lvl1pPr>
              <a:spcBef>
                <a:spcPct val="20000"/>
              </a:spcBef>
              <a:buClr>
                <a:srgbClr val="FF0000"/>
              </a:buClr>
              <a:buChar char="•"/>
              <a:defRPr kumimoji="1" sz="2800">
                <a:solidFill>
                  <a:schemeClr val="tx1"/>
                </a:solidFill>
                <a:latin typeface="Verdana" panose="020B0604030504040204" pitchFamily="34" charset="0"/>
              </a:defRPr>
            </a:lvl1pPr>
            <a:lvl2pPr marL="742950" indent="-285750">
              <a:spcBef>
                <a:spcPct val="20000"/>
              </a:spcBef>
              <a:buClr>
                <a:srgbClr val="FF0000"/>
              </a:buClr>
              <a:buChar char="—"/>
              <a:defRPr kumimoji="1" sz="2400">
                <a:solidFill>
                  <a:schemeClr val="tx1"/>
                </a:solidFill>
                <a:latin typeface="Verdana" panose="020B0604030504040204" pitchFamily="34" charset="0"/>
              </a:defRPr>
            </a:lvl2pPr>
            <a:lvl3pPr marL="1143000" indent="-228600">
              <a:spcBef>
                <a:spcPct val="20000"/>
              </a:spcBef>
              <a:buClr>
                <a:srgbClr val="FF0000"/>
              </a:buClr>
              <a:buChar char="–"/>
              <a:defRPr kumimoji="1" sz="2000">
                <a:solidFill>
                  <a:schemeClr val="tx1"/>
                </a:solidFill>
                <a:latin typeface="Verdana" panose="020B0604030504040204" pitchFamily="34" charset="0"/>
              </a:defRPr>
            </a:lvl3pPr>
            <a:lvl4pPr marL="1600200" indent="-228600">
              <a:spcBef>
                <a:spcPct val="20000"/>
              </a:spcBef>
              <a:buClr>
                <a:srgbClr val="FF0000"/>
              </a:buClr>
              <a:buChar char="+"/>
              <a:defRPr kumimoji="1" sz="2000">
                <a:solidFill>
                  <a:schemeClr val="tx1"/>
                </a:solidFill>
                <a:latin typeface="Verdana" panose="020B0604030504040204" pitchFamily="34" charset="0"/>
              </a:defRPr>
            </a:lvl4pPr>
            <a:lvl5pPr marL="2057400" indent="-228600">
              <a:spcBef>
                <a:spcPct val="20000"/>
              </a:spcBef>
              <a:buClr>
                <a:srgbClr val="FF0000"/>
              </a:buClr>
              <a:buChar char="o"/>
              <a:defRPr kumimoji="1" sz="2000">
                <a:solidFill>
                  <a:schemeClr val="tx1"/>
                </a:solidFill>
                <a:latin typeface="Verdana" panose="020B0604030504040204" pitchFamily="34" charset="0"/>
              </a:defRPr>
            </a:lvl5pPr>
            <a:lvl6pPr marL="25146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6pPr>
            <a:lvl7pPr marL="29718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7pPr>
            <a:lvl8pPr marL="34290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8pPr>
            <a:lvl9pPr marL="3886200" indent="-228600" eaLnBrk="0" fontAlgn="base" hangingPunct="0">
              <a:spcBef>
                <a:spcPct val="20000"/>
              </a:spcBef>
              <a:spcAft>
                <a:spcPct val="0"/>
              </a:spcAft>
              <a:buClr>
                <a:srgbClr val="FF0000"/>
              </a:buClr>
              <a:buChar char="o"/>
              <a:defRPr kumimoji="1" sz="2000">
                <a:solidFill>
                  <a:schemeClr val="tx1"/>
                </a:solidFill>
                <a:latin typeface="Verdana" panose="020B0604030504040204" pitchFamily="34" charset="0"/>
              </a:defRPr>
            </a:lvl9pPr>
          </a:lstStyle>
          <a:p>
            <a:pPr algn="ctr">
              <a:spcBef>
                <a:spcPct val="50000"/>
              </a:spcBef>
              <a:buClrTx/>
              <a:buFontTx/>
              <a:buNone/>
            </a:pPr>
            <a:r>
              <a:rPr kumimoji="0" lang="en-US" altLang="en-US" sz="2000">
                <a:latin typeface="Arial" panose="020B0604020202020204" pitchFamily="34" charset="0"/>
              </a:rPr>
              <a:t>Control Unit</a:t>
            </a:r>
            <a:endParaRPr kumimoji="0" lang="en-US" altLang="en-US" sz="1600">
              <a:latin typeface="Arial" panose="020B0604020202020204" pitchFamily="34" charset="0"/>
            </a:endParaRPr>
          </a:p>
        </p:txBody>
      </p:sp>
    </p:spTree>
    <p:extLst>
      <p:ext uri="{BB962C8B-B14F-4D97-AF65-F5344CB8AC3E}">
        <p14:creationId xmlns:p14="http://schemas.microsoft.com/office/powerpoint/2010/main" val="4224609886"/>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GB" altLang="en-US" dirty="0">
                <a:effectLst>
                  <a:outerShdw blurRad="38100" dist="38100" dir="2700000" algn="tl">
                    <a:srgbClr val="000000">
                      <a:alpha val="43137"/>
                    </a:srgbClr>
                  </a:outerShdw>
                </a:effectLst>
              </a:rPr>
              <a:t>The Control Unit</a:t>
            </a:r>
            <a:endParaRPr lang="en-US" dirty="0"/>
          </a:p>
        </p:txBody>
      </p:sp>
      <p:sp>
        <p:nvSpPr>
          <p:cNvPr id="3" name="Content Placeholder 2"/>
          <p:cNvSpPr>
            <a:spLocks noGrp="1"/>
          </p:cNvSpPr>
          <p:nvPr>
            <p:ph idx="1"/>
          </p:nvPr>
        </p:nvSpPr>
        <p:spPr>
          <a:xfrm>
            <a:off x="838199" y="1229277"/>
            <a:ext cx="10942983" cy="5383558"/>
          </a:xfrm>
        </p:spPr>
        <p:txBody>
          <a:bodyPr>
            <a:normAutofit fontScale="85000" lnSpcReduction="20000"/>
          </a:bodyPr>
          <a:lstStyle/>
          <a:p>
            <a:r>
              <a:rPr lang="en-US" dirty="0" smtClean="0">
                <a:solidFill>
                  <a:srgbClr val="202124"/>
                </a:solidFill>
                <a:latin typeface="arial" panose="020B0604020202020204" pitchFamily="34" charset="0"/>
              </a:rPr>
              <a:t>A </a:t>
            </a:r>
            <a:r>
              <a:rPr lang="en-US" b="1" dirty="0" smtClean="0">
                <a:solidFill>
                  <a:srgbClr val="202124"/>
                </a:solidFill>
                <a:latin typeface="arial" panose="020B0604020202020204" pitchFamily="34" charset="0"/>
              </a:rPr>
              <a:t>sequence logic circuit </a:t>
            </a:r>
            <a:r>
              <a:rPr lang="en-US" dirty="0"/>
              <a:t>type of logic circuit whose output depends not only on the present value of its input signals but on the sequence of past inputs, the input history as well</a:t>
            </a:r>
            <a:r>
              <a:rPr lang="en-US" dirty="0" smtClean="0">
                <a:solidFill>
                  <a:srgbClr val="202124"/>
                </a:solidFill>
                <a:latin typeface="arial" panose="020B0604020202020204" pitchFamily="34" charset="0"/>
              </a:rPr>
              <a:t>.</a:t>
            </a:r>
          </a:p>
          <a:p>
            <a:endParaRPr lang="en-US" altLang="en-US" b="1" dirty="0" smtClean="0">
              <a:solidFill>
                <a:srgbClr val="202124"/>
              </a:solidFill>
              <a:latin typeface="arial" panose="020B0604020202020204" pitchFamily="34" charset="0"/>
            </a:endParaRPr>
          </a:p>
          <a:p>
            <a:r>
              <a:rPr lang="en-US" dirty="0" smtClean="0"/>
              <a:t>A </a:t>
            </a:r>
            <a:r>
              <a:rPr lang="en-US" b="1" dirty="0" smtClean="0"/>
              <a:t>Control </a:t>
            </a:r>
            <a:r>
              <a:rPr lang="en-US" b="1" dirty="0"/>
              <a:t>Memory</a:t>
            </a:r>
            <a:r>
              <a:rPr lang="en-US" dirty="0"/>
              <a:t> is the storage in the microprogrammed control unit to store the microprogram. Writeable Control Memory: Control Storage whose contents can be modified, allow the change in microprogram and Instruction set can be changed or modified is referred as Writeable Control Memory</a:t>
            </a:r>
            <a:r>
              <a:rPr lang="en-US" dirty="0" smtClean="0"/>
              <a:t>.</a:t>
            </a:r>
          </a:p>
          <a:p>
            <a:endParaRPr lang="en-US" altLang="en-US" dirty="0"/>
          </a:p>
          <a:p>
            <a:r>
              <a:rPr lang="en-GB" altLang="en-US" dirty="0">
                <a:latin typeface="Arial" panose="020B0604020202020204" pitchFamily="34" charset="0"/>
              </a:rPr>
              <a:t>A </a:t>
            </a:r>
            <a:r>
              <a:rPr lang="en-GB" altLang="en-US" b="1" dirty="0">
                <a:latin typeface="Arial" panose="020B0604020202020204" pitchFamily="34" charset="0"/>
              </a:rPr>
              <a:t>Control Unit </a:t>
            </a:r>
            <a:r>
              <a:rPr lang="en-US" dirty="0"/>
              <a:t>typically uses </a:t>
            </a:r>
            <a:r>
              <a:rPr lang="en-GB" altLang="en-US" b="1" dirty="0">
                <a:latin typeface="Arial" panose="020B0604020202020204" pitchFamily="34" charset="0"/>
              </a:rPr>
              <a:t>Registers and Decoders </a:t>
            </a:r>
            <a:r>
              <a:rPr lang="en-US" dirty="0"/>
              <a:t>to hold and convert coded instructions into timing and control signals that direct the operation of the other units (memory, arithmetic logic unit and input and output devices, etc.).</a:t>
            </a:r>
          </a:p>
          <a:p>
            <a:endParaRPr lang="en-GB" altLang="en-US" dirty="0"/>
          </a:p>
          <a:p>
            <a:endParaRPr lang="en-GB" altLang="en-US" b="1" dirty="0">
              <a:latin typeface="Arial" panose="020B0604020202020204" pitchFamily="34" charset="0"/>
            </a:endParaRPr>
          </a:p>
        </p:txBody>
      </p:sp>
    </p:spTree>
    <p:extLst>
      <p:ext uri="{BB962C8B-B14F-4D97-AF65-F5344CB8AC3E}">
        <p14:creationId xmlns:p14="http://schemas.microsoft.com/office/powerpoint/2010/main" val="1867372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Assignment – 1</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Is hard disk a peripheral device?</a:t>
            </a:r>
          </a:p>
          <a:p>
            <a:r>
              <a:rPr lang="en-US" dirty="0" smtClean="0"/>
              <a:t>Why or why not?</a:t>
            </a:r>
          </a:p>
          <a:p>
            <a:endParaRPr lang="en-US" dirty="0"/>
          </a:p>
          <a:p>
            <a:endParaRPr lang="en-US" dirty="0" smtClean="0"/>
          </a:p>
          <a:p>
            <a:r>
              <a:rPr lang="en-GB" altLang="en-US" dirty="0"/>
              <a:t>Is there a hardware multiply unit or is it done by repeated addition?</a:t>
            </a:r>
          </a:p>
          <a:p>
            <a:r>
              <a:rPr lang="en-US" dirty="0" smtClean="0"/>
              <a:t>Explain by writing a </a:t>
            </a:r>
            <a:r>
              <a:rPr lang="en-US" smtClean="0"/>
              <a:t>sample program?</a:t>
            </a:r>
            <a:endParaRPr lang="en-US" dirty="0"/>
          </a:p>
        </p:txBody>
      </p:sp>
    </p:spTree>
    <p:extLst>
      <p:ext uri="{BB962C8B-B14F-4D97-AF65-F5344CB8AC3E}">
        <p14:creationId xmlns:p14="http://schemas.microsoft.com/office/powerpoint/2010/main" val="2965885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Parts of Computer Hardware</a:t>
            </a:r>
            <a:endParaRPr lang="en-US" dirty="0">
              <a:effectLst>
                <a:outerShdw blurRad="38100" dist="38100" dir="2700000" algn="tl">
                  <a:srgbClr val="000000">
                    <a:alpha val="43137"/>
                  </a:srgbClr>
                </a:outerShdw>
              </a:effectLst>
            </a:endParaRPr>
          </a:p>
        </p:txBody>
      </p:sp>
      <p:sp>
        <p:nvSpPr>
          <p:cNvPr id="6" name="Rectangle 5"/>
          <p:cNvSpPr/>
          <p:nvPr/>
        </p:nvSpPr>
        <p:spPr>
          <a:xfrm>
            <a:off x="3940963" y="1701070"/>
            <a:ext cx="7872280" cy="4679924"/>
          </a:xfrm>
          <a:prstGeom prst="rect">
            <a:avLst/>
          </a:prstGeom>
        </p:spPr>
        <p:style>
          <a:lnRef idx="1">
            <a:schemeClr val="accent1"/>
          </a:lnRef>
          <a:fillRef idx="2">
            <a:schemeClr val="accent1"/>
          </a:fillRef>
          <a:effectRef idx="1">
            <a:schemeClr val="accent1"/>
          </a:effectRef>
          <a:fontRef idx="minor">
            <a:schemeClr val="dk1"/>
          </a:fontRef>
        </p:style>
        <p:txBody>
          <a:bodyPr vert="vert270" rtlCol="0" anchor="t" anchorCtr="0">
            <a:scene3d>
              <a:camera prst="orthographicFront">
                <a:rot lat="0" lon="0" rev="0"/>
              </a:camera>
              <a:lightRig rig="threePt" dir="t"/>
            </a:scene3d>
          </a:bodyPr>
          <a:lstStyle/>
          <a:p>
            <a:pPr algn="ctr"/>
            <a:endParaRPr lang="en-US" dirty="0"/>
          </a:p>
        </p:txBody>
      </p:sp>
      <p:sp>
        <p:nvSpPr>
          <p:cNvPr id="7" name="Rounded Rectangle 6"/>
          <p:cNvSpPr/>
          <p:nvPr/>
        </p:nvSpPr>
        <p:spPr>
          <a:xfrm>
            <a:off x="967219" y="1725773"/>
            <a:ext cx="1902590" cy="21507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Input </a:t>
            </a:r>
          </a:p>
          <a:p>
            <a:pPr algn="ctr"/>
            <a:r>
              <a:rPr lang="en-US" dirty="0" smtClean="0"/>
              <a:t>Devices</a:t>
            </a:r>
            <a:endParaRPr lang="en-US" dirty="0"/>
          </a:p>
        </p:txBody>
      </p:sp>
      <p:sp>
        <p:nvSpPr>
          <p:cNvPr id="14" name="Rounded Rectangle 13"/>
          <p:cNvSpPr/>
          <p:nvPr/>
        </p:nvSpPr>
        <p:spPr>
          <a:xfrm>
            <a:off x="967218" y="4068533"/>
            <a:ext cx="1937711" cy="210718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Output</a:t>
            </a:r>
          </a:p>
          <a:p>
            <a:pPr algn="ctr"/>
            <a:r>
              <a:rPr lang="en-US" dirty="0" smtClean="0"/>
              <a:t>Devices</a:t>
            </a:r>
            <a:endParaRPr lang="en-US" dirty="0"/>
          </a:p>
        </p:txBody>
      </p:sp>
      <p:cxnSp>
        <p:nvCxnSpPr>
          <p:cNvPr id="17" name="Straight Connector 16"/>
          <p:cNvCxnSpPr/>
          <p:nvPr/>
        </p:nvCxnSpPr>
        <p:spPr>
          <a:xfrm flipV="1">
            <a:off x="2876415" y="3242858"/>
            <a:ext cx="1036033" cy="16116"/>
          </a:xfrm>
          <a:prstGeom prst="line">
            <a:avLst/>
          </a:prstGeom>
        </p:spPr>
        <p:style>
          <a:lnRef idx="3">
            <a:schemeClr val="dk1"/>
          </a:lnRef>
          <a:fillRef idx="0">
            <a:schemeClr val="dk1"/>
          </a:fillRef>
          <a:effectRef idx="2">
            <a:schemeClr val="dk1"/>
          </a:effectRef>
          <a:fontRef idx="minor">
            <a:schemeClr val="tx1"/>
          </a:fontRef>
        </p:style>
      </p:cxnSp>
      <p:sp>
        <p:nvSpPr>
          <p:cNvPr id="20" name="TextBox 19"/>
          <p:cNvSpPr txBox="1"/>
          <p:nvPr/>
        </p:nvSpPr>
        <p:spPr>
          <a:xfrm rot="16200000">
            <a:off x="3201252" y="3856366"/>
            <a:ext cx="667362" cy="369332"/>
          </a:xfrm>
          <a:prstGeom prst="rect">
            <a:avLst/>
          </a:prstGeom>
          <a:noFill/>
        </p:spPr>
        <p:txBody>
          <a:bodyPr wrap="none" rtlCol="0">
            <a:spAutoFit/>
          </a:bodyPr>
          <a:lstStyle/>
          <a:p>
            <a:r>
              <a:rPr lang="en-US" dirty="0" smtClean="0"/>
              <a:t>Ports</a:t>
            </a:r>
            <a:endParaRPr lang="en-US" dirty="0"/>
          </a:p>
        </p:txBody>
      </p:sp>
      <p:sp>
        <p:nvSpPr>
          <p:cNvPr id="21" name="Rectangle 20"/>
          <p:cNvSpPr/>
          <p:nvPr/>
        </p:nvSpPr>
        <p:spPr>
          <a:xfrm>
            <a:off x="5126997" y="3454863"/>
            <a:ext cx="1657421" cy="1301436"/>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smtClean="0"/>
              <a:t>Microprocessor</a:t>
            </a:r>
            <a:endParaRPr lang="en-US" dirty="0"/>
          </a:p>
        </p:txBody>
      </p:sp>
      <p:cxnSp>
        <p:nvCxnSpPr>
          <p:cNvPr id="24" name="Straight Connector 23"/>
          <p:cNvCxnSpPr/>
          <p:nvPr/>
        </p:nvCxnSpPr>
        <p:spPr>
          <a:xfrm flipV="1">
            <a:off x="2869809" y="3438875"/>
            <a:ext cx="1036033" cy="16116"/>
          </a:xfrm>
          <a:prstGeom prst="line">
            <a:avLst/>
          </a:prstGeom>
        </p:spPr>
        <p:style>
          <a:lnRef idx="3">
            <a:schemeClr val="dk1"/>
          </a:lnRef>
          <a:fillRef idx="0">
            <a:schemeClr val="dk1"/>
          </a:fillRef>
          <a:effectRef idx="2">
            <a:schemeClr val="dk1"/>
          </a:effectRef>
          <a:fontRef idx="minor">
            <a:schemeClr val="tx1"/>
          </a:fontRef>
        </p:style>
      </p:cxnSp>
      <p:cxnSp>
        <p:nvCxnSpPr>
          <p:cNvPr id="25" name="Straight Connector 24"/>
          <p:cNvCxnSpPr/>
          <p:nvPr/>
        </p:nvCxnSpPr>
        <p:spPr>
          <a:xfrm flipV="1">
            <a:off x="2904930" y="4502174"/>
            <a:ext cx="1036033" cy="16116"/>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flipV="1">
            <a:off x="2896678" y="4654574"/>
            <a:ext cx="1036033" cy="16116"/>
          </a:xfrm>
          <a:prstGeom prst="line">
            <a:avLst/>
          </a:prstGeom>
        </p:spPr>
        <p:style>
          <a:lnRef idx="3">
            <a:schemeClr val="dk1"/>
          </a:lnRef>
          <a:fillRef idx="0">
            <a:schemeClr val="dk1"/>
          </a:fillRef>
          <a:effectRef idx="2">
            <a:schemeClr val="dk1"/>
          </a:effectRef>
          <a:fontRef idx="minor">
            <a:schemeClr val="tx1"/>
          </a:fontRef>
        </p:style>
      </p:cxnSp>
      <p:sp>
        <p:nvSpPr>
          <p:cNvPr id="28" name="Rectangle 27"/>
          <p:cNvSpPr/>
          <p:nvPr/>
        </p:nvSpPr>
        <p:spPr>
          <a:xfrm>
            <a:off x="4700869" y="5117084"/>
            <a:ext cx="6452662" cy="887138"/>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Memory Unit (RAM, ROM, Cache)</a:t>
            </a:r>
            <a:endParaRPr lang="en-US" dirty="0"/>
          </a:p>
        </p:txBody>
      </p:sp>
      <p:sp>
        <p:nvSpPr>
          <p:cNvPr id="29" name="Rectangle 28"/>
          <p:cNvSpPr/>
          <p:nvPr/>
        </p:nvSpPr>
        <p:spPr>
          <a:xfrm>
            <a:off x="4700869" y="2025748"/>
            <a:ext cx="6412608" cy="10746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STORAGE DEVICES </a:t>
            </a:r>
          </a:p>
          <a:p>
            <a:pPr algn="ctr"/>
            <a:r>
              <a:rPr lang="en-US" dirty="0" smtClean="0"/>
              <a:t>(Hard Disk, CD Drive, DVD Drive, Floppy Drive etc.)</a:t>
            </a:r>
            <a:endParaRPr lang="en-US" dirty="0"/>
          </a:p>
        </p:txBody>
      </p:sp>
      <p:sp>
        <p:nvSpPr>
          <p:cNvPr id="33" name="Round Diagonal Corner Rectangle 32"/>
          <p:cNvSpPr/>
          <p:nvPr/>
        </p:nvSpPr>
        <p:spPr>
          <a:xfrm>
            <a:off x="7061982" y="3454991"/>
            <a:ext cx="2025747" cy="1255711"/>
          </a:xfrm>
          <a:prstGeom prst="round2Diag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Extended Slots</a:t>
            </a:r>
            <a:endParaRPr lang="en-US" dirty="0"/>
          </a:p>
        </p:txBody>
      </p:sp>
      <p:sp>
        <p:nvSpPr>
          <p:cNvPr id="34" name="Quad Arrow Callout 33"/>
          <p:cNvSpPr/>
          <p:nvPr/>
        </p:nvSpPr>
        <p:spPr>
          <a:xfrm>
            <a:off x="9309093" y="3332209"/>
            <a:ext cx="1721284" cy="1553107"/>
          </a:xfrm>
          <a:prstGeom prst="quadArrowCallou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Power</a:t>
            </a:r>
          </a:p>
          <a:p>
            <a:pPr algn="ctr"/>
            <a:r>
              <a:rPr lang="en-US" dirty="0" smtClean="0"/>
              <a:t>Supply</a:t>
            </a:r>
            <a:endParaRPr lang="en-US" dirty="0"/>
          </a:p>
        </p:txBody>
      </p:sp>
      <p:sp>
        <p:nvSpPr>
          <p:cNvPr id="38" name="Left-Right Arrow 37"/>
          <p:cNvSpPr/>
          <p:nvPr/>
        </p:nvSpPr>
        <p:spPr>
          <a:xfrm>
            <a:off x="3925924" y="3718382"/>
            <a:ext cx="1186034" cy="461142"/>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BUS</a:t>
            </a:r>
            <a:endParaRPr lang="en-US" dirty="0">
              <a:solidFill>
                <a:schemeClr val="bg1"/>
              </a:solidFill>
            </a:endParaRPr>
          </a:p>
        </p:txBody>
      </p:sp>
      <p:sp>
        <p:nvSpPr>
          <p:cNvPr id="40" name="Left-Right Arrow 39"/>
          <p:cNvSpPr/>
          <p:nvPr/>
        </p:nvSpPr>
        <p:spPr>
          <a:xfrm>
            <a:off x="6358283" y="4449288"/>
            <a:ext cx="1186034" cy="461142"/>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BUS</a:t>
            </a:r>
            <a:endParaRPr lang="en-US" dirty="0">
              <a:solidFill>
                <a:schemeClr val="bg1"/>
              </a:solidFill>
            </a:endParaRPr>
          </a:p>
        </p:txBody>
      </p:sp>
      <p:sp>
        <p:nvSpPr>
          <p:cNvPr id="41" name="Left-Right Arrow 40"/>
          <p:cNvSpPr/>
          <p:nvPr/>
        </p:nvSpPr>
        <p:spPr>
          <a:xfrm>
            <a:off x="8580350" y="4407840"/>
            <a:ext cx="1186034" cy="461142"/>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BUS</a:t>
            </a:r>
            <a:endParaRPr lang="en-US" dirty="0">
              <a:solidFill>
                <a:schemeClr val="bg1"/>
              </a:solidFill>
            </a:endParaRPr>
          </a:p>
        </p:txBody>
      </p:sp>
      <p:sp>
        <p:nvSpPr>
          <p:cNvPr id="42" name="Left-Right Arrow 41"/>
          <p:cNvSpPr/>
          <p:nvPr/>
        </p:nvSpPr>
        <p:spPr>
          <a:xfrm rot="5400000">
            <a:off x="4786107" y="4748282"/>
            <a:ext cx="1186034" cy="461142"/>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BUS</a:t>
            </a:r>
            <a:endParaRPr lang="en-US" dirty="0">
              <a:solidFill>
                <a:schemeClr val="bg1"/>
              </a:solidFill>
            </a:endParaRPr>
          </a:p>
        </p:txBody>
      </p:sp>
      <p:sp>
        <p:nvSpPr>
          <p:cNvPr id="44" name="Left-Right Arrow 43"/>
          <p:cNvSpPr/>
          <p:nvPr/>
        </p:nvSpPr>
        <p:spPr>
          <a:xfrm rot="5400000">
            <a:off x="4729430" y="2827014"/>
            <a:ext cx="1186034" cy="461142"/>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BUS</a:t>
            </a:r>
            <a:endParaRPr lang="en-US" dirty="0">
              <a:solidFill>
                <a:schemeClr val="bg1"/>
              </a:solidFill>
            </a:endParaRPr>
          </a:p>
        </p:txBody>
      </p:sp>
    </p:spTree>
    <p:extLst>
      <p:ext uri="{BB962C8B-B14F-4D97-AF65-F5344CB8AC3E}">
        <p14:creationId xmlns:p14="http://schemas.microsoft.com/office/powerpoint/2010/main" val="1684614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Year : 300 B.C</a:t>
            </a:r>
          </a:p>
        </p:txBody>
      </p:sp>
      <p:sp>
        <p:nvSpPr>
          <p:cNvPr id="44035" name="Rectangle 3"/>
          <p:cNvSpPr>
            <a:spLocks noGrp="1" noChangeArrowheads="1"/>
          </p:cNvSpPr>
          <p:nvPr>
            <p:ph type="body" idx="1"/>
          </p:nvPr>
        </p:nvSpPr>
        <p:spPr>
          <a:xfrm>
            <a:off x="4953000" y="5715000"/>
            <a:ext cx="8229600" cy="3886200"/>
          </a:xfrm>
        </p:spPr>
        <p:txBody>
          <a:bodyPr/>
          <a:lstStyle/>
          <a:p>
            <a:pPr>
              <a:buFont typeface="Wingdings" panose="05000000000000000000" pitchFamily="2" charset="2"/>
              <a:buNone/>
            </a:pPr>
            <a:r>
              <a:rPr lang="en-US"/>
              <a:t>ABACUS</a:t>
            </a:r>
          </a:p>
        </p:txBody>
      </p:sp>
      <p:pic>
        <p:nvPicPr>
          <p:cNvPr id="44037" name="Picture 5" descr="abacu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981200"/>
            <a:ext cx="57150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8844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t>Modern Abacus</a:t>
            </a:r>
          </a:p>
        </p:txBody>
      </p:sp>
      <p:sp>
        <p:nvSpPr>
          <p:cNvPr id="45059" name="Rectangle 3"/>
          <p:cNvSpPr>
            <a:spLocks noGrp="1" noChangeArrowheads="1"/>
          </p:cNvSpPr>
          <p:nvPr>
            <p:ph type="body" idx="1"/>
          </p:nvPr>
        </p:nvSpPr>
        <p:spPr>
          <a:xfrm>
            <a:off x="1981200" y="4191000"/>
            <a:ext cx="8229600" cy="3886200"/>
          </a:xfrm>
        </p:spPr>
        <p:txBody>
          <a:bodyPr/>
          <a:lstStyle/>
          <a:p>
            <a:r>
              <a:rPr lang="en-US"/>
              <a:t>Note how the abacus is really just a representation of the human fingers: the 5 lower rings on each rod represent the 5 fingers and the 2 upper rings represent the 2 hands. </a:t>
            </a:r>
          </a:p>
        </p:txBody>
      </p:sp>
      <p:pic>
        <p:nvPicPr>
          <p:cNvPr id="45061" name="Picture 5" descr="Abacus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981200"/>
            <a:ext cx="4038600" cy="215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4158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t>Year : 1617 A.D</a:t>
            </a:r>
          </a:p>
        </p:txBody>
      </p:sp>
      <p:sp>
        <p:nvSpPr>
          <p:cNvPr id="46083" name="Rectangle 3"/>
          <p:cNvSpPr>
            <a:spLocks noGrp="1" noChangeArrowheads="1"/>
          </p:cNvSpPr>
          <p:nvPr>
            <p:ph type="body" idx="1"/>
          </p:nvPr>
        </p:nvSpPr>
        <p:spPr/>
        <p:txBody>
          <a:bodyPr/>
          <a:lstStyle/>
          <a:p>
            <a:r>
              <a:rPr lang="en-US"/>
              <a:t>Logarithms:</a:t>
            </a:r>
          </a:p>
          <a:p>
            <a:pPr>
              <a:buFont typeface="Wingdings" panose="05000000000000000000" pitchFamily="2" charset="2"/>
              <a:buNone/>
            </a:pPr>
            <a:r>
              <a:rPr lang="en-US"/>
              <a:t>John Napier invented logarithms, which</a:t>
            </a:r>
          </a:p>
          <a:p>
            <a:pPr>
              <a:buFont typeface="Wingdings" panose="05000000000000000000" pitchFamily="2" charset="2"/>
              <a:buNone/>
            </a:pPr>
            <a:r>
              <a:rPr lang="en-US"/>
              <a:t>are a technology that allows multiplication </a:t>
            </a:r>
          </a:p>
          <a:p>
            <a:pPr>
              <a:buFont typeface="Wingdings" panose="05000000000000000000" pitchFamily="2" charset="2"/>
              <a:buNone/>
            </a:pPr>
            <a:r>
              <a:rPr lang="en-US"/>
              <a:t>to be performed via addition.</a:t>
            </a:r>
          </a:p>
        </p:txBody>
      </p:sp>
    </p:spTree>
    <p:extLst>
      <p:ext uri="{BB962C8B-B14F-4D97-AF65-F5344CB8AC3E}">
        <p14:creationId xmlns:p14="http://schemas.microsoft.com/office/powerpoint/2010/main" val="1941516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5"/>
          <p:cNvSpPr>
            <a:spLocks noGrp="1" noChangeArrowheads="1"/>
          </p:cNvSpPr>
          <p:nvPr>
            <p:ph type="title"/>
          </p:nvPr>
        </p:nvSpPr>
        <p:spPr/>
        <p:txBody>
          <a:bodyPr/>
          <a:lstStyle/>
          <a:p>
            <a:r>
              <a:rPr lang="en-US"/>
              <a:t>Napier’s Bones</a:t>
            </a:r>
          </a:p>
        </p:txBody>
      </p:sp>
      <p:pic>
        <p:nvPicPr>
          <p:cNvPr id="47108" name="Picture 4" descr="NapiersBones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038601" y="3657600"/>
            <a:ext cx="3914775" cy="3200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111" name="Rectangle 7"/>
          <p:cNvSpPr>
            <a:spLocks noChangeArrowheads="1"/>
          </p:cNvSpPr>
          <p:nvPr/>
        </p:nvSpPr>
        <p:spPr bwMode="auto">
          <a:xfrm>
            <a:off x="1828800" y="2481948"/>
            <a:ext cx="8686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buClrTx/>
              <a:buSzTx/>
              <a:buFontTx/>
              <a:buNone/>
            </a:pPr>
            <a:r>
              <a:rPr lang="en-US"/>
              <a:t>The logarithm of each operand was originally obtained from a printed table, but Napier bones were alternative to tables, where the logarithm values were carved on ivory sticks .</a:t>
            </a:r>
          </a:p>
        </p:txBody>
      </p:sp>
    </p:spTree>
    <p:extLst>
      <p:ext uri="{BB962C8B-B14F-4D97-AF65-F5344CB8AC3E}">
        <p14:creationId xmlns:p14="http://schemas.microsoft.com/office/powerpoint/2010/main" val="20831253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t>Year : 1642 A.D</a:t>
            </a:r>
          </a:p>
        </p:txBody>
      </p:sp>
      <p:sp>
        <p:nvSpPr>
          <p:cNvPr id="49155" name="Rectangle 3"/>
          <p:cNvSpPr>
            <a:spLocks noGrp="1" noChangeArrowheads="1"/>
          </p:cNvSpPr>
          <p:nvPr>
            <p:ph type="body" sz="half" idx="1"/>
          </p:nvPr>
        </p:nvSpPr>
        <p:spPr>
          <a:xfrm>
            <a:off x="1981200" y="1981200"/>
            <a:ext cx="4724400" cy="4876800"/>
          </a:xfrm>
        </p:spPr>
        <p:txBody>
          <a:bodyPr/>
          <a:lstStyle/>
          <a:p>
            <a:r>
              <a:rPr lang="en-US" sz="2400"/>
              <a:t>Blaise Pascal, at age 19, invented the Pascaline as an aid for his father who was a tax collector.</a:t>
            </a:r>
          </a:p>
          <a:p>
            <a:r>
              <a:rPr lang="en-US" sz="2400"/>
              <a:t>Up until the present age when car dashboards went digital, the odometer portion of a car's speedometer used the very same mechanism as the Pascaline to increment the next wheel after each full revolution of the prior wheel. </a:t>
            </a:r>
          </a:p>
          <a:p>
            <a:pPr>
              <a:buFont typeface="Wingdings" panose="05000000000000000000" pitchFamily="2" charset="2"/>
              <a:buNone/>
            </a:pPr>
            <a:endParaRPr lang="en-US" sz="2400"/>
          </a:p>
        </p:txBody>
      </p:sp>
      <p:pic>
        <p:nvPicPr>
          <p:cNvPr id="49156" name="Picture 4" descr="1642Pascalin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858000" y="1905000"/>
            <a:ext cx="3657600" cy="2133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9158" name="Picture 6" descr="PascalineRea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4114800"/>
            <a:ext cx="358140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0034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1"/>
          </p:nvPr>
        </p:nvSpPr>
        <p:spPr>
          <a:xfrm>
            <a:off x="1431235" y="1295400"/>
            <a:ext cx="9144000" cy="5334000"/>
          </a:xfrm>
        </p:spPr>
        <p:txBody>
          <a:bodyPr>
            <a:normAutofit/>
          </a:bodyPr>
          <a:lstStyle/>
          <a:p>
            <a:pPr>
              <a:lnSpc>
                <a:spcPct val="80000"/>
              </a:lnSpc>
            </a:pPr>
            <a:r>
              <a:rPr lang="en-US" sz="2400" dirty="0"/>
              <a:t>Just a few years after Pascal, the German Gottfried Wilhelm</a:t>
            </a:r>
          </a:p>
          <a:p>
            <a:pPr>
              <a:lnSpc>
                <a:spcPct val="80000"/>
              </a:lnSpc>
              <a:buFont typeface="Wingdings" panose="05000000000000000000" pitchFamily="2" charset="2"/>
              <a:buNone/>
            </a:pPr>
            <a:r>
              <a:rPr lang="en-US" sz="2400" dirty="0"/>
              <a:t>Leibniz (co-inventor with Newton of calculus) managed to build a</a:t>
            </a:r>
          </a:p>
          <a:p>
            <a:pPr>
              <a:lnSpc>
                <a:spcPct val="80000"/>
              </a:lnSpc>
              <a:buFont typeface="Wingdings" panose="05000000000000000000" pitchFamily="2" charset="2"/>
              <a:buNone/>
            </a:pPr>
            <a:r>
              <a:rPr lang="en-US" sz="2400" dirty="0"/>
              <a:t>four-function (addition, subtraction, multiplication, and division)</a:t>
            </a:r>
          </a:p>
          <a:p>
            <a:pPr>
              <a:lnSpc>
                <a:spcPct val="80000"/>
              </a:lnSpc>
              <a:buFont typeface="Wingdings" panose="05000000000000000000" pitchFamily="2" charset="2"/>
              <a:buNone/>
            </a:pPr>
            <a:r>
              <a:rPr lang="en-US" sz="2400" dirty="0"/>
              <a:t>calculator that he called the stepped reckoner because, instead </a:t>
            </a:r>
          </a:p>
          <a:p>
            <a:pPr>
              <a:lnSpc>
                <a:spcPct val="80000"/>
              </a:lnSpc>
              <a:buFont typeface="Wingdings" panose="05000000000000000000" pitchFamily="2" charset="2"/>
              <a:buNone/>
            </a:pPr>
            <a:r>
              <a:rPr lang="en-US" sz="2400" dirty="0"/>
              <a:t>of gears, it employed fluted drums having ten flutes arranged</a:t>
            </a:r>
          </a:p>
          <a:p>
            <a:pPr>
              <a:lnSpc>
                <a:spcPct val="80000"/>
              </a:lnSpc>
              <a:buFont typeface="Wingdings" panose="05000000000000000000" pitchFamily="2" charset="2"/>
              <a:buNone/>
            </a:pPr>
            <a:r>
              <a:rPr lang="en-US" sz="2400" dirty="0"/>
              <a:t>around their circumference in a stair-step fashion. </a:t>
            </a:r>
          </a:p>
          <a:p>
            <a:pPr>
              <a:lnSpc>
                <a:spcPct val="80000"/>
              </a:lnSpc>
              <a:buFont typeface="Wingdings" panose="05000000000000000000" pitchFamily="2" charset="2"/>
              <a:buNone/>
            </a:pPr>
            <a:endParaRPr lang="en-US" sz="2400" dirty="0"/>
          </a:p>
          <a:p>
            <a:pPr>
              <a:lnSpc>
                <a:spcPct val="80000"/>
              </a:lnSpc>
            </a:pPr>
            <a:r>
              <a:rPr lang="en-US" sz="2400" dirty="0"/>
              <a:t>Although the stepped reckoner employed the decimal number </a:t>
            </a:r>
          </a:p>
          <a:p>
            <a:pPr>
              <a:lnSpc>
                <a:spcPct val="80000"/>
              </a:lnSpc>
              <a:buFont typeface="Wingdings" panose="05000000000000000000" pitchFamily="2" charset="2"/>
              <a:buNone/>
            </a:pPr>
            <a:r>
              <a:rPr lang="en-US" sz="2400" dirty="0"/>
              <a:t>system (each drum had 10 flutes), Leibniz was the first to </a:t>
            </a:r>
          </a:p>
          <a:p>
            <a:pPr>
              <a:lnSpc>
                <a:spcPct val="80000"/>
              </a:lnSpc>
              <a:buFont typeface="Wingdings" panose="05000000000000000000" pitchFamily="2" charset="2"/>
              <a:buNone/>
            </a:pPr>
            <a:r>
              <a:rPr lang="en-US" sz="2400" dirty="0"/>
              <a:t>advocate use of the binary number system which is fundamental</a:t>
            </a:r>
          </a:p>
          <a:p>
            <a:pPr>
              <a:lnSpc>
                <a:spcPct val="80000"/>
              </a:lnSpc>
              <a:buFont typeface="Wingdings" panose="05000000000000000000" pitchFamily="2" charset="2"/>
              <a:buNone/>
            </a:pPr>
            <a:r>
              <a:rPr lang="en-US" sz="2400" dirty="0"/>
              <a:t>to the operation of modern computers. Leibniz is considered one </a:t>
            </a:r>
          </a:p>
          <a:p>
            <a:pPr>
              <a:lnSpc>
                <a:spcPct val="80000"/>
              </a:lnSpc>
              <a:buFont typeface="Wingdings" panose="05000000000000000000" pitchFamily="2" charset="2"/>
              <a:buNone/>
            </a:pPr>
            <a:r>
              <a:rPr lang="en-US" sz="2400" dirty="0"/>
              <a:t>of the greatest of the philosophers but he died poor and alone. </a:t>
            </a:r>
          </a:p>
          <a:p>
            <a:pPr>
              <a:lnSpc>
                <a:spcPct val="80000"/>
              </a:lnSpc>
              <a:buFont typeface="Wingdings" panose="05000000000000000000" pitchFamily="2" charset="2"/>
              <a:buNone/>
            </a:pPr>
            <a:endParaRPr lang="en-US" sz="2400" dirty="0"/>
          </a:p>
          <a:p>
            <a:pPr>
              <a:lnSpc>
                <a:spcPct val="80000"/>
              </a:lnSpc>
            </a:pPr>
            <a:endParaRPr lang="en-US" sz="2000" dirty="0"/>
          </a:p>
        </p:txBody>
      </p:sp>
      <p:pic>
        <p:nvPicPr>
          <p:cNvPr id="52229" name="Picture 5" descr="SteppedReckon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8300" y="609600"/>
            <a:ext cx="18288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8858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Year: 1801 A.D (Punch Cards)</a:t>
            </a:r>
          </a:p>
        </p:txBody>
      </p:sp>
      <p:sp>
        <p:nvSpPr>
          <p:cNvPr id="53251" name="Rectangle 3"/>
          <p:cNvSpPr>
            <a:spLocks noGrp="1" noChangeArrowheads="1"/>
          </p:cNvSpPr>
          <p:nvPr>
            <p:ph type="body" idx="1"/>
          </p:nvPr>
        </p:nvSpPr>
        <p:spPr>
          <a:xfrm>
            <a:off x="1524000" y="1981200"/>
            <a:ext cx="5181600" cy="4724400"/>
          </a:xfrm>
        </p:spPr>
        <p:txBody>
          <a:bodyPr>
            <a:normAutofit/>
          </a:bodyPr>
          <a:lstStyle/>
          <a:p>
            <a:pPr>
              <a:buFont typeface="Wingdings" panose="05000000000000000000" pitchFamily="2" charset="2"/>
              <a:buNone/>
            </a:pPr>
            <a:r>
              <a:rPr lang="en-US" sz="2800"/>
              <a:t>The Frenchman Joseph Marie </a:t>
            </a:r>
          </a:p>
          <a:p>
            <a:pPr>
              <a:buFont typeface="Wingdings" panose="05000000000000000000" pitchFamily="2" charset="2"/>
              <a:buNone/>
            </a:pPr>
            <a:r>
              <a:rPr lang="en-US" sz="2800"/>
              <a:t>Jacquard invented a power </a:t>
            </a:r>
          </a:p>
          <a:p>
            <a:pPr>
              <a:buFont typeface="Wingdings" panose="05000000000000000000" pitchFamily="2" charset="2"/>
              <a:buNone/>
            </a:pPr>
            <a:r>
              <a:rPr lang="en-US" sz="2800"/>
              <a:t>loom that could base its weave </a:t>
            </a:r>
          </a:p>
          <a:p>
            <a:pPr>
              <a:buFont typeface="Wingdings" panose="05000000000000000000" pitchFamily="2" charset="2"/>
              <a:buNone/>
            </a:pPr>
            <a:r>
              <a:rPr lang="en-US" sz="2800"/>
              <a:t>(and hence the design on the </a:t>
            </a:r>
          </a:p>
          <a:p>
            <a:pPr>
              <a:buFont typeface="Wingdings" panose="05000000000000000000" pitchFamily="2" charset="2"/>
              <a:buNone/>
            </a:pPr>
            <a:r>
              <a:rPr lang="en-US" sz="2800"/>
              <a:t>fabric) upon a pattern </a:t>
            </a:r>
          </a:p>
          <a:p>
            <a:pPr>
              <a:buFont typeface="Wingdings" panose="05000000000000000000" pitchFamily="2" charset="2"/>
              <a:buNone/>
            </a:pPr>
            <a:r>
              <a:rPr lang="en-US" sz="2800"/>
              <a:t>automatically read from </a:t>
            </a:r>
          </a:p>
          <a:p>
            <a:pPr>
              <a:buFont typeface="Wingdings" panose="05000000000000000000" pitchFamily="2" charset="2"/>
              <a:buNone/>
            </a:pPr>
            <a:r>
              <a:rPr lang="en-US" sz="2800"/>
              <a:t>punched wooden cards, held </a:t>
            </a:r>
          </a:p>
          <a:p>
            <a:pPr>
              <a:buFont typeface="Wingdings" panose="05000000000000000000" pitchFamily="2" charset="2"/>
              <a:buNone/>
            </a:pPr>
            <a:r>
              <a:rPr lang="en-US" sz="2800"/>
              <a:t>together in a long row by rope. </a:t>
            </a:r>
          </a:p>
        </p:txBody>
      </p:sp>
      <p:pic>
        <p:nvPicPr>
          <p:cNvPr id="53253" name="Picture 5" descr="JacquardLo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2133601"/>
            <a:ext cx="392430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3354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5" name="Rectangle 9"/>
          <p:cNvSpPr>
            <a:spLocks noGrp="1" noChangeArrowheads="1"/>
          </p:cNvSpPr>
          <p:nvPr>
            <p:ph type="title"/>
          </p:nvPr>
        </p:nvSpPr>
        <p:spPr/>
        <p:txBody>
          <a:bodyPr/>
          <a:lstStyle/>
          <a:p>
            <a:r>
              <a:rPr lang="en-US"/>
              <a:t>Punch card or Jacquard card</a:t>
            </a:r>
          </a:p>
        </p:txBody>
      </p:sp>
      <p:pic>
        <p:nvPicPr>
          <p:cNvPr id="55304" name="Picture 8" descr="JacquardCard"/>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09800" y="1905000"/>
            <a:ext cx="3886200" cy="4724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5307" name="Picture 11" descr="jacquardcar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2362200"/>
            <a:ext cx="3733800" cy="2514600"/>
          </a:xfrm>
          <a:prstGeom prst="rect">
            <a:avLst/>
          </a:prstGeom>
          <a:noFill/>
          <a:extLst>
            <a:ext uri="{909E8E84-426E-40DD-AFC4-6F175D3DCCD1}">
              <a14:hiddenFill xmlns:a14="http://schemas.microsoft.com/office/drawing/2010/main">
                <a:solidFill>
                  <a:srgbClr val="FFFFFF"/>
                </a:solidFill>
              </a14:hiddenFill>
            </a:ext>
          </a:extLst>
        </p:spPr>
      </p:pic>
      <p:sp>
        <p:nvSpPr>
          <p:cNvPr id="55310" name="Text Box 14"/>
          <p:cNvSpPr txBox="1">
            <a:spLocks noChangeArrowheads="1"/>
          </p:cNvSpPr>
          <p:nvPr/>
        </p:nvSpPr>
        <p:spPr bwMode="auto">
          <a:xfrm>
            <a:off x="7086600" y="4953000"/>
            <a:ext cx="4114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defRPr>
            </a:lvl1pPr>
            <a:lvl2pPr>
              <a:spcBef>
                <a:spcPct val="0"/>
              </a:spcBef>
              <a:defRPr>
                <a:solidFill>
                  <a:schemeClr val="tx1"/>
                </a:solidFill>
                <a:latin typeface="Arial" panose="020B0604020202020204" pitchFamily="34" charset="0"/>
              </a:defRPr>
            </a:lvl2pPr>
            <a:lvl3pPr>
              <a:spcBef>
                <a:spcPct val="0"/>
              </a:spcBef>
              <a:defRPr>
                <a:solidFill>
                  <a:schemeClr val="tx1"/>
                </a:solidFill>
                <a:latin typeface="Arial" panose="020B0604020202020204" pitchFamily="34" charset="0"/>
              </a:defRPr>
            </a:lvl3pPr>
            <a:lvl4pPr>
              <a:spcBef>
                <a:spcPct val="0"/>
              </a:spcBef>
              <a:defRPr>
                <a:solidFill>
                  <a:schemeClr val="tx1"/>
                </a:solidFill>
                <a:latin typeface="Arial" panose="020B0604020202020204" pitchFamily="34" charset="0"/>
              </a:defRPr>
            </a:lvl4pPr>
            <a:lvl5pPr>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t>A closer look</a:t>
            </a:r>
          </a:p>
        </p:txBody>
      </p:sp>
    </p:spTree>
    <p:extLst>
      <p:ext uri="{BB962C8B-B14F-4D97-AF65-F5344CB8AC3E}">
        <p14:creationId xmlns:p14="http://schemas.microsoft.com/office/powerpoint/2010/main" val="2838271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t>Year : 1822 A.D</a:t>
            </a:r>
          </a:p>
        </p:txBody>
      </p:sp>
      <p:sp>
        <p:nvSpPr>
          <p:cNvPr id="58371" name="Rectangle 3"/>
          <p:cNvSpPr>
            <a:spLocks noGrp="1" noChangeArrowheads="1"/>
          </p:cNvSpPr>
          <p:nvPr>
            <p:ph type="body" idx="1"/>
          </p:nvPr>
        </p:nvSpPr>
        <p:spPr/>
        <p:txBody>
          <a:bodyPr/>
          <a:lstStyle/>
          <a:p>
            <a:r>
              <a:rPr lang="en-US"/>
              <a:t>The English mathematician </a:t>
            </a:r>
            <a:r>
              <a:rPr lang="en-US" b="1" i="1"/>
              <a:t>Charles Babbage</a:t>
            </a:r>
            <a:r>
              <a:rPr lang="en-US" b="1"/>
              <a:t> was proposing a steam driven calculating machine the size of a room, which he called the </a:t>
            </a:r>
            <a:r>
              <a:rPr lang="en-US" b="1" i="1"/>
              <a:t>Difference Engine</a:t>
            </a:r>
            <a:r>
              <a:rPr lang="en-US" b="1"/>
              <a:t>. This machine would be able to compute tables of numbers, such as logarithm tables.</a:t>
            </a:r>
            <a:r>
              <a:rPr lang="en-US"/>
              <a:t> </a:t>
            </a:r>
          </a:p>
        </p:txBody>
      </p:sp>
    </p:spTree>
    <p:extLst>
      <p:ext uri="{BB962C8B-B14F-4D97-AF65-F5344CB8AC3E}">
        <p14:creationId xmlns:p14="http://schemas.microsoft.com/office/powerpoint/2010/main" val="21073619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5"/>
          <p:cNvSpPr>
            <a:spLocks noGrp="1" noChangeArrowheads="1"/>
          </p:cNvSpPr>
          <p:nvPr>
            <p:ph type="title"/>
          </p:nvPr>
        </p:nvSpPr>
        <p:spPr>
          <a:xfrm>
            <a:off x="2133600" y="381000"/>
            <a:ext cx="8229600" cy="1371600"/>
          </a:xfrm>
        </p:spPr>
        <p:txBody>
          <a:bodyPr/>
          <a:lstStyle/>
          <a:p>
            <a:r>
              <a:rPr lang="en-US"/>
              <a:t>The Difference Engine</a:t>
            </a:r>
          </a:p>
        </p:txBody>
      </p:sp>
      <p:pic>
        <p:nvPicPr>
          <p:cNvPr id="59396" name="Picture 4" descr="DifferenceEngin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362200" y="2057400"/>
            <a:ext cx="3657600" cy="43449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9399" name="Text Box 7"/>
          <p:cNvSpPr txBox="1">
            <a:spLocks noChangeArrowheads="1"/>
          </p:cNvSpPr>
          <p:nvPr/>
        </p:nvSpPr>
        <p:spPr bwMode="auto">
          <a:xfrm>
            <a:off x="6096000" y="2895601"/>
            <a:ext cx="4267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defRPr>
            </a:lvl1pPr>
            <a:lvl2pPr>
              <a:spcBef>
                <a:spcPct val="0"/>
              </a:spcBef>
              <a:defRPr>
                <a:solidFill>
                  <a:schemeClr val="tx1"/>
                </a:solidFill>
                <a:latin typeface="Arial" panose="020B0604020202020204" pitchFamily="34" charset="0"/>
              </a:defRPr>
            </a:lvl2pPr>
            <a:lvl3pPr>
              <a:spcBef>
                <a:spcPct val="0"/>
              </a:spcBef>
              <a:defRPr>
                <a:solidFill>
                  <a:schemeClr val="tx1"/>
                </a:solidFill>
                <a:latin typeface="Arial" panose="020B0604020202020204" pitchFamily="34" charset="0"/>
              </a:defRPr>
            </a:lvl3pPr>
            <a:lvl4pPr>
              <a:spcBef>
                <a:spcPct val="0"/>
              </a:spcBef>
              <a:defRPr>
                <a:solidFill>
                  <a:schemeClr val="tx1"/>
                </a:solidFill>
                <a:latin typeface="Arial" panose="020B0604020202020204" pitchFamily="34" charset="0"/>
              </a:defRPr>
            </a:lvl4pPr>
            <a:lvl5pPr>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t>   A small section of the type of mechanism employed in Babbage's Difference Engine [photo © 2002 IEEE] </a:t>
            </a:r>
          </a:p>
        </p:txBody>
      </p:sp>
    </p:spTree>
    <p:extLst>
      <p:ext uri="{BB962C8B-B14F-4D97-AF65-F5344CB8AC3E}">
        <p14:creationId xmlns:p14="http://schemas.microsoft.com/office/powerpoint/2010/main" val="2670319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t>Analytical Engine</a:t>
            </a:r>
          </a:p>
        </p:txBody>
      </p:sp>
      <p:sp>
        <p:nvSpPr>
          <p:cNvPr id="61443" name="Rectangle 3"/>
          <p:cNvSpPr>
            <a:spLocks noGrp="1" noChangeArrowheads="1"/>
          </p:cNvSpPr>
          <p:nvPr>
            <p:ph type="body" idx="1"/>
          </p:nvPr>
        </p:nvSpPr>
        <p:spPr/>
        <p:txBody>
          <a:bodyPr/>
          <a:lstStyle/>
          <a:p>
            <a:pPr>
              <a:lnSpc>
                <a:spcPct val="80000"/>
              </a:lnSpc>
            </a:pPr>
            <a:r>
              <a:rPr lang="en-US" sz="2400"/>
              <a:t>This device, large as a house and powered by 6 steam engines, would be more general purpose in nature because it would be programmable, thanks to the punched card technology of Jacquard. </a:t>
            </a:r>
          </a:p>
          <a:p>
            <a:pPr>
              <a:lnSpc>
                <a:spcPct val="80000"/>
              </a:lnSpc>
            </a:pPr>
            <a:endParaRPr lang="en-US" sz="2400"/>
          </a:p>
          <a:p>
            <a:pPr>
              <a:lnSpc>
                <a:spcPct val="80000"/>
              </a:lnSpc>
            </a:pPr>
            <a:r>
              <a:rPr lang="en-US" sz="2400"/>
              <a:t>In the Jacquard loom, the presence or absence of each hole in the card physically allows a colored thread to pass or stops that thread (you can see this clearly in the earlier photo). Babbage saw that the pattern of holes could be used to represent an abstract idea such as a problem statement or the raw data required for that problem's solution. Babbage saw that there was no requirement that the problem matter itself physically pass thru the holes. </a:t>
            </a:r>
          </a:p>
        </p:txBody>
      </p:sp>
    </p:spTree>
    <p:extLst>
      <p:ext uri="{BB962C8B-B14F-4D97-AF65-F5344CB8AC3E}">
        <p14:creationId xmlns:p14="http://schemas.microsoft.com/office/powerpoint/2010/main" val="15141525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t>Analytical engine (ctd...)</a:t>
            </a:r>
          </a:p>
        </p:txBody>
      </p:sp>
      <p:sp>
        <p:nvSpPr>
          <p:cNvPr id="62467" name="Rectangle 3"/>
          <p:cNvSpPr>
            <a:spLocks noGrp="1" noChangeArrowheads="1"/>
          </p:cNvSpPr>
          <p:nvPr>
            <p:ph type="body" idx="1"/>
          </p:nvPr>
        </p:nvSpPr>
        <p:spPr>
          <a:xfrm>
            <a:off x="1981200" y="2362200"/>
            <a:ext cx="8229600" cy="4495800"/>
          </a:xfrm>
        </p:spPr>
        <p:txBody>
          <a:bodyPr>
            <a:normAutofit/>
          </a:bodyPr>
          <a:lstStyle/>
          <a:p>
            <a:pPr>
              <a:lnSpc>
                <a:spcPct val="80000"/>
              </a:lnSpc>
            </a:pPr>
            <a:r>
              <a:rPr lang="en-US" sz="2800"/>
              <a:t>Furthermore, Babbage realized that punched paper could be employed as a storage mechanism, holding computed numbers for future reference. Because of the connection to the Jacquard loom, Babbage called the two main parts of his Analytic Engine the "Store" and the "Mill", as both terms are used in the weaving industry. The Store was where numbers were held and the Mill was where they were "woven" into new results. In a modern computer these same parts are called the </a:t>
            </a:r>
            <a:r>
              <a:rPr lang="en-US" sz="2800" i="1"/>
              <a:t>memory unit</a:t>
            </a:r>
            <a:r>
              <a:rPr lang="en-US" sz="2800"/>
              <a:t> and the </a:t>
            </a:r>
            <a:r>
              <a:rPr lang="en-US" sz="2800" i="1"/>
              <a:t>central processing unit</a:t>
            </a:r>
            <a:r>
              <a:rPr lang="en-US" sz="2800"/>
              <a:t> (CPU). </a:t>
            </a:r>
          </a:p>
          <a:p>
            <a:pPr>
              <a:lnSpc>
                <a:spcPct val="80000"/>
              </a:lnSpc>
              <a:buFont typeface="Wingdings" panose="05000000000000000000" pitchFamily="2" charset="2"/>
              <a:buNone/>
            </a:pPr>
            <a:endParaRPr lang="en-US"/>
          </a:p>
        </p:txBody>
      </p:sp>
    </p:spTree>
    <p:extLst>
      <p:ext uri="{BB962C8B-B14F-4D97-AF65-F5344CB8AC3E}">
        <p14:creationId xmlns:p14="http://schemas.microsoft.com/office/powerpoint/2010/main" val="4234602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t>Year : 1890 A.D</a:t>
            </a:r>
          </a:p>
        </p:txBody>
      </p:sp>
      <p:sp>
        <p:nvSpPr>
          <p:cNvPr id="63491" name="Rectangle 3"/>
          <p:cNvSpPr>
            <a:spLocks noGrp="1" noChangeArrowheads="1"/>
          </p:cNvSpPr>
          <p:nvPr>
            <p:ph type="body" sz="half" idx="1"/>
          </p:nvPr>
        </p:nvSpPr>
        <p:spPr>
          <a:xfrm>
            <a:off x="1524000" y="1981200"/>
            <a:ext cx="4648200" cy="4876800"/>
          </a:xfrm>
        </p:spPr>
        <p:txBody>
          <a:bodyPr/>
          <a:lstStyle/>
          <a:p>
            <a:pPr>
              <a:buFont typeface="Wingdings" panose="05000000000000000000" pitchFamily="2" charset="2"/>
              <a:buNone/>
            </a:pPr>
            <a:r>
              <a:rPr lang="en-US" sz="2400"/>
              <a:t>    Herman Hollerith's invention, known as the </a:t>
            </a:r>
            <a:r>
              <a:rPr lang="en-US" sz="2400" i="1"/>
              <a:t>Hollerith desk</a:t>
            </a:r>
            <a:r>
              <a:rPr lang="en-US" sz="2400"/>
              <a:t>, consisted of a card reader which sensed the holes in the cards, a gear driven mechanism which could count (using Pascal's mechanism which we still see in car odometers), and a large wall of dial indicators (a car speedometer is a dial indicator) to display the results of the count. </a:t>
            </a:r>
          </a:p>
          <a:p>
            <a:endParaRPr lang="en-US" sz="2400"/>
          </a:p>
        </p:txBody>
      </p:sp>
      <p:pic>
        <p:nvPicPr>
          <p:cNvPr id="63492" name="Picture 4" descr="HollerithOperato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705601" y="1981200"/>
            <a:ext cx="3336925" cy="457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415739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t>Hollerith desks still exist today </a:t>
            </a:r>
          </a:p>
        </p:txBody>
      </p:sp>
      <p:pic>
        <p:nvPicPr>
          <p:cNvPr id="65540" name="Picture 4" descr="HollerithDesk"/>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90800" y="1981200"/>
            <a:ext cx="6934200" cy="4622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563934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9" name="Rectangle 5"/>
          <p:cNvSpPr>
            <a:spLocks noGrp="1" noChangeArrowheads="1"/>
          </p:cNvSpPr>
          <p:nvPr>
            <p:ph type="title"/>
          </p:nvPr>
        </p:nvSpPr>
        <p:spPr/>
        <p:txBody>
          <a:bodyPr/>
          <a:lstStyle/>
          <a:p>
            <a:r>
              <a:rPr lang="en-US" dirty="0"/>
              <a:t>Hollerith and </a:t>
            </a:r>
            <a:r>
              <a:rPr lang="en-US" dirty="0" smtClean="0"/>
              <a:t>IBM</a:t>
            </a:r>
            <a:endParaRPr lang="en-US" dirty="0"/>
          </a:p>
        </p:txBody>
      </p:sp>
      <p:pic>
        <p:nvPicPr>
          <p:cNvPr id="67588" name="Picture 4" descr="ScientificAmericanCove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629401" y="2057400"/>
            <a:ext cx="3533775" cy="4495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7591" name="Text Box 7"/>
          <p:cNvSpPr txBox="1">
            <a:spLocks noChangeArrowheads="1"/>
          </p:cNvSpPr>
          <p:nvPr/>
        </p:nvSpPr>
        <p:spPr bwMode="auto">
          <a:xfrm>
            <a:off x="1524000" y="1884363"/>
            <a:ext cx="4800600" cy="4967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defRPr>
            </a:lvl1pPr>
            <a:lvl2pPr>
              <a:spcBef>
                <a:spcPct val="0"/>
              </a:spcBef>
              <a:defRPr>
                <a:solidFill>
                  <a:schemeClr val="tx1"/>
                </a:solidFill>
                <a:latin typeface="Arial" panose="020B0604020202020204" pitchFamily="34" charset="0"/>
              </a:defRPr>
            </a:lvl2pPr>
            <a:lvl3pPr>
              <a:spcBef>
                <a:spcPct val="0"/>
              </a:spcBef>
              <a:defRPr>
                <a:solidFill>
                  <a:schemeClr val="tx1"/>
                </a:solidFill>
                <a:latin typeface="Arial" panose="020B0604020202020204" pitchFamily="34" charset="0"/>
              </a:defRPr>
            </a:lvl3pPr>
            <a:lvl4pPr>
              <a:spcBef>
                <a:spcPct val="0"/>
              </a:spcBef>
              <a:defRPr>
                <a:solidFill>
                  <a:schemeClr val="tx1"/>
                </a:solidFill>
                <a:latin typeface="Arial" panose="020B0604020202020204" pitchFamily="34" charset="0"/>
              </a:defRPr>
            </a:lvl4pPr>
            <a:lvl5pPr>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Font typeface="Wingdings" panose="05000000000000000000" pitchFamily="2" charset="2"/>
              <a:buChar char="n"/>
            </a:pPr>
            <a:r>
              <a:rPr lang="en-US" sz="2400"/>
              <a:t>Incidentally, the Hollerith census machine was the first machine to ever be featured on a magazine cover. </a:t>
            </a:r>
          </a:p>
          <a:p>
            <a:pPr>
              <a:spcBef>
                <a:spcPct val="20000"/>
              </a:spcBef>
              <a:buFont typeface="Wingdings" panose="05000000000000000000" pitchFamily="2" charset="2"/>
              <a:buChar char="n"/>
            </a:pPr>
            <a:r>
              <a:rPr lang="en-US" sz="2400"/>
              <a:t>Hollerith built a company, the Tabulating Machine Company which, after a few buyouts, eventually became International Business Machines, known today as IBM. IBM grew rapidly and punched cards became ubiquitous. </a:t>
            </a:r>
          </a:p>
        </p:txBody>
      </p:sp>
    </p:spTree>
    <p:extLst>
      <p:ext uri="{BB962C8B-B14F-4D97-AF65-F5344CB8AC3E}">
        <p14:creationId xmlns:p14="http://schemas.microsoft.com/office/powerpoint/2010/main" val="2472230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t>More about IBM</a:t>
            </a:r>
          </a:p>
        </p:txBody>
      </p:sp>
      <p:sp>
        <p:nvSpPr>
          <p:cNvPr id="69635" name="Rectangle 3"/>
          <p:cNvSpPr>
            <a:spLocks noGrp="1" noChangeArrowheads="1"/>
          </p:cNvSpPr>
          <p:nvPr>
            <p:ph type="body" idx="1"/>
          </p:nvPr>
        </p:nvSpPr>
        <p:spPr>
          <a:xfrm>
            <a:off x="1981200" y="2286000"/>
            <a:ext cx="8229600" cy="3886200"/>
          </a:xfrm>
        </p:spPr>
        <p:txBody>
          <a:bodyPr>
            <a:normAutofit lnSpcReduction="10000"/>
          </a:bodyPr>
          <a:lstStyle/>
          <a:p>
            <a:pPr>
              <a:lnSpc>
                <a:spcPct val="90000"/>
              </a:lnSpc>
            </a:pPr>
            <a:r>
              <a:rPr lang="en-US"/>
              <a:t>IBM continued to develop mechanical calculators for sale to businesses to help with financial accounting and inventory accounting. </a:t>
            </a:r>
          </a:p>
          <a:p>
            <a:pPr>
              <a:lnSpc>
                <a:spcPct val="90000"/>
              </a:lnSpc>
              <a:buFont typeface="Wingdings" panose="05000000000000000000" pitchFamily="2" charset="2"/>
              <a:buNone/>
            </a:pPr>
            <a:endParaRPr lang="en-US"/>
          </a:p>
          <a:p>
            <a:pPr>
              <a:lnSpc>
                <a:spcPct val="90000"/>
              </a:lnSpc>
            </a:pPr>
            <a:r>
              <a:rPr lang="en-US"/>
              <a:t>One early success was the Harvard Mark I computer which was built as a partnership between Harvard and IBM </a:t>
            </a:r>
          </a:p>
        </p:txBody>
      </p:sp>
    </p:spTree>
    <p:extLst>
      <p:ext uri="{BB962C8B-B14F-4D97-AF65-F5344CB8AC3E}">
        <p14:creationId xmlns:p14="http://schemas.microsoft.com/office/powerpoint/2010/main" val="24485435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t>Major Innovation – Vacuum Tube</a:t>
            </a:r>
          </a:p>
          <a:p>
            <a:r>
              <a:rPr lang="en-US" dirty="0"/>
              <a:t>The first computers used vacuum tubes </a:t>
            </a:r>
            <a:r>
              <a:rPr lang="en-US" dirty="0" smtClean="0"/>
              <a:t>and </a:t>
            </a:r>
            <a:r>
              <a:rPr lang="en-US" dirty="0"/>
              <a:t>were often enormous, taking up entire rooms</a:t>
            </a:r>
            <a:r>
              <a:rPr lang="en-US" dirty="0" smtClean="0"/>
              <a:t>.</a:t>
            </a:r>
          </a:p>
          <a:p>
            <a:r>
              <a:rPr lang="en-US" dirty="0" smtClean="0"/>
              <a:t>They </a:t>
            </a:r>
            <a:r>
              <a:rPr lang="en-US" dirty="0"/>
              <a:t>were very expensive to operate and in addition to using a great deal of electricity, generated a lot of heat, which was often the cause of malfunctions. </a:t>
            </a:r>
          </a:p>
          <a:p>
            <a:r>
              <a:rPr lang="en-US" dirty="0"/>
              <a:t>The UNIVAC and </a:t>
            </a:r>
            <a:r>
              <a:rPr lang="en-US" u="sng" dirty="0"/>
              <a:t>ENIAC</a:t>
            </a:r>
            <a:r>
              <a:rPr lang="en-US" dirty="0"/>
              <a:t> computers are examples of first-generation computing devices.</a:t>
            </a:r>
          </a:p>
        </p:txBody>
      </p:sp>
      <p:sp>
        <p:nvSpPr>
          <p:cNvPr id="3" name="Title 2"/>
          <p:cNvSpPr>
            <a:spLocks noGrp="1"/>
          </p:cNvSpPr>
          <p:nvPr>
            <p:ph type="title"/>
          </p:nvPr>
        </p:nvSpPr>
        <p:spPr/>
        <p:txBody>
          <a:bodyPr/>
          <a:lstStyle/>
          <a:p>
            <a:r>
              <a:rPr lang="en-US" b="1" dirty="0" smtClean="0"/>
              <a:t>First Generation - 1940-1956</a:t>
            </a:r>
            <a:endParaRPr lang="en-US" dirty="0"/>
          </a:p>
        </p:txBody>
      </p:sp>
    </p:spTree>
    <p:extLst>
      <p:ext uri="{BB962C8B-B14F-4D97-AF65-F5344CB8AC3E}">
        <p14:creationId xmlns:p14="http://schemas.microsoft.com/office/powerpoint/2010/main" val="19349476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Mark 1</a:t>
            </a:r>
            <a:endParaRPr lang="en-US" dirty="0"/>
          </a:p>
        </p:txBody>
      </p:sp>
      <p:pic>
        <p:nvPicPr>
          <p:cNvPr id="4" name="Picture 4" descr="mark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26775" y="1600200"/>
            <a:ext cx="5922449"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8968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dirty="0"/>
              <a:t>Mark </a:t>
            </a:r>
            <a:r>
              <a:rPr lang="en-US" dirty="0" smtClean="0"/>
              <a:t>1</a:t>
            </a:r>
            <a:endParaRPr lang="en-US" dirty="0"/>
          </a:p>
        </p:txBody>
      </p:sp>
      <p:sp>
        <p:nvSpPr>
          <p:cNvPr id="70659" name="Rectangle 3"/>
          <p:cNvSpPr>
            <a:spLocks noGrp="1" noChangeArrowheads="1"/>
          </p:cNvSpPr>
          <p:nvPr>
            <p:ph type="body" idx="1"/>
          </p:nvPr>
        </p:nvSpPr>
        <p:spPr>
          <a:xfrm>
            <a:off x="1905000" y="2133600"/>
            <a:ext cx="8382000" cy="4343400"/>
          </a:xfrm>
        </p:spPr>
        <p:txBody>
          <a:bodyPr>
            <a:normAutofit/>
          </a:bodyPr>
          <a:lstStyle/>
          <a:p>
            <a:pPr>
              <a:lnSpc>
                <a:spcPct val="80000"/>
              </a:lnSpc>
            </a:pPr>
            <a:r>
              <a:rPr lang="en-US" sz="2800"/>
              <a:t>This was the first programmable digital computer made in the U.S. </a:t>
            </a:r>
          </a:p>
          <a:p>
            <a:pPr>
              <a:lnSpc>
                <a:spcPct val="80000"/>
              </a:lnSpc>
            </a:pPr>
            <a:r>
              <a:rPr lang="en-US" sz="2800"/>
              <a:t>It was not a purely electronic computer. Instead the Mark I was constructed out of switches, relays, rotating shafts, and clutches. </a:t>
            </a:r>
          </a:p>
          <a:p>
            <a:pPr>
              <a:lnSpc>
                <a:spcPct val="80000"/>
              </a:lnSpc>
            </a:pPr>
            <a:r>
              <a:rPr lang="en-US" sz="2800"/>
              <a:t>The machine weighed 5 tons, incorporated 500 miles of wire, was 8 feet tall and 51 feet long, and had a 50 ft rotating shaft running its length, turned by a 5 horsepower electric motor. </a:t>
            </a:r>
          </a:p>
          <a:p>
            <a:pPr>
              <a:lnSpc>
                <a:spcPct val="80000"/>
              </a:lnSpc>
            </a:pPr>
            <a:r>
              <a:rPr lang="en-US" sz="2800"/>
              <a:t>The Mark I ran non-stop for 15 years, sounding like a roomful of ladies knitting. </a:t>
            </a:r>
          </a:p>
        </p:txBody>
      </p:sp>
    </p:spTree>
    <p:extLst>
      <p:ext uri="{BB962C8B-B14F-4D97-AF65-F5344CB8AC3E}">
        <p14:creationId xmlns:p14="http://schemas.microsoft.com/office/powerpoint/2010/main" val="31167619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t>History of ‘Bug’</a:t>
            </a:r>
          </a:p>
        </p:txBody>
      </p:sp>
      <p:sp>
        <p:nvSpPr>
          <p:cNvPr id="72707" name="Rectangle 3"/>
          <p:cNvSpPr>
            <a:spLocks noGrp="1" noChangeArrowheads="1"/>
          </p:cNvSpPr>
          <p:nvPr>
            <p:ph type="body" idx="1"/>
          </p:nvPr>
        </p:nvSpPr>
        <p:spPr>
          <a:xfrm>
            <a:off x="2057400" y="2286000"/>
            <a:ext cx="8153400" cy="4267200"/>
          </a:xfrm>
        </p:spPr>
        <p:txBody>
          <a:bodyPr>
            <a:normAutofit/>
          </a:bodyPr>
          <a:lstStyle/>
          <a:p>
            <a:pPr>
              <a:lnSpc>
                <a:spcPct val="90000"/>
              </a:lnSpc>
            </a:pPr>
            <a:r>
              <a:rPr lang="en-US" sz="2800"/>
              <a:t>One of the primary programmers for the Mark I was a woman, Grace Hopper.</a:t>
            </a:r>
          </a:p>
          <a:p>
            <a:pPr>
              <a:lnSpc>
                <a:spcPct val="90000"/>
              </a:lnSpc>
            </a:pPr>
            <a:r>
              <a:rPr lang="en-US" sz="2800"/>
              <a:t> Hopper found the first computer "bug": a dead moth that had gotten into the Mark I and whose wings were blocking the reading of the holes in the paper tape. </a:t>
            </a:r>
          </a:p>
          <a:p>
            <a:pPr>
              <a:lnSpc>
                <a:spcPct val="90000"/>
              </a:lnSpc>
            </a:pPr>
            <a:r>
              <a:rPr lang="en-US" sz="2800"/>
              <a:t>The word "bug" had been used to describe a defect since at least 1889 but Hopper is credited with coining the word "debugging" to describe the work to eliminate program faults. </a:t>
            </a:r>
          </a:p>
          <a:p>
            <a:pPr>
              <a:lnSpc>
                <a:spcPct val="90000"/>
              </a:lnSpc>
            </a:pPr>
            <a:endParaRPr lang="en-US" sz="2800"/>
          </a:p>
        </p:txBody>
      </p:sp>
    </p:spTree>
    <p:extLst>
      <p:ext uri="{BB962C8B-B14F-4D97-AF65-F5344CB8AC3E}">
        <p14:creationId xmlns:p14="http://schemas.microsoft.com/office/powerpoint/2010/main" val="2951295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t>Year : 1943 – 1945</a:t>
            </a:r>
          </a:p>
        </p:txBody>
      </p:sp>
      <p:sp>
        <p:nvSpPr>
          <p:cNvPr id="77827" name="Rectangle 3"/>
          <p:cNvSpPr>
            <a:spLocks noGrp="1" noChangeArrowheads="1"/>
          </p:cNvSpPr>
          <p:nvPr>
            <p:ph type="body" idx="1"/>
          </p:nvPr>
        </p:nvSpPr>
        <p:spPr>
          <a:xfrm>
            <a:off x="1752600" y="2133600"/>
            <a:ext cx="4267200" cy="4267200"/>
          </a:xfrm>
        </p:spPr>
        <p:txBody>
          <a:bodyPr/>
          <a:lstStyle/>
          <a:p>
            <a:r>
              <a:rPr lang="en-US" sz="2800"/>
              <a:t>The first electronic digital computer ENIAC </a:t>
            </a:r>
            <a:r>
              <a:rPr lang="en-US" sz="2400"/>
              <a:t>(Electronic Numerical Integrator and Calculator)</a:t>
            </a:r>
          </a:p>
          <a:p>
            <a:pPr>
              <a:buFont typeface="Wingdings" panose="05000000000000000000" pitchFamily="2" charset="2"/>
              <a:buNone/>
            </a:pPr>
            <a:endParaRPr lang="en-US" sz="2400"/>
          </a:p>
          <a:p>
            <a:r>
              <a:rPr lang="en-US" sz="2400"/>
              <a:t>ENIAC was built by two professors, John Mauchly and J. Presper Eckert at the University of Pennsylvania </a:t>
            </a:r>
          </a:p>
        </p:txBody>
      </p:sp>
      <p:pic>
        <p:nvPicPr>
          <p:cNvPr id="77828" name="Picture 4" descr="eniac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500313"/>
            <a:ext cx="4343400" cy="331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6558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dirty="0" smtClean="0"/>
              <a:t>Major Innovation – Transistor</a:t>
            </a:r>
          </a:p>
          <a:p>
            <a:r>
              <a:rPr lang="en-US" dirty="0" smtClean="0"/>
              <a:t>The </a:t>
            </a:r>
            <a:r>
              <a:rPr lang="en-US" dirty="0"/>
              <a:t>transistor was far superior to the vacuum tube, allowing computers to become smaller, faster, cheaper, more energy-efficient and more reliable than their first-generation predecessors. </a:t>
            </a:r>
            <a:endParaRPr lang="en-US" dirty="0" smtClean="0"/>
          </a:p>
          <a:p>
            <a:r>
              <a:rPr lang="en-US" dirty="0" smtClean="0"/>
              <a:t>Though </a:t>
            </a:r>
            <a:r>
              <a:rPr lang="en-US" dirty="0"/>
              <a:t>the transistor still generated a great deal of heat that subjected the computer to damage, it was a vast improvement over the vacuum tube. Second-generation computers still relied on punched cards for input and printouts for output. </a:t>
            </a:r>
          </a:p>
          <a:p>
            <a:r>
              <a:rPr lang="en-US" dirty="0" smtClean="0"/>
              <a:t>The </a:t>
            </a:r>
            <a:r>
              <a:rPr lang="en-US" dirty="0"/>
              <a:t>first computers of this generation were developed for the atomic energy industry. </a:t>
            </a:r>
          </a:p>
          <a:p>
            <a:endParaRPr lang="en-US" dirty="0"/>
          </a:p>
        </p:txBody>
      </p:sp>
      <p:sp>
        <p:nvSpPr>
          <p:cNvPr id="3" name="Title 2"/>
          <p:cNvSpPr>
            <a:spLocks noGrp="1"/>
          </p:cNvSpPr>
          <p:nvPr>
            <p:ph type="title"/>
          </p:nvPr>
        </p:nvSpPr>
        <p:spPr/>
        <p:txBody>
          <a:bodyPr/>
          <a:lstStyle/>
          <a:p>
            <a:r>
              <a:rPr lang="en-US" b="1" dirty="0"/>
              <a:t>Second Generation - 1956-1963:</a:t>
            </a:r>
            <a:endParaRPr lang="en-US" dirty="0"/>
          </a:p>
        </p:txBody>
      </p:sp>
    </p:spTree>
    <p:extLst>
      <p:ext uri="{BB962C8B-B14F-4D97-AF65-F5344CB8AC3E}">
        <p14:creationId xmlns:p14="http://schemas.microsoft.com/office/powerpoint/2010/main" val="31480222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7500" lnSpcReduction="20000"/>
          </a:bodyPr>
          <a:lstStyle/>
          <a:p>
            <a:r>
              <a:rPr lang="en-US" dirty="0" smtClean="0"/>
              <a:t>Major Innovation – Integrated Circuits / IC</a:t>
            </a:r>
          </a:p>
          <a:p>
            <a:r>
              <a:rPr lang="en-US" dirty="0"/>
              <a:t>The development of the </a:t>
            </a:r>
            <a:r>
              <a:rPr lang="en-US" u="sng" dirty="0" smtClean="0"/>
              <a:t>Integrated Circuits </a:t>
            </a:r>
            <a:r>
              <a:rPr lang="en-US" dirty="0" smtClean="0"/>
              <a:t>was </a:t>
            </a:r>
            <a:r>
              <a:rPr lang="en-US" dirty="0"/>
              <a:t>the hallmark of the third generation of computers. </a:t>
            </a:r>
            <a:endParaRPr lang="en-US" dirty="0" smtClean="0"/>
          </a:p>
          <a:p>
            <a:r>
              <a:rPr lang="en-US" dirty="0" smtClean="0"/>
              <a:t>Transistors </a:t>
            </a:r>
            <a:r>
              <a:rPr lang="en-US" dirty="0"/>
              <a:t>were miniaturized and placed on </a:t>
            </a:r>
            <a:r>
              <a:rPr lang="en-US" u="sng" dirty="0" smtClean="0"/>
              <a:t>semi conductor</a:t>
            </a:r>
            <a:r>
              <a:rPr lang="en-US" dirty="0" smtClean="0"/>
              <a:t> </a:t>
            </a:r>
            <a:r>
              <a:rPr lang="en-US" u="sng" dirty="0"/>
              <a:t>chips</a:t>
            </a:r>
            <a:r>
              <a:rPr lang="en-US" dirty="0"/>
              <a:t>, called </a:t>
            </a:r>
            <a:r>
              <a:rPr lang="en-US" u="sng" dirty="0" smtClean="0"/>
              <a:t>IC</a:t>
            </a:r>
            <a:r>
              <a:rPr lang="en-US" dirty="0" smtClean="0"/>
              <a:t>, </a:t>
            </a:r>
            <a:r>
              <a:rPr lang="en-US" dirty="0"/>
              <a:t>which drastically increased the speed and efficiency of computers. </a:t>
            </a:r>
          </a:p>
          <a:p>
            <a:r>
              <a:rPr lang="en-US" dirty="0"/>
              <a:t>Instead of punched cards and printouts, users interacted with third generation computers through </a:t>
            </a:r>
            <a:r>
              <a:rPr lang="en-US" u="sng" dirty="0"/>
              <a:t>keyboards</a:t>
            </a:r>
            <a:r>
              <a:rPr lang="en-US" dirty="0"/>
              <a:t> and </a:t>
            </a:r>
            <a:r>
              <a:rPr lang="en-US" u="sng" dirty="0"/>
              <a:t>monitors</a:t>
            </a:r>
            <a:r>
              <a:rPr lang="en-US" dirty="0"/>
              <a:t> and </a:t>
            </a:r>
            <a:r>
              <a:rPr lang="en-US" u="sng" dirty="0"/>
              <a:t>interfaced</a:t>
            </a:r>
            <a:r>
              <a:rPr lang="en-US" dirty="0"/>
              <a:t> with an </a:t>
            </a:r>
            <a:r>
              <a:rPr lang="en-US" u="sng" dirty="0"/>
              <a:t>operating </a:t>
            </a:r>
            <a:r>
              <a:rPr lang="en-US" u="sng" dirty="0" smtClean="0"/>
              <a:t>system</a:t>
            </a:r>
          </a:p>
          <a:p>
            <a:r>
              <a:rPr lang="en-US" dirty="0" smtClean="0"/>
              <a:t> </a:t>
            </a:r>
            <a:r>
              <a:rPr lang="en-US" dirty="0"/>
              <a:t>Computers for the first time became accessible to a mass audience because they were smaller and cheaper than their predecessors</a:t>
            </a:r>
          </a:p>
        </p:txBody>
      </p:sp>
      <p:sp>
        <p:nvSpPr>
          <p:cNvPr id="3" name="Title 2"/>
          <p:cNvSpPr>
            <a:spLocks noGrp="1"/>
          </p:cNvSpPr>
          <p:nvPr>
            <p:ph type="title"/>
          </p:nvPr>
        </p:nvSpPr>
        <p:spPr/>
        <p:txBody>
          <a:bodyPr/>
          <a:lstStyle/>
          <a:p>
            <a:r>
              <a:rPr lang="en-US" b="1" dirty="0"/>
              <a:t>Third Generation - </a:t>
            </a:r>
            <a:r>
              <a:rPr lang="en-US" b="1" dirty="0" smtClean="0"/>
              <a:t>1964-1971</a:t>
            </a:r>
            <a:endParaRPr lang="en-US" dirty="0"/>
          </a:p>
        </p:txBody>
      </p:sp>
    </p:spTree>
    <p:extLst>
      <p:ext uri="{BB962C8B-B14F-4D97-AF65-F5344CB8AC3E}">
        <p14:creationId xmlns:p14="http://schemas.microsoft.com/office/powerpoint/2010/main" val="2173100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t>Revolution of IC</a:t>
            </a:r>
          </a:p>
        </p:txBody>
      </p:sp>
      <p:pic>
        <p:nvPicPr>
          <p:cNvPr id="81923" name="Picture 3" descr="CDC7600"/>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72803" y="1722549"/>
            <a:ext cx="2819400" cy="3886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3" descr="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7197144" y="1735428"/>
            <a:ext cx="2413000" cy="3886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Striped Right Arrow 1"/>
          <p:cNvSpPr/>
          <p:nvPr/>
        </p:nvSpPr>
        <p:spPr>
          <a:xfrm>
            <a:off x="4984124" y="2923504"/>
            <a:ext cx="1957589" cy="1700011"/>
          </a:xfrm>
          <a:prstGeom prst="striped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6390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smtClean="0"/>
              <a:t>Major Innovation – Microprocessor</a:t>
            </a:r>
          </a:p>
          <a:p>
            <a:r>
              <a:rPr lang="en-US" dirty="0" smtClean="0"/>
              <a:t>Microprocessor is defined as thousands </a:t>
            </a:r>
            <a:r>
              <a:rPr lang="en-US" dirty="0"/>
              <a:t>of integrated circuits were built onto a single silicon chip. </a:t>
            </a:r>
            <a:endParaRPr lang="en-US" dirty="0" smtClean="0"/>
          </a:p>
          <a:p>
            <a:r>
              <a:rPr lang="en-US" dirty="0" smtClean="0"/>
              <a:t>In </a:t>
            </a:r>
            <a:r>
              <a:rPr lang="en-US" dirty="0"/>
              <a:t>1981 IBM introduced its first computer for the home </a:t>
            </a:r>
            <a:r>
              <a:rPr lang="en-US" dirty="0" smtClean="0"/>
              <a:t>user</a:t>
            </a:r>
          </a:p>
          <a:p>
            <a:r>
              <a:rPr lang="en-US" dirty="0" smtClean="0"/>
              <a:t>In </a:t>
            </a:r>
            <a:r>
              <a:rPr lang="en-US" dirty="0"/>
              <a:t>1984 Apple introduced the Macintosh. </a:t>
            </a:r>
            <a:endParaRPr lang="en-US" dirty="0" smtClean="0"/>
          </a:p>
          <a:p>
            <a:r>
              <a:rPr lang="en-US" dirty="0" smtClean="0"/>
              <a:t>As </a:t>
            </a:r>
            <a:r>
              <a:rPr lang="en-US" dirty="0"/>
              <a:t>these small computers became more powerful, they could be linked together to form networks, which eventually led to the development of the Internet. </a:t>
            </a:r>
          </a:p>
        </p:txBody>
      </p:sp>
      <p:sp>
        <p:nvSpPr>
          <p:cNvPr id="3" name="Title 2"/>
          <p:cNvSpPr>
            <a:spLocks noGrp="1"/>
          </p:cNvSpPr>
          <p:nvPr>
            <p:ph type="title"/>
          </p:nvPr>
        </p:nvSpPr>
        <p:spPr/>
        <p:txBody>
          <a:bodyPr>
            <a:normAutofit/>
          </a:bodyPr>
          <a:lstStyle/>
          <a:p>
            <a:r>
              <a:rPr lang="en-US" b="1" dirty="0"/>
              <a:t>Fourth Generation - </a:t>
            </a:r>
            <a:r>
              <a:rPr lang="en-US" b="1" dirty="0" smtClean="0"/>
              <a:t>1971-Present</a:t>
            </a:r>
            <a:endParaRPr lang="en-US" dirty="0"/>
          </a:p>
        </p:txBody>
      </p:sp>
    </p:spTree>
    <p:extLst>
      <p:ext uri="{BB962C8B-B14F-4D97-AF65-F5344CB8AC3E}">
        <p14:creationId xmlns:p14="http://schemas.microsoft.com/office/powerpoint/2010/main" val="199121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smtClean="0"/>
              <a:t>Major Innovation – Artificial Intelligence</a:t>
            </a:r>
          </a:p>
          <a:p>
            <a:r>
              <a:rPr lang="en-US" dirty="0" smtClean="0"/>
              <a:t>Computers with intelligence like a human being</a:t>
            </a:r>
          </a:p>
          <a:p>
            <a:pPr lvl="1"/>
            <a:r>
              <a:rPr lang="en-US" dirty="0" smtClean="0"/>
              <a:t>Robotics</a:t>
            </a:r>
          </a:p>
          <a:p>
            <a:pPr lvl="1"/>
            <a:r>
              <a:rPr lang="en-US" dirty="0" smtClean="0"/>
              <a:t>Speech and Voice Recognition</a:t>
            </a:r>
          </a:p>
          <a:p>
            <a:pPr lvl="1"/>
            <a:r>
              <a:rPr lang="en-US" dirty="0" smtClean="0"/>
              <a:t>Image and Thumb recognition</a:t>
            </a:r>
          </a:p>
          <a:p>
            <a:pPr lvl="1"/>
            <a:r>
              <a:rPr lang="en-US" dirty="0" smtClean="0"/>
              <a:t>Simulation</a:t>
            </a:r>
          </a:p>
          <a:p>
            <a:pPr lvl="1"/>
            <a:r>
              <a:rPr lang="en-US" dirty="0" smtClean="0"/>
              <a:t>Virtual Reality</a:t>
            </a:r>
          </a:p>
          <a:p>
            <a:pPr lvl="1"/>
            <a:r>
              <a:rPr lang="en-US" dirty="0" smtClean="0"/>
              <a:t>Expert Systems</a:t>
            </a:r>
          </a:p>
          <a:p>
            <a:pPr lvl="1"/>
            <a:r>
              <a:rPr lang="en-US" smtClean="0"/>
              <a:t>Etc.</a:t>
            </a:r>
            <a:endParaRPr lang="en-US" dirty="0"/>
          </a:p>
        </p:txBody>
      </p:sp>
      <p:sp>
        <p:nvSpPr>
          <p:cNvPr id="3" name="Title 2"/>
          <p:cNvSpPr>
            <a:spLocks noGrp="1"/>
          </p:cNvSpPr>
          <p:nvPr>
            <p:ph type="title"/>
          </p:nvPr>
        </p:nvSpPr>
        <p:spPr/>
        <p:txBody>
          <a:bodyPr/>
          <a:lstStyle/>
          <a:p>
            <a:r>
              <a:rPr lang="en-US" b="1" dirty="0"/>
              <a:t>Fifth Generation - Present and Beyond</a:t>
            </a:r>
            <a:endParaRPr lang="en-US" dirty="0"/>
          </a:p>
        </p:txBody>
      </p:sp>
    </p:spTree>
    <p:extLst>
      <p:ext uri="{BB962C8B-B14F-4D97-AF65-F5344CB8AC3E}">
        <p14:creationId xmlns:p14="http://schemas.microsoft.com/office/powerpoint/2010/main" val="22674883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Microprocessor</a:t>
            </a:r>
            <a:endParaRPr lang="en-US" dirty="0"/>
          </a:p>
        </p:txBody>
      </p:sp>
      <p:sp>
        <p:nvSpPr>
          <p:cNvPr id="4" name="AutoShape 2" descr="Image result for Parts of Process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Content Placeholder 6"/>
          <p:cNvSpPr>
            <a:spLocks noGrp="1"/>
          </p:cNvSpPr>
          <p:nvPr>
            <p:ph idx="1"/>
          </p:nvPr>
        </p:nvSpPr>
        <p:spPr/>
        <p:txBody>
          <a:bodyPr/>
          <a:lstStyle/>
          <a:p>
            <a:r>
              <a:rPr lang="en-US" dirty="0" smtClean="0"/>
              <a:t>A combination of </a:t>
            </a:r>
            <a:r>
              <a:rPr lang="en-US" dirty="0"/>
              <a:t>integrated circuit that contains all the functions of a central processing unit of a computer.</a:t>
            </a:r>
          </a:p>
        </p:txBody>
      </p:sp>
      <p:pic>
        <p:nvPicPr>
          <p:cNvPr id="9" name="Content Placeholder 5"/>
          <p:cNvPicPr>
            <a:picLocks noChangeAspect="1"/>
          </p:cNvPicPr>
          <p:nvPr/>
        </p:nvPicPr>
        <p:blipFill>
          <a:blip r:embed="rId2"/>
          <a:stretch>
            <a:fillRect/>
          </a:stretch>
        </p:blipFill>
        <p:spPr>
          <a:xfrm>
            <a:off x="3469140" y="2818781"/>
            <a:ext cx="5648734" cy="3358182"/>
          </a:xfrm>
          <a:prstGeom prst="rect">
            <a:avLst/>
          </a:prstGeom>
        </p:spPr>
      </p:pic>
    </p:spTree>
    <p:extLst>
      <p:ext uri="{BB962C8B-B14F-4D97-AF65-F5344CB8AC3E}">
        <p14:creationId xmlns:p14="http://schemas.microsoft.com/office/powerpoint/2010/main" val="130309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Parts of Microprocessor</a:t>
            </a:r>
            <a:endParaRPr lang="en-US" dirty="0"/>
          </a:p>
        </p:txBody>
      </p:sp>
      <p:sp>
        <p:nvSpPr>
          <p:cNvPr id="5" name="Content Placeholder 4"/>
          <p:cNvSpPr>
            <a:spLocks noGrp="1"/>
          </p:cNvSpPr>
          <p:nvPr>
            <p:ph idx="1"/>
          </p:nvPr>
        </p:nvSpPr>
        <p:spPr/>
        <p:txBody>
          <a:bodyPr>
            <a:normAutofit fontScale="85000" lnSpcReduction="20000"/>
          </a:bodyPr>
          <a:lstStyle/>
          <a:p>
            <a:r>
              <a:rPr lang="en-US" dirty="0" smtClean="0"/>
              <a:t>Control Unit</a:t>
            </a:r>
          </a:p>
          <a:p>
            <a:pPr marL="457200" lvl="1" indent="0">
              <a:buNone/>
            </a:pPr>
            <a:r>
              <a:rPr lang="en-US" dirty="0"/>
              <a:t>A control unit or </a:t>
            </a:r>
            <a:r>
              <a:rPr lang="en-US" b="1" dirty="0"/>
              <a:t>CU</a:t>
            </a:r>
            <a:r>
              <a:rPr lang="en-US" dirty="0"/>
              <a:t> is circuitry that directs operations within a computer's processor. It lets the computer's logic unit, memory, as well as both input and output devices know how to respond to instructions received from a </a:t>
            </a:r>
            <a:r>
              <a:rPr lang="en-US" dirty="0" smtClean="0"/>
              <a:t>program.</a:t>
            </a:r>
          </a:p>
          <a:p>
            <a:pPr marL="457200" lvl="1" indent="0">
              <a:buNone/>
            </a:pPr>
            <a:endParaRPr lang="en-US" dirty="0"/>
          </a:p>
          <a:p>
            <a:r>
              <a:rPr lang="en-US" dirty="0" smtClean="0"/>
              <a:t>Arithmetic &amp; Logical Unit</a:t>
            </a:r>
          </a:p>
          <a:p>
            <a:pPr marL="457200" lvl="1" indent="0">
              <a:buNone/>
            </a:pPr>
            <a:r>
              <a:rPr lang="en-US" dirty="0"/>
              <a:t>An arithmetic logic unit (</a:t>
            </a:r>
            <a:r>
              <a:rPr lang="en-US" b="1" dirty="0"/>
              <a:t>ALU</a:t>
            </a:r>
            <a:r>
              <a:rPr lang="en-US" dirty="0"/>
              <a:t>) is a digital circuit used to perform arithmetic and logic operations. It represents the fundamental building block of the central processing unit (CPU) of a computer.</a:t>
            </a:r>
          </a:p>
          <a:p>
            <a:endParaRPr lang="en-US" dirty="0" smtClean="0"/>
          </a:p>
          <a:p>
            <a:r>
              <a:rPr lang="en-US" dirty="0" smtClean="0"/>
              <a:t>Memory Unit / Registers</a:t>
            </a:r>
            <a:endParaRPr lang="en-US" dirty="0"/>
          </a:p>
        </p:txBody>
      </p:sp>
    </p:spTree>
    <p:extLst>
      <p:ext uri="{BB962C8B-B14F-4D97-AF65-F5344CB8AC3E}">
        <p14:creationId xmlns:p14="http://schemas.microsoft.com/office/powerpoint/2010/main" val="1994149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Registers</a:t>
            </a:r>
            <a:endParaRPr lang="en-US" dirty="0"/>
          </a:p>
        </p:txBody>
      </p:sp>
      <p:sp>
        <p:nvSpPr>
          <p:cNvPr id="3" name="Content Placeholder 2"/>
          <p:cNvSpPr>
            <a:spLocks noGrp="1"/>
          </p:cNvSpPr>
          <p:nvPr>
            <p:ph idx="1"/>
          </p:nvPr>
        </p:nvSpPr>
        <p:spPr/>
        <p:txBody>
          <a:bodyPr>
            <a:normAutofit fontScale="92500"/>
          </a:bodyPr>
          <a:lstStyle/>
          <a:p>
            <a:r>
              <a:rPr lang="en-US" dirty="0"/>
              <a:t>A processor </a:t>
            </a:r>
            <a:r>
              <a:rPr lang="en-US" b="1" dirty="0"/>
              <a:t>register</a:t>
            </a:r>
            <a:r>
              <a:rPr lang="en-US" dirty="0"/>
              <a:t> (</a:t>
            </a:r>
            <a:r>
              <a:rPr lang="en-US" b="1" dirty="0"/>
              <a:t>CPU register</a:t>
            </a:r>
            <a:r>
              <a:rPr lang="en-US" dirty="0"/>
              <a:t>) is one of a small set of data holding places that are part of the </a:t>
            </a:r>
            <a:r>
              <a:rPr lang="en-US" b="1" dirty="0"/>
              <a:t>computer</a:t>
            </a:r>
            <a:r>
              <a:rPr lang="en-US" dirty="0"/>
              <a:t> processor</a:t>
            </a:r>
            <a:r>
              <a:rPr lang="en-US" dirty="0" smtClean="0"/>
              <a:t>.</a:t>
            </a:r>
          </a:p>
          <a:p>
            <a:endParaRPr lang="en-US" dirty="0"/>
          </a:p>
          <a:p>
            <a:r>
              <a:rPr lang="en-US" dirty="0" smtClean="0"/>
              <a:t>A </a:t>
            </a:r>
            <a:r>
              <a:rPr lang="en-US" dirty="0"/>
              <a:t> </a:t>
            </a:r>
            <a:r>
              <a:rPr lang="en-US" b="1" dirty="0" smtClean="0"/>
              <a:t>Program Counter / Instruction register</a:t>
            </a:r>
            <a:r>
              <a:rPr lang="en-US" dirty="0"/>
              <a:t> </a:t>
            </a:r>
            <a:r>
              <a:rPr lang="en-US" dirty="0" smtClean="0"/>
              <a:t>hold </a:t>
            </a:r>
            <a:r>
              <a:rPr lang="en-US" dirty="0"/>
              <a:t>an </a:t>
            </a:r>
            <a:r>
              <a:rPr lang="en-US" dirty="0" smtClean="0"/>
              <a:t>instruction</a:t>
            </a:r>
          </a:p>
          <a:p>
            <a:r>
              <a:rPr lang="en-US" dirty="0" smtClean="0"/>
              <a:t>An </a:t>
            </a:r>
            <a:r>
              <a:rPr lang="en-US" b="1" dirty="0" smtClean="0"/>
              <a:t>Address register</a:t>
            </a:r>
            <a:r>
              <a:rPr lang="en-US" dirty="0" smtClean="0"/>
              <a:t> holds memory addresses</a:t>
            </a:r>
          </a:p>
          <a:p>
            <a:r>
              <a:rPr lang="en-US" dirty="0" smtClean="0"/>
              <a:t>An </a:t>
            </a:r>
            <a:r>
              <a:rPr lang="en-US" b="1" dirty="0" smtClean="0"/>
              <a:t>Accumulator / Data register </a:t>
            </a:r>
            <a:r>
              <a:rPr lang="en-US" dirty="0" smtClean="0"/>
              <a:t>hold results of frequent calculations within microprocessor</a:t>
            </a:r>
            <a:endParaRPr lang="en-US" dirty="0"/>
          </a:p>
        </p:txBody>
      </p:sp>
    </p:spTree>
    <p:extLst>
      <p:ext uri="{BB962C8B-B14F-4D97-AF65-F5344CB8AC3E}">
        <p14:creationId xmlns:p14="http://schemas.microsoft.com/office/powerpoint/2010/main" val="36414020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Computer memory</a:t>
            </a:r>
            <a:r>
              <a:rPr lang="en-US" dirty="0"/>
              <a:t> is any physical device capable of storing </a:t>
            </a:r>
            <a:r>
              <a:rPr lang="en-US" dirty="0" smtClean="0"/>
              <a:t>information by computer</a:t>
            </a:r>
            <a:endParaRPr lang="en-US" dirty="0"/>
          </a:p>
          <a:p>
            <a:endParaRPr lang="en-US" dirty="0" smtClean="0"/>
          </a:p>
          <a:p>
            <a:r>
              <a:rPr lang="en-US" b="1" dirty="0"/>
              <a:t>Volatile memory </a:t>
            </a:r>
            <a:r>
              <a:rPr lang="en-US" dirty="0"/>
              <a:t>is computer memory that requires power to maintain the stored </a:t>
            </a:r>
            <a:r>
              <a:rPr lang="en-US" dirty="0" smtClean="0"/>
              <a:t>information. (e.g. RAM, Cache, Register)</a:t>
            </a:r>
          </a:p>
          <a:p>
            <a:endParaRPr lang="en-US" dirty="0"/>
          </a:p>
          <a:p>
            <a:r>
              <a:rPr lang="en-US" b="1" dirty="0"/>
              <a:t>Non-volatile memory</a:t>
            </a:r>
            <a:r>
              <a:rPr lang="en-US" dirty="0"/>
              <a:t> is computer memory that can retain the stored information even when not powered. </a:t>
            </a:r>
            <a:r>
              <a:rPr lang="en-US" dirty="0" smtClean="0"/>
              <a:t>(e.g. ROM, CMOS)</a:t>
            </a:r>
          </a:p>
        </p:txBody>
      </p:sp>
    </p:spTree>
    <p:extLst>
      <p:ext uri="{BB962C8B-B14F-4D97-AF65-F5344CB8AC3E}">
        <p14:creationId xmlns:p14="http://schemas.microsoft.com/office/powerpoint/2010/main" val="41819465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RAM</a:t>
            </a:r>
            <a:endParaRPr lang="en-US" dirty="0"/>
          </a:p>
        </p:txBody>
      </p:sp>
      <p:sp>
        <p:nvSpPr>
          <p:cNvPr id="3" name="Content Placeholder 2"/>
          <p:cNvSpPr>
            <a:spLocks noGrp="1"/>
          </p:cNvSpPr>
          <p:nvPr>
            <p:ph idx="1"/>
          </p:nvPr>
        </p:nvSpPr>
        <p:spPr/>
        <p:txBody>
          <a:bodyPr>
            <a:normAutofit fontScale="92500" lnSpcReduction="20000"/>
          </a:bodyPr>
          <a:lstStyle/>
          <a:p>
            <a:r>
              <a:rPr lang="en-US" b="1" dirty="0"/>
              <a:t>Random-access memory</a:t>
            </a:r>
            <a:r>
              <a:rPr lang="en-US" dirty="0"/>
              <a:t> </a:t>
            </a:r>
            <a:r>
              <a:rPr lang="en-US" dirty="0" smtClean="0"/>
              <a:t>is </a:t>
            </a:r>
            <a:r>
              <a:rPr lang="en-US" dirty="0"/>
              <a:t>the most common type of memory </a:t>
            </a:r>
            <a:r>
              <a:rPr lang="en-US" dirty="0" smtClean="0"/>
              <a:t>that </a:t>
            </a:r>
            <a:r>
              <a:rPr lang="en-US" dirty="0"/>
              <a:t>stores </a:t>
            </a:r>
            <a:r>
              <a:rPr lang="en-US" dirty="0" smtClean="0"/>
              <a:t>data and applications currently </a:t>
            </a:r>
            <a:r>
              <a:rPr lang="en-US" dirty="0"/>
              <a:t>being </a:t>
            </a:r>
            <a:r>
              <a:rPr lang="en-US" dirty="0" smtClean="0"/>
              <a:t>used or in execution by computer system. Most </a:t>
            </a:r>
            <a:r>
              <a:rPr lang="en-US" dirty="0"/>
              <a:t>modern semiconductor volatile memory is either Static </a:t>
            </a:r>
            <a:r>
              <a:rPr lang="en-US" dirty="0" smtClean="0"/>
              <a:t>RAM or Dynamic RAM.</a:t>
            </a:r>
            <a:r>
              <a:rPr lang="en-US" dirty="0"/>
              <a:t> </a:t>
            </a:r>
            <a:endParaRPr lang="en-US" dirty="0" smtClean="0"/>
          </a:p>
          <a:p>
            <a:endParaRPr lang="en-US" dirty="0"/>
          </a:p>
          <a:p>
            <a:r>
              <a:rPr lang="en-US" b="1" dirty="0"/>
              <a:t>DRAM</a:t>
            </a:r>
            <a:r>
              <a:rPr lang="en-US" dirty="0"/>
              <a:t>, or Dynamic </a:t>
            </a:r>
            <a:r>
              <a:rPr lang="en-US" b="1" dirty="0"/>
              <a:t>RAM</a:t>
            </a:r>
            <a:r>
              <a:rPr lang="en-US" dirty="0"/>
              <a:t>, is the most widely </a:t>
            </a:r>
            <a:r>
              <a:rPr lang="en-US" dirty="0" smtClean="0"/>
              <a:t>used </a:t>
            </a:r>
            <a:r>
              <a:rPr lang="en-US" b="1" dirty="0" smtClean="0"/>
              <a:t>RAM</a:t>
            </a:r>
            <a:r>
              <a:rPr lang="en-US" dirty="0"/>
              <a:t> that consumers deal with. DDR3 is an example of </a:t>
            </a:r>
            <a:r>
              <a:rPr lang="en-US" b="1" dirty="0"/>
              <a:t>DRAM</a:t>
            </a:r>
            <a:r>
              <a:rPr lang="en-US" dirty="0"/>
              <a:t>. </a:t>
            </a:r>
            <a:r>
              <a:rPr lang="en-US" dirty="0" smtClean="0"/>
              <a:t>It needs </a:t>
            </a:r>
            <a:r>
              <a:rPr lang="en-US" dirty="0"/>
              <a:t>to be refreshed periodically when in use, </a:t>
            </a:r>
            <a:endParaRPr lang="en-US" dirty="0" smtClean="0"/>
          </a:p>
          <a:p>
            <a:r>
              <a:rPr lang="en-US" b="1" dirty="0" smtClean="0"/>
              <a:t>SRAM</a:t>
            </a:r>
            <a:r>
              <a:rPr lang="en-US" dirty="0" smtClean="0"/>
              <a:t> </a:t>
            </a:r>
            <a:r>
              <a:rPr lang="en-US" dirty="0"/>
              <a:t>does </a:t>
            </a:r>
            <a:r>
              <a:rPr lang="en-US" dirty="0" smtClean="0"/>
              <a:t>not need to be refreshed by microprocessor.</a:t>
            </a:r>
            <a:endParaRPr lang="en-US" dirty="0"/>
          </a:p>
        </p:txBody>
      </p:sp>
    </p:spTree>
    <p:extLst>
      <p:ext uri="{BB962C8B-B14F-4D97-AF65-F5344CB8AC3E}">
        <p14:creationId xmlns:p14="http://schemas.microsoft.com/office/powerpoint/2010/main" val="1883465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Memory</a:t>
            </a:r>
            <a:endParaRPr lang="en-US" dirty="0"/>
          </a:p>
        </p:txBody>
      </p:sp>
      <p:sp>
        <p:nvSpPr>
          <p:cNvPr id="3" name="Content Placeholder 2"/>
          <p:cNvSpPr>
            <a:spLocks noGrp="1"/>
          </p:cNvSpPr>
          <p:nvPr>
            <p:ph idx="1"/>
          </p:nvPr>
        </p:nvSpPr>
        <p:spPr/>
        <p:txBody>
          <a:bodyPr/>
          <a:lstStyle/>
          <a:p>
            <a:r>
              <a:rPr lang="en-US" dirty="0"/>
              <a:t>The cache memory lies in the path between the processor and the memory</a:t>
            </a:r>
            <a:r>
              <a:rPr lang="en-US" dirty="0" smtClean="0"/>
              <a:t>. </a:t>
            </a:r>
            <a:r>
              <a:rPr lang="en-US" dirty="0"/>
              <a:t> </a:t>
            </a:r>
            <a:r>
              <a:rPr lang="en-US" dirty="0" smtClean="0"/>
              <a:t>So, it is </a:t>
            </a:r>
            <a:r>
              <a:rPr lang="en-US" dirty="0"/>
              <a:t>very </a:t>
            </a:r>
            <a:r>
              <a:rPr lang="en-US" dirty="0" smtClean="0"/>
              <a:t>near </a:t>
            </a:r>
            <a:r>
              <a:rPr lang="en-US" dirty="0"/>
              <a:t>to the CPU </a:t>
            </a:r>
            <a:r>
              <a:rPr lang="en-US" dirty="0" smtClean="0"/>
              <a:t>and </a:t>
            </a:r>
            <a:r>
              <a:rPr lang="en-US" dirty="0"/>
              <a:t>also called </a:t>
            </a:r>
            <a:r>
              <a:rPr lang="en-US" b="1" dirty="0"/>
              <a:t>CPU memory</a:t>
            </a:r>
            <a:r>
              <a:rPr lang="en-US" dirty="0"/>
              <a:t>, all the Recent </a:t>
            </a:r>
            <a:r>
              <a:rPr lang="en-US" dirty="0" smtClean="0"/>
              <a:t>Instructions </a:t>
            </a:r>
            <a:r>
              <a:rPr lang="en-US" dirty="0"/>
              <a:t>are Stored into the Cache Memory</a:t>
            </a:r>
            <a:r>
              <a:rPr lang="en-US" dirty="0" smtClean="0"/>
              <a:t>.</a:t>
            </a:r>
          </a:p>
          <a:p>
            <a:endParaRPr lang="en-US" dirty="0"/>
          </a:p>
          <a:p>
            <a:endParaRPr lang="en-US" dirty="0"/>
          </a:p>
        </p:txBody>
      </p:sp>
      <p:pic>
        <p:nvPicPr>
          <p:cNvPr id="2050" name="Picture 2" descr="http://ecomputernotes.com/images/Cache%20Mem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4352" y="3408952"/>
            <a:ext cx="4762500" cy="164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2906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Memory Types</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L1 cache</a:t>
            </a:r>
            <a:r>
              <a:rPr lang="en-US" dirty="0"/>
              <a:t>, or primary cache, is extremely fast but relatively small, and is usually embedded in the processor chip as CPU cache</a:t>
            </a:r>
            <a:r>
              <a:rPr lang="en-US" dirty="0" smtClean="0"/>
              <a:t>.</a:t>
            </a:r>
          </a:p>
          <a:p>
            <a:endParaRPr lang="en-US" dirty="0"/>
          </a:p>
          <a:p>
            <a:r>
              <a:rPr lang="en-US" b="1" dirty="0"/>
              <a:t>L2 cache</a:t>
            </a:r>
            <a:r>
              <a:rPr lang="en-US" dirty="0"/>
              <a:t>, or secondary cache, is </a:t>
            </a:r>
            <a:r>
              <a:rPr lang="en-US" dirty="0" smtClean="0"/>
              <a:t>larger than </a:t>
            </a:r>
            <a:r>
              <a:rPr lang="en-US" dirty="0"/>
              <a:t>L1. L2 cache may be embedded on the CPU, or it can be on a separate </a:t>
            </a:r>
            <a:r>
              <a:rPr lang="en-US" dirty="0" smtClean="0"/>
              <a:t>chip.</a:t>
            </a:r>
          </a:p>
          <a:p>
            <a:endParaRPr lang="en-US" dirty="0"/>
          </a:p>
          <a:p>
            <a:r>
              <a:rPr lang="en-US" b="1" dirty="0"/>
              <a:t>Level 3 (L3) cache</a:t>
            </a:r>
            <a:r>
              <a:rPr lang="en-US" dirty="0"/>
              <a:t> is specialized memory developed to improve the performance of L1 and L2. </a:t>
            </a:r>
            <a:r>
              <a:rPr lang="en-US" dirty="0" smtClean="0"/>
              <a:t>Also called as external cache.</a:t>
            </a:r>
            <a:endParaRPr lang="en-US" dirty="0"/>
          </a:p>
        </p:txBody>
      </p:sp>
    </p:spTree>
    <p:extLst>
      <p:ext uri="{BB962C8B-B14F-4D97-AF65-F5344CB8AC3E}">
        <p14:creationId xmlns:p14="http://schemas.microsoft.com/office/powerpoint/2010/main" val="21203412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ROM and Types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ROM</a:t>
            </a:r>
            <a:r>
              <a:rPr lang="en-US" dirty="0"/>
              <a:t> stands for Read Only Memory. The memory from which we can only read but cannot write on it. This type of memory is non-volatile. The information is stored permanently in such memories during manufacture. A </a:t>
            </a:r>
            <a:r>
              <a:rPr lang="en-US" b="1" dirty="0"/>
              <a:t>ROM</a:t>
            </a:r>
            <a:r>
              <a:rPr lang="en-US" dirty="0"/>
              <a:t> stores such instructions that are required to start a </a:t>
            </a:r>
            <a:r>
              <a:rPr lang="en-US" dirty="0" smtClean="0"/>
              <a:t>computer.</a:t>
            </a:r>
          </a:p>
          <a:p>
            <a:r>
              <a:rPr lang="en-US" dirty="0"/>
              <a:t>PROM (programmable ROM) </a:t>
            </a:r>
            <a:r>
              <a:rPr lang="en-US" dirty="0" smtClean="0"/>
              <a:t>is a one - time </a:t>
            </a:r>
            <a:r>
              <a:rPr lang="en-US" dirty="0"/>
              <a:t>user-programmable memory. </a:t>
            </a:r>
            <a:endParaRPr lang="en-US" dirty="0" smtClean="0"/>
          </a:p>
          <a:p>
            <a:r>
              <a:rPr lang="en-US" dirty="0" smtClean="0"/>
              <a:t>EPROM </a:t>
            </a:r>
            <a:r>
              <a:rPr lang="en-US" dirty="0"/>
              <a:t>(erasable programmable ROM) </a:t>
            </a:r>
            <a:r>
              <a:rPr lang="en-US" dirty="0" smtClean="0"/>
              <a:t>was </a:t>
            </a:r>
            <a:r>
              <a:rPr lang="en-US" dirty="0"/>
              <a:t>invented to allow making changes in the contents of PROM after it is burned. </a:t>
            </a:r>
          </a:p>
        </p:txBody>
      </p:sp>
    </p:spTree>
    <p:extLst>
      <p:ext uri="{BB962C8B-B14F-4D97-AF65-F5344CB8AC3E}">
        <p14:creationId xmlns:p14="http://schemas.microsoft.com/office/powerpoint/2010/main" val="35362553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dirty="0" smtClean="0"/>
              <a:t>EEPROM (Electrically erasable PROM) does not require the entire contents of ROM are erased. However, the main advantage of EEPROM is that one can program and erase its contents while it is still in the system board. it does not require physical removal of the memory chip from its socket. In other words, unlike UV-EPROM, EEPROM does not require an external erasure and programming device.</a:t>
            </a:r>
          </a:p>
          <a:p>
            <a:r>
              <a:rPr lang="en-US" dirty="0" smtClean="0"/>
              <a:t>4. Flash memory is used to store flexible boot instructions. It allows erasure of the entire contents takes less than a second, or one might say in a flash, hence its name, Flash memory. </a:t>
            </a:r>
          </a:p>
        </p:txBody>
      </p:sp>
      <p:sp>
        <p:nvSpPr>
          <p:cNvPr id="4" name="Title 1"/>
          <p:cNvSpPr>
            <a:spLocks noGrp="1"/>
          </p:cNvSpPr>
          <p:nvPr>
            <p:ph type="title"/>
          </p:nvPr>
        </p:nvSpPr>
        <p:spPr/>
        <p:txBody>
          <a:bodyPr/>
          <a:lstStyle/>
          <a:p>
            <a:r>
              <a:rPr lang="en-US" dirty="0" smtClean="0"/>
              <a:t>ROM and Types</a:t>
            </a:r>
            <a:endParaRPr lang="en-US" dirty="0"/>
          </a:p>
        </p:txBody>
      </p:sp>
    </p:spTree>
    <p:extLst>
      <p:ext uri="{BB962C8B-B14F-4D97-AF65-F5344CB8AC3E}">
        <p14:creationId xmlns:p14="http://schemas.microsoft.com/office/powerpoint/2010/main" val="15649258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CMOS</a:t>
            </a:r>
            <a:endParaRPr lang="en-US" dirty="0"/>
          </a:p>
        </p:txBody>
      </p:sp>
      <p:sp>
        <p:nvSpPr>
          <p:cNvPr id="3" name="Content Placeholder 2"/>
          <p:cNvSpPr>
            <a:spLocks noGrp="1"/>
          </p:cNvSpPr>
          <p:nvPr>
            <p:ph idx="1"/>
          </p:nvPr>
        </p:nvSpPr>
        <p:spPr/>
        <p:txBody>
          <a:bodyPr>
            <a:normAutofit lnSpcReduction="10000"/>
          </a:bodyPr>
          <a:lstStyle/>
          <a:p>
            <a:r>
              <a:rPr lang="en-US" b="1" dirty="0"/>
              <a:t>CMOS</a:t>
            </a:r>
            <a:r>
              <a:rPr lang="en-US" dirty="0"/>
              <a:t> is short for complementary metal-oxide semiconductor. </a:t>
            </a:r>
            <a:endParaRPr lang="en-US" dirty="0" smtClean="0"/>
          </a:p>
          <a:p>
            <a:endParaRPr lang="en-US" b="1" dirty="0"/>
          </a:p>
          <a:p>
            <a:r>
              <a:rPr lang="en-US" b="1" dirty="0" smtClean="0"/>
              <a:t>CMOS</a:t>
            </a:r>
            <a:r>
              <a:rPr lang="en-US" dirty="0"/>
              <a:t> is an on-board, battery powered semiconductor chip inside </a:t>
            </a:r>
            <a:r>
              <a:rPr lang="en-US" b="1" dirty="0" smtClean="0"/>
              <a:t>computers.</a:t>
            </a:r>
          </a:p>
          <a:p>
            <a:endParaRPr lang="en-US" b="1" dirty="0"/>
          </a:p>
          <a:p>
            <a:r>
              <a:rPr lang="en-US" b="1" dirty="0" smtClean="0"/>
              <a:t>CMOS </a:t>
            </a:r>
            <a:r>
              <a:rPr lang="en-US" dirty="0" smtClean="0"/>
              <a:t>generally </a:t>
            </a:r>
            <a:r>
              <a:rPr lang="en-US" dirty="0"/>
              <a:t>stores </a:t>
            </a:r>
            <a:r>
              <a:rPr lang="en-US" dirty="0" smtClean="0"/>
              <a:t>date/time or BIOS passwords information</a:t>
            </a:r>
            <a:r>
              <a:rPr lang="en-US" dirty="0"/>
              <a:t>.</a:t>
            </a:r>
          </a:p>
        </p:txBody>
      </p:sp>
    </p:spTree>
    <p:extLst>
      <p:ext uri="{BB962C8B-B14F-4D97-AF65-F5344CB8AC3E}">
        <p14:creationId xmlns:p14="http://schemas.microsoft.com/office/powerpoint/2010/main" val="36667437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Computer Bus</a:t>
            </a:r>
            <a:endParaRPr lang="en-US" dirty="0"/>
          </a:p>
        </p:txBody>
      </p:sp>
      <p:sp>
        <p:nvSpPr>
          <p:cNvPr id="3" name="Content Placeholder 2"/>
          <p:cNvSpPr>
            <a:spLocks noGrp="1"/>
          </p:cNvSpPr>
          <p:nvPr>
            <p:ph idx="1"/>
          </p:nvPr>
        </p:nvSpPr>
        <p:spPr/>
        <p:txBody>
          <a:bodyPr>
            <a:normAutofit fontScale="70000" lnSpcReduction="20000"/>
          </a:bodyPr>
          <a:lstStyle/>
          <a:p>
            <a:r>
              <a:rPr lang="en-US" dirty="0"/>
              <a:t>A </a:t>
            </a:r>
            <a:r>
              <a:rPr lang="en-US" b="1" dirty="0"/>
              <a:t>bus</a:t>
            </a:r>
            <a:r>
              <a:rPr lang="en-US" dirty="0"/>
              <a:t> is a subsystem that is used to connect </a:t>
            </a:r>
            <a:r>
              <a:rPr lang="en-US" b="1" dirty="0"/>
              <a:t>computer</a:t>
            </a:r>
            <a:r>
              <a:rPr lang="en-US" dirty="0"/>
              <a:t> components and transfer data between them. </a:t>
            </a:r>
            <a:endParaRPr lang="en-US" dirty="0" smtClean="0"/>
          </a:p>
          <a:p>
            <a:endParaRPr lang="en-US" dirty="0" smtClean="0"/>
          </a:p>
          <a:p>
            <a:r>
              <a:rPr lang="en-US" dirty="0" smtClean="0"/>
              <a:t>A </a:t>
            </a:r>
            <a:r>
              <a:rPr lang="en-US" b="1" dirty="0" smtClean="0"/>
              <a:t>System Bus </a:t>
            </a:r>
            <a:r>
              <a:rPr lang="en-US" dirty="0" smtClean="0"/>
              <a:t>connects microprocessor with RAM while, the </a:t>
            </a:r>
            <a:r>
              <a:rPr lang="en-US" b="1" dirty="0"/>
              <a:t>control </a:t>
            </a:r>
            <a:r>
              <a:rPr lang="en-US" b="1" dirty="0" smtClean="0"/>
              <a:t>bus </a:t>
            </a:r>
            <a:r>
              <a:rPr lang="en-US" dirty="0"/>
              <a:t>a set of connections among the parts in the computer. </a:t>
            </a:r>
            <a:endParaRPr lang="en-US" dirty="0" smtClean="0"/>
          </a:p>
          <a:p>
            <a:endParaRPr lang="en-US" dirty="0"/>
          </a:p>
          <a:p>
            <a:pPr fontAlgn="base"/>
            <a:r>
              <a:rPr lang="en-US" dirty="0"/>
              <a:t>The </a:t>
            </a:r>
            <a:r>
              <a:rPr lang="en-US" b="1" dirty="0"/>
              <a:t>data bus </a:t>
            </a:r>
            <a:r>
              <a:rPr lang="en-US" dirty="0"/>
              <a:t>acts as a </a:t>
            </a:r>
            <a:r>
              <a:rPr lang="en-US" dirty="0" smtClean="0"/>
              <a:t>channel </a:t>
            </a:r>
            <a:r>
              <a:rPr lang="en-US" dirty="0"/>
              <a:t>for data from the keyboard, memory and other devices. It passes information at speeds up to billions of characters per second. </a:t>
            </a:r>
            <a:endParaRPr lang="en-US" dirty="0" smtClean="0"/>
          </a:p>
          <a:p>
            <a:pPr fontAlgn="base"/>
            <a:endParaRPr lang="en-US" dirty="0"/>
          </a:p>
          <a:p>
            <a:pPr fontAlgn="base"/>
            <a:r>
              <a:rPr lang="en-US" dirty="0"/>
              <a:t>The computer must be able to access every character of memory rapidly, so every character has its own address number. </a:t>
            </a:r>
            <a:r>
              <a:rPr lang="en-US" dirty="0" smtClean="0"/>
              <a:t>The </a:t>
            </a:r>
            <a:r>
              <a:rPr lang="en-US" b="1" dirty="0" smtClean="0"/>
              <a:t>address bus </a:t>
            </a:r>
            <a:r>
              <a:rPr lang="en-US" dirty="0" smtClean="0"/>
              <a:t>carries such memory addresses.</a:t>
            </a:r>
            <a:endParaRPr lang="en-US" dirty="0"/>
          </a:p>
          <a:p>
            <a:endParaRPr lang="en-US" dirty="0"/>
          </a:p>
        </p:txBody>
      </p:sp>
    </p:spTree>
    <p:extLst>
      <p:ext uri="{BB962C8B-B14F-4D97-AF65-F5344CB8AC3E}">
        <p14:creationId xmlns:p14="http://schemas.microsoft.com/office/powerpoint/2010/main" val="427772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1212</TotalTime>
  <Words>3000</Words>
  <Application>Microsoft Office PowerPoint</Application>
  <PresentationFormat>Widescreen</PresentationFormat>
  <Paragraphs>412</Paragraphs>
  <Slides>66</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66</vt:i4>
      </vt:variant>
    </vt:vector>
  </HeadingPairs>
  <TitlesOfParts>
    <vt:vector size="73" baseType="lpstr">
      <vt:lpstr>arial</vt:lpstr>
      <vt:lpstr>arial</vt:lpstr>
      <vt:lpstr>Calibri</vt:lpstr>
      <vt:lpstr>Calibri Light</vt:lpstr>
      <vt:lpstr>Times New Roman</vt:lpstr>
      <vt:lpstr>Wingdings</vt:lpstr>
      <vt:lpstr>Office Theme</vt:lpstr>
      <vt:lpstr>  Computer Architecture CSC-250</vt:lpstr>
      <vt:lpstr>Computer Architecture</vt:lpstr>
      <vt:lpstr>Computer Architecture</vt:lpstr>
      <vt:lpstr>Computer Architecture</vt:lpstr>
      <vt:lpstr>Computer Architecture</vt:lpstr>
      <vt:lpstr>Computer Architecture Layer</vt:lpstr>
      <vt:lpstr>PowerPoint Presentation</vt:lpstr>
      <vt:lpstr>PowerPoint Presentation</vt:lpstr>
      <vt:lpstr>Design </vt:lpstr>
      <vt:lpstr>Why We Study Computer Architecture</vt:lpstr>
      <vt:lpstr>Computer Architecture &amp; Organization </vt:lpstr>
      <vt:lpstr>Structure </vt:lpstr>
      <vt:lpstr>Computer Organization Vs Architecture</vt:lpstr>
      <vt:lpstr>Computer Organization includes………</vt:lpstr>
      <vt:lpstr>Computer architecture includes……..</vt:lpstr>
      <vt:lpstr>Concept of computer ‘Family’</vt:lpstr>
      <vt:lpstr>Structure Vs Function</vt:lpstr>
      <vt:lpstr>Functions of Computer</vt:lpstr>
      <vt:lpstr>Functional View</vt:lpstr>
      <vt:lpstr>Data movement</vt:lpstr>
      <vt:lpstr>Storage </vt:lpstr>
      <vt:lpstr>Processing</vt:lpstr>
      <vt:lpstr>PowerPoint Presentation</vt:lpstr>
      <vt:lpstr>Structure - Top Level  (Four main structural Components)</vt:lpstr>
      <vt:lpstr>Structure - The CPU</vt:lpstr>
      <vt:lpstr>Structure - The Control Unit</vt:lpstr>
      <vt:lpstr>The Control Unit</vt:lpstr>
      <vt:lpstr>Assignment – 1</vt:lpstr>
      <vt:lpstr>Parts of Computer Hardware</vt:lpstr>
      <vt:lpstr>Year : 300 B.C</vt:lpstr>
      <vt:lpstr>Modern Abacus</vt:lpstr>
      <vt:lpstr>Year : 1617 A.D</vt:lpstr>
      <vt:lpstr>Napier’s Bones</vt:lpstr>
      <vt:lpstr>Year : 1642 A.D</vt:lpstr>
      <vt:lpstr>PowerPoint Presentation</vt:lpstr>
      <vt:lpstr>Year: 1801 A.D (Punch Cards)</vt:lpstr>
      <vt:lpstr>Punch card or Jacquard card</vt:lpstr>
      <vt:lpstr>Year : 1822 A.D</vt:lpstr>
      <vt:lpstr>The Difference Engine</vt:lpstr>
      <vt:lpstr>Analytical Engine</vt:lpstr>
      <vt:lpstr>Analytical engine (ctd...)</vt:lpstr>
      <vt:lpstr>Year : 1890 A.D</vt:lpstr>
      <vt:lpstr>Hollerith desks still exist today </vt:lpstr>
      <vt:lpstr>Hollerith and IBM</vt:lpstr>
      <vt:lpstr>More about IBM</vt:lpstr>
      <vt:lpstr>First Generation - 1940-1956</vt:lpstr>
      <vt:lpstr>Mark 1</vt:lpstr>
      <vt:lpstr>Mark 1</vt:lpstr>
      <vt:lpstr>History of ‘Bug’</vt:lpstr>
      <vt:lpstr>Year : 1943 – 1945</vt:lpstr>
      <vt:lpstr>Second Generation - 1956-1963:</vt:lpstr>
      <vt:lpstr>Third Generation - 1964-1971</vt:lpstr>
      <vt:lpstr>Revolution of IC</vt:lpstr>
      <vt:lpstr>Fourth Generation - 1971-Present</vt:lpstr>
      <vt:lpstr>Fifth Generation - Present and Beyond</vt:lpstr>
      <vt:lpstr>The Microprocessor</vt:lpstr>
      <vt:lpstr>Parts of Microprocessor</vt:lpstr>
      <vt:lpstr>Registers</vt:lpstr>
      <vt:lpstr>Memory</vt:lpstr>
      <vt:lpstr>RAM</vt:lpstr>
      <vt:lpstr>Cache Memory</vt:lpstr>
      <vt:lpstr>Cache Memory Types</vt:lpstr>
      <vt:lpstr>ROM and Types</vt:lpstr>
      <vt:lpstr>ROM and Types</vt:lpstr>
      <vt:lpstr>CMOS</vt:lpstr>
      <vt:lpstr>Computer Bus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Theory of Automata</dc:title>
  <dc:creator>Faryal Shamsi</dc:creator>
  <cp:lastModifiedBy>PC</cp:lastModifiedBy>
  <cp:revision>146</cp:revision>
  <dcterms:created xsi:type="dcterms:W3CDTF">2020-08-15T12:25:58Z</dcterms:created>
  <dcterms:modified xsi:type="dcterms:W3CDTF">2026-09-03T02:24:56Z</dcterms:modified>
</cp:coreProperties>
</file>