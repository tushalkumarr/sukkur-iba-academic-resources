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image" Target="../media/image-18-2.png"/><Relationship Id="rId5" Type="http://schemas.openxmlformats.org/officeDocument/2006/relationships/image" Target="../media/image-1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2.png"/><Relationship Id="rId4" Type="http://schemas.openxmlformats.org/officeDocument/2006/relationships/image" Target="../media/image-21-2.png"/><Relationship Id="rId5" Type="http://schemas.openxmlformats.org/officeDocument/2006/relationships/image" Target="../media/image-2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2.png"/><Relationship Id="rId4" Type="http://schemas.openxmlformats.org/officeDocument/2006/relationships/image" Target="../media/image-24-2.png"/><Relationship Id="rId5" Type="http://schemas.openxmlformats.org/officeDocument/2006/relationships/image" Target="../media/image-2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2.png"/><Relationship Id="rId4" Type="http://schemas.openxmlformats.org/officeDocument/2006/relationships/image" Target="../media/image-27-2.png"/><Relationship Id="rId5" Type="http://schemas.openxmlformats.org/officeDocument/2006/relationships/image" Target="../media/image-2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11887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7 — WILLIAM STALLINGS, COMPUTER ORGANIZATION AND ARCHITECTURE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173736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Input / Output</a:t>
            </a:r>
            <a:endParaRPr lang="en-US" sz="60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063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F6F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Handwritten Lecture Notes — Beginner-Friendly Guide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371600" y="4206240"/>
            <a:ext cx="914400" cy="914400"/>
          </a:xfrm>
          <a:prstGeom prst="ellipse">
            <a:avLst/>
          </a:prstGeom>
          <a:solidFill>
            <a:srgbClr val="1F6F8B">
              <a:alpha val="15000"/>
            </a:srgbClr>
          </a:solidFill>
          <a:ln w="19050">
            <a:solidFill>
              <a:srgbClr val="1F6F8B"/>
            </a:solidFill>
            <a:prstDash val="dash"/>
          </a:ln>
        </p:spPr>
      </p:sp>
      <p:pic>
        <p:nvPicPr>
          <p:cNvPr id="23" name="Image 0" descr="/home/claude/icons/ke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4407408"/>
            <a:ext cx="512064" cy="512064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542032" y="4206240"/>
            <a:ext cx="914400" cy="914400"/>
          </a:xfrm>
          <a:prstGeom prst="ellipse">
            <a:avLst/>
          </a:prstGeom>
          <a:solidFill>
            <a:srgbClr val="A65A2E">
              <a:alpha val="15000"/>
            </a:srgbClr>
          </a:solidFill>
          <a:ln w="19050">
            <a:solidFill>
              <a:srgbClr val="A65A2E"/>
            </a:solidFill>
            <a:prstDash val="dash"/>
          </a:ln>
        </p:spPr>
      </p:sp>
      <p:pic>
        <p:nvPicPr>
          <p:cNvPr id="25" name="Image 1" descr="/home/claude/icons/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4407408"/>
            <a:ext cx="512064" cy="512064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3712464" y="4206240"/>
            <a:ext cx="914400" cy="914400"/>
          </a:xfrm>
          <a:prstGeom prst="ellipse">
            <a:avLst/>
          </a:prstGeom>
          <a:solidFill>
            <a:srgbClr val="4C6B3C">
              <a:alpha val="15000"/>
            </a:srgbClr>
          </a:solidFill>
          <a:ln w="19050">
            <a:solidFill>
              <a:srgbClr val="4C6B3C"/>
            </a:solidFill>
            <a:prstDash val="dash"/>
          </a:ln>
        </p:spPr>
      </p:sp>
      <p:pic>
        <p:nvPicPr>
          <p:cNvPr id="27" name="Image 2" descr="/home/claude/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4407408"/>
            <a:ext cx="512064" cy="51206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4882896" y="4206240"/>
            <a:ext cx="914400" cy="914400"/>
          </a:xfrm>
          <a:prstGeom prst="ellipse">
            <a:avLst/>
          </a:prstGeom>
          <a:solidFill>
            <a:srgbClr val="8B3A62">
              <a:alpha val="15000"/>
            </a:srgbClr>
          </a:solidFill>
          <a:ln w="19050">
            <a:solidFill>
              <a:srgbClr val="8B3A62"/>
            </a:solidFill>
            <a:prstDash val="dash"/>
          </a:ln>
        </p:spPr>
      </p:sp>
      <p:pic>
        <p:nvPicPr>
          <p:cNvPr id="29" name="Image 3" descr="/home/claude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4407408"/>
            <a:ext cx="512064" cy="512064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053328" y="4206240"/>
            <a:ext cx="914400" cy="914400"/>
          </a:xfrm>
          <a:prstGeom prst="ellipse">
            <a:avLst/>
          </a:prstGeom>
          <a:solidFill>
            <a:srgbClr val="2F5233">
              <a:alpha val="15000"/>
            </a:srgbClr>
          </a:solidFill>
          <a:ln w="19050">
            <a:solidFill>
              <a:srgbClr val="2F5233"/>
            </a:solidFill>
            <a:prstDash val="dash"/>
          </a:ln>
        </p:spPr>
      </p:sp>
      <p:pic>
        <p:nvPicPr>
          <p:cNvPr id="31" name="Image 4" descr="/home/claude/icons/exch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4407408"/>
            <a:ext cx="512064" cy="512064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7223760" y="4206240"/>
            <a:ext cx="914400" cy="914400"/>
          </a:xfrm>
          <a:prstGeom prst="ellipse">
            <a:avLst/>
          </a:prstGeom>
          <a:solidFill>
            <a:srgbClr val="6A4C93">
              <a:alpha val="15000"/>
            </a:srgbClr>
          </a:solidFill>
          <a:ln w="19050">
            <a:solidFill>
              <a:srgbClr val="6A4C93"/>
            </a:solidFill>
            <a:prstDash val="dash"/>
          </a:ln>
        </p:spPr>
      </p:sp>
      <p:pic>
        <p:nvPicPr>
          <p:cNvPr id="33" name="Image 5" descr="/home/claude/icons/memo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4407408"/>
            <a:ext cx="512064" cy="512064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8394192" y="4206240"/>
            <a:ext cx="914400" cy="914400"/>
          </a:xfrm>
          <a:prstGeom prst="ellipse">
            <a:avLst/>
          </a:prstGeom>
          <a:solidFill>
            <a:srgbClr val="3A6B94">
              <a:alpha val="15000"/>
            </a:srgbClr>
          </a:solidFill>
          <a:ln w="19050">
            <a:solidFill>
              <a:srgbClr val="3A6B94"/>
            </a:solidFill>
            <a:prstDash val="dash"/>
          </a:ln>
        </p:spPr>
      </p:sp>
      <p:pic>
        <p:nvPicPr>
          <p:cNvPr id="35" name="Image 6" descr="/home/claude/icons/ser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0" y="4407408"/>
            <a:ext cx="512064" cy="512064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9564624" y="4206240"/>
            <a:ext cx="914400" cy="914400"/>
          </a:xfrm>
          <a:prstGeom prst="ellipse">
            <a:avLst/>
          </a:prstGeom>
          <a:solidFill>
            <a:srgbClr val="B5651D">
              <a:alpha val="15000"/>
            </a:srgbClr>
          </a:solidFill>
          <a:ln w="19050">
            <a:solidFill>
              <a:srgbClr val="B5651D"/>
            </a:solidFill>
            <a:prstDash val="dash"/>
          </a:ln>
        </p:spPr>
      </p:sp>
      <p:pic>
        <p:nvPicPr>
          <p:cNvPr id="37" name="Image 7" descr="/home/claude/icons/plu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5792" y="4407408"/>
            <a:ext cx="512064" cy="512064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10735056" y="4206240"/>
            <a:ext cx="914400" cy="914400"/>
          </a:xfrm>
          <a:prstGeom prst="ellipse">
            <a:avLst/>
          </a:prstGeom>
          <a:solidFill>
            <a:srgbClr val="2B3A67">
              <a:alpha val="15000"/>
            </a:srgbClr>
          </a:solidFill>
          <a:ln w="19050">
            <a:solidFill>
              <a:srgbClr val="2B3A67"/>
            </a:solidFill>
            <a:prstDash val="dash"/>
          </a:ln>
        </p:spPr>
      </p:sp>
      <p:pic>
        <p:nvPicPr>
          <p:cNvPr id="39" name="Image 8" descr="/home/claude/icons/netwo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36224" y="4407408"/>
            <a:ext cx="512064" cy="512064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1280160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topics · 27 note slides · one keystroke to a mainframe</a:t>
            </a:r>
            <a:endParaRPr lang="en-US" sz="1300" dirty="0"/>
          </a:p>
        </p:txBody>
      </p:sp>
      <p:sp>
        <p:nvSpPr>
          <p:cNvPr id="41" name="Text 30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Today's Notebook — Agenda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80160" y="1600200"/>
            <a:ext cx="502920" cy="502920"/>
          </a:xfrm>
          <a:prstGeom prst="ellipse">
            <a:avLst/>
          </a:prstGeom>
          <a:solidFill>
            <a:srgbClr val="1F6F8B">
              <a:alpha val="85000"/>
            </a:srgbClr>
          </a:solidFill>
          <a:ln w="19050">
            <a:solidFill>
              <a:srgbClr val="1F6F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801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1.1</a:t>
            </a:r>
            <a:endParaRPr lang="en-US" sz="1300" dirty="0"/>
          </a:p>
        </p:txBody>
      </p:sp>
      <p:pic>
        <p:nvPicPr>
          <p:cNvPr id="24" name="Image 0" descr="/home/claude/icons/ke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1673352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237744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Devices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1280160" y="2514600"/>
            <a:ext cx="502920" cy="502920"/>
          </a:xfrm>
          <a:prstGeom prst="ellipse">
            <a:avLst/>
          </a:prstGeom>
          <a:solidFill>
            <a:srgbClr val="A65A2E">
              <a:alpha val="85000"/>
            </a:srgbClr>
          </a:solidFill>
          <a:ln w="19050">
            <a:solidFill>
              <a:srgbClr val="A65A2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28016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1.2</a:t>
            </a:r>
            <a:endParaRPr lang="en-US" sz="1300" dirty="0"/>
          </a:p>
        </p:txBody>
      </p:sp>
      <p:pic>
        <p:nvPicPr>
          <p:cNvPr id="28" name="Image 1" descr="/home/claude/icons/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952" y="2587752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237744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Modules</a:t>
            </a:r>
            <a:endParaRPr lang="en-US" sz="1450" dirty="0"/>
          </a:p>
        </p:txBody>
      </p:sp>
      <p:sp>
        <p:nvSpPr>
          <p:cNvPr id="30" name="Shape 26"/>
          <p:cNvSpPr/>
          <p:nvPr/>
        </p:nvSpPr>
        <p:spPr>
          <a:xfrm>
            <a:off x="1280160" y="3429000"/>
            <a:ext cx="502920" cy="502920"/>
          </a:xfrm>
          <a:prstGeom prst="ellipse">
            <a:avLst/>
          </a:prstGeom>
          <a:solidFill>
            <a:srgbClr val="4C6B3C">
              <a:alpha val="85000"/>
            </a:srgbClr>
          </a:solidFill>
          <a:ln w="19050">
            <a:solidFill>
              <a:srgbClr val="4C6B3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28016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1.3</a:t>
            </a:r>
            <a:endParaRPr lang="en-US" sz="1300" dirty="0"/>
          </a:p>
        </p:txBody>
      </p:sp>
      <p:pic>
        <p:nvPicPr>
          <p:cNvPr id="32" name="Image 2" descr="/home/claude/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3502152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2377440" y="3429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Programmed I/O</a:t>
            </a:r>
            <a:endParaRPr lang="en-US" sz="1450" dirty="0"/>
          </a:p>
        </p:txBody>
      </p:sp>
      <p:sp>
        <p:nvSpPr>
          <p:cNvPr id="34" name="Shape 29"/>
          <p:cNvSpPr/>
          <p:nvPr/>
        </p:nvSpPr>
        <p:spPr>
          <a:xfrm>
            <a:off x="1280160" y="4343400"/>
            <a:ext cx="502920" cy="502920"/>
          </a:xfrm>
          <a:prstGeom prst="ellipse">
            <a:avLst/>
          </a:prstGeom>
          <a:solidFill>
            <a:srgbClr val="8B3A62">
              <a:alpha val="85000"/>
            </a:srgbClr>
          </a:solidFill>
          <a:ln w="19050">
            <a:solidFill>
              <a:srgbClr val="8B3A62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2801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1.4</a:t>
            </a:r>
            <a:endParaRPr lang="en-US" sz="1300" dirty="0"/>
          </a:p>
        </p:txBody>
      </p:sp>
      <p:pic>
        <p:nvPicPr>
          <p:cNvPr id="36" name="Image 3" descr="/home/claude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952" y="4416552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2377440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 I/O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1280160" y="5257800"/>
            <a:ext cx="502920" cy="502920"/>
          </a:xfrm>
          <a:prstGeom prst="ellipse">
            <a:avLst/>
          </a:prstGeom>
          <a:solidFill>
            <a:srgbClr val="2F5233">
              <a:alpha val="85000"/>
            </a:srgbClr>
          </a:solidFill>
          <a:ln w="19050">
            <a:solidFill>
              <a:srgbClr val="2F5233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128016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1.5</a:t>
            </a:r>
            <a:endParaRPr lang="en-US" sz="1300" dirty="0"/>
          </a:p>
        </p:txBody>
      </p:sp>
      <p:pic>
        <p:nvPicPr>
          <p:cNvPr id="40" name="Image 4" descr="/home/claude/icons/exch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1952" y="5330952"/>
            <a:ext cx="365760" cy="36576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2377440" y="5257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Memory Access</a:t>
            </a:r>
            <a:endParaRPr lang="en-US" sz="1450" dirty="0"/>
          </a:p>
        </p:txBody>
      </p:sp>
      <p:sp>
        <p:nvSpPr>
          <p:cNvPr id="42" name="Shape 35"/>
          <p:cNvSpPr/>
          <p:nvPr/>
        </p:nvSpPr>
        <p:spPr>
          <a:xfrm>
            <a:off x="6446520" y="1600200"/>
            <a:ext cx="502920" cy="502920"/>
          </a:xfrm>
          <a:prstGeom prst="ellipse">
            <a:avLst/>
          </a:prstGeom>
          <a:solidFill>
            <a:srgbClr val="6A4C93">
              <a:alpha val="85000"/>
            </a:srgbClr>
          </a:solidFill>
          <a:ln w="19050">
            <a:solidFill>
              <a:srgbClr val="6A4C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6446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1.6</a:t>
            </a:r>
            <a:endParaRPr lang="en-US" sz="1300" dirty="0"/>
          </a:p>
        </p:txBody>
      </p:sp>
      <p:pic>
        <p:nvPicPr>
          <p:cNvPr id="44" name="Image 5" descr="/home/claude/icons/memo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8312" y="1673352"/>
            <a:ext cx="365760" cy="365760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7543800" y="1600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Cache Access</a:t>
            </a:r>
            <a:endParaRPr lang="en-US" sz="1450" dirty="0"/>
          </a:p>
        </p:txBody>
      </p:sp>
      <p:sp>
        <p:nvSpPr>
          <p:cNvPr id="46" name="Shape 38"/>
          <p:cNvSpPr/>
          <p:nvPr/>
        </p:nvSpPr>
        <p:spPr>
          <a:xfrm>
            <a:off x="6446520" y="2514600"/>
            <a:ext cx="502920" cy="502920"/>
          </a:xfrm>
          <a:prstGeom prst="ellipse">
            <a:avLst/>
          </a:prstGeom>
          <a:solidFill>
            <a:srgbClr val="3A6B94">
              <a:alpha val="85000"/>
            </a:srgbClr>
          </a:solidFill>
          <a:ln w="19050">
            <a:solidFill>
              <a:srgbClr val="3A6B94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64465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1.7</a:t>
            </a:r>
            <a:endParaRPr lang="en-US" sz="1300" dirty="0"/>
          </a:p>
        </p:txBody>
      </p:sp>
      <p:pic>
        <p:nvPicPr>
          <p:cNvPr id="48" name="Image 6" descr="/home/claude/icons/ser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312" y="2587752"/>
            <a:ext cx="365760" cy="36576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754380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Channels &amp; Processors</a:t>
            </a:r>
            <a:endParaRPr lang="en-US" sz="1450" dirty="0"/>
          </a:p>
        </p:txBody>
      </p:sp>
      <p:sp>
        <p:nvSpPr>
          <p:cNvPr id="50" name="Shape 41"/>
          <p:cNvSpPr/>
          <p:nvPr/>
        </p:nvSpPr>
        <p:spPr>
          <a:xfrm>
            <a:off x="6446520" y="3429000"/>
            <a:ext cx="502920" cy="502920"/>
          </a:xfrm>
          <a:prstGeom prst="ellipse">
            <a:avLst/>
          </a:prstGeom>
          <a:solidFill>
            <a:srgbClr val="B5651D">
              <a:alpha val="85000"/>
            </a:srgbClr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64465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1.8</a:t>
            </a:r>
            <a:endParaRPr lang="en-US" sz="1300" dirty="0"/>
          </a:p>
        </p:txBody>
      </p:sp>
      <p:pic>
        <p:nvPicPr>
          <p:cNvPr id="52" name="Image 7" descr="/home/claude/icons/plu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312" y="3502152"/>
            <a:ext cx="365760" cy="365760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7543800" y="3429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Interconnection Standards</a:t>
            </a:r>
            <a:endParaRPr lang="en-US" sz="1450" dirty="0"/>
          </a:p>
        </p:txBody>
      </p:sp>
      <p:sp>
        <p:nvSpPr>
          <p:cNvPr id="54" name="Shape 44"/>
          <p:cNvSpPr/>
          <p:nvPr/>
        </p:nvSpPr>
        <p:spPr>
          <a:xfrm>
            <a:off x="6446520" y="4343400"/>
            <a:ext cx="502920" cy="502920"/>
          </a:xfrm>
          <a:prstGeom prst="ellipse">
            <a:avLst/>
          </a:prstGeom>
          <a:solidFill>
            <a:srgbClr val="2B3A67">
              <a:alpha val="85000"/>
            </a:srgbClr>
          </a:solidFill>
          <a:ln w="19050">
            <a:solidFill>
              <a:srgbClr val="2B3A67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64465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1.9</a:t>
            </a:r>
            <a:endParaRPr lang="en-US" sz="1300" dirty="0"/>
          </a:p>
        </p:txBody>
      </p:sp>
      <p:pic>
        <p:nvPicPr>
          <p:cNvPr id="56" name="Image 8" descr="/home/claude/icons/netwo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8312" y="4416552"/>
            <a:ext cx="365760" cy="365760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7543800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zEnterprise EC12 I/O Structure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8B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1F6F8B">
              <a:alpha val="88000"/>
            </a:srgbClr>
          </a:solidFill>
          <a:ln w="19050">
            <a:solidFill>
              <a:srgbClr val="1F6F8B"/>
            </a:solidFill>
            <a:prstDash val="dash"/>
          </a:ln>
        </p:spPr>
      </p:sp>
      <p:pic>
        <p:nvPicPr>
          <p:cNvPr id="22" name="Image 0" descr="/home/claude/icons/ke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Notes — What is it?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External Devices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-36000">
            <a:off x="1280160" y="1508760"/>
            <a:ext cx="9646920" cy="1417320"/>
          </a:xfrm>
          <a:prstGeom prst="roundRect">
            <a:avLst>
              <a:gd name="adj" fmla="val 7742"/>
            </a:avLst>
          </a:prstGeom>
          <a:solidFill>
            <a:srgbClr val="1F6F8B">
              <a:alpha val="12000"/>
            </a:srgbClr>
          </a:solidFill>
          <a:ln w="15875">
            <a:solidFill>
              <a:srgbClr val="1F6F8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554480" y="1627632"/>
            <a:ext cx="9098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6F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✎ Simple Definition: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devices outside the CPU and main memory that let the computer interact with the outside world — by taking in data, showing or printing results, or storing data long-term.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Key Points to Remember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261872" y="3666744"/>
            <a:ext cx="292608" cy="292608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3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70332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691640" y="360273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through an I/O module — never directly to the CPU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1261872" y="4197096"/>
            <a:ext cx="292608" cy="292608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33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233672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691640" y="413308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Human-readable: monitor, printer, keyboard</a:t>
            </a:r>
            <a:endParaRPr lang="en-US" sz="1450" dirty="0"/>
          </a:p>
        </p:txBody>
      </p:sp>
      <p:sp>
        <p:nvSpPr>
          <p:cNvPr id="35" name="Shape 30"/>
          <p:cNvSpPr/>
          <p:nvPr/>
        </p:nvSpPr>
        <p:spPr>
          <a:xfrm>
            <a:off x="1261872" y="4727448"/>
            <a:ext cx="292608" cy="292608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36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764024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46634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Machine-readable: sensors, disk drives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1261872" y="5257800"/>
            <a:ext cx="292608" cy="292608"/>
          </a:xfrm>
          <a:prstGeom prst="ellipse">
            <a:avLst/>
          </a:prstGeom>
          <a:solidFill>
            <a:srgbClr val="1F6F8B"/>
          </a:solidFill>
          <a:ln/>
        </p:spPr>
      </p:sp>
      <p:pic>
        <p:nvPicPr>
          <p:cNvPr id="39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294376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691640" y="51937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devices: modem, network card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8B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1F6F8B">
              <a:alpha val="88000"/>
            </a:srgbClr>
          </a:solidFill>
          <a:ln w="19050">
            <a:solidFill>
              <a:srgbClr val="1F6F8B"/>
            </a:solidFill>
            <a:prstDash val="dash"/>
          </a:ln>
        </p:spPr>
      </p:sp>
      <p:pic>
        <p:nvPicPr>
          <p:cNvPr id="22" name="Image 0" descr="/home/claude/icons/ke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External Devices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88720" y="1691640"/>
            <a:ext cx="457200" cy="457200"/>
          </a:xfrm>
          <a:prstGeom prst="ellipse">
            <a:avLst/>
          </a:prstGeom>
          <a:solidFill>
            <a:srgbClr val="1F6F8B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103120" y="1618488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1F6F8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331720" y="1618488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press a key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417320" y="2194560"/>
            <a:ext cx="0" cy="521208"/>
          </a:xfrm>
          <a:prstGeom prst="line">
            <a:avLst/>
          </a:prstGeom>
          <a:noFill/>
          <a:ln w="22225">
            <a:solidFill>
              <a:srgbClr val="1F6F8B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188720" y="2715768"/>
            <a:ext cx="457200" cy="457200"/>
          </a:xfrm>
          <a:prstGeom prst="ellipse">
            <a:avLst/>
          </a:prstGeom>
          <a:solidFill>
            <a:srgbClr val="1F6F8B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887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103120" y="2642616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1F6F8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31720" y="2642616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creates an electrical signal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417320" y="3218688"/>
            <a:ext cx="0" cy="521208"/>
          </a:xfrm>
          <a:prstGeom prst="line">
            <a:avLst/>
          </a:prstGeom>
          <a:noFill/>
          <a:ln w="22225">
            <a:solidFill>
              <a:srgbClr val="1F6F8B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188720" y="3739896"/>
            <a:ext cx="457200" cy="457200"/>
          </a:xfrm>
          <a:prstGeom prst="ellipse">
            <a:avLst/>
          </a:prstGeom>
          <a:solidFill>
            <a:srgbClr val="1F6F8B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887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103120" y="3666744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1F6F8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31720" y="3666744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travels to the I/O module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417320" y="4242816"/>
            <a:ext cx="0" cy="521208"/>
          </a:xfrm>
          <a:prstGeom prst="line">
            <a:avLst/>
          </a:prstGeom>
          <a:noFill/>
          <a:ln w="22225">
            <a:solidFill>
              <a:srgbClr val="1F6F8B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188720" y="4764024"/>
            <a:ext cx="457200" cy="457200"/>
          </a:xfrm>
          <a:prstGeom prst="ellipse">
            <a:avLst/>
          </a:prstGeom>
          <a:solidFill>
            <a:srgbClr val="1F6F8B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18872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2103120" y="4690872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1F6F8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31720" y="4690872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module sends the data to CPU / memory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6F8B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1F6F8B">
              <a:alpha val="88000"/>
            </a:srgbClr>
          </a:solidFill>
          <a:ln w="19050">
            <a:solidFill>
              <a:srgbClr val="1F6F8B"/>
            </a:solidFill>
            <a:prstDash val="dash"/>
          </a:ln>
        </p:spPr>
      </p:sp>
      <p:pic>
        <p:nvPicPr>
          <p:cNvPr id="22" name="Image 0" descr="/home/claude/icons/ke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6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 &amp; Recap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External Devices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48000">
            <a:off x="1280160" y="1645920"/>
            <a:ext cx="9646920" cy="1965960"/>
          </a:xfrm>
          <a:prstGeom prst="roundRect">
            <a:avLst>
              <a:gd name="adj" fmla="val 5581"/>
            </a:avLst>
          </a:prstGeom>
          <a:solidFill>
            <a:srgbClr val="1F6F8B">
              <a:alpha val="10000"/>
            </a:srgbClr>
          </a:solidFill>
          <a:ln w="15875">
            <a:solidFill>
              <a:srgbClr val="1F6F8B"/>
            </a:solidFill>
            <a:prstDash val="dash"/>
          </a:ln>
        </p:spPr>
      </p:sp>
      <p:pic>
        <p:nvPicPr>
          <p:cNvPr id="27" name="Image 1" descr="/home/claude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874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194560" y="1828800"/>
            <a:ext cx="8549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1F6F8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Picture this:   </a:t>
            </a:r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keyboard like a mailbox — you drop in a letter (a keystroke), and it travels through the postal system (the I/O module) until it reaches the reader (the CPU).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 rot="-42000">
            <a:off x="1737360" y="4160520"/>
            <a:ext cx="8732520" cy="1371600"/>
          </a:xfrm>
          <a:prstGeom prst="roundRect">
            <a:avLst>
              <a:gd name="adj" fmla="val 6667"/>
            </a:avLst>
          </a:prstGeom>
          <a:solidFill>
            <a:srgbClr val="FFF2A8">
              <a:alpha val="8500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0116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★ QUICK RECAP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2011680" y="4617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devices are the computer's eyes, ears, hands &amp; mouth — everything it uses to sense and affect the outside world.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65A2E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5A2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A65A2E">
              <a:alpha val="88000"/>
            </a:srgbClr>
          </a:solidFill>
          <a:ln w="19050">
            <a:solidFill>
              <a:srgbClr val="A65A2E"/>
            </a:solidFill>
            <a:prstDash val="dash"/>
          </a:ln>
        </p:spPr>
      </p:sp>
      <p:pic>
        <p:nvPicPr>
          <p:cNvPr id="22" name="Image 0" descr="/home/claude/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Notes — What is it?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I/O Modules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-36000">
            <a:off x="1280160" y="1508760"/>
            <a:ext cx="9646920" cy="1417320"/>
          </a:xfrm>
          <a:prstGeom prst="roundRect">
            <a:avLst>
              <a:gd name="adj" fmla="val 7742"/>
            </a:avLst>
          </a:prstGeom>
          <a:solidFill>
            <a:srgbClr val="A65A2E">
              <a:alpha val="12000"/>
            </a:srgbClr>
          </a:solidFill>
          <a:ln w="15875">
            <a:solidFill>
              <a:srgbClr val="A65A2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554480" y="1627632"/>
            <a:ext cx="9098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65A2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✎ Simple Definition: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 unit that sits between the CPU/memory and external devices. It manages the messy details of talking to a device so the CPU doesn't have to.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Key Points to Remember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261872" y="3666744"/>
            <a:ext cx="292608" cy="292608"/>
          </a:xfrm>
          <a:prstGeom prst="ellipse">
            <a:avLst/>
          </a:prstGeom>
          <a:solidFill>
            <a:srgbClr val="A65A2E"/>
          </a:solidFill>
          <a:ln/>
        </p:spPr>
      </p:sp>
      <p:pic>
        <p:nvPicPr>
          <p:cNvPr id="3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70332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691640" y="360273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timing so a fast CPU and a slow device can cooperate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1261872" y="4197096"/>
            <a:ext cx="292608" cy="292608"/>
          </a:xfrm>
          <a:prstGeom prst="ellipse">
            <a:avLst/>
          </a:prstGeom>
          <a:solidFill>
            <a:srgbClr val="A65A2E"/>
          </a:solidFill>
          <a:ln/>
        </p:spPr>
      </p:sp>
      <p:pic>
        <p:nvPicPr>
          <p:cNvPr id="33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233672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691640" y="413308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the CPU using commands, status bits and data</a:t>
            </a:r>
            <a:endParaRPr lang="en-US" sz="1450" dirty="0"/>
          </a:p>
        </p:txBody>
      </p:sp>
      <p:sp>
        <p:nvSpPr>
          <p:cNvPr id="35" name="Shape 30"/>
          <p:cNvSpPr/>
          <p:nvPr/>
        </p:nvSpPr>
        <p:spPr>
          <a:xfrm>
            <a:off x="1261872" y="4727448"/>
            <a:ext cx="292608" cy="292608"/>
          </a:xfrm>
          <a:prstGeom prst="ellipse">
            <a:avLst/>
          </a:prstGeom>
          <a:solidFill>
            <a:srgbClr val="A65A2E"/>
          </a:solidFill>
          <a:ln/>
        </p:spPr>
      </p:sp>
      <p:pic>
        <p:nvPicPr>
          <p:cNvPr id="36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764024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46634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the device using the device's own signals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1261872" y="5257800"/>
            <a:ext cx="292608" cy="292608"/>
          </a:xfrm>
          <a:prstGeom prst="ellipse">
            <a:avLst/>
          </a:prstGeom>
          <a:solidFill>
            <a:srgbClr val="A65A2E"/>
          </a:solidFill>
          <a:ln/>
        </p:spPr>
      </p:sp>
      <p:pic>
        <p:nvPicPr>
          <p:cNvPr id="39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294376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691640" y="51937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data and checks for transmission errors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65A2E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5A2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A65A2E">
              <a:alpha val="88000"/>
            </a:srgbClr>
          </a:solidFill>
          <a:ln w="19050">
            <a:solidFill>
              <a:srgbClr val="A65A2E"/>
            </a:solidFill>
            <a:prstDash val="dash"/>
          </a:ln>
        </p:spPr>
      </p:sp>
      <p:pic>
        <p:nvPicPr>
          <p:cNvPr id="22" name="Image 0" descr="/home/claude/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I/O Modules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88720" y="1691640"/>
            <a:ext cx="457200" cy="457200"/>
          </a:xfrm>
          <a:prstGeom prst="ellipse">
            <a:avLst/>
          </a:prstGeom>
          <a:solidFill>
            <a:srgbClr val="A65A2E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103120" y="1618488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A65A2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331720" y="1618488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sends a command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417320" y="2194560"/>
            <a:ext cx="0" cy="521208"/>
          </a:xfrm>
          <a:prstGeom prst="line">
            <a:avLst/>
          </a:prstGeom>
          <a:noFill/>
          <a:ln w="22225">
            <a:solidFill>
              <a:srgbClr val="A65A2E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188720" y="2715768"/>
            <a:ext cx="457200" cy="457200"/>
          </a:xfrm>
          <a:prstGeom prst="ellipse">
            <a:avLst/>
          </a:prstGeom>
          <a:solidFill>
            <a:srgbClr val="A65A2E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887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103120" y="2642616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A65A2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31720" y="2642616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module decodes the command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417320" y="3218688"/>
            <a:ext cx="0" cy="521208"/>
          </a:xfrm>
          <a:prstGeom prst="line">
            <a:avLst/>
          </a:prstGeom>
          <a:noFill/>
          <a:ln w="22225">
            <a:solidFill>
              <a:srgbClr val="A65A2E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188720" y="3739896"/>
            <a:ext cx="457200" cy="457200"/>
          </a:xfrm>
          <a:prstGeom prst="ellipse">
            <a:avLst/>
          </a:prstGeom>
          <a:solidFill>
            <a:srgbClr val="A65A2E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887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103120" y="3666744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A65A2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31720" y="3666744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controls the device directly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417320" y="4242816"/>
            <a:ext cx="0" cy="521208"/>
          </a:xfrm>
          <a:prstGeom prst="line">
            <a:avLst/>
          </a:prstGeom>
          <a:noFill/>
          <a:ln w="22225">
            <a:solidFill>
              <a:srgbClr val="A65A2E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188720" y="4764024"/>
            <a:ext cx="457200" cy="457200"/>
          </a:xfrm>
          <a:prstGeom prst="ellipse">
            <a:avLst/>
          </a:prstGeom>
          <a:solidFill>
            <a:srgbClr val="A65A2E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18872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2103120" y="4690872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A65A2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31720" y="4690872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buffers data &amp; reports status back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65A2E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5A2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A65A2E">
              <a:alpha val="88000"/>
            </a:srgbClr>
          </a:solidFill>
          <a:ln w="19050">
            <a:solidFill>
              <a:srgbClr val="A65A2E"/>
            </a:solidFill>
            <a:prstDash val="dash"/>
          </a:ln>
        </p:spPr>
      </p:sp>
      <p:pic>
        <p:nvPicPr>
          <p:cNvPr id="22" name="Image 0" descr="/home/claude/icons/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6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 &amp; Recap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I/O Modules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48000">
            <a:off x="1280160" y="1645920"/>
            <a:ext cx="9646920" cy="1965960"/>
          </a:xfrm>
          <a:prstGeom prst="roundRect">
            <a:avLst>
              <a:gd name="adj" fmla="val 5581"/>
            </a:avLst>
          </a:prstGeom>
          <a:solidFill>
            <a:srgbClr val="A65A2E">
              <a:alpha val="10000"/>
            </a:srgbClr>
          </a:solidFill>
          <a:ln w="15875">
            <a:solidFill>
              <a:srgbClr val="A65A2E"/>
            </a:solidFill>
            <a:prstDash val="dash"/>
          </a:ln>
        </p:spPr>
      </p:sp>
      <p:pic>
        <p:nvPicPr>
          <p:cNvPr id="27" name="Image 1" descr="/home/claude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874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194560" y="1828800"/>
            <a:ext cx="8549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A65A2E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Picture this:   </a:t>
            </a:r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I/O module is like a translator at a meeting — the CPU speaks ‘computer’, the printer speaks ‘printer’, and the translator makes sure both sides understand each other.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 rot="-42000">
            <a:off x="1737360" y="4160520"/>
            <a:ext cx="8732520" cy="1371600"/>
          </a:xfrm>
          <a:prstGeom prst="roundRect">
            <a:avLst>
              <a:gd name="adj" fmla="val 6667"/>
            </a:avLst>
          </a:prstGeom>
          <a:solidFill>
            <a:srgbClr val="FFF2A8">
              <a:alpha val="8500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0116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★ QUICK RECAP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2011680" y="4617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 ever connects straight to the CPU — the I/O module is always the middleman.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C6B3C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6B3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4C6B3C">
              <a:alpha val="88000"/>
            </a:srgbClr>
          </a:solidFill>
          <a:ln w="19050">
            <a:solidFill>
              <a:srgbClr val="4C6B3C"/>
            </a:solidFill>
            <a:prstDash val="dash"/>
          </a:ln>
        </p:spPr>
      </p:sp>
      <p:pic>
        <p:nvPicPr>
          <p:cNvPr id="22" name="Image 0" descr="/home/claude/icons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Notes — What is it?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Programmed I/O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-36000">
            <a:off x="1280160" y="1508760"/>
            <a:ext cx="9646920" cy="1417320"/>
          </a:xfrm>
          <a:prstGeom prst="roundRect">
            <a:avLst>
              <a:gd name="adj" fmla="val 7742"/>
            </a:avLst>
          </a:prstGeom>
          <a:solidFill>
            <a:srgbClr val="4C6B3C">
              <a:alpha val="12000"/>
            </a:srgbClr>
          </a:solidFill>
          <a:ln w="15875">
            <a:solidFill>
              <a:srgbClr val="4C6B3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554480" y="1627632"/>
            <a:ext cx="9098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4C6B3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✎ Simple Definition: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itself runs the whole I/O operation, checking the device's status again and again until it's ready. This repeated checking is called ‘busy-waiting’.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Key Points to Remember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261872" y="3666744"/>
            <a:ext cx="292608" cy="292608"/>
          </a:xfrm>
          <a:prstGeom prst="ellipse">
            <a:avLst/>
          </a:prstGeom>
          <a:solidFill>
            <a:srgbClr val="4C6B3C"/>
          </a:solidFill>
          <a:ln/>
        </p:spPr>
      </p:sp>
      <p:pic>
        <p:nvPicPr>
          <p:cNvPr id="3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70332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691640" y="360273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issues an I/O command to the module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1261872" y="4197096"/>
            <a:ext cx="292608" cy="292608"/>
          </a:xfrm>
          <a:prstGeom prst="ellipse">
            <a:avLst/>
          </a:prstGeom>
          <a:solidFill>
            <a:srgbClr val="4C6B3C"/>
          </a:solidFill>
          <a:ln/>
        </p:spPr>
      </p:sp>
      <p:pic>
        <p:nvPicPr>
          <p:cNvPr id="33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233672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691640" y="413308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loops, repeatedly testing a status bit</a:t>
            </a:r>
            <a:endParaRPr lang="en-US" sz="1450" dirty="0"/>
          </a:p>
        </p:txBody>
      </p:sp>
      <p:sp>
        <p:nvSpPr>
          <p:cNvPr id="35" name="Shape 30"/>
          <p:cNvSpPr/>
          <p:nvPr/>
        </p:nvSpPr>
        <p:spPr>
          <a:xfrm>
            <a:off x="1261872" y="4727448"/>
            <a:ext cx="292608" cy="292608"/>
          </a:xfrm>
          <a:prstGeom prst="ellipse">
            <a:avLst/>
          </a:prstGeom>
          <a:solidFill>
            <a:srgbClr val="4C6B3C"/>
          </a:solidFill>
          <a:ln/>
        </p:spPr>
      </p:sp>
      <p:pic>
        <p:nvPicPr>
          <p:cNvPr id="36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764024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46634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ready, the CPU transfers the data itself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1261872" y="5257800"/>
            <a:ext cx="292608" cy="292608"/>
          </a:xfrm>
          <a:prstGeom prst="ellipse">
            <a:avLst/>
          </a:prstGeom>
          <a:solidFill>
            <a:srgbClr val="4C6B3C"/>
          </a:solidFill>
          <a:ln/>
        </p:spPr>
      </p:sp>
      <p:pic>
        <p:nvPicPr>
          <p:cNvPr id="39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294376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691640" y="51937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simple to build — but wastes huge amounts of CPU time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C6B3C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6B3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4C6B3C">
              <a:alpha val="88000"/>
            </a:srgbClr>
          </a:solidFill>
          <a:ln w="19050">
            <a:solidFill>
              <a:srgbClr val="4C6B3C"/>
            </a:solidFill>
            <a:prstDash val="dash"/>
          </a:ln>
        </p:spPr>
      </p:sp>
      <p:pic>
        <p:nvPicPr>
          <p:cNvPr id="22" name="Image 0" descr="/home/claude/icons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Programmed I/O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88720" y="1691640"/>
            <a:ext cx="457200" cy="457200"/>
          </a:xfrm>
          <a:prstGeom prst="ellipse">
            <a:avLst/>
          </a:prstGeom>
          <a:solidFill>
            <a:srgbClr val="4C6B3C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103120" y="1618488"/>
            <a:ext cx="7863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4C6B3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331720" y="1618488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“Are you ready?”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417320" y="2194560"/>
            <a:ext cx="0" cy="338328"/>
          </a:xfrm>
          <a:prstGeom prst="line">
            <a:avLst/>
          </a:prstGeom>
          <a:noFill/>
          <a:ln w="22225">
            <a:solidFill>
              <a:srgbClr val="4C6B3C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188720" y="2532888"/>
            <a:ext cx="457200" cy="457200"/>
          </a:xfrm>
          <a:prstGeom prst="ellipse">
            <a:avLst/>
          </a:prstGeom>
          <a:solidFill>
            <a:srgbClr val="4C6B3C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887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103120" y="2459736"/>
            <a:ext cx="7863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4C6B3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31720" y="245973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“Not yet”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417320" y="3035808"/>
            <a:ext cx="0" cy="338328"/>
          </a:xfrm>
          <a:prstGeom prst="line">
            <a:avLst/>
          </a:prstGeom>
          <a:noFill/>
          <a:ln w="22225">
            <a:solidFill>
              <a:srgbClr val="4C6B3C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188720" y="3374136"/>
            <a:ext cx="457200" cy="457200"/>
          </a:xfrm>
          <a:prstGeom prst="ellipse">
            <a:avLst/>
          </a:prstGeom>
          <a:solidFill>
            <a:srgbClr val="4C6B3C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887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103120" y="3300984"/>
            <a:ext cx="7863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4C6B3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31720" y="3300984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“Are you ready?” (again …)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417320" y="3877056"/>
            <a:ext cx="0" cy="338328"/>
          </a:xfrm>
          <a:prstGeom prst="line">
            <a:avLst/>
          </a:prstGeom>
          <a:noFill/>
          <a:ln w="22225">
            <a:solidFill>
              <a:srgbClr val="4C6B3C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188720" y="4215384"/>
            <a:ext cx="457200" cy="457200"/>
          </a:xfrm>
          <a:prstGeom prst="ellipse">
            <a:avLst/>
          </a:prstGeom>
          <a:solidFill>
            <a:srgbClr val="4C6B3C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18872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2103120" y="4142232"/>
            <a:ext cx="7863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4C6B3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31720" y="4142232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“Ready!”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417320" y="4718304"/>
            <a:ext cx="0" cy="338328"/>
          </a:xfrm>
          <a:prstGeom prst="line">
            <a:avLst/>
          </a:prstGeom>
          <a:noFill/>
          <a:ln w="22225">
            <a:solidFill>
              <a:srgbClr val="4C6B3C"/>
            </a:solidFill>
            <a:prstDash val="dash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1188720" y="5056632"/>
            <a:ext cx="457200" cy="457200"/>
          </a:xfrm>
          <a:prstGeom prst="ellipse">
            <a:avLst/>
          </a:prstGeom>
          <a:solidFill>
            <a:srgbClr val="4C6B3C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8872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2103120" y="4983480"/>
            <a:ext cx="7863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4C6B3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331720" y="4983480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transfers the data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C6B3C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6B3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4C6B3C">
              <a:alpha val="88000"/>
            </a:srgbClr>
          </a:solidFill>
          <a:ln w="19050">
            <a:solidFill>
              <a:srgbClr val="4C6B3C"/>
            </a:solidFill>
            <a:prstDash val="dash"/>
          </a:ln>
        </p:spPr>
      </p:sp>
      <p:pic>
        <p:nvPicPr>
          <p:cNvPr id="22" name="Image 0" descr="/home/claude/icons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 &amp; Recap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Programmed I/O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48000">
            <a:off x="1280160" y="1645920"/>
            <a:ext cx="9646920" cy="1965960"/>
          </a:xfrm>
          <a:prstGeom prst="roundRect">
            <a:avLst>
              <a:gd name="adj" fmla="val 5581"/>
            </a:avLst>
          </a:prstGeom>
          <a:solidFill>
            <a:srgbClr val="4C6B3C">
              <a:alpha val="10000"/>
            </a:srgbClr>
          </a:solidFill>
          <a:ln w="15875">
            <a:solidFill>
              <a:srgbClr val="4C6B3C"/>
            </a:solidFill>
            <a:prstDash val="dash"/>
          </a:ln>
        </p:spPr>
      </p:sp>
      <p:pic>
        <p:nvPicPr>
          <p:cNvPr id="27" name="Image 1" descr="/home/claude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874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194560" y="1828800"/>
            <a:ext cx="8549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4C6B3C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Picture this:   </a:t>
            </a:r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standing at the microwave and opening it every 2 seconds to check if your food is hot — instead of doing anything else while you wait.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 rot="-42000">
            <a:off x="1737360" y="4160520"/>
            <a:ext cx="8732520" cy="1371600"/>
          </a:xfrm>
          <a:prstGeom prst="roundRect">
            <a:avLst>
              <a:gd name="adj" fmla="val 6667"/>
            </a:avLst>
          </a:prstGeom>
          <a:solidFill>
            <a:srgbClr val="FFF2A8">
              <a:alpha val="8500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0116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★ QUICK RECAP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2011680" y="4617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Programmed I/O = the CPU keeps asking ‘are we there yet?’ and can't do anything else meanwhile.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3A62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3A6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8B3A62">
              <a:alpha val="88000"/>
            </a:srgbClr>
          </a:solidFill>
          <a:ln w="19050">
            <a:solidFill>
              <a:srgbClr val="8B3A62"/>
            </a:solidFill>
            <a:prstDash val="dash"/>
          </a:ln>
        </p:spPr>
      </p:sp>
      <p:pic>
        <p:nvPicPr>
          <p:cNvPr id="22" name="Image 0" descr="/home/claude/icon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3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Notes — What is it?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Interrupt-Driven I/O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-36000">
            <a:off x="1280160" y="1508760"/>
            <a:ext cx="9646920" cy="1417320"/>
          </a:xfrm>
          <a:prstGeom prst="roundRect">
            <a:avLst>
              <a:gd name="adj" fmla="val 7742"/>
            </a:avLst>
          </a:prstGeom>
          <a:solidFill>
            <a:srgbClr val="8B3A62">
              <a:alpha val="12000"/>
            </a:srgbClr>
          </a:solidFill>
          <a:ln w="15875">
            <a:solidFill>
              <a:srgbClr val="8B3A6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554480" y="1627632"/>
            <a:ext cx="9098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B3A6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✎ Simple Definition: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starts an I/O operation, then goes back to other work. The device sends an interrupt signal to the CPU only when it's actually ready — no more wasted checking.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Key Points to Remember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261872" y="3666744"/>
            <a:ext cx="292608" cy="292608"/>
          </a:xfrm>
          <a:prstGeom prst="ellipse">
            <a:avLst/>
          </a:prstGeom>
          <a:solidFill>
            <a:srgbClr val="8B3A62"/>
          </a:solidFill>
          <a:ln/>
        </p:spPr>
      </p:sp>
      <p:pic>
        <p:nvPicPr>
          <p:cNvPr id="3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70332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691640" y="360273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issues the command, then keeps running other programs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1261872" y="4197096"/>
            <a:ext cx="292608" cy="292608"/>
          </a:xfrm>
          <a:prstGeom prst="ellipse">
            <a:avLst/>
          </a:prstGeom>
          <a:solidFill>
            <a:srgbClr val="8B3A62"/>
          </a:solidFill>
          <a:ln/>
        </p:spPr>
      </p:sp>
      <p:pic>
        <p:nvPicPr>
          <p:cNvPr id="33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233672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691640" y="413308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raises an interrupt when it finishes</a:t>
            </a:r>
            <a:endParaRPr lang="en-US" sz="1450" dirty="0"/>
          </a:p>
        </p:txBody>
      </p:sp>
      <p:sp>
        <p:nvSpPr>
          <p:cNvPr id="35" name="Shape 30"/>
          <p:cNvSpPr/>
          <p:nvPr/>
        </p:nvSpPr>
        <p:spPr>
          <a:xfrm>
            <a:off x="1261872" y="4727448"/>
            <a:ext cx="292608" cy="292608"/>
          </a:xfrm>
          <a:prstGeom prst="ellipse">
            <a:avLst/>
          </a:prstGeom>
          <a:solidFill>
            <a:srgbClr val="8B3A62"/>
          </a:solidFill>
          <a:ln/>
        </p:spPr>
      </p:sp>
      <p:pic>
        <p:nvPicPr>
          <p:cNvPr id="36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764024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46634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pauses, saves its state, and runs an interrupt handler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1261872" y="5257800"/>
            <a:ext cx="292608" cy="292608"/>
          </a:xfrm>
          <a:prstGeom prst="ellipse">
            <a:avLst/>
          </a:prstGeom>
          <a:solidFill>
            <a:srgbClr val="8B3A62"/>
          </a:solidFill>
          <a:ln/>
        </p:spPr>
      </p:sp>
      <p:pic>
        <p:nvPicPr>
          <p:cNvPr id="39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294376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691640" y="51937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efficient than programmed I/O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3A62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3A6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8B3A62">
              <a:alpha val="88000"/>
            </a:srgbClr>
          </a:solidFill>
          <a:ln w="19050">
            <a:solidFill>
              <a:srgbClr val="8B3A62"/>
            </a:solidFill>
            <a:prstDash val="dash"/>
          </a:ln>
        </p:spPr>
      </p:sp>
      <p:pic>
        <p:nvPicPr>
          <p:cNvPr id="22" name="Image 0" descr="/home/claude/icon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3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Interrupt-Driven I/O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88720" y="1691640"/>
            <a:ext cx="457200" cy="457200"/>
          </a:xfrm>
          <a:prstGeom prst="ellipse">
            <a:avLst/>
          </a:prstGeom>
          <a:solidFill>
            <a:srgbClr val="8B3A62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103120" y="1618488"/>
            <a:ext cx="7863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8B3A6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331720" y="1618488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starts I/O, then works on other tasks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417320" y="2194560"/>
            <a:ext cx="0" cy="338328"/>
          </a:xfrm>
          <a:prstGeom prst="line">
            <a:avLst/>
          </a:prstGeom>
          <a:noFill/>
          <a:ln w="22225">
            <a:solidFill>
              <a:srgbClr val="8B3A62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188720" y="2532888"/>
            <a:ext cx="457200" cy="457200"/>
          </a:xfrm>
          <a:prstGeom prst="ellipse">
            <a:avLst/>
          </a:prstGeom>
          <a:solidFill>
            <a:srgbClr val="8B3A62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8872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103120" y="2459736"/>
            <a:ext cx="7863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8B3A6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31720" y="2459736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finishes and raises an interrupt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417320" y="3035808"/>
            <a:ext cx="0" cy="338328"/>
          </a:xfrm>
          <a:prstGeom prst="line">
            <a:avLst/>
          </a:prstGeom>
          <a:noFill/>
          <a:ln w="22225">
            <a:solidFill>
              <a:srgbClr val="8B3A62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188720" y="3374136"/>
            <a:ext cx="457200" cy="457200"/>
          </a:xfrm>
          <a:prstGeom prst="ellipse">
            <a:avLst/>
          </a:prstGeom>
          <a:solidFill>
            <a:srgbClr val="8B3A62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887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103120" y="3300984"/>
            <a:ext cx="7863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8B3A6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31720" y="3300984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saves its current state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417320" y="3877056"/>
            <a:ext cx="0" cy="338328"/>
          </a:xfrm>
          <a:prstGeom prst="line">
            <a:avLst/>
          </a:prstGeom>
          <a:noFill/>
          <a:ln w="22225">
            <a:solidFill>
              <a:srgbClr val="8B3A62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188720" y="4215384"/>
            <a:ext cx="457200" cy="457200"/>
          </a:xfrm>
          <a:prstGeom prst="ellipse">
            <a:avLst/>
          </a:prstGeom>
          <a:solidFill>
            <a:srgbClr val="8B3A62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18872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2103120" y="4142232"/>
            <a:ext cx="7863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8B3A6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31720" y="4142232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runs the interrupt service routine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1417320" y="4718304"/>
            <a:ext cx="0" cy="338328"/>
          </a:xfrm>
          <a:prstGeom prst="line">
            <a:avLst/>
          </a:prstGeom>
          <a:noFill/>
          <a:ln w="22225">
            <a:solidFill>
              <a:srgbClr val="8B3A62"/>
            </a:solidFill>
            <a:prstDash val="dash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1188720" y="5056632"/>
            <a:ext cx="457200" cy="457200"/>
          </a:xfrm>
          <a:prstGeom prst="ellipse">
            <a:avLst/>
          </a:prstGeom>
          <a:solidFill>
            <a:srgbClr val="8B3A62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8872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5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2103120" y="4983480"/>
            <a:ext cx="78638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8B3A6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331720" y="4983480"/>
            <a:ext cx="7406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resumes its earlier work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B3A62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3A6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8B3A62">
              <a:alpha val="88000"/>
            </a:srgbClr>
          </a:solidFill>
          <a:ln w="19050">
            <a:solidFill>
              <a:srgbClr val="8B3A62"/>
            </a:solidFill>
            <a:prstDash val="dash"/>
          </a:ln>
        </p:spPr>
      </p:sp>
      <p:pic>
        <p:nvPicPr>
          <p:cNvPr id="22" name="Image 0" descr="/home/claude/icon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3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 &amp; Recap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Interrupt-Driven I/O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48000">
            <a:off x="1280160" y="1645920"/>
            <a:ext cx="9646920" cy="1965960"/>
          </a:xfrm>
          <a:prstGeom prst="roundRect">
            <a:avLst>
              <a:gd name="adj" fmla="val 5581"/>
            </a:avLst>
          </a:prstGeom>
          <a:solidFill>
            <a:srgbClr val="8B3A62">
              <a:alpha val="10000"/>
            </a:srgbClr>
          </a:solidFill>
          <a:ln w="15875">
            <a:solidFill>
              <a:srgbClr val="8B3A62"/>
            </a:solidFill>
            <a:prstDash val="dash"/>
          </a:ln>
        </p:spPr>
      </p:sp>
      <p:pic>
        <p:nvPicPr>
          <p:cNvPr id="27" name="Image 1" descr="/home/claude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874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194560" y="1828800"/>
            <a:ext cx="8549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8B3A62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Picture this:   </a:t>
            </a:r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cooking dinner while waiting for a delivery — instead of standing at the window, you keep cooking, and the doorbell (interrupt) tells you exactly when to answer.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 rot="-42000">
            <a:off x="1737360" y="4160520"/>
            <a:ext cx="8732520" cy="1371600"/>
          </a:xfrm>
          <a:prstGeom prst="roundRect">
            <a:avLst>
              <a:gd name="adj" fmla="val 6667"/>
            </a:avLst>
          </a:prstGeom>
          <a:solidFill>
            <a:srgbClr val="FFF2A8">
              <a:alpha val="8500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0116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★ QUICK RECAP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2011680" y="4617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Interrupt-driven I/O lets the CPU multitask instead of babysitting the device.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523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2F5233">
              <a:alpha val="88000"/>
            </a:srgbClr>
          </a:solidFill>
          <a:ln w="19050">
            <a:solidFill>
              <a:srgbClr val="2F5233"/>
            </a:solidFill>
            <a:prstDash val="dash"/>
          </a:ln>
        </p:spPr>
      </p:sp>
      <p:pic>
        <p:nvPicPr>
          <p:cNvPr id="22" name="Image 0" descr="/home/claude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Notes — What is it?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Direct Memory Access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-36000">
            <a:off x="1280160" y="1508760"/>
            <a:ext cx="9646920" cy="1417320"/>
          </a:xfrm>
          <a:prstGeom prst="roundRect">
            <a:avLst>
              <a:gd name="adj" fmla="val 7742"/>
            </a:avLst>
          </a:prstGeom>
          <a:solidFill>
            <a:srgbClr val="2F5233">
              <a:alpha val="12000"/>
            </a:srgbClr>
          </a:solidFill>
          <a:ln w="15875">
            <a:solidFill>
              <a:srgbClr val="2F523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554480" y="1627632"/>
            <a:ext cx="9098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F52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✎ Simple Definition: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DMA controller moves large blocks of data straight between memory and a device, without the CPU handling every byte — freeing the CPU almost completely.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Key Points to Remember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261872" y="3666744"/>
            <a:ext cx="292608" cy="292608"/>
          </a:xfrm>
          <a:prstGeom prst="ellipse">
            <a:avLst/>
          </a:prstGeom>
          <a:solidFill>
            <a:srgbClr val="2F5233"/>
          </a:solidFill>
          <a:ln/>
        </p:spPr>
      </p:sp>
      <p:pic>
        <p:nvPicPr>
          <p:cNvPr id="3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70332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691640" y="360273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 sets up the transfer: source, destination, length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1261872" y="4197096"/>
            <a:ext cx="292608" cy="292608"/>
          </a:xfrm>
          <a:prstGeom prst="ellipse">
            <a:avLst/>
          </a:prstGeom>
          <a:solidFill>
            <a:srgbClr val="2F5233"/>
          </a:solidFill>
          <a:ln/>
        </p:spPr>
      </p:sp>
      <p:pic>
        <p:nvPicPr>
          <p:cNvPr id="33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233672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691640" y="413308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controller takes over the system bus for the transfer</a:t>
            </a:r>
            <a:endParaRPr lang="en-US" sz="1450" dirty="0"/>
          </a:p>
        </p:txBody>
      </p:sp>
      <p:sp>
        <p:nvSpPr>
          <p:cNvPr id="35" name="Shape 30"/>
          <p:cNvSpPr/>
          <p:nvPr/>
        </p:nvSpPr>
        <p:spPr>
          <a:xfrm>
            <a:off x="1261872" y="4727448"/>
            <a:ext cx="292608" cy="292608"/>
          </a:xfrm>
          <a:prstGeom prst="ellipse">
            <a:avLst/>
          </a:prstGeom>
          <a:solidFill>
            <a:srgbClr val="2F5233"/>
          </a:solidFill>
          <a:ln/>
        </p:spPr>
      </p:sp>
      <p:pic>
        <p:nvPicPr>
          <p:cNvPr id="36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764024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46634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 free to do other work while the transfer runs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1261872" y="5257800"/>
            <a:ext cx="292608" cy="292608"/>
          </a:xfrm>
          <a:prstGeom prst="ellipse">
            <a:avLst/>
          </a:prstGeom>
          <a:solidFill>
            <a:srgbClr val="2F5233"/>
          </a:solidFill>
          <a:ln/>
        </p:spPr>
      </p:sp>
      <p:pic>
        <p:nvPicPr>
          <p:cNvPr id="39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294376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691640" y="51937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controller interrupts the CPU only once, at the very end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523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2F5233">
              <a:alpha val="88000"/>
            </a:srgbClr>
          </a:solidFill>
          <a:ln w="19050">
            <a:solidFill>
              <a:srgbClr val="2F5233"/>
            </a:solidFill>
            <a:prstDash val="dash"/>
          </a:ln>
        </p:spPr>
      </p:sp>
      <p:pic>
        <p:nvPicPr>
          <p:cNvPr id="22" name="Image 0" descr="/home/claude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Direct Memory Access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88720" y="1691640"/>
            <a:ext cx="457200" cy="457200"/>
          </a:xfrm>
          <a:prstGeom prst="ellipse">
            <a:avLst/>
          </a:prstGeom>
          <a:solidFill>
            <a:srgbClr val="2F5233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103120" y="1618488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2F52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331720" y="1618488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tells the DMA controller what to move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417320" y="2194560"/>
            <a:ext cx="0" cy="521208"/>
          </a:xfrm>
          <a:prstGeom prst="line">
            <a:avLst/>
          </a:prstGeom>
          <a:noFill/>
          <a:ln w="22225">
            <a:solidFill>
              <a:srgbClr val="2F5233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188720" y="2715768"/>
            <a:ext cx="457200" cy="457200"/>
          </a:xfrm>
          <a:prstGeom prst="ellipse">
            <a:avLst/>
          </a:prstGeom>
          <a:solidFill>
            <a:srgbClr val="2F5233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887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103120" y="2642616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2F523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31720" y="2642616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goes back to other work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417320" y="3218688"/>
            <a:ext cx="0" cy="521208"/>
          </a:xfrm>
          <a:prstGeom prst="line">
            <a:avLst/>
          </a:prstGeom>
          <a:noFill/>
          <a:ln w="22225">
            <a:solidFill>
              <a:srgbClr val="2F5233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188720" y="3739896"/>
            <a:ext cx="457200" cy="457200"/>
          </a:xfrm>
          <a:prstGeom prst="ellipse">
            <a:avLst/>
          </a:prstGeom>
          <a:solidFill>
            <a:srgbClr val="2F5233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887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103120" y="3666744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2F523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31720" y="3666744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controller moves data directly (memory ↔ device)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417320" y="4242816"/>
            <a:ext cx="0" cy="521208"/>
          </a:xfrm>
          <a:prstGeom prst="line">
            <a:avLst/>
          </a:prstGeom>
          <a:noFill/>
          <a:ln w="22225">
            <a:solidFill>
              <a:srgbClr val="2F5233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188720" y="4764024"/>
            <a:ext cx="457200" cy="457200"/>
          </a:xfrm>
          <a:prstGeom prst="ellipse">
            <a:avLst/>
          </a:prstGeom>
          <a:solidFill>
            <a:srgbClr val="2F5233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18872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2103120" y="4690872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2F523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31720" y="4690872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controller interrupts CPU: “Done!”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523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2F5233">
              <a:alpha val="88000"/>
            </a:srgbClr>
          </a:solidFill>
          <a:ln w="19050">
            <a:solidFill>
              <a:srgbClr val="2F5233"/>
            </a:solidFill>
            <a:prstDash val="dash"/>
          </a:ln>
        </p:spPr>
      </p:sp>
      <p:pic>
        <p:nvPicPr>
          <p:cNvPr id="22" name="Image 0" descr="/home/claude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 &amp; Recap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Direct Memory Access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48000">
            <a:off x="1280160" y="1645920"/>
            <a:ext cx="9646920" cy="1965960"/>
          </a:xfrm>
          <a:prstGeom prst="roundRect">
            <a:avLst>
              <a:gd name="adj" fmla="val 5581"/>
            </a:avLst>
          </a:prstGeom>
          <a:solidFill>
            <a:srgbClr val="2F5233">
              <a:alpha val="10000"/>
            </a:srgbClr>
          </a:solidFill>
          <a:ln w="15875">
            <a:solidFill>
              <a:srgbClr val="2F5233"/>
            </a:solidFill>
            <a:prstDash val="dash"/>
          </a:ln>
        </p:spPr>
      </p:sp>
      <p:pic>
        <p:nvPicPr>
          <p:cNvPr id="27" name="Image 1" descr="/home/claude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874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194560" y="1828800"/>
            <a:ext cx="8549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2F52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Picture this:   </a:t>
            </a:r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hiring a moving crew to carry boxes from the truck into your house — you give them the address, then go back to your own work; they only knock once, when everything is done.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 rot="-42000">
            <a:off x="1737360" y="4160520"/>
            <a:ext cx="8732520" cy="1371600"/>
          </a:xfrm>
          <a:prstGeom prst="roundRect">
            <a:avLst>
              <a:gd name="adj" fmla="val 6667"/>
            </a:avLst>
          </a:prstGeom>
          <a:solidFill>
            <a:srgbClr val="FFF2A8">
              <a:alpha val="8500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0116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★ QUICK RECAP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2011680" y="4617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removes the CPU from the data path entirely — the biggest efficiency jump in this chapter.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4C9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1.6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6A4C93">
              <a:alpha val="88000"/>
            </a:srgbClr>
          </a:solidFill>
          <a:ln w="19050">
            <a:solidFill>
              <a:srgbClr val="6A4C93"/>
            </a:solidFill>
            <a:prstDash val="dash"/>
          </a:ln>
        </p:spPr>
      </p:sp>
      <p:pic>
        <p:nvPicPr>
          <p:cNvPr id="22" name="Image 0" descr="/home/claude/icons/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Notes — What is it?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Direct Cache Access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-36000">
            <a:off x="1280160" y="1508760"/>
            <a:ext cx="9646920" cy="1417320"/>
          </a:xfrm>
          <a:prstGeom prst="roundRect">
            <a:avLst>
              <a:gd name="adj" fmla="val 7742"/>
            </a:avLst>
          </a:prstGeom>
          <a:solidFill>
            <a:srgbClr val="6A4C93">
              <a:alpha val="12000"/>
            </a:srgbClr>
          </a:solidFill>
          <a:ln w="15875">
            <a:solidFill>
              <a:srgbClr val="6A4C9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554480" y="1627632"/>
            <a:ext cx="9098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A4C9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✎ Simple Definition: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enhancement where incoming I/O data is placed directly into the CPU's cache instead of main memory first — because the CPU usually needs that data again very soon.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Key Points to Remember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261872" y="3666744"/>
            <a:ext cx="292608" cy="292608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3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70332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691640" y="360273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DMA writes to main memory; CPU then fetches it into cache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1261872" y="4197096"/>
            <a:ext cx="292608" cy="292608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33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233672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691640" y="413308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 skips that extra step and writes straight into the cache</a:t>
            </a:r>
            <a:endParaRPr lang="en-US" sz="1450" dirty="0"/>
          </a:p>
        </p:txBody>
      </p:sp>
      <p:sp>
        <p:nvSpPr>
          <p:cNvPr id="35" name="Shape 30"/>
          <p:cNvSpPr/>
          <p:nvPr/>
        </p:nvSpPr>
        <p:spPr>
          <a:xfrm>
            <a:off x="1261872" y="4727448"/>
            <a:ext cx="292608" cy="292608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36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764024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46634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down on cache misses and reduces latency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1261872" y="5257800"/>
            <a:ext cx="292608" cy="292608"/>
          </a:xfrm>
          <a:prstGeom prst="ellipse">
            <a:avLst/>
          </a:prstGeom>
          <a:solidFill>
            <a:srgbClr val="6A4C93"/>
          </a:solidFill>
          <a:ln/>
        </p:spPr>
      </p:sp>
      <p:pic>
        <p:nvPicPr>
          <p:cNvPr id="39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294376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691640" y="51937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useful for very fast network I/O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4C9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1.6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6A4C93">
              <a:alpha val="88000"/>
            </a:srgbClr>
          </a:solidFill>
          <a:ln w="19050">
            <a:solidFill>
              <a:srgbClr val="6A4C93"/>
            </a:solidFill>
            <a:prstDash val="dash"/>
          </a:ln>
        </p:spPr>
      </p:sp>
      <p:pic>
        <p:nvPicPr>
          <p:cNvPr id="22" name="Image 0" descr="/home/claude/icons/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Direct Cache Access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88720" y="1691640"/>
            <a:ext cx="457200" cy="457200"/>
          </a:xfrm>
          <a:prstGeom prst="ellipse">
            <a:avLst/>
          </a:prstGeom>
          <a:solidFill>
            <a:srgbClr val="6A4C93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103120" y="1618488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6A4C9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331720" y="1618488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from a network device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417320" y="2194560"/>
            <a:ext cx="0" cy="521208"/>
          </a:xfrm>
          <a:prstGeom prst="line">
            <a:avLst/>
          </a:prstGeom>
          <a:noFill/>
          <a:ln w="22225">
            <a:solidFill>
              <a:srgbClr val="6A4C93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188720" y="2715768"/>
            <a:ext cx="457200" cy="457200"/>
          </a:xfrm>
          <a:prstGeom prst="ellipse">
            <a:avLst/>
          </a:prstGeom>
          <a:solidFill>
            <a:srgbClr val="6A4C93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887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103120" y="2642616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6A4C9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31720" y="2642616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DCA: memory, then cache (two hops)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417320" y="3218688"/>
            <a:ext cx="0" cy="521208"/>
          </a:xfrm>
          <a:prstGeom prst="line">
            <a:avLst/>
          </a:prstGeom>
          <a:noFill/>
          <a:ln w="22225">
            <a:solidFill>
              <a:srgbClr val="6A4C93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188720" y="3739896"/>
            <a:ext cx="457200" cy="457200"/>
          </a:xfrm>
          <a:prstGeom prst="ellipse">
            <a:avLst/>
          </a:prstGeom>
          <a:solidFill>
            <a:srgbClr val="6A4C93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887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103120" y="3666744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6A4C9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31720" y="3666744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DCA: straight into CPU cache (one hop)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417320" y="4242816"/>
            <a:ext cx="0" cy="521208"/>
          </a:xfrm>
          <a:prstGeom prst="line">
            <a:avLst/>
          </a:prstGeom>
          <a:noFill/>
          <a:ln w="22225">
            <a:solidFill>
              <a:srgbClr val="6A4C93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188720" y="4764024"/>
            <a:ext cx="457200" cy="457200"/>
          </a:xfrm>
          <a:prstGeom prst="ellipse">
            <a:avLst/>
          </a:prstGeom>
          <a:solidFill>
            <a:srgbClr val="6A4C93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18872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2103120" y="4690872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6A4C9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31720" y="4690872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processes the data immediately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A4C9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4C9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1.6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6A4C93">
              <a:alpha val="88000"/>
            </a:srgbClr>
          </a:solidFill>
          <a:ln w="19050">
            <a:solidFill>
              <a:srgbClr val="6A4C93"/>
            </a:solidFill>
            <a:prstDash val="dash"/>
          </a:ln>
        </p:spPr>
      </p:sp>
      <p:pic>
        <p:nvPicPr>
          <p:cNvPr id="22" name="Image 0" descr="/home/claude/icons/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4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 &amp; Recap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Direct Cache Access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48000">
            <a:off x="1280160" y="1645920"/>
            <a:ext cx="9646920" cy="1965960"/>
          </a:xfrm>
          <a:prstGeom prst="roundRect">
            <a:avLst>
              <a:gd name="adj" fmla="val 5581"/>
            </a:avLst>
          </a:prstGeom>
          <a:solidFill>
            <a:srgbClr val="6A4C93">
              <a:alpha val="10000"/>
            </a:srgbClr>
          </a:solidFill>
          <a:ln w="15875">
            <a:solidFill>
              <a:srgbClr val="6A4C93"/>
            </a:solidFill>
            <a:prstDash val="dash"/>
          </a:ln>
        </p:spPr>
      </p:sp>
      <p:pic>
        <p:nvPicPr>
          <p:cNvPr id="27" name="Image 1" descr="/home/claude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874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194560" y="1828800"/>
            <a:ext cx="8549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6A4C9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Picture this:   </a:t>
            </a:r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courier placing your package directly on your desk, instead of leaving it in the building’s mailroom for you to walk down and collect.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 rot="-42000">
            <a:off x="1737360" y="4160520"/>
            <a:ext cx="8732520" cy="1371600"/>
          </a:xfrm>
          <a:prstGeom prst="roundRect">
            <a:avLst>
              <a:gd name="adj" fmla="val 6667"/>
            </a:avLst>
          </a:prstGeom>
          <a:solidFill>
            <a:srgbClr val="FFF2A8">
              <a:alpha val="8500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0116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★ QUICK RECAP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2011680" y="4617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 saves a trip — the data lands right where the CPU is about to use it.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B94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6B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1.7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3A6B94">
              <a:alpha val="88000"/>
            </a:srgbClr>
          </a:solidFill>
          <a:ln w="19050">
            <a:solidFill>
              <a:srgbClr val="3A6B94"/>
            </a:solidFill>
            <a:prstDash val="dash"/>
          </a:ln>
        </p:spPr>
      </p:sp>
      <p:pic>
        <p:nvPicPr>
          <p:cNvPr id="22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Notes — What is it?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I/O Channels &amp; Processors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-36000">
            <a:off x="1280160" y="1508760"/>
            <a:ext cx="9646920" cy="1417320"/>
          </a:xfrm>
          <a:prstGeom prst="roundRect">
            <a:avLst>
              <a:gd name="adj" fmla="val 7742"/>
            </a:avLst>
          </a:prstGeom>
          <a:solidFill>
            <a:srgbClr val="3A6B94">
              <a:alpha val="12000"/>
            </a:srgbClr>
          </a:solidFill>
          <a:ln w="15875">
            <a:solidFill>
              <a:srgbClr val="3A6B9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554480" y="1627632"/>
            <a:ext cx="9098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A6B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✎ Simple Definition: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small processor dedicated only to managing I/O. It runs its own I/O program and controls many devices, so the main CPU is barely involved at all.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Key Points to Remember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261872" y="3666744"/>
            <a:ext cx="292608" cy="292608"/>
          </a:xfrm>
          <a:prstGeom prst="ellipse">
            <a:avLst/>
          </a:prstGeom>
          <a:solidFill>
            <a:srgbClr val="3A6B94"/>
          </a:solidFill>
          <a:ln/>
        </p:spPr>
      </p:sp>
      <p:pic>
        <p:nvPicPr>
          <p:cNvPr id="3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70332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691640" y="360273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large systems and mainframes with many devices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1261872" y="4197096"/>
            <a:ext cx="292608" cy="292608"/>
          </a:xfrm>
          <a:prstGeom prst="ellipse">
            <a:avLst/>
          </a:prstGeom>
          <a:solidFill>
            <a:srgbClr val="3A6B94"/>
          </a:solidFill>
          <a:ln/>
        </p:spPr>
      </p:sp>
      <p:pic>
        <p:nvPicPr>
          <p:cNvPr id="33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233672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691640" y="413308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channel: controls one high-speed device at a time</a:t>
            </a:r>
            <a:endParaRPr lang="en-US" sz="1450" dirty="0"/>
          </a:p>
        </p:txBody>
      </p:sp>
      <p:sp>
        <p:nvSpPr>
          <p:cNvPr id="35" name="Shape 30"/>
          <p:cNvSpPr/>
          <p:nvPr/>
        </p:nvSpPr>
        <p:spPr>
          <a:xfrm>
            <a:off x="1261872" y="4727448"/>
            <a:ext cx="292608" cy="292608"/>
          </a:xfrm>
          <a:prstGeom prst="ellipse">
            <a:avLst/>
          </a:prstGeom>
          <a:solidFill>
            <a:srgbClr val="3A6B94"/>
          </a:solidFill>
          <a:ln/>
        </p:spPr>
      </p:sp>
      <p:pic>
        <p:nvPicPr>
          <p:cNvPr id="36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764024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46634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Multiplexor channel: interleaves many slower devices at once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1261872" y="5257800"/>
            <a:ext cx="292608" cy="292608"/>
          </a:xfrm>
          <a:prstGeom prst="ellipse">
            <a:avLst/>
          </a:prstGeom>
          <a:solidFill>
            <a:srgbClr val="3A6B94"/>
          </a:solidFill>
          <a:ln/>
        </p:spPr>
      </p:sp>
      <p:pic>
        <p:nvPicPr>
          <p:cNvPr id="39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294376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691640" y="51937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just starts the channel program, then forgets about it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B94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6B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1.7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3A6B94">
              <a:alpha val="88000"/>
            </a:srgbClr>
          </a:solidFill>
          <a:ln w="19050">
            <a:solidFill>
              <a:srgbClr val="3A6B94"/>
            </a:solidFill>
            <a:prstDash val="dash"/>
          </a:ln>
        </p:spPr>
      </p:sp>
      <p:pic>
        <p:nvPicPr>
          <p:cNvPr id="22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I/O Channels &amp; Processors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88720" y="1691640"/>
            <a:ext cx="457200" cy="457200"/>
          </a:xfrm>
          <a:prstGeom prst="ellipse">
            <a:avLst/>
          </a:prstGeom>
          <a:solidFill>
            <a:srgbClr val="3A6B94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103120" y="1618488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3A6B9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331720" y="1618488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starts an I/O channel program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417320" y="2194560"/>
            <a:ext cx="0" cy="521208"/>
          </a:xfrm>
          <a:prstGeom prst="line">
            <a:avLst/>
          </a:prstGeom>
          <a:noFill/>
          <a:ln w="22225">
            <a:solidFill>
              <a:srgbClr val="3A6B94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188720" y="2715768"/>
            <a:ext cx="457200" cy="457200"/>
          </a:xfrm>
          <a:prstGeom prst="ellipse">
            <a:avLst/>
          </a:prstGeom>
          <a:solidFill>
            <a:srgbClr val="3A6B94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887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103120" y="2642616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3A6B9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31720" y="2642616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processor takes full control of I/O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417320" y="3218688"/>
            <a:ext cx="0" cy="521208"/>
          </a:xfrm>
          <a:prstGeom prst="line">
            <a:avLst/>
          </a:prstGeom>
          <a:noFill/>
          <a:ln w="22225">
            <a:solidFill>
              <a:srgbClr val="3A6B94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188720" y="3739896"/>
            <a:ext cx="457200" cy="457200"/>
          </a:xfrm>
          <a:prstGeom prst="ellipse">
            <a:avLst/>
          </a:prstGeom>
          <a:solidFill>
            <a:srgbClr val="3A6B94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887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103120" y="3666744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3A6B94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31720" y="3666744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manages many devices independently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417320" y="4242816"/>
            <a:ext cx="0" cy="521208"/>
          </a:xfrm>
          <a:prstGeom prst="line">
            <a:avLst/>
          </a:prstGeom>
          <a:noFill/>
          <a:ln w="22225">
            <a:solidFill>
              <a:srgbClr val="3A6B94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188720" y="4764024"/>
            <a:ext cx="457200" cy="457200"/>
          </a:xfrm>
          <a:prstGeom prst="ellipse">
            <a:avLst/>
          </a:prstGeom>
          <a:solidFill>
            <a:srgbClr val="3A6B94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18872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2103120" y="4690872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3A6B94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31720" y="4690872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interrupts the CPU only when the whole job is done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B94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6B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1.7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3A6B94">
              <a:alpha val="88000"/>
            </a:srgbClr>
          </a:solidFill>
          <a:ln w="19050">
            <a:solidFill>
              <a:srgbClr val="3A6B94"/>
            </a:solidFill>
            <a:prstDash val="dash"/>
          </a:ln>
        </p:spPr>
      </p:sp>
      <p:pic>
        <p:nvPicPr>
          <p:cNvPr id="22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 &amp; Recap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I/O Channels &amp; Processors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48000">
            <a:off x="1280160" y="1645920"/>
            <a:ext cx="9646920" cy="1965960"/>
          </a:xfrm>
          <a:prstGeom prst="roundRect">
            <a:avLst>
              <a:gd name="adj" fmla="val 5581"/>
            </a:avLst>
          </a:prstGeom>
          <a:solidFill>
            <a:srgbClr val="3A6B94">
              <a:alpha val="10000"/>
            </a:srgbClr>
          </a:solidFill>
          <a:ln w="15875">
            <a:solidFill>
              <a:srgbClr val="3A6B94"/>
            </a:solidFill>
            <a:prstDash val="dash"/>
          </a:ln>
        </p:spPr>
      </p:sp>
      <p:pic>
        <p:nvPicPr>
          <p:cNvPr id="27" name="Image 1" descr="/home/claude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874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194560" y="1828800"/>
            <a:ext cx="8549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3A6B94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Picture this:   </a:t>
            </a:r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CEO who hires an Operations Manager — the manager runs the entire warehouse and staff, and reports back to the CEO only once the big job is finished.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 rot="-42000">
            <a:off x="1737360" y="4160520"/>
            <a:ext cx="8732520" cy="1371600"/>
          </a:xfrm>
          <a:prstGeom prst="roundRect">
            <a:avLst>
              <a:gd name="adj" fmla="val 6667"/>
            </a:avLst>
          </a:prstGeom>
          <a:solidFill>
            <a:srgbClr val="FFF2A8">
              <a:alpha val="8500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0116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★ QUICK RECAP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2011680" y="4617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channels take delegation even further than DMA — a whole processor devoted just to I/O.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651D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1.8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B5651D">
              <a:alpha val="88000"/>
            </a:srgbClr>
          </a:solidFill>
          <a:ln w="19050">
            <a:solidFill>
              <a:srgbClr val="B5651D"/>
            </a:solidFill>
            <a:prstDash val="dash"/>
          </a:ln>
        </p:spPr>
      </p:sp>
      <p:pic>
        <p:nvPicPr>
          <p:cNvPr id="22" name="Image 0" descr="/home/claude/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Notes — What is it?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External Interconnection Standards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-36000">
            <a:off x="1280160" y="1508760"/>
            <a:ext cx="9646920" cy="1417320"/>
          </a:xfrm>
          <a:prstGeom prst="roundRect">
            <a:avLst>
              <a:gd name="adj" fmla="val 7742"/>
            </a:avLst>
          </a:prstGeom>
          <a:solidFill>
            <a:srgbClr val="B5651D">
              <a:alpha val="12000"/>
            </a:srgbClr>
          </a:solidFill>
          <a:ln w="15875">
            <a:solidFill>
              <a:srgbClr val="B5651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554480" y="1627632"/>
            <a:ext cx="9098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5651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✎ Simple Definition: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Agreed-upon rules that let devices from different manufacturers connect to a computer the same way, so almost anything plugs in and just works.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Key Points to Remember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261872" y="3666744"/>
            <a:ext cx="292608" cy="292608"/>
          </a:xfrm>
          <a:prstGeom prst="ellipse">
            <a:avLst/>
          </a:prstGeom>
          <a:solidFill>
            <a:srgbClr val="B5651D"/>
          </a:solidFill>
          <a:ln/>
        </p:spPr>
      </p:sp>
      <p:pic>
        <p:nvPicPr>
          <p:cNvPr id="3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70332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691640" y="360273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physical connector, signals, and communication rules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1261872" y="4197096"/>
            <a:ext cx="292608" cy="292608"/>
          </a:xfrm>
          <a:prstGeom prst="ellipse">
            <a:avLst/>
          </a:prstGeom>
          <a:solidFill>
            <a:srgbClr val="B5651D"/>
          </a:solidFill>
          <a:ln/>
        </p:spPr>
      </p:sp>
      <p:pic>
        <p:nvPicPr>
          <p:cNvPr id="33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233672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691640" y="413308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USB, Thunderbolt, PCI Express, SCSI, FireWire</a:t>
            </a:r>
            <a:endParaRPr lang="en-US" sz="1450" dirty="0"/>
          </a:p>
        </p:txBody>
      </p:sp>
      <p:sp>
        <p:nvSpPr>
          <p:cNvPr id="35" name="Shape 30"/>
          <p:cNvSpPr/>
          <p:nvPr/>
        </p:nvSpPr>
        <p:spPr>
          <a:xfrm>
            <a:off x="1261872" y="4727448"/>
            <a:ext cx="292608" cy="292608"/>
          </a:xfrm>
          <a:prstGeom prst="ellipse">
            <a:avLst/>
          </a:prstGeom>
          <a:solidFill>
            <a:srgbClr val="B5651D"/>
          </a:solidFill>
          <a:ln/>
        </p:spPr>
      </p:sp>
      <p:pic>
        <p:nvPicPr>
          <p:cNvPr id="36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764024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46634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one port support many different kinds of devices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1261872" y="5257800"/>
            <a:ext cx="292608" cy="292608"/>
          </a:xfrm>
          <a:prstGeom prst="ellipse">
            <a:avLst/>
          </a:prstGeom>
          <a:solidFill>
            <a:srgbClr val="B5651D"/>
          </a:solidFill>
          <a:ln/>
        </p:spPr>
      </p:sp>
      <p:pic>
        <p:nvPicPr>
          <p:cNvPr id="39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294376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691640" y="51937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standards, every device would need a custom connector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651D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1.8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B5651D">
              <a:alpha val="88000"/>
            </a:srgbClr>
          </a:solidFill>
          <a:ln w="19050">
            <a:solidFill>
              <a:srgbClr val="B5651D"/>
            </a:solidFill>
            <a:prstDash val="dash"/>
          </a:ln>
        </p:spPr>
      </p:sp>
      <p:pic>
        <p:nvPicPr>
          <p:cNvPr id="22" name="Image 0" descr="/home/claude/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External Interconnection Standards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88720" y="1691640"/>
            <a:ext cx="457200" cy="457200"/>
          </a:xfrm>
          <a:prstGeom prst="ellipse">
            <a:avLst/>
          </a:prstGeom>
          <a:solidFill>
            <a:srgbClr val="B5651D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103120" y="1618488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5651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331720" y="1618488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manufacturer builds a device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417320" y="2194560"/>
            <a:ext cx="0" cy="521208"/>
          </a:xfrm>
          <a:prstGeom prst="line">
            <a:avLst/>
          </a:prstGeom>
          <a:noFill/>
          <a:ln w="22225">
            <a:solidFill>
              <a:srgbClr val="B5651D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188720" y="2715768"/>
            <a:ext cx="457200" cy="457200"/>
          </a:xfrm>
          <a:prstGeom prst="ellipse">
            <a:avLst/>
          </a:prstGeom>
          <a:solidFill>
            <a:srgbClr val="B5651D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887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103120" y="2642616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5651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31720" y="2642616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device follows a shared standard (e.g. USB)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417320" y="3218688"/>
            <a:ext cx="0" cy="521208"/>
          </a:xfrm>
          <a:prstGeom prst="line">
            <a:avLst/>
          </a:prstGeom>
          <a:noFill/>
          <a:ln w="22225">
            <a:solidFill>
              <a:srgbClr val="B5651D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188720" y="3739896"/>
            <a:ext cx="457200" cy="457200"/>
          </a:xfrm>
          <a:prstGeom prst="ellipse">
            <a:avLst/>
          </a:prstGeom>
          <a:solidFill>
            <a:srgbClr val="B5651D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887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103120" y="3666744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5651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31720" y="3666744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USB port on any computer accepts it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417320" y="4242816"/>
            <a:ext cx="0" cy="521208"/>
          </a:xfrm>
          <a:prstGeom prst="line">
            <a:avLst/>
          </a:prstGeom>
          <a:noFill/>
          <a:ln w="22225">
            <a:solidFill>
              <a:srgbClr val="B5651D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188720" y="4764024"/>
            <a:ext cx="457200" cy="457200"/>
          </a:xfrm>
          <a:prstGeom prst="ellipse">
            <a:avLst/>
          </a:prstGeom>
          <a:solidFill>
            <a:srgbClr val="B5651D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18872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2103120" y="4690872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B5651D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31720" y="4690872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plug-and-play, no custom wiring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651D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651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1.8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B5651D">
              <a:alpha val="88000"/>
            </a:srgbClr>
          </a:solidFill>
          <a:ln w="19050">
            <a:solidFill>
              <a:srgbClr val="B5651D"/>
            </a:solidFill>
            <a:prstDash val="dash"/>
          </a:ln>
        </p:spPr>
      </p:sp>
      <p:pic>
        <p:nvPicPr>
          <p:cNvPr id="22" name="Image 0" descr="/home/claude/icons/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 &amp; Recap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External Interconnection Standards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48000">
            <a:off x="1280160" y="1645920"/>
            <a:ext cx="9646920" cy="1965960"/>
          </a:xfrm>
          <a:prstGeom prst="roundRect">
            <a:avLst>
              <a:gd name="adj" fmla="val 5581"/>
            </a:avLst>
          </a:prstGeom>
          <a:solidFill>
            <a:srgbClr val="B5651D">
              <a:alpha val="10000"/>
            </a:srgbClr>
          </a:solidFill>
          <a:ln w="15875">
            <a:solidFill>
              <a:srgbClr val="B5651D"/>
            </a:solidFill>
            <a:prstDash val="dash"/>
          </a:ln>
        </p:spPr>
      </p:sp>
      <p:pic>
        <p:nvPicPr>
          <p:cNvPr id="27" name="Image 1" descr="/home/claude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874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194560" y="1828800"/>
            <a:ext cx="8549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B5651D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Picture this:   </a:t>
            </a:r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standard wall socket — any lamp, charger, or appliance from any brand can plug in, because everyone agreed on the same socket shape and voltage.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 rot="-42000">
            <a:off x="1737360" y="4160520"/>
            <a:ext cx="8732520" cy="1371600"/>
          </a:xfrm>
          <a:prstGeom prst="roundRect">
            <a:avLst>
              <a:gd name="adj" fmla="val 6667"/>
            </a:avLst>
          </a:prstGeom>
          <a:solidFill>
            <a:srgbClr val="FFF2A8">
              <a:alpha val="8500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0116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★ QUICK RECAP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2011680" y="4617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are why a random USB drive works on almost any laptop on Earth.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3A67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1.9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2B3A67">
              <a:alpha val="88000"/>
            </a:srgbClr>
          </a:solidFill>
          <a:ln w="19050">
            <a:solidFill>
              <a:srgbClr val="2B3A67"/>
            </a:solidFill>
            <a:prstDash val="dash"/>
          </a:ln>
        </p:spPr>
      </p:sp>
      <p:pic>
        <p:nvPicPr>
          <p:cNvPr id="22" name="Image 0" descr="/home/claude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Notes — What is it?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IBM zEnterprise EC12 I/O Structure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-36000">
            <a:off x="1280160" y="1508760"/>
            <a:ext cx="9646920" cy="1417320"/>
          </a:xfrm>
          <a:prstGeom prst="roundRect">
            <a:avLst>
              <a:gd name="adj" fmla="val 7742"/>
            </a:avLst>
          </a:prstGeom>
          <a:solidFill>
            <a:srgbClr val="2B3A67">
              <a:alpha val="12000"/>
            </a:srgbClr>
          </a:solidFill>
          <a:ln w="15875">
            <a:solidFill>
              <a:srgbClr val="2B3A6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554480" y="1627632"/>
            <a:ext cx="9098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B3A6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✎ Simple Definition: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I/O architecture of IBM's zEnterprise EC12 mainframe — built around a Channel Subsystem that manages huge numbers of I/O devices reliably and in parallel.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Key Points to Remember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261872" y="3666744"/>
            <a:ext cx="292608" cy="292608"/>
          </a:xfrm>
          <a:prstGeom prst="ellipse">
            <a:avLst/>
          </a:prstGeom>
          <a:solidFill>
            <a:srgbClr val="2B3A67"/>
          </a:solidFill>
          <a:ln/>
        </p:spPr>
      </p:sp>
      <p:pic>
        <p:nvPicPr>
          <p:cNvPr id="30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703320"/>
            <a:ext cx="219456" cy="219456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691640" y="3602736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Subsystem (CSS) fully offloads I/O from the main processors</a:t>
            </a:r>
            <a:endParaRPr lang="en-US" sz="1450" dirty="0"/>
          </a:p>
        </p:txBody>
      </p:sp>
      <p:sp>
        <p:nvSpPr>
          <p:cNvPr id="32" name="Shape 28"/>
          <p:cNvSpPr/>
          <p:nvPr/>
        </p:nvSpPr>
        <p:spPr>
          <a:xfrm>
            <a:off x="1261872" y="4197096"/>
            <a:ext cx="292608" cy="292608"/>
          </a:xfrm>
          <a:prstGeom prst="ellipse">
            <a:avLst/>
          </a:prstGeom>
          <a:solidFill>
            <a:srgbClr val="2B3A67"/>
          </a:solidFill>
          <a:ln/>
        </p:spPr>
      </p:sp>
      <p:pic>
        <p:nvPicPr>
          <p:cNvPr id="33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233672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691640" y="413308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independent channel paths can reach the same device</a:t>
            </a:r>
            <a:endParaRPr lang="en-US" sz="1450" dirty="0"/>
          </a:p>
        </p:txBody>
      </p:sp>
      <p:sp>
        <p:nvSpPr>
          <p:cNvPr id="35" name="Shape 30"/>
          <p:cNvSpPr/>
          <p:nvPr/>
        </p:nvSpPr>
        <p:spPr>
          <a:xfrm>
            <a:off x="1261872" y="4727448"/>
            <a:ext cx="292608" cy="292608"/>
          </a:xfrm>
          <a:prstGeom prst="ellipse">
            <a:avLst/>
          </a:prstGeom>
          <a:solidFill>
            <a:srgbClr val="2B3A67"/>
          </a:solidFill>
          <a:ln/>
        </p:spPr>
      </p:sp>
      <p:pic>
        <p:nvPicPr>
          <p:cNvPr id="36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764024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691640" y="46634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massive I/O throughput for banks, airlines, large enterprises</a:t>
            </a:r>
            <a:endParaRPr lang="en-US" sz="1450" dirty="0"/>
          </a:p>
        </p:txBody>
      </p:sp>
      <p:sp>
        <p:nvSpPr>
          <p:cNvPr id="38" name="Shape 32"/>
          <p:cNvSpPr/>
          <p:nvPr/>
        </p:nvSpPr>
        <p:spPr>
          <a:xfrm>
            <a:off x="1261872" y="5257800"/>
            <a:ext cx="292608" cy="292608"/>
          </a:xfrm>
          <a:prstGeom prst="ellipse">
            <a:avLst/>
          </a:prstGeom>
          <a:solidFill>
            <a:srgbClr val="2B3A67"/>
          </a:solidFill>
          <a:ln/>
        </p:spPr>
      </p:sp>
      <p:pic>
        <p:nvPicPr>
          <p:cNvPr id="39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294376"/>
            <a:ext cx="219456" cy="21945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691640" y="51937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extreme reliability — a broken path doesn't stop the I/O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3A67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1.9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2B3A67">
              <a:alpha val="88000"/>
            </a:srgbClr>
          </a:solidFill>
          <a:ln w="19050">
            <a:solidFill>
              <a:srgbClr val="2B3A67"/>
            </a:solidFill>
            <a:prstDash val="dash"/>
          </a:ln>
        </p:spPr>
      </p:sp>
      <p:pic>
        <p:nvPicPr>
          <p:cNvPr id="22" name="Image 0" descr="/home/claude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Step by Step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IBM zEnterprise EC12 I/O Structure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188720" y="1691640"/>
            <a:ext cx="457200" cy="457200"/>
          </a:xfrm>
          <a:prstGeom prst="ellipse">
            <a:avLst/>
          </a:prstGeom>
          <a:solidFill>
            <a:srgbClr val="2B3A67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2103120" y="1618488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2B3A6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331720" y="1618488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application requests I/O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417320" y="2194560"/>
            <a:ext cx="0" cy="521208"/>
          </a:xfrm>
          <a:prstGeom prst="line">
            <a:avLst/>
          </a:prstGeom>
          <a:noFill/>
          <a:ln w="22225">
            <a:solidFill>
              <a:srgbClr val="2B3A67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1188720" y="2715768"/>
            <a:ext cx="457200" cy="457200"/>
          </a:xfrm>
          <a:prstGeom prst="ellipse">
            <a:avLst/>
          </a:prstGeom>
          <a:solidFill>
            <a:srgbClr val="2B3A67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887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2103120" y="2642616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2B3A6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31720" y="2642616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Channel Subsystem picks an available path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1417320" y="3218688"/>
            <a:ext cx="0" cy="521208"/>
          </a:xfrm>
          <a:prstGeom prst="line">
            <a:avLst/>
          </a:prstGeom>
          <a:noFill/>
          <a:ln w="22225">
            <a:solidFill>
              <a:srgbClr val="2B3A67"/>
            </a:solidFill>
            <a:prstDash val="dash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188720" y="3739896"/>
            <a:ext cx="457200" cy="457200"/>
          </a:xfrm>
          <a:prstGeom prst="ellipse">
            <a:avLst/>
          </a:prstGeom>
          <a:solidFill>
            <a:srgbClr val="2B3A67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887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2103120" y="3666744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2B3A6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331720" y="3666744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moves through that path to the device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417320" y="4242816"/>
            <a:ext cx="0" cy="521208"/>
          </a:xfrm>
          <a:prstGeom prst="line">
            <a:avLst/>
          </a:prstGeom>
          <a:noFill/>
          <a:ln w="22225">
            <a:solidFill>
              <a:srgbClr val="2B3A67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1188720" y="4764024"/>
            <a:ext cx="457200" cy="457200"/>
          </a:xfrm>
          <a:prstGeom prst="ellipse">
            <a:avLst/>
          </a:prstGeom>
          <a:solidFill>
            <a:srgbClr val="2B3A67"/>
          </a:solidFill>
          <a:ln w="9525">
            <a:solidFill>
              <a:srgbClr val="1B263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18872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2103120" y="4690872"/>
            <a:ext cx="78638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5875">
            <a:solidFill>
              <a:srgbClr val="2B3A6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31720" y="4690872"/>
            <a:ext cx="7406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path fails, another path is used automatically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560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3A67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292608" y="256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1.9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"/>
            <a:ext cx="1143000" cy="1143000"/>
          </a:xfrm>
          <a:prstGeom prst="ellipse">
            <a:avLst/>
          </a:prstGeom>
          <a:solidFill>
            <a:srgbClr val="2B3A67">
              <a:alpha val="88000"/>
            </a:srgbClr>
          </a:solidFill>
          <a:ln w="19050">
            <a:solidFill>
              <a:srgbClr val="2B3A67"/>
            </a:solidFill>
            <a:prstDash val="dash"/>
          </a:ln>
        </p:spPr>
      </p:sp>
      <p:pic>
        <p:nvPicPr>
          <p:cNvPr id="22" name="Image 0" descr="/home/claude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566928"/>
            <a:ext cx="594360" cy="5943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 &amp; Recap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IBM zEnterprise EC12 I/O Structure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rot="48000">
            <a:off x="1280160" y="1645920"/>
            <a:ext cx="9646920" cy="1965960"/>
          </a:xfrm>
          <a:prstGeom prst="roundRect">
            <a:avLst>
              <a:gd name="adj" fmla="val 5581"/>
            </a:avLst>
          </a:prstGeom>
          <a:solidFill>
            <a:srgbClr val="2B3A67">
              <a:alpha val="10000"/>
            </a:srgbClr>
          </a:solidFill>
          <a:ln w="15875">
            <a:solidFill>
              <a:srgbClr val="2B3A67"/>
            </a:solidFill>
            <a:prstDash val="dash"/>
          </a:ln>
        </p:spPr>
      </p:sp>
      <p:pic>
        <p:nvPicPr>
          <p:cNvPr id="27" name="Image 1" descr="/home/claude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874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2194560" y="1828800"/>
            <a:ext cx="8549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2B3A6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Picture this:   </a:t>
            </a:r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large airport with many independent runways — if one runway closes, planes simply use another, and hundreds of flights keep landing safely.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 rot="-42000">
            <a:off x="1737360" y="4160520"/>
            <a:ext cx="8732520" cy="1371600"/>
          </a:xfrm>
          <a:prstGeom prst="roundRect">
            <a:avLst>
              <a:gd name="adj" fmla="val 6667"/>
            </a:avLst>
          </a:prstGeom>
          <a:solidFill>
            <a:srgbClr val="FFF2A8">
              <a:alpha val="8500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011680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00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★ QUICK RECAP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2011680" y="4617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I/O engineering at mainframe scale — where ‘it must never go down’ is the whole design goal.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868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5272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3677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02082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40487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7296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5701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94106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2511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70916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93208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77256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861304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245352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629400"/>
            <a:ext cx="12188952" cy="0"/>
          </a:xfrm>
          <a:prstGeom prst="line">
            <a:avLst/>
          </a:prstGeom>
          <a:noFill/>
          <a:ln w="12700">
            <a:solidFill>
              <a:srgbClr val="CFE0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0"/>
            <a:ext cx="0" cy="6858000"/>
          </a:xfrm>
          <a:prstGeom prst="line">
            <a:avLst/>
          </a:prstGeom>
          <a:noFill/>
          <a:ln w="19050">
            <a:solidFill>
              <a:srgbClr val="E29A9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80160" y="256032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 — The Big Picture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5486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B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That's a Wrap!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65379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— Input / Output — Ch.7, William Stallings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rot="-30000">
            <a:off x="1280160" y="1600200"/>
            <a:ext cx="9646920" cy="1828800"/>
          </a:xfrm>
          <a:prstGeom prst="roundRect">
            <a:avLst>
              <a:gd name="adj" fmla="val 6000"/>
            </a:avLst>
          </a:prstGeom>
          <a:solidFill>
            <a:srgbClr val="1F6F8B">
              <a:alpha val="10000"/>
            </a:srgbClr>
          </a:solidFill>
          <a:ln w="15875">
            <a:solidFill>
              <a:srgbClr val="1F6F8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00200" y="1783080"/>
            <a:ext cx="9052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chapter is one story: the CPU starts out doing everything itself (Programmed I/O), then hands off more and more work — to interrupts, to a DMA controller, to a full I/O channel processor — so it can spend its time computing instead of waiting.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1371600" y="3931920"/>
            <a:ext cx="822960" cy="822960"/>
          </a:xfrm>
          <a:prstGeom prst="ellipse">
            <a:avLst/>
          </a:prstGeom>
          <a:solidFill>
            <a:srgbClr val="1F6F8B">
              <a:alpha val="85000"/>
            </a:srgbClr>
          </a:solidFill>
          <a:ln w="15875">
            <a:solidFill>
              <a:srgbClr val="1F6F8B"/>
            </a:solidFill>
            <a:prstDash val="solid"/>
          </a:ln>
        </p:spPr>
      </p:sp>
      <p:pic>
        <p:nvPicPr>
          <p:cNvPr id="25" name="Image 0" descr="/home/claude/icons/ke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4105656"/>
            <a:ext cx="475488" cy="47548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542032" y="3931920"/>
            <a:ext cx="822960" cy="822960"/>
          </a:xfrm>
          <a:prstGeom prst="ellipse">
            <a:avLst/>
          </a:prstGeom>
          <a:solidFill>
            <a:srgbClr val="A65A2E">
              <a:alpha val="85000"/>
            </a:srgbClr>
          </a:solidFill>
          <a:ln w="15875">
            <a:solidFill>
              <a:srgbClr val="A65A2E"/>
            </a:solidFill>
            <a:prstDash val="solid"/>
          </a:ln>
        </p:spPr>
      </p:sp>
      <p:pic>
        <p:nvPicPr>
          <p:cNvPr id="27" name="Image 1" descr="/home/claude/icons/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4105656"/>
            <a:ext cx="475488" cy="475488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3712464" y="3931920"/>
            <a:ext cx="822960" cy="822960"/>
          </a:xfrm>
          <a:prstGeom prst="ellipse">
            <a:avLst/>
          </a:prstGeom>
          <a:solidFill>
            <a:srgbClr val="4C6B3C">
              <a:alpha val="85000"/>
            </a:srgbClr>
          </a:solidFill>
          <a:ln w="15875">
            <a:solidFill>
              <a:srgbClr val="4C6B3C"/>
            </a:solidFill>
            <a:prstDash val="solid"/>
          </a:ln>
        </p:spPr>
      </p:sp>
      <p:pic>
        <p:nvPicPr>
          <p:cNvPr id="29" name="Image 2" descr="/home/claude/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105656"/>
            <a:ext cx="475488" cy="475488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882896" y="3931920"/>
            <a:ext cx="822960" cy="822960"/>
          </a:xfrm>
          <a:prstGeom prst="ellipse">
            <a:avLst/>
          </a:prstGeom>
          <a:solidFill>
            <a:srgbClr val="8B3A62">
              <a:alpha val="85000"/>
            </a:srgbClr>
          </a:solidFill>
          <a:ln w="15875">
            <a:solidFill>
              <a:srgbClr val="8B3A62"/>
            </a:solidFill>
            <a:prstDash val="solid"/>
          </a:ln>
        </p:spPr>
      </p:sp>
      <p:pic>
        <p:nvPicPr>
          <p:cNvPr id="31" name="Image 3" descr="/home/claude/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4105656"/>
            <a:ext cx="475488" cy="47548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6053328" y="3931920"/>
            <a:ext cx="822960" cy="822960"/>
          </a:xfrm>
          <a:prstGeom prst="ellipse">
            <a:avLst/>
          </a:prstGeom>
          <a:solidFill>
            <a:srgbClr val="2F5233">
              <a:alpha val="85000"/>
            </a:srgbClr>
          </a:solidFill>
          <a:ln w="15875">
            <a:solidFill>
              <a:srgbClr val="2F5233"/>
            </a:solidFill>
            <a:prstDash val="solid"/>
          </a:ln>
        </p:spPr>
      </p:sp>
      <p:pic>
        <p:nvPicPr>
          <p:cNvPr id="33" name="Image 4" descr="/home/claude/icons/exch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4105656"/>
            <a:ext cx="475488" cy="47548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223760" y="3931920"/>
            <a:ext cx="822960" cy="822960"/>
          </a:xfrm>
          <a:prstGeom prst="ellipse">
            <a:avLst/>
          </a:prstGeom>
          <a:solidFill>
            <a:srgbClr val="6A4C93">
              <a:alpha val="85000"/>
            </a:srgbClr>
          </a:solidFill>
          <a:ln w="15875">
            <a:solidFill>
              <a:srgbClr val="6A4C93"/>
            </a:solidFill>
            <a:prstDash val="solid"/>
          </a:ln>
        </p:spPr>
      </p:sp>
      <p:pic>
        <p:nvPicPr>
          <p:cNvPr id="35" name="Image 5" descr="/home/claude/icons/memo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496" y="4105656"/>
            <a:ext cx="475488" cy="475488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8394192" y="3931920"/>
            <a:ext cx="822960" cy="822960"/>
          </a:xfrm>
          <a:prstGeom prst="ellipse">
            <a:avLst/>
          </a:prstGeom>
          <a:solidFill>
            <a:srgbClr val="3A6B94">
              <a:alpha val="85000"/>
            </a:srgbClr>
          </a:solidFill>
          <a:ln w="15875">
            <a:solidFill>
              <a:srgbClr val="3A6B94"/>
            </a:solidFill>
            <a:prstDash val="solid"/>
          </a:ln>
        </p:spPr>
      </p:sp>
      <p:pic>
        <p:nvPicPr>
          <p:cNvPr id="37" name="Image 6" descr="/home/claude/icons/ser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7928" y="4105656"/>
            <a:ext cx="475488" cy="475488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9564624" y="3931920"/>
            <a:ext cx="822960" cy="822960"/>
          </a:xfrm>
          <a:prstGeom prst="ellipse">
            <a:avLst/>
          </a:prstGeom>
          <a:solidFill>
            <a:srgbClr val="B5651D">
              <a:alpha val="85000"/>
            </a:srgbClr>
          </a:solidFill>
          <a:ln w="15875">
            <a:solidFill>
              <a:srgbClr val="B5651D"/>
            </a:solidFill>
            <a:prstDash val="solid"/>
          </a:ln>
        </p:spPr>
      </p:sp>
      <p:pic>
        <p:nvPicPr>
          <p:cNvPr id="39" name="Image 7" descr="/home/claude/icons/plu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8360" y="4105656"/>
            <a:ext cx="475488" cy="475488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10735056" y="3931920"/>
            <a:ext cx="822960" cy="822960"/>
          </a:xfrm>
          <a:prstGeom prst="ellipse">
            <a:avLst/>
          </a:prstGeom>
          <a:solidFill>
            <a:srgbClr val="2B3A67">
              <a:alpha val="85000"/>
            </a:srgbClr>
          </a:solidFill>
          <a:ln w="15875">
            <a:solidFill>
              <a:srgbClr val="2B3A67"/>
            </a:solidFill>
            <a:prstDash val="solid"/>
          </a:ln>
        </p:spPr>
      </p:sp>
      <p:pic>
        <p:nvPicPr>
          <p:cNvPr id="41" name="Image 8" descr="/home/claude/icons/netwo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8792" y="4105656"/>
            <a:ext cx="475488" cy="475488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 rot="36000">
            <a:off x="1737360" y="5074920"/>
            <a:ext cx="8732520" cy="1051560"/>
          </a:xfrm>
          <a:prstGeom prst="roundRect">
            <a:avLst>
              <a:gd name="adj" fmla="val 8696"/>
            </a:avLst>
          </a:prstGeom>
          <a:solidFill>
            <a:srgbClr val="FFF2A8">
              <a:alpha val="85000"/>
            </a:srgbClr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2011680" y="52303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Study tip: for each topic, be able to answer — who is in control, and who tells whom when the job is done?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2026-09-03T02:18:45Z</dcterms:created>
  <dcterms:modified xsi:type="dcterms:W3CDTF">2026-09-03T02:18:45Z</dcterms:modified>
</cp:coreProperties>
</file>