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image" Target="../media/image-1-2.png"/><Relationship Id="rId5" Type="http://schemas.openxmlformats.org/officeDocument/2006/relationships/image" Target="../media/image-1-2.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2.png"/><Relationship Id="rId4" Type="http://schemas.openxmlformats.org/officeDocument/2006/relationships/image" Target="../media/image-4-2.png"/><Relationship Id="rId5" Type="http://schemas.openxmlformats.org/officeDocument/2006/relationships/image" Target="../media/image-4-2.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2.png"/><Relationship Id="rId4" Type="http://schemas.openxmlformats.org/officeDocument/2006/relationships/image" Target="../media/image-7-2.png"/><Relationship Id="rId5" Type="http://schemas.openxmlformats.org/officeDocument/2006/relationships/image" Target="../media/image-7-2.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2.png"/><Relationship Id="rId4" Type="http://schemas.openxmlformats.org/officeDocument/2006/relationships/image" Target="../media/image-10-2.png"/><Relationship Id="rId5" Type="http://schemas.openxmlformats.org/officeDocument/2006/relationships/image" Target="../media/image-10-2.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2.png"/><Relationship Id="rId4" Type="http://schemas.openxmlformats.org/officeDocument/2006/relationships/image" Target="../media/image-13-2.png"/><Relationship Id="rId5" Type="http://schemas.openxmlformats.org/officeDocument/2006/relationships/image" Target="../media/image-13-2.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686800" cy="274320"/>
          </a:xfrm>
          <a:prstGeom prst="rect">
            <a:avLst/>
          </a:prstGeom>
          <a:noFill/>
          <a:ln/>
        </p:spPr>
        <p:txBody>
          <a:bodyPr wrap="square" lIns="0" tIns="0" rIns="0" bIns="0" rtlCol="0" anchor="ctr"/>
          <a:lstStyle/>
          <a:p>
            <a:pPr indent="0" marL="0">
              <a:buNone/>
            </a:pPr>
            <a:r>
              <a:rPr lang="en-US" sz="1100" spc="100" kern="0" dirty="0">
                <a:solidFill>
                  <a:srgbClr val="6B7688"/>
                </a:solidFill>
                <a:latin typeface="Calibri" pitchFamily="34" charset="0"/>
                <a:ea typeface="Calibri" pitchFamily="34" charset="-122"/>
                <a:cs typeface="Calibri" pitchFamily="34" charset="-120"/>
              </a:rPr>
              <a:t>CH.8  ·  OPERATING SYSTEM SUPPORT  ·  2.1</a:t>
            </a:r>
            <a:endParaRPr lang="en-US" sz="1100" dirty="0"/>
          </a:p>
        </p:txBody>
      </p:sp>
      <p:sp>
        <p:nvSpPr>
          <p:cNvPr id="3" name="Text 1"/>
          <p:cNvSpPr txBox="1"/>
          <p:nvPr/>
        </p:nvSpPr>
        <p:spPr>
          <a:xfrm>
            <a:off x="548640" y="566928"/>
            <a:ext cx="8961120" cy="548640"/>
          </a:xfrm>
          <a:prstGeom prst="rect">
            <a:avLst/>
          </a:prstGeom>
          <a:noFill/>
          <a:ln/>
        </p:spPr>
        <p:txBody>
          <a:bodyPr wrap="square" lIns="0" tIns="0" rIns="0" bIns="0" rtlCol="0" anchor="ctr"/>
          <a:lstStyle/>
          <a:p>
            <a:pPr indent="0" marL="0">
              <a:buNone/>
            </a:pPr>
            <a:r>
              <a:rPr lang="en-US" sz="3000" b="1" dirty="0">
                <a:solidFill>
                  <a:srgbClr val="0B3556"/>
                </a:solidFill>
                <a:latin typeface="Cambria" pitchFamily="34" charset="0"/>
                <a:ea typeface="Cambria" pitchFamily="34" charset="-122"/>
                <a:cs typeface="Cambria" pitchFamily="34" charset="-120"/>
              </a:rPr>
              <a:t>Operating System Overview</a:t>
            </a:r>
            <a:endParaRPr lang="en-US" sz="3000" dirty="0"/>
          </a:p>
        </p:txBody>
      </p:sp>
      <p:sp>
        <p:nvSpPr>
          <p:cNvPr id="4" name="Text 2"/>
          <p:cNvSpPr txBox="1"/>
          <p:nvPr/>
        </p:nvSpPr>
        <p:spPr>
          <a:xfrm>
            <a:off x="548640" y="1078992"/>
            <a:ext cx="8961120" cy="320040"/>
          </a:xfrm>
          <a:prstGeom prst="rect">
            <a:avLst/>
          </a:prstGeom>
          <a:noFill/>
          <a:ln/>
        </p:spPr>
        <p:txBody>
          <a:bodyPr wrap="square" lIns="0" tIns="0" rIns="0" bIns="0" rtlCol="0" anchor="ctr"/>
          <a:lstStyle/>
          <a:p>
            <a:pPr indent="0" marL="0">
              <a:buNone/>
            </a:pPr>
            <a:r>
              <a:rPr lang="en-US" sz="1400" i="1" dirty="0">
                <a:solidFill>
                  <a:srgbClr val="0B5D8A"/>
                </a:solidFill>
                <a:latin typeface="Calibri" pitchFamily="34" charset="0"/>
                <a:ea typeface="Calibri" pitchFamily="34" charset="-122"/>
                <a:cs typeface="Calibri" pitchFamily="34" charset="-120"/>
              </a:rPr>
              <a:t>Definition &amp; Key Characteristics</a:t>
            </a:r>
            <a:endParaRPr lang="en-US" sz="1400" dirty="0"/>
          </a:p>
        </p:txBody>
      </p:sp>
      <p:sp>
        <p:nvSpPr>
          <p:cNvPr id="5" name="Shape 3"/>
          <p:cNvSpPr/>
          <p:nvPr/>
        </p:nvSpPr>
        <p:spPr>
          <a:xfrm>
            <a:off x="10698480" y="384048"/>
            <a:ext cx="868680" cy="868680"/>
          </a:xfrm>
          <a:prstGeom prst="roundRect">
            <a:avLst>
              <a:gd name="adj" fmla="val 16842"/>
            </a:avLst>
          </a:prstGeom>
          <a:solidFill>
            <a:srgbClr val="0B5D8A"/>
          </a:solidFill>
          <a:ln/>
        </p:spPr>
      </p:sp>
      <p:pic>
        <p:nvPicPr>
          <p:cNvPr id="6" name="Image 0" descr="/home/claude/icons_flat/cogs.png">    </p:cNvPr>
          <p:cNvPicPr>
            <a:picLocks noChangeAspect="1"/>
          </p:cNvPicPr>
          <p:nvPr/>
        </p:nvPicPr>
        <p:blipFill>
          <a:blip r:embed="rId1"/>
          <a:stretch>
            <a:fillRect/>
          </a:stretch>
        </p:blipFill>
        <p:spPr>
          <a:xfrm>
            <a:off x="10927080" y="612648"/>
            <a:ext cx="411480" cy="411480"/>
          </a:xfrm>
          <a:prstGeom prst="rect">
            <a:avLst/>
          </a:prstGeom>
        </p:spPr>
      </p:pic>
      <p:sp>
        <p:nvSpPr>
          <p:cNvPr id="7" name="Text 4"/>
          <p:cNvSpPr txBox="1"/>
          <p:nvPr/>
        </p:nvSpPr>
        <p:spPr>
          <a:xfrm>
            <a:off x="548640" y="6537960"/>
            <a:ext cx="8229600" cy="256032"/>
          </a:xfrm>
          <a:prstGeom prst="rect">
            <a:avLst/>
          </a:prstGeom>
          <a:noFill/>
          <a:ln/>
        </p:spPr>
        <p:txBody>
          <a:bodyPr wrap="square" lIns="0" tIns="0" rIns="0" bIns="0" rtlCol="0" anchor="ctr"/>
          <a:lstStyle/>
          <a:p>
            <a:pPr indent="0" marL="0">
              <a:buNone/>
            </a:pPr>
            <a:r>
              <a:rPr lang="en-US" sz="950" dirty="0">
                <a:solidFill>
                  <a:srgbClr val="6B7688"/>
                </a:solidFill>
                <a:latin typeface="Calibri" pitchFamily="34" charset="0"/>
                <a:ea typeface="Calibri" pitchFamily="34" charset="-122"/>
                <a:cs typeface="Calibri" pitchFamily="34" charset="-120"/>
              </a:rPr>
              <a:t>Operating System Support — Chapter 8, William Stallings</a:t>
            </a:r>
            <a:endParaRPr lang="en-US" sz="950" dirty="0"/>
          </a:p>
        </p:txBody>
      </p:sp>
      <p:sp>
        <p:nvSpPr>
          <p:cNvPr id="8" name="Text 5"/>
          <p:cNvSpPr txBox="1"/>
          <p:nvPr/>
        </p:nvSpPr>
        <p:spPr>
          <a:xfrm>
            <a:off x="10515600" y="6537960"/>
            <a:ext cx="1097280" cy="256032"/>
          </a:xfrm>
          <a:prstGeom prst="rect">
            <a:avLst/>
          </a:prstGeom>
          <a:noFill/>
          <a:ln/>
        </p:spPr>
        <p:txBody>
          <a:bodyPr wrap="square" lIns="0" tIns="0" rIns="0" bIns="0" rtlCol="0" anchor="ctr"/>
          <a:lstStyle/>
          <a:p>
            <a:pPr algn="r" indent="0" marL="0">
              <a:buNone/>
            </a:pPr>
            <a:r>
              <a:rPr lang="en-US" sz="950" dirty="0">
                <a:solidFill>
                  <a:srgbClr val="6B7688"/>
                </a:solidFill>
                <a:latin typeface="Calibri" pitchFamily="34" charset="0"/>
                <a:ea typeface="Calibri" pitchFamily="34" charset="-122"/>
                <a:cs typeface="Calibri" pitchFamily="34" charset="-120"/>
              </a:rPr>
              <a:t>1/15</a:t>
            </a:r>
            <a:endParaRPr lang="en-US" sz="950" dirty="0"/>
          </a:p>
        </p:txBody>
      </p:sp>
      <p:sp>
        <p:nvSpPr>
          <p:cNvPr id="9" name="Text 6"/>
          <p:cNvSpPr txBox="1"/>
          <p:nvPr/>
        </p:nvSpPr>
        <p:spPr>
          <a:xfrm>
            <a:off x="548640" y="1600200"/>
            <a:ext cx="6400800" cy="274320"/>
          </a:xfrm>
          <a:prstGeom prst="rect">
            <a:avLst/>
          </a:prstGeom>
          <a:noFill/>
          <a:ln/>
        </p:spPr>
        <p:txBody>
          <a:bodyPr wrap="square" lIns="0" tIns="0" rIns="0" bIns="0" rtlCol="0" anchor="ctr"/>
          <a:lstStyle/>
          <a:p>
            <a:pPr indent="0" marL="0">
              <a:buNone/>
            </a:pPr>
            <a:r>
              <a:rPr lang="en-US" sz="1200" b="1" spc="100" kern="0" dirty="0">
                <a:solidFill>
                  <a:srgbClr val="0B5D8A"/>
                </a:solidFill>
                <a:latin typeface="Calibri" pitchFamily="34" charset="0"/>
                <a:ea typeface="Calibri" pitchFamily="34" charset="-122"/>
                <a:cs typeface="Calibri" pitchFamily="34" charset="-120"/>
              </a:rPr>
              <a:t>DEFINITION</a:t>
            </a:r>
            <a:endParaRPr lang="en-US" sz="1200" dirty="0"/>
          </a:p>
        </p:txBody>
      </p:sp>
      <p:sp>
        <p:nvSpPr>
          <p:cNvPr id="10" name="Shape 7"/>
          <p:cNvSpPr/>
          <p:nvPr/>
        </p:nvSpPr>
        <p:spPr>
          <a:xfrm>
            <a:off x="548640" y="1920240"/>
            <a:ext cx="6400800" cy="1188720"/>
          </a:xfrm>
          <a:prstGeom prst="roundRect">
            <a:avLst>
              <a:gd name="adj" fmla="val 6154"/>
            </a:avLst>
          </a:prstGeom>
          <a:solidFill>
            <a:srgbClr val="F5F7FA"/>
          </a:solidFill>
          <a:ln w="12700">
            <a:solidFill>
              <a:srgbClr val="DCE3EA"/>
            </a:solidFill>
            <a:prstDash val="solid"/>
          </a:ln>
        </p:spPr>
      </p:sp>
      <p:sp>
        <p:nvSpPr>
          <p:cNvPr id="11" name="Text 8"/>
          <p:cNvSpPr txBox="1"/>
          <p:nvPr/>
        </p:nvSpPr>
        <p:spPr>
          <a:xfrm>
            <a:off x="777240" y="2029968"/>
            <a:ext cx="5943600" cy="969264"/>
          </a:xfrm>
          <a:prstGeom prst="rect">
            <a:avLst/>
          </a:prstGeom>
          <a:noFill/>
          <a:ln/>
        </p:spPr>
        <p:txBody>
          <a:bodyPr wrap="square" lIns="0" tIns="0" rIns="0" bIns="0" rtlCol="0" anchor="ctr"/>
          <a:lstStyle/>
          <a:p>
            <a:pPr indent="0" marL="0">
              <a:lnSpc>
                <a:spcPct val="120000"/>
              </a:lnSpc>
              <a:buNone/>
            </a:pPr>
            <a:r>
              <a:rPr lang="en-US" sz="1450" dirty="0">
                <a:solidFill>
                  <a:srgbClr val="0B3556"/>
                </a:solidFill>
                <a:latin typeface="Calibri" pitchFamily="34" charset="0"/>
                <a:ea typeface="Calibri" pitchFamily="34" charset="-122"/>
                <a:cs typeface="Calibri" pitchFamily="34" charset="-120"/>
              </a:rPr>
              <a:t>The Operating System (OS) is the program that manages a computer's hardware and provides a convenient, efficient environment in which user programs can run.</a:t>
            </a:r>
            <a:endParaRPr lang="en-US" sz="1450" dirty="0"/>
          </a:p>
        </p:txBody>
      </p:sp>
      <p:sp>
        <p:nvSpPr>
          <p:cNvPr id="12" name="Text 9"/>
          <p:cNvSpPr txBox="1"/>
          <p:nvPr/>
        </p:nvSpPr>
        <p:spPr>
          <a:xfrm>
            <a:off x="548640" y="3337560"/>
            <a:ext cx="6400800" cy="274320"/>
          </a:xfrm>
          <a:prstGeom prst="rect">
            <a:avLst/>
          </a:prstGeom>
          <a:noFill/>
          <a:ln/>
        </p:spPr>
        <p:txBody>
          <a:bodyPr wrap="square" lIns="0" tIns="0" rIns="0" bIns="0" rtlCol="0" anchor="ctr"/>
          <a:lstStyle/>
          <a:p>
            <a:pPr indent="0" marL="0">
              <a:buNone/>
            </a:pPr>
            <a:r>
              <a:rPr lang="en-US" sz="1200" b="1" spc="100" kern="0" dirty="0">
                <a:solidFill>
                  <a:srgbClr val="0B5D8A"/>
                </a:solidFill>
                <a:latin typeface="Calibri" pitchFamily="34" charset="0"/>
                <a:ea typeface="Calibri" pitchFamily="34" charset="-122"/>
                <a:cs typeface="Calibri" pitchFamily="34" charset="-120"/>
              </a:rPr>
              <a:t>KEY CHARACTERISTICS</a:t>
            </a:r>
            <a:endParaRPr lang="en-US" sz="1200" dirty="0"/>
          </a:p>
        </p:txBody>
      </p:sp>
      <p:sp>
        <p:nvSpPr>
          <p:cNvPr id="13" name="Shape 10"/>
          <p:cNvSpPr/>
          <p:nvPr/>
        </p:nvSpPr>
        <p:spPr>
          <a:xfrm>
            <a:off x="548640" y="3703320"/>
            <a:ext cx="237744" cy="237744"/>
          </a:xfrm>
          <a:prstGeom prst="ellipse">
            <a:avLst/>
          </a:prstGeom>
          <a:solidFill>
            <a:srgbClr val="0B5D8A"/>
          </a:solidFill>
          <a:ln/>
        </p:spPr>
      </p:sp>
      <p:pic>
        <p:nvPicPr>
          <p:cNvPr id="14" name="Image 1" descr="/home/claude/icons_flat/check.png">    </p:cNvPr>
          <p:cNvPicPr>
            <a:picLocks noChangeAspect="1"/>
          </p:cNvPicPr>
          <p:nvPr/>
        </p:nvPicPr>
        <p:blipFill>
          <a:blip r:embed="rId2"/>
          <a:stretch>
            <a:fillRect/>
          </a:stretch>
        </p:blipFill>
        <p:spPr>
          <a:xfrm>
            <a:off x="585216" y="3739896"/>
            <a:ext cx="164592" cy="164592"/>
          </a:xfrm>
          <a:prstGeom prst="rect">
            <a:avLst/>
          </a:prstGeom>
        </p:spPr>
      </p:pic>
      <p:sp>
        <p:nvSpPr>
          <p:cNvPr id="15" name="Text 11"/>
          <p:cNvSpPr txBox="1"/>
          <p:nvPr/>
        </p:nvSpPr>
        <p:spPr>
          <a:xfrm>
            <a:off x="914400" y="3630168"/>
            <a:ext cx="6035040" cy="457200"/>
          </a:xfrm>
          <a:prstGeom prst="rect">
            <a:avLst/>
          </a:prstGeom>
          <a:noFill/>
          <a:ln/>
        </p:spPr>
        <p:txBody>
          <a:bodyPr wrap="square" lIns="0" tIns="0" rIns="0" bIns="0" rtlCol="0" anchor="ctr"/>
          <a:lstStyle/>
          <a:p>
            <a:pPr indent="0" marL="0">
              <a:lnSpc>
                <a:spcPct val="105000"/>
              </a:lnSpc>
              <a:buNone/>
            </a:pPr>
            <a:r>
              <a:rPr lang="en-US" sz="1300" dirty="0">
                <a:solidFill>
                  <a:srgbClr val="0B3556"/>
                </a:solidFill>
                <a:latin typeface="Calibri" pitchFamily="34" charset="0"/>
                <a:ea typeface="Calibri" pitchFamily="34" charset="-122"/>
                <a:cs typeface="Calibri" pitchFamily="34" charset="-120"/>
              </a:rPr>
              <a:t>Convenience — makes the computer easier to use for programs and people</a:t>
            </a:r>
            <a:endParaRPr lang="en-US" sz="1300" dirty="0"/>
          </a:p>
        </p:txBody>
      </p:sp>
      <p:sp>
        <p:nvSpPr>
          <p:cNvPr id="16" name="Shape 12"/>
          <p:cNvSpPr/>
          <p:nvPr/>
        </p:nvSpPr>
        <p:spPr>
          <a:xfrm>
            <a:off x="548640" y="4270248"/>
            <a:ext cx="237744" cy="237744"/>
          </a:xfrm>
          <a:prstGeom prst="ellipse">
            <a:avLst/>
          </a:prstGeom>
          <a:solidFill>
            <a:srgbClr val="0B5D8A"/>
          </a:solidFill>
          <a:ln/>
        </p:spPr>
      </p:sp>
      <p:pic>
        <p:nvPicPr>
          <p:cNvPr id="17" name="Image 2" descr="/home/claude/icons_flat/check.png">    </p:cNvPr>
          <p:cNvPicPr>
            <a:picLocks noChangeAspect="1"/>
          </p:cNvPicPr>
          <p:nvPr/>
        </p:nvPicPr>
        <p:blipFill>
          <a:blip r:embed="rId3"/>
          <a:stretch>
            <a:fillRect/>
          </a:stretch>
        </p:blipFill>
        <p:spPr>
          <a:xfrm>
            <a:off x="585216" y="4306824"/>
            <a:ext cx="164592" cy="164592"/>
          </a:xfrm>
          <a:prstGeom prst="rect">
            <a:avLst/>
          </a:prstGeom>
        </p:spPr>
      </p:pic>
      <p:sp>
        <p:nvSpPr>
          <p:cNvPr id="18" name="Text 13"/>
          <p:cNvSpPr txBox="1"/>
          <p:nvPr/>
        </p:nvSpPr>
        <p:spPr>
          <a:xfrm>
            <a:off x="914400" y="4197096"/>
            <a:ext cx="6035040" cy="457200"/>
          </a:xfrm>
          <a:prstGeom prst="rect">
            <a:avLst/>
          </a:prstGeom>
          <a:noFill/>
          <a:ln/>
        </p:spPr>
        <p:txBody>
          <a:bodyPr wrap="square" lIns="0" tIns="0" rIns="0" bIns="0" rtlCol="0" anchor="ctr"/>
          <a:lstStyle/>
          <a:p>
            <a:pPr indent="0" marL="0">
              <a:lnSpc>
                <a:spcPct val="105000"/>
              </a:lnSpc>
              <a:buNone/>
            </a:pPr>
            <a:r>
              <a:rPr lang="en-US" sz="1300" dirty="0">
                <a:solidFill>
                  <a:srgbClr val="0B3556"/>
                </a:solidFill>
                <a:latin typeface="Calibri" pitchFamily="34" charset="0"/>
                <a:ea typeface="Calibri" pitchFamily="34" charset="-122"/>
                <a:cs typeface="Calibri" pitchFamily="34" charset="-120"/>
              </a:rPr>
              <a:t>Efficiency — manages hardware resources so they are used well</a:t>
            </a:r>
            <a:endParaRPr lang="en-US" sz="1300" dirty="0"/>
          </a:p>
        </p:txBody>
      </p:sp>
      <p:sp>
        <p:nvSpPr>
          <p:cNvPr id="19" name="Shape 14"/>
          <p:cNvSpPr/>
          <p:nvPr/>
        </p:nvSpPr>
        <p:spPr>
          <a:xfrm>
            <a:off x="548640" y="4837176"/>
            <a:ext cx="237744" cy="237744"/>
          </a:xfrm>
          <a:prstGeom prst="ellipse">
            <a:avLst/>
          </a:prstGeom>
          <a:solidFill>
            <a:srgbClr val="0B5D8A"/>
          </a:solidFill>
          <a:ln/>
        </p:spPr>
      </p:sp>
      <p:pic>
        <p:nvPicPr>
          <p:cNvPr id="20" name="Image 3" descr="/home/claude/icons_flat/check.png">    </p:cNvPr>
          <p:cNvPicPr>
            <a:picLocks noChangeAspect="1"/>
          </p:cNvPicPr>
          <p:nvPr/>
        </p:nvPicPr>
        <p:blipFill>
          <a:blip r:embed="rId4"/>
          <a:stretch>
            <a:fillRect/>
          </a:stretch>
        </p:blipFill>
        <p:spPr>
          <a:xfrm>
            <a:off x="585216" y="4873752"/>
            <a:ext cx="164592" cy="164592"/>
          </a:xfrm>
          <a:prstGeom prst="rect">
            <a:avLst/>
          </a:prstGeom>
        </p:spPr>
      </p:pic>
      <p:sp>
        <p:nvSpPr>
          <p:cNvPr id="21" name="Text 15"/>
          <p:cNvSpPr txBox="1"/>
          <p:nvPr/>
        </p:nvSpPr>
        <p:spPr>
          <a:xfrm>
            <a:off x="914400" y="4764024"/>
            <a:ext cx="6035040" cy="457200"/>
          </a:xfrm>
          <a:prstGeom prst="rect">
            <a:avLst/>
          </a:prstGeom>
          <a:noFill/>
          <a:ln/>
        </p:spPr>
        <p:txBody>
          <a:bodyPr wrap="square" lIns="0" tIns="0" rIns="0" bIns="0" rtlCol="0" anchor="ctr"/>
          <a:lstStyle/>
          <a:p>
            <a:pPr indent="0" marL="0">
              <a:lnSpc>
                <a:spcPct val="105000"/>
              </a:lnSpc>
              <a:buNone/>
            </a:pPr>
            <a:r>
              <a:rPr lang="en-US" sz="1300" dirty="0">
                <a:solidFill>
                  <a:srgbClr val="0B3556"/>
                </a:solidFill>
                <a:latin typeface="Calibri" pitchFamily="34" charset="0"/>
                <a:ea typeface="Calibri" pitchFamily="34" charset="-122"/>
                <a:cs typeface="Calibri" pitchFamily="34" charset="-120"/>
              </a:rPr>
              <a:t>Ability to evolve — new features can be added without breaking everything</a:t>
            </a:r>
            <a:endParaRPr lang="en-US" sz="1300" dirty="0"/>
          </a:p>
        </p:txBody>
      </p:sp>
      <p:sp>
        <p:nvSpPr>
          <p:cNvPr id="22" name="Shape 16"/>
          <p:cNvSpPr/>
          <p:nvPr/>
        </p:nvSpPr>
        <p:spPr>
          <a:xfrm>
            <a:off x="548640" y="5404104"/>
            <a:ext cx="237744" cy="237744"/>
          </a:xfrm>
          <a:prstGeom prst="ellipse">
            <a:avLst/>
          </a:prstGeom>
          <a:solidFill>
            <a:srgbClr val="0B5D8A"/>
          </a:solidFill>
          <a:ln/>
        </p:spPr>
      </p:sp>
      <p:pic>
        <p:nvPicPr>
          <p:cNvPr id="23" name="Image 4" descr="/home/claude/icons_flat/check.png">    </p:cNvPr>
          <p:cNvPicPr>
            <a:picLocks noChangeAspect="1"/>
          </p:cNvPicPr>
          <p:nvPr/>
        </p:nvPicPr>
        <p:blipFill>
          <a:blip r:embed="rId5"/>
          <a:stretch>
            <a:fillRect/>
          </a:stretch>
        </p:blipFill>
        <p:spPr>
          <a:xfrm>
            <a:off x="585216" y="5440680"/>
            <a:ext cx="164592" cy="164592"/>
          </a:xfrm>
          <a:prstGeom prst="rect">
            <a:avLst/>
          </a:prstGeom>
        </p:spPr>
      </p:pic>
      <p:sp>
        <p:nvSpPr>
          <p:cNvPr id="24" name="Text 17"/>
          <p:cNvSpPr txBox="1"/>
          <p:nvPr/>
        </p:nvSpPr>
        <p:spPr>
          <a:xfrm>
            <a:off x="914400" y="5330952"/>
            <a:ext cx="6035040" cy="457200"/>
          </a:xfrm>
          <a:prstGeom prst="rect">
            <a:avLst/>
          </a:prstGeom>
          <a:noFill/>
          <a:ln/>
        </p:spPr>
        <p:txBody>
          <a:bodyPr wrap="square" lIns="0" tIns="0" rIns="0" bIns="0" rtlCol="0" anchor="ctr"/>
          <a:lstStyle/>
          <a:p>
            <a:pPr indent="0" marL="0">
              <a:lnSpc>
                <a:spcPct val="105000"/>
              </a:lnSpc>
              <a:buNone/>
            </a:pPr>
            <a:r>
              <a:rPr lang="en-US" sz="1300" dirty="0">
                <a:solidFill>
                  <a:srgbClr val="0B3556"/>
                </a:solidFill>
                <a:latin typeface="Calibri" pitchFamily="34" charset="0"/>
                <a:ea typeface="Calibri" pitchFamily="34" charset="-122"/>
                <a:cs typeface="Calibri" pitchFamily="34" charset="-120"/>
              </a:rPr>
              <a:t>Sits between the raw hardware and every application that runs</a:t>
            </a:r>
            <a:endParaRPr lang="en-US" sz="1300" dirty="0"/>
          </a:p>
        </p:txBody>
      </p:sp>
      <p:sp>
        <p:nvSpPr>
          <p:cNvPr id="25" name="Shape 18"/>
          <p:cNvSpPr/>
          <p:nvPr/>
        </p:nvSpPr>
        <p:spPr>
          <a:xfrm>
            <a:off x="7269480" y="1600200"/>
            <a:ext cx="4343400" cy="4480560"/>
          </a:xfrm>
          <a:prstGeom prst="roundRect">
            <a:avLst>
              <a:gd name="adj" fmla="val 2105"/>
            </a:avLst>
          </a:prstGeom>
          <a:solidFill>
            <a:srgbClr val="0B5D8A"/>
          </a:solidFill>
          <a:ln/>
        </p:spPr>
      </p:sp>
      <p:sp>
        <p:nvSpPr>
          <p:cNvPr id="26" name="Shape 19"/>
          <p:cNvSpPr/>
          <p:nvPr/>
        </p:nvSpPr>
        <p:spPr>
          <a:xfrm>
            <a:off x="7543800" y="1874520"/>
            <a:ext cx="548640" cy="548640"/>
          </a:xfrm>
          <a:prstGeom prst="roundRect">
            <a:avLst>
              <a:gd name="adj" fmla="val 20000"/>
            </a:avLst>
          </a:prstGeom>
          <a:solidFill>
            <a:srgbClr val="FFFFFF">
              <a:alpha val="85000"/>
            </a:srgbClr>
          </a:solidFill>
          <a:ln/>
        </p:spPr>
      </p:sp>
      <p:pic>
        <p:nvPicPr>
          <p:cNvPr id="27" name="Image 5" descr="/home/claude/icons_flat/bulb.png">    </p:cNvPr>
          <p:cNvPicPr>
            <a:picLocks noChangeAspect="1"/>
          </p:cNvPicPr>
          <p:nvPr/>
        </p:nvPicPr>
        <p:blipFill>
          <a:blip r:embed="rId6"/>
          <a:stretch>
            <a:fillRect/>
          </a:stretch>
        </p:blipFill>
        <p:spPr>
          <a:xfrm>
            <a:off x="7680960" y="2011680"/>
            <a:ext cx="274320" cy="274320"/>
          </a:xfrm>
          <a:prstGeom prst="rect">
            <a:avLst/>
          </a:prstGeom>
        </p:spPr>
      </p:pic>
      <p:sp>
        <p:nvSpPr>
          <p:cNvPr id="28" name="Text 20"/>
          <p:cNvSpPr txBox="1"/>
          <p:nvPr/>
        </p:nvSpPr>
        <p:spPr>
          <a:xfrm>
            <a:off x="7543800" y="2542032"/>
            <a:ext cx="3840480" cy="320040"/>
          </a:xfrm>
          <a:prstGeom prst="rect">
            <a:avLst/>
          </a:prstGeom>
          <a:noFill/>
          <a:ln/>
        </p:spPr>
        <p:txBody>
          <a:bodyPr wrap="square" lIns="0" tIns="0" rIns="0" bIns="0" rtlCol="0" anchor="ctr"/>
          <a:lstStyle/>
          <a:p>
            <a:pPr indent="0" marL="0">
              <a:buNone/>
            </a:pPr>
            <a:r>
              <a:rPr lang="en-US" sz="1300" b="1" spc="100" kern="0" dirty="0">
                <a:solidFill>
                  <a:srgbClr val="FFFFFF"/>
                </a:solidFill>
                <a:latin typeface="Calibri" pitchFamily="34" charset="0"/>
                <a:ea typeface="Calibri" pitchFamily="34" charset="-122"/>
                <a:cs typeface="Calibri" pitchFamily="34" charset="-120"/>
              </a:rPr>
              <a:t>WHY IT MATTERS</a:t>
            </a:r>
            <a:endParaRPr lang="en-US" sz="1300" dirty="0"/>
          </a:p>
        </p:txBody>
      </p:sp>
      <p:sp>
        <p:nvSpPr>
          <p:cNvPr id="29" name="Text 21"/>
          <p:cNvSpPr txBox="1"/>
          <p:nvPr/>
        </p:nvSpPr>
        <p:spPr>
          <a:xfrm>
            <a:off x="7543800" y="2926080"/>
            <a:ext cx="3840480" cy="3017520"/>
          </a:xfrm>
          <a:prstGeom prst="rect">
            <a:avLst/>
          </a:prstGeom>
          <a:noFill/>
          <a:ln/>
        </p:spPr>
        <p:txBody>
          <a:bodyPr wrap="square" lIns="0" tIns="0" rIns="0" bIns="0" rtlCol="0" anchor="t"/>
          <a:lstStyle/>
          <a:p>
            <a:pPr indent="0" marL="0">
              <a:lnSpc>
                <a:spcPct val="135000"/>
              </a:lnSpc>
              <a:buNone/>
            </a:pPr>
            <a:r>
              <a:rPr lang="en-US" sz="1400" dirty="0">
                <a:solidFill>
                  <a:srgbClr val="FFFFFF"/>
                </a:solidFill>
                <a:latin typeface="Calibri" pitchFamily="34" charset="0"/>
                <a:ea typeface="Calibri" pitchFamily="34" charset="-122"/>
                <a:cs typeface="Calibri" pitchFamily="34" charset="-120"/>
              </a:rPr>
              <a:t>Without an OS, every application would need to know how to directly control the CPU, memory chips, disks, and network hardware itself — an impossible burden for developers, and a recipe for chaos when several apps run together.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686800" cy="274320"/>
          </a:xfrm>
          <a:prstGeom prst="rect">
            <a:avLst/>
          </a:prstGeom>
          <a:noFill/>
          <a:ln/>
        </p:spPr>
        <p:txBody>
          <a:bodyPr wrap="square" lIns="0" tIns="0" rIns="0" bIns="0" rtlCol="0" anchor="ctr"/>
          <a:lstStyle/>
          <a:p>
            <a:pPr indent="0" marL="0">
              <a:buNone/>
            </a:pPr>
            <a:r>
              <a:rPr lang="en-US" sz="1100" spc="100" kern="0" dirty="0">
                <a:solidFill>
                  <a:srgbClr val="6B7688"/>
                </a:solidFill>
                <a:latin typeface="Calibri" pitchFamily="34" charset="0"/>
                <a:ea typeface="Calibri" pitchFamily="34" charset="-122"/>
                <a:cs typeface="Calibri" pitchFamily="34" charset="-120"/>
              </a:rPr>
              <a:t>CH.8  ·  OPERATING SYSTEM SUPPORT  ·  2.1</a:t>
            </a:r>
            <a:endParaRPr lang="en-US" sz="1100" dirty="0"/>
          </a:p>
        </p:txBody>
      </p:sp>
      <p:sp>
        <p:nvSpPr>
          <p:cNvPr id="3" name="Text 1"/>
          <p:cNvSpPr txBox="1"/>
          <p:nvPr/>
        </p:nvSpPr>
        <p:spPr>
          <a:xfrm>
            <a:off x="548640" y="566928"/>
            <a:ext cx="8961120" cy="548640"/>
          </a:xfrm>
          <a:prstGeom prst="rect">
            <a:avLst/>
          </a:prstGeom>
          <a:noFill/>
          <a:ln/>
        </p:spPr>
        <p:txBody>
          <a:bodyPr wrap="square" lIns="0" tIns="0" rIns="0" bIns="0" rtlCol="0" anchor="ctr"/>
          <a:lstStyle/>
          <a:p>
            <a:pPr indent="0" marL="0">
              <a:buNone/>
            </a:pPr>
            <a:r>
              <a:rPr lang="en-US" sz="3000" b="1" dirty="0">
                <a:solidFill>
                  <a:srgbClr val="0B3556"/>
                </a:solidFill>
                <a:latin typeface="Cambria" pitchFamily="34" charset="0"/>
                <a:ea typeface="Cambria" pitchFamily="34" charset="-122"/>
                <a:cs typeface="Cambria" pitchFamily="34" charset="-120"/>
              </a:rPr>
              <a:t>Operating System Overview</a:t>
            </a:r>
            <a:endParaRPr lang="en-US" sz="3000" dirty="0"/>
          </a:p>
        </p:txBody>
      </p:sp>
      <p:sp>
        <p:nvSpPr>
          <p:cNvPr id="4" name="Text 2"/>
          <p:cNvSpPr txBox="1"/>
          <p:nvPr/>
        </p:nvSpPr>
        <p:spPr>
          <a:xfrm>
            <a:off x="548640" y="1078992"/>
            <a:ext cx="8961120" cy="320040"/>
          </a:xfrm>
          <a:prstGeom prst="rect">
            <a:avLst/>
          </a:prstGeom>
          <a:noFill/>
          <a:ln/>
        </p:spPr>
        <p:txBody>
          <a:bodyPr wrap="square" lIns="0" tIns="0" rIns="0" bIns="0" rtlCol="0" anchor="ctr"/>
          <a:lstStyle/>
          <a:p>
            <a:pPr indent="0" marL="0">
              <a:buNone/>
            </a:pPr>
            <a:r>
              <a:rPr lang="en-US" sz="1400" i="1" dirty="0">
                <a:solidFill>
                  <a:srgbClr val="0B5D8A"/>
                </a:solidFill>
                <a:latin typeface="Calibri" pitchFamily="34" charset="0"/>
                <a:ea typeface="Calibri" pitchFamily="34" charset="-122"/>
                <a:cs typeface="Calibri" pitchFamily="34" charset="-120"/>
              </a:rPr>
              <a:t>Technical Example</a:t>
            </a:r>
            <a:endParaRPr lang="en-US" sz="1400" dirty="0"/>
          </a:p>
        </p:txBody>
      </p:sp>
      <p:sp>
        <p:nvSpPr>
          <p:cNvPr id="5" name="Shape 3"/>
          <p:cNvSpPr/>
          <p:nvPr/>
        </p:nvSpPr>
        <p:spPr>
          <a:xfrm>
            <a:off x="10698480" y="384048"/>
            <a:ext cx="868680" cy="868680"/>
          </a:xfrm>
          <a:prstGeom prst="roundRect">
            <a:avLst>
              <a:gd name="adj" fmla="val 16842"/>
            </a:avLst>
          </a:prstGeom>
          <a:solidFill>
            <a:srgbClr val="0B5D8A"/>
          </a:solidFill>
          <a:ln/>
        </p:spPr>
      </p:sp>
      <p:pic>
        <p:nvPicPr>
          <p:cNvPr id="6" name="Image 0" descr="/home/claude/icons_flat/cogs.png">    </p:cNvPr>
          <p:cNvPicPr>
            <a:picLocks noChangeAspect="1"/>
          </p:cNvPicPr>
          <p:nvPr/>
        </p:nvPicPr>
        <p:blipFill>
          <a:blip r:embed="rId1"/>
          <a:stretch>
            <a:fillRect/>
          </a:stretch>
        </p:blipFill>
        <p:spPr>
          <a:xfrm>
            <a:off x="10927080" y="612648"/>
            <a:ext cx="411480" cy="411480"/>
          </a:xfrm>
          <a:prstGeom prst="rect">
            <a:avLst/>
          </a:prstGeom>
        </p:spPr>
      </p:pic>
      <p:sp>
        <p:nvSpPr>
          <p:cNvPr id="7" name="Text 4"/>
          <p:cNvSpPr txBox="1"/>
          <p:nvPr/>
        </p:nvSpPr>
        <p:spPr>
          <a:xfrm>
            <a:off x="548640" y="6537960"/>
            <a:ext cx="8229600" cy="256032"/>
          </a:xfrm>
          <a:prstGeom prst="rect">
            <a:avLst/>
          </a:prstGeom>
          <a:noFill/>
          <a:ln/>
        </p:spPr>
        <p:txBody>
          <a:bodyPr wrap="square" lIns="0" tIns="0" rIns="0" bIns="0" rtlCol="0" anchor="ctr"/>
          <a:lstStyle/>
          <a:p>
            <a:pPr indent="0" marL="0">
              <a:buNone/>
            </a:pPr>
            <a:r>
              <a:rPr lang="en-US" sz="950" dirty="0">
                <a:solidFill>
                  <a:srgbClr val="6B7688"/>
                </a:solidFill>
                <a:latin typeface="Calibri" pitchFamily="34" charset="0"/>
                <a:ea typeface="Calibri" pitchFamily="34" charset="-122"/>
                <a:cs typeface="Calibri" pitchFamily="34" charset="-120"/>
              </a:rPr>
              <a:t>Operating System Support — Chapter 8, William Stallings</a:t>
            </a:r>
            <a:endParaRPr lang="en-US" sz="950" dirty="0"/>
          </a:p>
        </p:txBody>
      </p:sp>
      <p:sp>
        <p:nvSpPr>
          <p:cNvPr id="8" name="Text 5"/>
          <p:cNvSpPr txBox="1"/>
          <p:nvPr/>
        </p:nvSpPr>
        <p:spPr>
          <a:xfrm>
            <a:off x="10515600" y="6537960"/>
            <a:ext cx="1097280" cy="256032"/>
          </a:xfrm>
          <a:prstGeom prst="rect">
            <a:avLst/>
          </a:prstGeom>
          <a:noFill/>
          <a:ln/>
        </p:spPr>
        <p:txBody>
          <a:bodyPr wrap="square" lIns="0" tIns="0" rIns="0" bIns="0" rtlCol="0" anchor="ctr"/>
          <a:lstStyle/>
          <a:p>
            <a:pPr algn="r" indent="0" marL="0">
              <a:buNone/>
            </a:pPr>
            <a:r>
              <a:rPr lang="en-US" sz="950" dirty="0">
                <a:solidFill>
                  <a:srgbClr val="6B7688"/>
                </a:solidFill>
                <a:latin typeface="Calibri" pitchFamily="34" charset="0"/>
                <a:ea typeface="Calibri" pitchFamily="34" charset="-122"/>
                <a:cs typeface="Calibri" pitchFamily="34" charset="-120"/>
              </a:rPr>
              <a:t>2/15</a:t>
            </a:r>
            <a:endParaRPr lang="en-US" sz="950" dirty="0"/>
          </a:p>
        </p:txBody>
      </p:sp>
      <p:sp>
        <p:nvSpPr>
          <p:cNvPr id="9" name="Shape 6"/>
          <p:cNvSpPr/>
          <p:nvPr/>
        </p:nvSpPr>
        <p:spPr>
          <a:xfrm>
            <a:off x="548640" y="1691640"/>
            <a:ext cx="11064240" cy="2286000"/>
          </a:xfrm>
          <a:prstGeom prst="roundRect">
            <a:avLst>
              <a:gd name="adj" fmla="val 4000"/>
            </a:avLst>
          </a:prstGeom>
          <a:solidFill>
            <a:srgbClr val="F5F7FA"/>
          </a:solidFill>
          <a:ln w="12700">
            <a:solidFill>
              <a:srgbClr val="DCE3EA"/>
            </a:solidFill>
            <a:prstDash val="solid"/>
          </a:ln>
        </p:spPr>
      </p:sp>
      <p:sp>
        <p:nvSpPr>
          <p:cNvPr id="10" name="Shape 7"/>
          <p:cNvSpPr/>
          <p:nvPr/>
        </p:nvSpPr>
        <p:spPr>
          <a:xfrm>
            <a:off x="868680" y="1965960"/>
            <a:ext cx="502920" cy="502920"/>
          </a:xfrm>
          <a:prstGeom prst="roundRect">
            <a:avLst>
              <a:gd name="adj" fmla="val 18182"/>
            </a:avLst>
          </a:prstGeom>
          <a:solidFill>
            <a:srgbClr val="0B5D8A"/>
          </a:solidFill>
          <a:ln/>
        </p:spPr>
      </p:sp>
      <p:pic>
        <p:nvPicPr>
          <p:cNvPr id="11" name="Image 1" descr="/home/claude/icons_flat/bulb.png">    </p:cNvPr>
          <p:cNvPicPr>
            <a:picLocks noChangeAspect="1"/>
          </p:cNvPicPr>
          <p:nvPr/>
        </p:nvPicPr>
        <p:blipFill>
          <a:blip r:embed="rId2"/>
          <a:stretch>
            <a:fillRect/>
          </a:stretch>
        </p:blipFill>
        <p:spPr>
          <a:xfrm>
            <a:off x="987552" y="2084832"/>
            <a:ext cx="265176" cy="265176"/>
          </a:xfrm>
          <a:prstGeom prst="rect">
            <a:avLst/>
          </a:prstGeom>
        </p:spPr>
      </p:pic>
      <p:sp>
        <p:nvSpPr>
          <p:cNvPr id="12" name="Text 8"/>
          <p:cNvSpPr txBox="1"/>
          <p:nvPr/>
        </p:nvSpPr>
        <p:spPr>
          <a:xfrm>
            <a:off x="1508760" y="2048256"/>
            <a:ext cx="5486400" cy="365760"/>
          </a:xfrm>
          <a:prstGeom prst="rect">
            <a:avLst/>
          </a:prstGeom>
          <a:noFill/>
          <a:ln/>
        </p:spPr>
        <p:txBody>
          <a:bodyPr wrap="square" lIns="0" tIns="0" rIns="0" bIns="0" rtlCol="0" anchor="ctr"/>
          <a:lstStyle/>
          <a:p>
            <a:pPr indent="0" marL="0">
              <a:buNone/>
            </a:pPr>
            <a:r>
              <a:rPr lang="en-US" sz="1300" b="1" spc="100" kern="0" dirty="0">
                <a:solidFill>
                  <a:srgbClr val="0B5D8A"/>
                </a:solidFill>
                <a:latin typeface="Calibri" pitchFamily="34" charset="0"/>
                <a:ea typeface="Calibri" pitchFamily="34" charset="-122"/>
                <a:cs typeface="Calibri" pitchFamily="34" charset="-120"/>
              </a:rPr>
              <a:t>EXAMPLE IN PRACTICE</a:t>
            </a:r>
            <a:endParaRPr lang="en-US" sz="1300" dirty="0"/>
          </a:p>
        </p:txBody>
      </p:sp>
      <p:sp>
        <p:nvSpPr>
          <p:cNvPr id="13" name="Text 9"/>
          <p:cNvSpPr txBox="1"/>
          <p:nvPr/>
        </p:nvSpPr>
        <p:spPr>
          <a:xfrm>
            <a:off x="868680" y="2697480"/>
            <a:ext cx="10424160" cy="1188720"/>
          </a:xfrm>
          <a:prstGeom prst="rect">
            <a:avLst/>
          </a:prstGeom>
          <a:noFill/>
          <a:ln/>
        </p:spPr>
        <p:txBody>
          <a:bodyPr wrap="square" lIns="0" tIns="0" rIns="0" bIns="0" rtlCol="0" anchor="t"/>
          <a:lstStyle/>
          <a:p>
            <a:pPr indent="0" marL="0">
              <a:lnSpc>
                <a:spcPct val="135000"/>
              </a:lnSpc>
              <a:buNone/>
            </a:pPr>
            <a:r>
              <a:rPr lang="en-US" sz="1600" dirty="0">
                <a:solidFill>
                  <a:srgbClr val="0B3556"/>
                </a:solidFill>
                <a:latin typeface="Calibri" pitchFamily="34" charset="0"/>
                <a:ea typeface="Calibri" pitchFamily="34" charset="-122"/>
                <a:cs typeface="Calibri" pitchFamily="34" charset="-120"/>
              </a:rPr>
              <a:t>A smartphone's OS (Android or iOS) lets you run a camera app, a music app, and a messaging app all at once — deciding, moment to moment, which app gets the screen, the microphone, and the network connection, without any of the apps having to negotiate with each other directly.</a:t>
            </a:r>
            <a:endParaRPr lang="en-US" sz="1600" dirty="0"/>
          </a:p>
        </p:txBody>
      </p:sp>
      <p:sp>
        <p:nvSpPr>
          <p:cNvPr id="14" name="Shape 10"/>
          <p:cNvSpPr/>
          <p:nvPr/>
        </p:nvSpPr>
        <p:spPr>
          <a:xfrm>
            <a:off x="548640" y="4251960"/>
            <a:ext cx="1417320" cy="411480"/>
          </a:xfrm>
          <a:prstGeom prst="roundRect">
            <a:avLst>
              <a:gd name="adj" fmla="val 48889"/>
            </a:avLst>
          </a:prstGeom>
          <a:solidFill>
            <a:srgbClr val="0B5D8A"/>
          </a:solidFill>
          <a:ln/>
        </p:spPr>
      </p:sp>
      <p:sp>
        <p:nvSpPr>
          <p:cNvPr id="15" name="Text 11"/>
          <p:cNvSpPr txBox="1"/>
          <p:nvPr/>
        </p:nvSpPr>
        <p:spPr>
          <a:xfrm>
            <a:off x="548640" y="4251960"/>
            <a:ext cx="1417320" cy="41148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KEY INSIGHT</a:t>
            </a:r>
            <a:endParaRPr lang="en-US" sz="1050" dirty="0"/>
          </a:p>
        </p:txBody>
      </p:sp>
      <p:sp>
        <p:nvSpPr>
          <p:cNvPr id="16" name="Text 12"/>
          <p:cNvSpPr txBox="1"/>
          <p:nvPr/>
        </p:nvSpPr>
        <p:spPr>
          <a:xfrm>
            <a:off x="2148840" y="4251960"/>
            <a:ext cx="9464040" cy="411480"/>
          </a:xfrm>
          <a:prstGeom prst="rect">
            <a:avLst/>
          </a:prstGeom>
          <a:noFill/>
          <a:ln/>
        </p:spPr>
        <p:txBody>
          <a:bodyPr wrap="square" lIns="0" tIns="0" rIns="0" bIns="0" rtlCol="0" anchor="ctr"/>
          <a:lstStyle/>
          <a:p>
            <a:pPr indent="0" marL="0">
              <a:buNone/>
            </a:pPr>
            <a:r>
              <a:rPr lang="en-US" sz="1400" b="1" i="1" dirty="0">
                <a:solidFill>
                  <a:srgbClr val="0B3556"/>
                </a:solidFill>
                <a:latin typeface="Calibri" pitchFamily="34" charset="0"/>
                <a:ea typeface="Calibri" pitchFamily="34" charset="-122"/>
                <a:cs typeface="Calibri" pitchFamily="34" charset="-120"/>
              </a:rPr>
              <a:t>The OS makes hundreds of hardware and scheduling decisions per second — completely invisibly to the user.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686800" cy="274320"/>
          </a:xfrm>
          <a:prstGeom prst="rect">
            <a:avLst/>
          </a:prstGeom>
          <a:noFill/>
          <a:ln/>
        </p:spPr>
        <p:txBody>
          <a:bodyPr wrap="square" lIns="0" tIns="0" rIns="0" bIns="0" rtlCol="0" anchor="ctr"/>
          <a:lstStyle/>
          <a:p>
            <a:pPr indent="0" marL="0">
              <a:buNone/>
            </a:pPr>
            <a:r>
              <a:rPr lang="en-US" sz="1100" spc="100" kern="0" dirty="0">
                <a:solidFill>
                  <a:srgbClr val="6B7688"/>
                </a:solidFill>
                <a:latin typeface="Calibri" pitchFamily="34" charset="0"/>
                <a:ea typeface="Calibri" pitchFamily="34" charset="-122"/>
                <a:cs typeface="Calibri" pitchFamily="34" charset="-120"/>
              </a:rPr>
              <a:t>CH.8  ·  OPERATING SYSTEM SUPPORT  ·  2.1</a:t>
            </a:r>
            <a:endParaRPr lang="en-US" sz="1100" dirty="0"/>
          </a:p>
        </p:txBody>
      </p:sp>
      <p:sp>
        <p:nvSpPr>
          <p:cNvPr id="3" name="Text 1"/>
          <p:cNvSpPr txBox="1"/>
          <p:nvPr/>
        </p:nvSpPr>
        <p:spPr>
          <a:xfrm>
            <a:off x="548640" y="566928"/>
            <a:ext cx="8961120" cy="548640"/>
          </a:xfrm>
          <a:prstGeom prst="rect">
            <a:avLst/>
          </a:prstGeom>
          <a:noFill/>
          <a:ln/>
        </p:spPr>
        <p:txBody>
          <a:bodyPr wrap="square" lIns="0" tIns="0" rIns="0" bIns="0" rtlCol="0" anchor="ctr"/>
          <a:lstStyle/>
          <a:p>
            <a:pPr indent="0" marL="0">
              <a:buNone/>
            </a:pPr>
            <a:r>
              <a:rPr lang="en-US" sz="3000" b="1" dirty="0">
                <a:solidFill>
                  <a:srgbClr val="0B3556"/>
                </a:solidFill>
                <a:latin typeface="Cambria" pitchFamily="34" charset="0"/>
                <a:ea typeface="Cambria" pitchFamily="34" charset="-122"/>
                <a:cs typeface="Cambria" pitchFamily="34" charset="-120"/>
              </a:rPr>
              <a:t>Operating System Overview</a:t>
            </a:r>
            <a:endParaRPr lang="en-US" sz="3000" dirty="0"/>
          </a:p>
        </p:txBody>
      </p:sp>
      <p:sp>
        <p:nvSpPr>
          <p:cNvPr id="4" name="Text 2"/>
          <p:cNvSpPr txBox="1"/>
          <p:nvPr/>
        </p:nvSpPr>
        <p:spPr>
          <a:xfrm>
            <a:off x="548640" y="1078992"/>
            <a:ext cx="8961120" cy="320040"/>
          </a:xfrm>
          <a:prstGeom prst="rect">
            <a:avLst/>
          </a:prstGeom>
          <a:noFill/>
          <a:ln/>
        </p:spPr>
        <p:txBody>
          <a:bodyPr wrap="square" lIns="0" tIns="0" rIns="0" bIns="0" rtlCol="0" anchor="ctr"/>
          <a:lstStyle/>
          <a:p>
            <a:pPr indent="0" marL="0">
              <a:buNone/>
            </a:pPr>
            <a:r>
              <a:rPr lang="en-US" sz="1400" i="1" dirty="0">
                <a:solidFill>
                  <a:srgbClr val="0B5D8A"/>
                </a:solidFill>
                <a:latin typeface="Calibri" pitchFamily="34" charset="0"/>
                <a:ea typeface="Calibri" pitchFamily="34" charset="-122"/>
                <a:cs typeface="Calibri" pitchFamily="34" charset="-120"/>
              </a:rPr>
              <a:t>How It Works — System Architecture</a:t>
            </a:r>
            <a:endParaRPr lang="en-US" sz="1400" dirty="0"/>
          </a:p>
        </p:txBody>
      </p:sp>
      <p:sp>
        <p:nvSpPr>
          <p:cNvPr id="5" name="Shape 3"/>
          <p:cNvSpPr/>
          <p:nvPr/>
        </p:nvSpPr>
        <p:spPr>
          <a:xfrm>
            <a:off x="10698480" y="384048"/>
            <a:ext cx="868680" cy="868680"/>
          </a:xfrm>
          <a:prstGeom prst="roundRect">
            <a:avLst>
              <a:gd name="adj" fmla="val 16842"/>
            </a:avLst>
          </a:prstGeom>
          <a:solidFill>
            <a:srgbClr val="0B5D8A"/>
          </a:solidFill>
          <a:ln/>
        </p:spPr>
      </p:sp>
      <p:pic>
        <p:nvPicPr>
          <p:cNvPr id="6" name="Image 0" descr="/home/claude/icons_flat/cogs.png">    </p:cNvPr>
          <p:cNvPicPr>
            <a:picLocks noChangeAspect="1"/>
          </p:cNvPicPr>
          <p:nvPr/>
        </p:nvPicPr>
        <p:blipFill>
          <a:blip r:embed="rId1"/>
          <a:stretch>
            <a:fillRect/>
          </a:stretch>
        </p:blipFill>
        <p:spPr>
          <a:xfrm>
            <a:off x="10927080" y="612648"/>
            <a:ext cx="411480" cy="411480"/>
          </a:xfrm>
          <a:prstGeom prst="rect">
            <a:avLst/>
          </a:prstGeom>
        </p:spPr>
      </p:pic>
      <p:sp>
        <p:nvSpPr>
          <p:cNvPr id="7" name="Text 4"/>
          <p:cNvSpPr txBox="1"/>
          <p:nvPr/>
        </p:nvSpPr>
        <p:spPr>
          <a:xfrm>
            <a:off x="548640" y="6537960"/>
            <a:ext cx="8229600" cy="256032"/>
          </a:xfrm>
          <a:prstGeom prst="rect">
            <a:avLst/>
          </a:prstGeom>
          <a:noFill/>
          <a:ln/>
        </p:spPr>
        <p:txBody>
          <a:bodyPr wrap="square" lIns="0" tIns="0" rIns="0" bIns="0" rtlCol="0" anchor="ctr"/>
          <a:lstStyle/>
          <a:p>
            <a:pPr indent="0" marL="0">
              <a:buNone/>
            </a:pPr>
            <a:r>
              <a:rPr lang="en-US" sz="950" dirty="0">
                <a:solidFill>
                  <a:srgbClr val="6B7688"/>
                </a:solidFill>
                <a:latin typeface="Calibri" pitchFamily="34" charset="0"/>
                <a:ea typeface="Calibri" pitchFamily="34" charset="-122"/>
                <a:cs typeface="Calibri" pitchFamily="34" charset="-120"/>
              </a:rPr>
              <a:t>Operating System Support — Chapter 8, William Stallings</a:t>
            </a:r>
            <a:endParaRPr lang="en-US" sz="950" dirty="0"/>
          </a:p>
        </p:txBody>
      </p:sp>
      <p:sp>
        <p:nvSpPr>
          <p:cNvPr id="8" name="Text 5"/>
          <p:cNvSpPr txBox="1"/>
          <p:nvPr/>
        </p:nvSpPr>
        <p:spPr>
          <a:xfrm>
            <a:off x="10515600" y="6537960"/>
            <a:ext cx="1097280" cy="256032"/>
          </a:xfrm>
          <a:prstGeom prst="rect">
            <a:avLst/>
          </a:prstGeom>
          <a:noFill/>
          <a:ln/>
        </p:spPr>
        <p:txBody>
          <a:bodyPr wrap="square" lIns="0" tIns="0" rIns="0" bIns="0" rtlCol="0" anchor="ctr"/>
          <a:lstStyle/>
          <a:p>
            <a:pPr algn="r" indent="0" marL="0">
              <a:buNone/>
            </a:pPr>
            <a:r>
              <a:rPr lang="en-US" sz="950" dirty="0">
                <a:solidFill>
                  <a:srgbClr val="6B7688"/>
                </a:solidFill>
                <a:latin typeface="Calibri" pitchFamily="34" charset="0"/>
                <a:ea typeface="Calibri" pitchFamily="34" charset="-122"/>
                <a:cs typeface="Calibri" pitchFamily="34" charset="-120"/>
              </a:rPr>
              <a:t>3/15</a:t>
            </a:r>
            <a:endParaRPr lang="en-US" sz="950" dirty="0"/>
          </a:p>
        </p:txBody>
      </p:sp>
      <p:sp>
        <p:nvSpPr>
          <p:cNvPr id="9" name="Shape 6"/>
          <p:cNvSpPr/>
          <p:nvPr/>
        </p:nvSpPr>
        <p:spPr>
          <a:xfrm>
            <a:off x="2194560" y="1645920"/>
            <a:ext cx="7772400" cy="713232"/>
          </a:xfrm>
          <a:prstGeom prst="roundRect">
            <a:avLst>
              <a:gd name="adj" fmla="val 10256"/>
            </a:avLst>
          </a:prstGeom>
          <a:solidFill>
            <a:srgbClr val="0B5D8A">
              <a:alpha val="24000"/>
            </a:srgbClr>
          </a:solidFill>
          <a:ln w="12700">
            <a:solidFill>
              <a:srgbClr val="0B5D8A"/>
            </a:solidFill>
            <a:prstDash val="solid"/>
          </a:ln>
        </p:spPr>
      </p:sp>
      <p:sp>
        <p:nvSpPr>
          <p:cNvPr id="10" name="Text 7"/>
          <p:cNvSpPr txBox="1"/>
          <p:nvPr/>
        </p:nvSpPr>
        <p:spPr>
          <a:xfrm>
            <a:off x="2194560" y="1645920"/>
            <a:ext cx="7772400" cy="713232"/>
          </a:xfrm>
          <a:prstGeom prst="rect">
            <a:avLst/>
          </a:prstGeom>
          <a:noFill/>
          <a:ln/>
        </p:spPr>
        <p:txBody>
          <a:bodyPr wrap="square" lIns="0" tIns="0" rIns="0" bIns="0" rtlCol="0" anchor="ctr"/>
          <a:lstStyle/>
          <a:p>
            <a:pPr algn="ctr" indent="0" marL="0">
              <a:buNone/>
            </a:pPr>
            <a:r>
              <a:rPr lang="en-US" sz="1500" b="1" dirty="0">
                <a:solidFill>
                  <a:srgbClr val="0B3556"/>
                </a:solidFill>
                <a:latin typeface="Calibri" pitchFamily="34" charset="0"/>
                <a:ea typeface="Calibri" pitchFamily="34" charset="-122"/>
                <a:cs typeface="Calibri" pitchFamily="34" charset="-120"/>
              </a:rPr>
              <a:t>Users</a:t>
            </a:r>
            <a:endParaRPr lang="en-US" sz="1500" dirty="0"/>
          </a:p>
        </p:txBody>
      </p:sp>
      <p:sp>
        <p:nvSpPr>
          <p:cNvPr id="11" name="Shape 8"/>
          <p:cNvSpPr/>
          <p:nvPr/>
        </p:nvSpPr>
        <p:spPr>
          <a:xfrm>
            <a:off x="6080760" y="2359152"/>
            <a:ext cx="0" cy="146304"/>
          </a:xfrm>
          <a:prstGeom prst="line">
            <a:avLst/>
          </a:prstGeom>
          <a:noFill/>
          <a:ln w="25400">
            <a:solidFill>
              <a:srgbClr val="0B5D8A"/>
            </a:solidFill>
            <a:prstDash val="solid"/>
            <a:headEnd type="triangle"/>
          </a:ln>
        </p:spPr>
      </p:sp>
      <p:sp>
        <p:nvSpPr>
          <p:cNvPr id="12" name="Shape 9"/>
          <p:cNvSpPr/>
          <p:nvPr/>
        </p:nvSpPr>
        <p:spPr>
          <a:xfrm>
            <a:off x="2194560" y="2505456"/>
            <a:ext cx="7772400" cy="713232"/>
          </a:xfrm>
          <a:prstGeom prst="roundRect">
            <a:avLst>
              <a:gd name="adj" fmla="val 10256"/>
            </a:avLst>
          </a:prstGeom>
          <a:solidFill>
            <a:srgbClr val="0B5D8A">
              <a:alpha val="40000"/>
            </a:srgbClr>
          </a:solidFill>
          <a:ln w="12700">
            <a:solidFill>
              <a:srgbClr val="0B5D8A"/>
            </a:solidFill>
            <a:prstDash val="solid"/>
          </a:ln>
        </p:spPr>
      </p:sp>
      <p:sp>
        <p:nvSpPr>
          <p:cNvPr id="13" name="Text 10"/>
          <p:cNvSpPr txBox="1"/>
          <p:nvPr/>
        </p:nvSpPr>
        <p:spPr>
          <a:xfrm>
            <a:off x="2194560" y="2505456"/>
            <a:ext cx="7772400" cy="713232"/>
          </a:xfrm>
          <a:prstGeom prst="rect">
            <a:avLst/>
          </a:prstGeom>
          <a:noFill/>
          <a:ln/>
        </p:spPr>
        <p:txBody>
          <a:bodyPr wrap="square" lIns="0" tIns="0" rIns="0" bIns="0" rtlCol="0" anchor="ctr"/>
          <a:lstStyle/>
          <a:p>
            <a:pPr algn="ctr" indent="0" marL="0">
              <a:buNone/>
            </a:pPr>
            <a:r>
              <a:rPr lang="en-US" sz="1500" b="1" dirty="0">
                <a:solidFill>
                  <a:srgbClr val="0B3556"/>
                </a:solidFill>
                <a:latin typeface="Calibri" pitchFamily="34" charset="0"/>
                <a:ea typeface="Calibri" pitchFamily="34" charset="-122"/>
                <a:cs typeface="Calibri" pitchFamily="34" charset="-120"/>
              </a:rPr>
              <a:t>Application Programs</a:t>
            </a:r>
            <a:endParaRPr lang="en-US" sz="1500" dirty="0"/>
          </a:p>
        </p:txBody>
      </p:sp>
      <p:sp>
        <p:nvSpPr>
          <p:cNvPr id="14" name="Shape 11"/>
          <p:cNvSpPr/>
          <p:nvPr/>
        </p:nvSpPr>
        <p:spPr>
          <a:xfrm>
            <a:off x="6080760" y="3218688"/>
            <a:ext cx="0" cy="146304"/>
          </a:xfrm>
          <a:prstGeom prst="line">
            <a:avLst/>
          </a:prstGeom>
          <a:noFill/>
          <a:ln w="25400">
            <a:solidFill>
              <a:srgbClr val="0B5D8A"/>
            </a:solidFill>
            <a:prstDash val="solid"/>
            <a:headEnd type="triangle"/>
          </a:ln>
        </p:spPr>
      </p:sp>
      <p:sp>
        <p:nvSpPr>
          <p:cNvPr id="15" name="Shape 12"/>
          <p:cNvSpPr/>
          <p:nvPr/>
        </p:nvSpPr>
        <p:spPr>
          <a:xfrm>
            <a:off x="2194560" y="3364992"/>
            <a:ext cx="7772400" cy="713232"/>
          </a:xfrm>
          <a:prstGeom prst="roundRect">
            <a:avLst>
              <a:gd name="adj" fmla="val 10256"/>
            </a:avLst>
          </a:prstGeom>
          <a:solidFill>
            <a:srgbClr val="0B5D8A">
              <a:alpha val="56000"/>
            </a:srgbClr>
          </a:solidFill>
          <a:ln w="12700">
            <a:solidFill>
              <a:srgbClr val="0B5D8A"/>
            </a:solidFill>
            <a:prstDash val="solid"/>
          </a:ln>
        </p:spPr>
      </p:sp>
      <p:sp>
        <p:nvSpPr>
          <p:cNvPr id="16" name="Text 13"/>
          <p:cNvSpPr txBox="1"/>
          <p:nvPr/>
        </p:nvSpPr>
        <p:spPr>
          <a:xfrm>
            <a:off x="2194560" y="3364992"/>
            <a:ext cx="7772400" cy="713232"/>
          </a:xfrm>
          <a:prstGeom prst="rect">
            <a:avLst/>
          </a:prstGeom>
          <a:noFill/>
          <a:ln/>
        </p:spPr>
        <p:txBody>
          <a:bodyPr wrap="square" lIns="0" tIns="0" rIns="0" bIns="0" rtlCol="0" anchor="ctr"/>
          <a:lstStyle/>
          <a:p>
            <a:pPr algn="ctr" indent="0" marL="0">
              <a:buNone/>
            </a:pPr>
            <a:r>
              <a:rPr lang="en-US" sz="1500" b="1" dirty="0">
                <a:solidFill>
                  <a:srgbClr val="0B3556"/>
                </a:solidFill>
                <a:latin typeface="Calibri" pitchFamily="34" charset="0"/>
                <a:ea typeface="Calibri" pitchFamily="34" charset="-122"/>
                <a:cs typeface="Calibri" pitchFamily="34" charset="-120"/>
              </a:rPr>
              <a:t>Utilities &amp; System Programs</a:t>
            </a:r>
            <a:endParaRPr lang="en-US" sz="1500" dirty="0"/>
          </a:p>
        </p:txBody>
      </p:sp>
      <p:sp>
        <p:nvSpPr>
          <p:cNvPr id="17" name="Shape 14"/>
          <p:cNvSpPr/>
          <p:nvPr/>
        </p:nvSpPr>
        <p:spPr>
          <a:xfrm>
            <a:off x="6080760" y="4078224"/>
            <a:ext cx="0" cy="146304"/>
          </a:xfrm>
          <a:prstGeom prst="line">
            <a:avLst/>
          </a:prstGeom>
          <a:noFill/>
          <a:ln w="25400">
            <a:solidFill>
              <a:srgbClr val="0B5D8A"/>
            </a:solidFill>
            <a:prstDash val="solid"/>
            <a:headEnd type="triangle"/>
          </a:ln>
        </p:spPr>
      </p:sp>
      <p:sp>
        <p:nvSpPr>
          <p:cNvPr id="18" name="Shape 15"/>
          <p:cNvSpPr/>
          <p:nvPr/>
        </p:nvSpPr>
        <p:spPr>
          <a:xfrm>
            <a:off x="2194560" y="4224528"/>
            <a:ext cx="7772400" cy="713232"/>
          </a:xfrm>
          <a:prstGeom prst="roundRect">
            <a:avLst>
              <a:gd name="adj" fmla="val 10256"/>
            </a:avLst>
          </a:prstGeom>
          <a:solidFill>
            <a:srgbClr val="0B5D8A">
              <a:alpha val="72000"/>
            </a:srgbClr>
          </a:solidFill>
          <a:ln w="12700">
            <a:solidFill>
              <a:srgbClr val="0B5D8A"/>
            </a:solidFill>
            <a:prstDash val="solid"/>
          </a:ln>
        </p:spPr>
      </p:sp>
      <p:sp>
        <p:nvSpPr>
          <p:cNvPr id="19" name="Text 16"/>
          <p:cNvSpPr txBox="1"/>
          <p:nvPr/>
        </p:nvSpPr>
        <p:spPr>
          <a:xfrm>
            <a:off x="2194560" y="4224528"/>
            <a:ext cx="7772400" cy="71323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Operating System</a:t>
            </a:r>
            <a:endParaRPr lang="en-US" sz="1500" dirty="0"/>
          </a:p>
        </p:txBody>
      </p:sp>
      <p:sp>
        <p:nvSpPr>
          <p:cNvPr id="20" name="Shape 17"/>
          <p:cNvSpPr/>
          <p:nvPr/>
        </p:nvSpPr>
        <p:spPr>
          <a:xfrm>
            <a:off x="6080760" y="4937760"/>
            <a:ext cx="0" cy="146304"/>
          </a:xfrm>
          <a:prstGeom prst="line">
            <a:avLst/>
          </a:prstGeom>
          <a:noFill/>
          <a:ln w="25400">
            <a:solidFill>
              <a:srgbClr val="0B5D8A"/>
            </a:solidFill>
            <a:prstDash val="solid"/>
            <a:headEnd type="triangle"/>
          </a:ln>
        </p:spPr>
      </p:sp>
      <p:sp>
        <p:nvSpPr>
          <p:cNvPr id="21" name="Shape 18"/>
          <p:cNvSpPr/>
          <p:nvPr/>
        </p:nvSpPr>
        <p:spPr>
          <a:xfrm>
            <a:off x="2194560" y="5084064"/>
            <a:ext cx="7772400" cy="713232"/>
          </a:xfrm>
          <a:prstGeom prst="roundRect">
            <a:avLst>
              <a:gd name="adj" fmla="val 10256"/>
            </a:avLst>
          </a:prstGeom>
          <a:solidFill>
            <a:srgbClr val="0B5D8A">
              <a:alpha val="88000"/>
            </a:srgbClr>
          </a:solidFill>
          <a:ln w="12700">
            <a:solidFill>
              <a:srgbClr val="0B5D8A"/>
            </a:solidFill>
            <a:prstDash val="solid"/>
          </a:ln>
        </p:spPr>
      </p:sp>
      <p:sp>
        <p:nvSpPr>
          <p:cNvPr id="22" name="Text 19"/>
          <p:cNvSpPr txBox="1"/>
          <p:nvPr/>
        </p:nvSpPr>
        <p:spPr>
          <a:xfrm>
            <a:off x="2194560" y="5084064"/>
            <a:ext cx="7772400" cy="71323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Hardware (CPU, Memory, I/O)</a:t>
            </a:r>
            <a:endParaRPr lang="en-US" sz="1500" dirty="0"/>
          </a:p>
        </p:txBody>
      </p:sp>
      <p:sp>
        <p:nvSpPr>
          <p:cNvPr id="23" name="Text 20"/>
          <p:cNvSpPr txBox="1"/>
          <p:nvPr/>
        </p:nvSpPr>
        <p:spPr>
          <a:xfrm>
            <a:off x="1097280" y="6053328"/>
            <a:ext cx="9966960" cy="320040"/>
          </a:xfrm>
          <a:prstGeom prst="rect">
            <a:avLst/>
          </a:prstGeom>
          <a:noFill/>
          <a:ln/>
        </p:spPr>
        <p:txBody>
          <a:bodyPr wrap="square" lIns="0" tIns="0" rIns="0" bIns="0" rtlCol="0" anchor="ctr"/>
          <a:lstStyle/>
          <a:p>
            <a:pPr algn="ctr" indent="0" marL="0">
              <a:buNone/>
            </a:pPr>
            <a:r>
              <a:rPr lang="en-US" sz="1200" i="1" dirty="0">
                <a:solidFill>
                  <a:srgbClr val="6B7688"/>
                </a:solidFill>
                <a:latin typeface="Calibri" pitchFamily="34" charset="0"/>
                <a:ea typeface="Calibri" pitchFamily="34" charset="-122"/>
                <a:cs typeface="Calibri" pitchFamily="34" charset="-120"/>
              </a:rPr>
              <a:t>Each layer relies on the one beneath it — the OS is the critical layer that turns raw hardware into something applications and users can actually work with.</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686800" cy="274320"/>
          </a:xfrm>
          <a:prstGeom prst="rect">
            <a:avLst/>
          </a:prstGeom>
          <a:noFill/>
          <a:ln/>
        </p:spPr>
        <p:txBody>
          <a:bodyPr wrap="square" lIns="0" tIns="0" rIns="0" bIns="0" rtlCol="0" anchor="ctr"/>
          <a:lstStyle/>
          <a:p>
            <a:pPr indent="0" marL="0">
              <a:buNone/>
            </a:pPr>
            <a:r>
              <a:rPr lang="en-US" sz="1100" spc="100" kern="0" dirty="0">
                <a:solidFill>
                  <a:srgbClr val="6B7688"/>
                </a:solidFill>
                <a:latin typeface="Calibri" pitchFamily="34" charset="0"/>
                <a:ea typeface="Calibri" pitchFamily="34" charset="-122"/>
                <a:cs typeface="Calibri" pitchFamily="34" charset="-120"/>
              </a:rPr>
              <a:t>CH.8  ·  OPERATING SYSTEM SUPPORT  ·  2.2</a:t>
            </a:r>
            <a:endParaRPr lang="en-US" sz="1100" dirty="0"/>
          </a:p>
        </p:txBody>
      </p:sp>
      <p:sp>
        <p:nvSpPr>
          <p:cNvPr id="3" name="Text 1"/>
          <p:cNvSpPr txBox="1"/>
          <p:nvPr/>
        </p:nvSpPr>
        <p:spPr>
          <a:xfrm>
            <a:off x="548640" y="566928"/>
            <a:ext cx="8961120" cy="548640"/>
          </a:xfrm>
          <a:prstGeom prst="rect">
            <a:avLst/>
          </a:prstGeom>
          <a:noFill/>
          <a:ln/>
        </p:spPr>
        <p:txBody>
          <a:bodyPr wrap="square" lIns="0" tIns="0" rIns="0" bIns="0" rtlCol="0" anchor="ctr"/>
          <a:lstStyle/>
          <a:p>
            <a:pPr indent="0" marL="0">
              <a:buNone/>
            </a:pPr>
            <a:r>
              <a:rPr lang="en-US" sz="3000" b="1" dirty="0">
                <a:solidFill>
                  <a:srgbClr val="0B3556"/>
                </a:solidFill>
                <a:latin typeface="Cambria" pitchFamily="34" charset="0"/>
                <a:ea typeface="Cambria" pitchFamily="34" charset="-122"/>
                <a:cs typeface="Cambria" pitchFamily="34" charset="-120"/>
              </a:rPr>
              <a:t>Scheduling</a:t>
            </a:r>
            <a:endParaRPr lang="en-US" sz="3000" dirty="0"/>
          </a:p>
        </p:txBody>
      </p:sp>
      <p:sp>
        <p:nvSpPr>
          <p:cNvPr id="4" name="Text 2"/>
          <p:cNvSpPr txBox="1"/>
          <p:nvPr/>
        </p:nvSpPr>
        <p:spPr>
          <a:xfrm>
            <a:off x="548640" y="1078992"/>
            <a:ext cx="8961120" cy="320040"/>
          </a:xfrm>
          <a:prstGeom prst="rect">
            <a:avLst/>
          </a:prstGeom>
          <a:noFill/>
          <a:ln/>
        </p:spPr>
        <p:txBody>
          <a:bodyPr wrap="square" lIns="0" tIns="0" rIns="0" bIns="0" rtlCol="0" anchor="ctr"/>
          <a:lstStyle/>
          <a:p>
            <a:pPr indent="0" marL="0">
              <a:buNone/>
            </a:pPr>
            <a:r>
              <a:rPr lang="en-US" sz="1400" i="1" dirty="0">
                <a:solidFill>
                  <a:srgbClr val="0F766E"/>
                </a:solidFill>
                <a:latin typeface="Calibri" pitchFamily="34" charset="0"/>
                <a:ea typeface="Calibri" pitchFamily="34" charset="-122"/>
                <a:cs typeface="Calibri" pitchFamily="34" charset="-120"/>
              </a:rPr>
              <a:t>Definition &amp; Key Characteristics</a:t>
            </a:r>
            <a:endParaRPr lang="en-US" sz="1400" dirty="0"/>
          </a:p>
        </p:txBody>
      </p:sp>
      <p:sp>
        <p:nvSpPr>
          <p:cNvPr id="5" name="Shape 3"/>
          <p:cNvSpPr/>
          <p:nvPr/>
        </p:nvSpPr>
        <p:spPr>
          <a:xfrm>
            <a:off x="10698480" y="384048"/>
            <a:ext cx="868680" cy="868680"/>
          </a:xfrm>
          <a:prstGeom prst="roundRect">
            <a:avLst>
              <a:gd name="adj" fmla="val 16842"/>
            </a:avLst>
          </a:prstGeom>
          <a:solidFill>
            <a:srgbClr val="0F766E"/>
          </a:solidFill>
          <a:ln/>
        </p:spPr>
      </p:sp>
      <p:pic>
        <p:nvPicPr>
          <p:cNvPr id="6" name="Image 0" descr="/home/claude/icons_flat/clock.png">    </p:cNvPr>
          <p:cNvPicPr>
            <a:picLocks noChangeAspect="1"/>
          </p:cNvPicPr>
          <p:nvPr/>
        </p:nvPicPr>
        <p:blipFill>
          <a:blip r:embed="rId1"/>
          <a:stretch>
            <a:fillRect/>
          </a:stretch>
        </p:blipFill>
        <p:spPr>
          <a:xfrm>
            <a:off x="10927080" y="612648"/>
            <a:ext cx="411480" cy="411480"/>
          </a:xfrm>
          <a:prstGeom prst="rect">
            <a:avLst/>
          </a:prstGeom>
        </p:spPr>
      </p:pic>
      <p:sp>
        <p:nvSpPr>
          <p:cNvPr id="7" name="Text 4"/>
          <p:cNvSpPr txBox="1"/>
          <p:nvPr/>
        </p:nvSpPr>
        <p:spPr>
          <a:xfrm>
            <a:off x="548640" y="6537960"/>
            <a:ext cx="8229600" cy="256032"/>
          </a:xfrm>
          <a:prstGeom prst="rect">
            <a:avLst/>
          </a:prstGeom>
          <a:noFill/>
          <a:ln/>
        </p:spPr>
        <p:txBody>
          <a:bodyPr wrap="square" lIns="0" tIns="0" rIns="0" bIns="0" rtlCol="0" anchor="ctr"/>
          <a:lstStyle/>
          <a:p>
            <a:pPr indent="0" marL="0">
              <a:buNone/>
            </a:pPr>
            <a:r>
              <a:rPr lang="en-US" sz="950" dirty="0">
                <a:solidFill>
                  <a:srgbClr val="6B7688"/>
                </a:solidFill>
                <a:latin typeface="Calibri" pitchFamily="34" charset="0"/>
                <a:ea typeface="Calibri" pitchFamily="34" charset="-122"/>
                <a:cs typeface="Calibri" pitchFamily="34" charset="-120"/>
              </a:rPr>
              <a:t>Operating System Support — Chapter 8, William Stallings</a:t>
            </a:r>
            <a:endParaRPr lang="en-US" sz="950" dirty="0"/>
          </a:p>
        </p:txBody>
      </p:sp>
      <p:sp>
        <p:nvSpPr>
          <p:cNvPr id="8" name="Text 5"/>
          <p:cNvSpPr txBox="1"/>
          <p:nvPr/>
        </p:nvSpPr>
        <p:spPr>
          <a:xfrm>
            <a:off x="10515600" y="6537960"/>
            <a:ext cx="1097280" cy="256032"/>
          </a:xfrm>
          <a:prstGeom prst="rect">
            <a:avLst/>
          </a:prstGeom>
          <a:noFill/>
          <a:ln/>
        </p:spPr>
        <p:txBody>
          <a:bodyPr wrap="square" lIns="0" tIns="0" rIns="0" bIns="0" rtlCol="0" anchor="ctr"/>
          <a:lstStyle/>
          <a:p>
            <a:pPr algn="r" indent="0" marL="0">
              <a:buNone/>
            </a:pPr>
            <a:r>
              <a:rPr lang="en-US" sz="950" dirty="0">
                <a:solidFill>
                  <a:srgbClr val="6B7688"/>
                </a:solidFill>
                <a:latin typeface="Calibri" pitchFamily="34" charset="0"/>
                <a:ea typeface="Calibri" pitchFamily="34" charset="-122"/>
                <a:cs typeface="Calibri" pitchFamily="34" charset="-120"/>
              </a:rPr>
              <a:t>4/15</a:t>
            </a:r>
            <a:endParaRPr lang="en-US" sz="950" dirty="0"/>
          </a:p>
        </p:txBody>
      </p:sp>
      <p:sp>
        <p:nvSpPr>
          <p:cNvPr id="9" name="Text 6"/>
          <p:cNvSpPr txBox="1"/>
          <p:nvPr/>
        </p:nvSpPr>
        <p:spPr>
          <a:xfrm>
            <a:off x="548640" y="1600200"/>
            <a:ext cx="6400800" cy="274320"/>
          </a:xfrm>
          <a:prstGeom prst="rect">
            <a:avLst/>
          </a:prstGeom>
          <a:noFill/>
          <a:ln/>
        </p:spPr>
        <p:txBody>
          <a:bodyPr wrap="square" lIns="0" tIns="0" rIns="0" bIns="0" rtlCol="0" anchor="ctr"/>
          <a:lstStyle/>
          <a:p>
            <a:pPr indent="0" marL="0">
              <a:buNone/>
            </a:pPr>
            <a:r>
              <a:rPr lang="en-US" sz="1200" b="1" spc="100" kern="0" dirty="0">
                <a:solidFill>
                  <a:srgbClr val="0F766E"/>
                </a:solidFill>
                <a:latin typeface="Calibri" pitchFamily="34" charset="0"/>
                <a:ea typeface="Calibri" pitchFamily="34" charset="-122"/>
                <a:cs typeface="Calibri" pitchFamily="34" charset="-120"/>
              </a:rPr>
              <a:t>DEFINITION</a:t>
            </a:r>
            <a:endParaRPr lang="en-US" sz="1200" dirty="0"/>
          </a:p>
        </p:txBody>
      </p:sp>
      <p:sp>
        <p:nvSpPr>
          <p:cNvPr id="10" name="Shape 7"/>
          <p:cNvSpPr/>
          <p:nvPr/>
        </p:nvSpPr>
        <p:spPr>
          <a:xfrm>
            <a:off x="548640" y="1920240"/>
            <a:ext cx="6400800" cy="1188720"/>
          </a:xfrm>
          <a:prstGeom prst="roundRect">
            <a:avLst>
              <a:gd name="adj" fmla="val 6154"/>
            </a:avLst>
          </a:prstGeom>
          <a:solidFill>
            <a:srgbClr val="F5F7FA"/>
          </a:solidFill>
          <a:ln w="12700">
            <a:solidFill>
              <a:srgbClr val="DCE3EA"/>
            </a:solidFill>
            <a:prstDash val="solid"/>
          </a:ln>
        </p:spPr>
      </p:sp>
      <p:sp>
        <p:nvSpPr>
          <p:cNvPr id="11" name="Text 8"/>
          <p:cNvSpPr txBox="1"/>
          <p:nvPr/>
        </p:nvSpPr>
        <p:spPr>
          <a:xfrm>
            <a:off x="777240" y="2029968"/>
            <a:ext cx="5943600" cy="969264"/>
          </a:xfrm>
          <a:prstGeom prst="rect">
            <a:avLst/>
          </a:prstGeom>
          <a:noFill/>
          <a:ln/>
        </p:spPr>
        <p:txBody>
          <a:bodyPr wrap="square" lIns="0" tIns="0" rIns="0" bIns="0" rtlCol="0" anchor="ctr"/>
          <a:lstStyle/>
          <a:p>
            <a:pPr indent="0" marL="0">
              <a:lnSpc>
                <a:spcPct val="120000"/>
              </a:lnSpc>
              <a:buNone/>
            </a:pPr>
            <a:r>
              <a:rPr lang="en-US" sz="1450" dirty="0">
                <a:solidFill>
                  <a:srgbClr val="0B3556"/>
                </a:solidFill>
                <a:latin typeface="Calibri" pitchFamily="34" charset="0"/>
                <a:ea typeface="Calibri" pitchFamily="34" charset="-122"/>
                <a:cs typeface="Calibri" pitchFamily="34" charset="-120"/>
              </a:rPr>
              <a:t>Scheduling is how the OS decides which process gets the CPU, and when — the goal is to keep the CPU busy and give every process a fair, timely turn.</a:t>
            </a:r>
            <a:endParaRPr lang="en-US" sz="1450" dirty="0"/>
          </a:p>
        </p:txBody>
      </p:sp>
      <p:sp>
        <p:nvSpPr>
          <p:cNvPr id="12" name="Text 9"/>
          <p:cNvSpPr txBox="1"/>
          <p:nvPr/>
        </p:nvSpPr>
        <p:spPr>
          <a:xfrm>
            <a:off x="548640" y="3337560"/>
            <a:ext cx="6400800" cy="274320"/>
          </a:xfrm>
          <a:prstGeom prst="rect">
            <a:avLst/>
          </a:prstGeom>
          <a:noFill/>
          <a:ln/>
        </p:spPr>
        <p:txBody>
          <a:bodyPr wrap="square" lIns="0" tIns="0" rIns="0" bIns="0" rtlCol="0" anchor="ctr"/>
          <a:lstStyle/>
          <a:p>
            <a:pPr indent="0" marL="0">
              <a:buNone/>
            </a:pPr>
            <a:r>
              <a:rPr lang="en-US" sz="1200" b="1" spc="100" kern="0" dirty="0">
                <a:solidFill>
                  <a:srgbClr val="0F766E"/>
                </a:solidFill>
                <a:latin typeface="Calibri" pitchFamily="34" charset="0"/>
                <a:ea typeface="Calibri" pitchFamily="34" charset="-122"/>
                <a:cs typeface="Calibri" pitchFamily="34" charset="-120"/>
              </a:rPr>
              <a:t>KEY CHARACTERISTICS</a:t>
            </a:r>
            <a:endParaRPr lang="en-US" sz="1200" dirty="0"/>
          </a:p>
        </p:txBody>
      </p:sp>
      <p:sp>
        <p:nvSpPr>
          <p:cNvPr id="13" name="Shape 10"/>
          <p:cNvSpPr/>
          <p:nvPr/>
        </p:nvSpPr>
        <p:spPr>
          <a:xfrm>
            <a:off x="548640" y="3703320"/>
            <a:ext cx="237744" cy="237744"/>
          </a:xfrm>
          <a:prstGeom prst="ellipse">
            <a:avLst/>
          </a:prstGeom>
          <a:solidFill>
            <a:srgbClr val="0F766E"/>
          </a:solidFill>
          <a:ln/>
        </p:spPr>
      </p:sp>
      <p:pic>
        <p:nvPicPr>
          <p:cNvPr id="14" name="Image 1" descr="/home/claude/icons_flat/check.png">    </p:cNvPr>
          <p:cNvPicPr>
            <a:picLocks noChangeAspect="1"/>
          </p:cNvPicPr>
          <p:nvPr/>
        </p:nvPicPr>
        <p:blipFill>
          <a:blip r:embed="rId2"/>
          <a:stretch>
            <a:fillRect/>
          </a:stretch>
        </p:blipFill>
        <p:spPr>
          <a:xfrm>
            <a:off x="585216" y="3739896"/>
            <a:ext cx="164592" cy="164592"/>
          </a:xfrm>
          <a:prstGeom prst="rect">
            <a:avLst/>
          </a:prstGeom>
        </p:spPr>
      </p:pic>
      <p:sp>
        <p:nvSpPr>
          <p:cNvPr id="15" name="Text 11"/>
          <p:cNvSpPr txBox="1"/>
          <p:nvPr/>
        </p:nvSpPr>
        <p:spPr>
          <a:xfrm>
            <a:off x="914400" y="3630168"/>
            <a:ext cx="6035040" cy="457200"/>
          </a:xfrm>
          <a:prstGeom prst="rect">
            <a:avLst/>
          </a:prstGeom>
          <a:noFill/>
          <a:ln/>
        </p:spPr>
        <p:txBody>
          <a:bodyPr wrap="square" lIns="0" tIns="0" rIns="0" bIns="0" rtlCol="0" anchor="ctr"/>
          <a:lstStyle/>
          <a:p>
            <a:pPr indent="0" marL="0">
              <a:lnSpc>
                <a:spcPct val="105000"/>
              </a:lnSpc>
              <a:buNone/>
            </a:pPr>
            <a:r>
              <a:rPr lang="en-US" sz="1300" dirty="0">
                <a:solidFill>
                  <a:srgbClr val="0B3556"/>
                </a:solidFill>
                <a:latin typeface="Calibri" pitchFamily="34" charset="0"/>
                <a:ea typeface="Calibri" pitchFamily="34" charset="-122"/>
                <a:cs typeface="Calibri" pitchFamily="34" charset="-120"/>
              </a:rPr>
              <a:t>Long-term scheduling: decides which jobs are admitted into the system</a:t>
            </a:r>
            <a:endParaRPr lang="en-US" sz="1300" dirty="0"/>
          </a:p>
        </p:txBody>
      </p:sp>
      <p:sp>
        <p:nvSpPr>
          <p:cNvPr id="16" name="Shape 12"/>
          <p:cNvSpPr/>
          <p:nvPr/>
        </p:nvSpPr>
        <p:spPr>
          <a:xfrm>
            <a:off x="548640" y="4270248"/>
            <a:ext cx="237744" cy="237744"/>
          </a:xfrm>
          <a:prstGeom prst="ellipse">
            <a:avLst/>
          </a:prstGeom>
          <a:solidFill>
            <a:srgbClr val="0F766E"/>
          </a:solidFill>
          <a:ln/>
        </p:spPr>
      </p:sp>
      <p:pic>
        <p:nvPicPr>
          <p:cNvPr id="17" name="Image 2" descr="/home/claude/icons_flat/check.png">    </p:cNvPr>
          <p:cNvPicPr>
            <a:picLocks noChangeAspect="1"/>
          </p:cNvPicPr>
          <p:nvPr/>
        </p:nvPicPr>
        <p:blipFill>
          <a:blip r:embed="rId3"/>
          <a:stretch>
            <a:fillRect/>
          </a:stretch>
        </p:blipFill>
        <p:spPr>
          <a:xfrm>
            <a:off x="585216" y="4306824"/>
            <a:ext cx="164592" cy="164592"/>
          </a:xfrm>
          <a:prstGeom prst="rect">
            <a:avLst/>
          </a:prstGeom>
        </p:spPr>
      </p:pic>
      <p:sp>
        <p:nvSpPr>
          <p:cNvPr id="18" name="Text 13"/>
          <p:cNvSpPr txBox="1"/>
          <p:nvPr/>
        </p:nvSpPr>
        <p:spPr>
          <a:xfrm>
            <a:off x="914400" y="4197096"/>
            <a:ext cx="6035040" cy="457200"/>
          </a:xfrm>
          <a:prstGeom prst="rect">
            <a:avLst/>
          </a:prstGeom>
          <a:noFill/>
          <a:ln/>
        </p:spPr>
        <p:txBody>
          <a:bodyPr wrap="square" lIns="0" tIns="0" rIns="0" bIns="0" rtlCol="0" anchor="ctr"/>
          <a:lstStyle/>
          <a:p>
            <a:pPr indent="0" marL="0">
              <a:lnSpc>
                <a:spcPct val="105000"/>
              </a:lnSpc>
              <a:buNone/>
            </a:pPr>
            <a:r>
              <a:rPr lang="en-US" sz="1300" dirty="0">
                <a:solidFill>
                  <a:srgbClr val="0B3556"/>
                </a:solidFill>
                <a:latin typeface="Calibri" pitchFamily="34" charset="0"/>
                <a:ea typeface="Calibri" pitchFamily="34" charset="-122"/>
                <a:cs typeface="Calibri" pitchFamily="34" charset="-120"/>
              </a:rPr>
              <a:t>Medium-term scheduling: decides which jobs are swapped in/out of memory</a:t>
            </a:r>
            <a:endParaRPr lang="en-US" sz="1300" dirty="0"/>
          </a:p>
        </p:txBody>
      </p:sp>
      <p:sp>
        <p:nvSpPr>
          <p:cNvPr id="19" name="Shape 14"/>
          <p:cNvSpPr/>
          <p:nvPr/>
        </p:nvSpPr>
        <p:spPr>
          <a:xfrm>
            <a:off x="548640" y="4837176"/>
            <a:ext cx="237744" cy="237744"/>
          </a:xfrm>
          <a:prstGeom prst="ellipse">
            <a:avLst/>
          </a:prstGeom>
          <a:solidFill>
            <a:srgbClr val="0F766E"/>
          </a:solidFill>
          <a:ln/>
        </p:spPr>
      </p:sp>
      <p:pic>
        <p:nvPicPr>
          <p:cNvPr id="20" name="Image 3" descr="/home/claude/icons_flat/check.png">    </p:cNvPr>
          <p:cNvPicPr>
            <a:picLocks noChangeAspect="1"/>
          </p:cNvPicPr>
          <p:nvPr/>
        </p:nvPicPr>
        <p:blipFill>
          <a:blip r:embed="rId4"/>
          <a:stretch>
            <a:fillRect/>
          </a:stretch>
        </p:blipFill>
        <p:spPr>
          <a:xfrm>
            <a:off x="585216" y="4873752"/>
            <a:ext cx="164592" cy="164592"/>
          </a:xfrm>
          <a:prstGeom prst="rect">
            <a:avLst/>
          </a:prstGeom>
        </p:spPr>
      </p:pic>
      <p:sp>
        <p:nvSpPr>
          <p:cNvPr id="21" name="Text 15"/>
          <p:cNvSpPr txBox="1"/>
          <p:nvPr/>
        </p:nvSpPr>
        <p:spPr>
          <a:xfrm>
            <a:off x="914400" y="4764024"/>
            <a:ext cx="6035040" cy="457200"/>
          </a:xfrm>
          <a:prstGeom prst="rect">
            <a:avLst/>
          </a:prstGeom>
          <a:noFill/>
          <a:ln/>
        </p:spPr>
        <p:txBody>
          <a:bodyPr wrap="square" lIns="0" tIns="0" rIns="0" bIns="0" rtlCol="0" anchor="ctr"/>
          <a:lstStyle/>
          <a:p>
            <a:pPr indent="0" marL="0">
              <a:lnSpc>
                <a:spcPct val="105000"/>
              </a:lnSpc>
              <a:buNone/>
            </a:pPr>
            <a:r>
              <a:rPr lang="en-US" sz="1300" dirty="0">
                <a:solidFill>
                  <a:srgbClr val="0B3556"/>
                </a:solidFill>
                <a:latin typeface="Calibri" pitchFamily="34" charset="0"/>
                <a:ea typeface="Calibri" pitchFamily="34" charset="-122"/>
                <a:cs typeface="Calibri" pitchFamily="34" charset="-120"/>
              </a:rPr>
              <a:t>Short-term scheduling: decides which ready process runs next, in milliseconds</a:t>
            </a:r>
            <a:endParaRPr lang="en-US" sz="1300" dirty="0"/>
          </a:p>
        </p:txBody>
      </p:sp>
      <p:sp>
        <p:nvSpPr>
          <p:cNvPr id="22" name="Shape 16"/>
          <p:cNvSpPr/>
          <p:nvPr/>
        </p:nvSpPr>
        <p:spPr>
          <a:xfrm>
            <a:off x="548640" y="5404104"/>
            <a:ext cx="237744" cy="237744"/>
          </a:xfrm>
          <a:prstGeom prst="ellipse">
            <a:avLst/>
          </a:prstGeom>
          <a:solidFill>
            <a:srgbClr val="0F766E"/>
          </a:solidFill>
          <a:ln/>
        </p:spPr>
      </p:sp>
      <p:pic>
        <p:nvPicPr>
          <p:cNvPr id="23" name="Image 4" descr="/home/claude/icons_flat/check.png">    </p:cNvPr>
          <p:cNvPicPr>
            <a:picLocks noChangeAspect="1"/>
          </p:cNvPicPr>
          <p:nvPr/>
        </p:nvPicPr>
        <p:blipFill>
          <a:blip r:embed="rId5"/>
          <a:stretch>
            <a:fillRect/>
          </a:stretch>
        </p:blipFill>
        <p:spPr>
          <a:xfrm>
            <a:off x="585216" y="5440680"/>
            <a:ext cx="164592" cy="164592"/>
          </a:xfrm>
          <a:prstGeom prst="rect">
            <a:avLst/>
          </a:prstGeom>
        </p:spPr>
      </p:pic>
      <p:sp>
        <p:nvSpPr>
          <p:cNvPr id="24" name="Text 17"/>
          <p:cNvSpPr txBox="1"/>
          <p:nvPr/>
        </p:nvSpPr>
        <p:spPr>
          <a:xfrm>
            <a:off x="914400" y="5330952"/>
            <a:ext cx="6035040" cy="457200"/>
          </a:xfrm>
          <a:prstGeom prst="rect">
            <a:avLst/>
          </a:prstGeom>
          <a:noFill/>
          <a:ln/>
        </p:spPr>
        <p:txBody>
          <a:bodyPr wrap="square" lIns="0" tIns="0" rIns="0" bIns="0" rtlCol="0" anchor="ctr"/>
          <a:lstStyle/>
          <a:p>
            <a:pPr indent="0" marL="0">
              <a:lnSpc>
                <a:spcPct val="105000"/>
              </a:lnSpc>
              <a:buNone/>
            </a:pPr>
            <a:r>
              <a:rPr lang="en-US" sz="1300" dirty="0">
                <a:solidFill>
                  <a:srgbClr val="0B3556"/>
                </a:solidFill>
                <a:latin typeface="Calibri" pitchFamily="34" charset="0"/>
                <a:ea typeface="Calibri" pitchFamily="34" charset="-122"/>
                <a:cs typeface="Calibri" pitchFamily="34" charset="-120"/>
              </a:rPr>
              <a:t>A process moves through well-defined states as it runs</a:t>
            </a:r>
            <a:endParaRPr lang="en-US" sz="1300" dirty="0"/>
          </a:p>
        </p:txBody>
      </p:sp>
      <p:sp>
        <p:nvSpPr>
          <p:cNvPr id="25" name="Shape 18"/>
          <p:cNvSpPr/>
          <p:nvPr/>
        </p:nvSpPr>
        <p:spPr>
          <a:xfrm>
            <a:off x="7269480" y="1600200"/>
            <a:ext cx="4343400" cy="4480560"/>
          </a:xfrm>
          <a:prstGeom prst="roundRect">
            <a:avLst>
              <a:gd name="adj" fmla="val 2105"/>
            </a:avLst>
          </a:prstGeom>
          <a:solidFill>
            <a:srgbClr val="0F766E"/>
          </a:solidFill>
          <a:ln/>
        </p:spPr>
      </p:sp>
      <p:sp>
        <p:nvSpPr>
          <p:cNvPr id="26" name="Shape 19"/>
          <p:cNvSpPr/>
          <p:nvPr/>
        </p:nvSpPr>
        <p:spPr>
          <a:xfrm>
            <a:off x="7543800" y="1874520"/>
            <a:ext cx="548640" cy="548640"/>
          </a:xfrm>
          <a:prstGeom prst="roundRect">
            <a:avLst>
              <a:gd name="adj" fmla="val 20000"/>
            </a:avLst>
          </a:prstGeom>
          <a:solidFill>
            <a:srgbClr val="FFFFFF">
              <a:alpha val="85000"/>
            </a:srgbClr>
          </a:solidFill>
          <a:ln/>
        </p:spPr>
      </p:sp>
      <p:pic>
        <p:nvPicPr>
          <p:cNvPr id="27" name="Image 5" descr="/home/claude/icons_flat/bulb.png">    </p:cNvPr>
          <p:cNvPicPr>
            <a:picLocks noChangeAspect="1"/>
          </p:cNvPicPr>
          <p:nvPr/>
        </p:nvPicPr>
        <p:blipFill>
          <a:blip r:embed="rId6"/>
          <a:stretch>
            <a:fillRect/>
          </a:stretch>
        </p:blipFill>
        <p:spPr>
          <a:xfrm>
            <a:off x="7680960" y="2011680"/>
            <a:ext cx="274320" cy="274320"/>
          </a:xfrm>
          <a:prstGeom prst="rect">
            <a:avLst/>
          </a:prstGeom>
        </p:spPr>
      </p:pic>
      <p:sp>
        <p:nvSpPr>
          <p:cNvPr id="28" name="Text 20"/>
          <p:cNvSpPr txBox="1"/>
          <p:nvPr/>
        </p:nvSpPr>
        <p:spPr>
          <a:xfrm>
            <a:off x="7543800" y="2542032"/>
            <a:ext cx="3840480" cy="320040"/>
          </a:xfrm>
          <a:prstGeom prst="rect">
            <a:avLst/>
          </a:prstGeom>
          <a:noFill/>
          <a:ln/>
        </p:spPr>
        <p:txBody>
          <a:bodyPr wrap="square" lIns="0" tIns="0" rIns="0" bIns="0" rtlCol="0" anchor="ctr"/>
          <a:lstStyle/>
          <a:p>
            <a:pPr indent="0" marL="0">
              <a:buNone/>
            </a:pPr>
            <a:r>
              <a:rPr lang="en-US" sz="1300" b="1" spc="100" kern="0" dirty="0">
                <a:solidFill>
                  <a:srgbClr val="FFFFFF"/>
                </a:solidFill>
                <a:latin typeface="Calibri" pitchFamily="34" charset="0"/>
                <a:ea typeface="Calibri" pitchFamily="34" charset="-122"/>
                <a:cs typeface="Calibri" pitchFamily="34" charset="-120"/>
              </a:rPr>
              <a:t>WHY IT MATTERS</a:t>
            </a:r>
            <a:endParaRPr lang="en-US" sz="1300" dirty="0"/>
          </a:p>
        </p:txBody>
      </p:sp>
      <p:sp>
        <p:nvSpPr>
          <p:cNvPr id="29" name="Text 21"/>
          <p:cNvSpPr txBox="1"/>
          <p:nvPr/>
        </p:nvSpPr>
        <p:spPr>
          <a:xfrm>
            <a:off x="7543800" y="2926080"/>
            <a:ext cx="3840480" cy="3017520"/>
          </a:xfrm>
          <a:prstGeom prst="rect">
            <a:avLst/>
          </a:prstGeom>
          <a:noFill/>
          <a:ln/>
        </p:spPr>
        <p:txBody>
          <a:bodyPr wrap="square" lIns="0" tIns="0" rIns="0" bIns="0" rtlCol="0" anchor="t"/>
          <a:lstStyle/>
          <a:p>
            <a:pPr indent="0" marL="0">
              <a:lnSpc>
                <a:spcPct val="135000"/>
              </a:lnSpc>
              <a:buNone/>
            </a:pPr>
            <a:r>
              <a:rPr lang="en-US" sz="1400" dirty="0">
                <a:solidFill>
                  <a:srgbClr val="FFFFFF"/>
                </a:solidFill>
                <a:latin typeface="Calibri" pitchFamily="34" charset="0"/>
                <a:ea typeface="Calibri" pitchFamily="34" charset="-122"/>
                <a:cs typeface="Calibri" pitchFamily="34" charset="-120"/>
              </a:rPr>
              <a:t>Without scheduling, only one process could ever run until it finished — you couldn't type a document while music plays, or browse the web while a file downloads in the background.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686800" cy="274320"/>
          </a:xfrm>
          <a:prstGeom prst="rect">
            <a:avLst/>
          </a:prstGeom>
          <a:noFill/>
          <a:ln/>
        </p:spPr>
        <p:txBody>
          <a:bodyPr wrap="square" lIns="0" tIns="0" rIns="0" bIns="0" rtlCol="0" anchor="ctr"/>
          <a:lstStyle/>
          <a:p>
            <a:pPr indent="0" marL="0">
              <a:buNone/>
            </a:pPr>
            <a:r>
              <a:rPr lang="en-US" sz="1100" spc="100" kern="0" dirty="0">
                <a:solidFill>
                  <a:srgbClr val="6B7688"/>
                </a:solidFill>
                <a:latin typeface="Calibri" pitchFamily="34" charset="0"/>
                <a:ea typeface="Calibri" pitchFamily="34" charset="-122"/>
                <a:cs typeface="Calibri" pitchFamily="34" charset="-120"/>
              </a:rPr>
              <a:t>CH.8  ·  OPERATING SYSTEM SUPPORT  ·  2.2</a:t>
            </a:r>
            <a:endParaRPr lang="en-US" sz="1100" dirty="0"/>
          </a:p>
        </p:txBody>
      </p:sp>
      <p:sp>
        <p:nvSpPr>
          <p:cNvPr id="3" name="Text 1"/>
          <p:cNvSpPr txBox="1"/>
          <p:nvPr/>
        </p:nvSpPr>
        <p:spPr>
          <a:xfrm>
            <a:off x="548640" y="566928"/>
            <a:ext cx="8961120" cy="548640"/>
          </a:xfrm>
          <a:prstGeom prst="rect">
            <a:avLst/>
          </a:prstGeom>
          <a:noFill/>
          <a:ln/>
        </p:spPr>
        <p:txBody>
          <a:bodyPr wrap="square" lIns="0" tIns="0" rIns="0" bIns="0" rtlCol="0" anchor="ctr"/>
          <a:lstStyle/>
          <a:p>
            <a:pPr indent="0" marL="0">
              <a:buNone/>
            </a:pPr>
            <a:r>
              <a:rPr lang="en-US" sz="3000" b="1" dirty="0">
                <a:solidFill>
                  <a:srgbClr val="0B3556"/>
                </a:solidFill>
                <a:latin typeface="Cambria" pitchFamily="34" charset="0"/>
                <a:ea typeface="Cambria" pitchFamily="34" charset="-122"/>
                <a:cs typeface="Cambria" pitchFamily="34" charset="-120"/>
              </a:rPr>
              <a:t>Scheduling</a:t>
            </a:r>
            <a:endParaRPr lang="en-US" sz="3000" dirty="0"/>
          </a:p>
        </p:txBody>
      </p:sp>
      <p:sp>
        <p:nvSpPr>
          <p:cNvPr id="4" name="Text 2"/>
          <p:cNvSpPr txBox="1"/>
          <p:nvPr/>
        </p:nvSpPr>
        <p:spPr>
          <a:xfrm>
            <a:off x="548640" y="1078992"/>
            <a:ext cx="8961120" cy="320040"/>
          </a:xfrm>
          <a:prstGeom prst="rect">
            <a:avLst/>
          </a:prstGeom>
          <a:noFill/>
          <a:ln/>
        </p:spPr>
        <p:txBody>
          <a:bodyPr wrap="square" lIns="0" tIns="0" rIns="0" bIns="0" rtlCol="0" anchor="ctr"/>
          <a:lstStyle/>
          <a:p>
            <a:pPr indent="0" marL="0">
              <a:buNone/>
            </a:pPr>
            <a:r>
              <a:rPr lang="en-US" sz="1400" i="1" dirty="0">
                <a:solidFill>
                  <a:srgbClr val="0F766E"/>
                </a:solidFill>
                <a:latin typeface="Calibri" pitchFamily="34" charset="0"/>
                <a:ea typeface="Calibri" pitchFamily="34" charset="-122"/>
                <a:cs typeface="Calibri" pitchFamily="34" charset="-120"/>
              </a:rPr>
              <a:t>Technical Example</a:t>
            </a:r>
            <a:endParaRPr lang="en-US" sz="1400" dirty="0"/>
          </a:p>
        </p:txBody>
      </p:sp>
      <p:sp>
        <p:nvSpPr>
          <p:cNvPr id="5" name="Shape 3"/>
          <p:cNvSpPr/>
          <p:nvPr/>
        </p:nvSpPr>
        <p:spPr>
          <a:xfrm>
            <a:off x="10698480" y="384048"/>
            <a:ext cx="868680" cy="868680"/>
          </a:xfrm>
          <a:prstGeom prst="roundRect">
            <a:avLst>
              <a:gd name="adj" fmla="val 16842"/>
            </a:avLst>
          </a:prstGeom>
          <a:solidFill>
            <a:srgbClr val="0F766E"/>
          </a:solidFill>
          <a:ln/>
        </p:spPr>
      </p:sp>
      <p:pic>
        <p:nvPicPr>
          <p:cNvPr id="6" name="Image 0" descr="/home/claude/icons_flat/clock.png">    </p:cNvPr>
          <p:cNvPicPr>
            <a:picLocks noChangeAspect="1"/>
          </p:cNvPicPr>
          <p:nvPr/>
        </p:nvPicPr>
        <p:blipFill>
          <a:blip r:embed="rId1"/>
          <a:stretch>
            <a:fillRect/>
          </a:stretch>
        </p:blipFill>
        <p:spPr>
          <a:xfrm>
            <a:off x="10927080" y="612648"/>
            <a:ext cx="411480" cy="411480"/>
          </a:xfrm>
          <a:prstGeom prst="rect">
            <a:avLst/>
          </a:prstGeom>
        </p:spPr>
      </p:pic>
      <p:sp>
        <p:nvSpPr>
          <p:cNvPr id="7" name="Text 4"/>
          <p:cNvSpPr txBox="1"/>
          <p:nvPr/>
        </p:nvSpPr>
        <p:spPr>
          <a:xfrm>
            <a:off x="548640" y="6537960"/>
            <a:ext cx="8229600" cy="256032"/>
          </a:xfrm>
          <a:prstGeom prst="rect">
            <a:avLst/>
          </a:prstGeom>
          <a:noFill/>
          <a:ln/>
        </p:spPr>
        <p:txBody>
          <a:bodyPr wrap="square" lIns="0" tIns="0" rIns="0" bIns="0" rtlCol="0" anchor="ctr"/>
          <a:lstStyle/>
          <a:p>
            <a:pPr indent="0" marL="0">
              <a:buNone/>
            </a:pPr>
            <a:r>
              <a:rPr lang="en-US" sz="950" dirty="0">
                <a:solidFill>
                  <a:srgbClr val="6B7688"/>
                </a:solidFill>
                <a:latin typeface="Calibri" pitchFamily="34" charset="0"/>
                <a:ea typeface="Calibri" pitchFamily="34" charset="-122"/>
                <a:cs typeface="Calibri" pitchFamily="34" charset="-120"/>
              </a:rPr>
              <a:t>Operating System Support — Chapter 8, William Stallings</a:t>
            </a:r>
            <a:endParaRPr lang="en-US" sz="950" dirty="0"/>
          </a:p>
        </p:txBody>
      </p:sp>
      <p:sp>
        <p:nvSpPr>
          <p:cNvPr id="8" name="Text 5"/>
          <p:cNvSpPr txBox="1"/>
          <p:nvPr/>
        </p:nvSpPr>
        <p:spPr>
          <a:xfrm>
            <a:off x="10515600" y="6537960"/>
            <a:ext cx="1097280" cy="256032"/>
          </a:xfrm>
          <a:prstGeom prst="rect">
            <a:avLst/>
          </a:prstGeom>
          <a:noFill/>
          <a:ln/>
        </p:spPr>
        <p:txBody>
          <a:bodyPr wrap="square" lIns="0" tIns="0" rIns="0" bIns="0" rtlCol="0" anchor="ctr"/>
          <a:lstStyle/>
          <a:p>
            <a:pPr algn="r" indent="0" marL="0">
              <a:buNone/>
            </a:pPr>
            <a:r>
              <a:rPr lang="en-US" sz="950" dirty="0">
                <a:solidFill>
                  <a:srgbClr val="6B7688"/>
                </a:solidFill>
                <a:latin typeface="Calibri" pitchFamily="34" charset="0"/>
                <a:ea typeface="Calibri" pitchFamily="34" charset="-122"/>
                <a:cs typeface="Calibri" pitchFamily="34" charset="-120"/>
              </a:rPr>
              <a:t>5/15</a:t>
            </a:r>
            <a:endParaRPr lang="en-US" sz="950" dirty="0"/>
          </a:p>
        </p:txBody>
      </p:sp>
      <p:sp>
        <p:nvSpPr>
          <p:cNvPr id="9" name="Shape 6"/>
          <p:cNvSpPr/>
          <p:nvPr/>
        </p:nvSpPr>
        <p:spPr>
          <a:xfrm>
            <a:off x="548640" y="1691640"/>
            <a:ext cx="11064240" cy="2286000"/>
          </a:xfrm>
          <a:prstGeom prst="roundRect">
            <a:avLst>
              <a:gd name="adj" fmla="val 4000"/>
            </a:avLst>
          </a:prstGeom>
          <a:solidFill>
            <a:srgbClr val="F5F7FA"/>
          </a:solidFill>
          <a:ln w="12700">
            <a:solidFill>
              <a:srgbClr val="DCE3EA"/>
            </a:solidFill>
            <a:prstDash val="solid"/>
          </a:ln>
        </p:spPr>
      </p:sp>
      <p:sp>
        <p:nvSpPr>
          <p:cNvPr id="10" name="Shape 7"/>
          <p:cNvSpPr/>
          <p:nvPr/>
        </p:nvSpPr>
        <p:spPr>
          <a:xfrm>
            <a:off x="868680" y="1965960"/>
            <a:ext cx="502920" cy="502920"/>
          </a:xfrm>
          <a:prstGeom prst="roundRect">
            <a:avLst>
              <a:gd name="adj" fmla="val 18182"/>
            </a:avLst>
          </a:prstGeom>
          <a:solidFill>
            <a:srgbClr val="0F766E"/>
          </a:solidFill>
          <a:ln/>
        </p:spPr>
      </p:sp>
      <p:pic>
        <p:nvPicPr>
          <p:cNvPr id="11" name="Image 1" descr="/home/claude/icons_flat/bulb.png">    </p:cNvPr>
          <p:cNvPicPr>
            <a:picLocks noChangeAspect="1"/>
          </p:cNvPicPr>
          <p:nvPr/>
        </p:nvPicPr>
        <p:blipFill>
          <a:blip r:embed="rId2"/>
          <a:stretch>
            <a:fillRect/>
          </a:stretch>
        </p:blipFill>
        <p:spPr>
          <a:xfrm>
            <a:off x="987552" y="2084832"/>
            <a:ext cx="265176" cy="265176"/>
          </a:xfrm>
          <a:prstGeom prst="rect">
            <a:avLst/>
          </a:prstGeom>
        </p:spPr>
      </p:pic>
      <p:sp>
        <p:nvSpPr>
          <p:cNvPr id="12" name="Text 8"/>
          <p:cNvSpPr txBox="1"/>
          <p:nvPr/>
        </p:nvSpPr>
        <p:spPr>
          <a:xfrm>
            <a:off x="1508760" y="2048256"/>
            <a:ext cx="5486400" cy="365760"/>
          </a:xfrm>
          <a:prstGeom prst="rect">
            <a:avLst/>
          </a:prstGeom>
          <a:noFill/>
          <a:ln/>
        </p:spPr>
        <p:txBody>
          <a:bodyPr wrap="square" lIns="0" tIns="0" rIns="0" bIns="0" rtlCol="0" anchor="ctr"/>
          <a:lstStyle/>
          <a:p>
            <a:pPr indent="0" marL="0">
              <a:buNone/>
            </a:pPr>
            <a:r>
              <a:rPr lang="en-US" sz="1300" b="1" spc="100" kern="0" dirty="0">
                <a:solidFill>
                  <a:srgbClr val="0F766E"/>
                </a:solidFill>
                <a:latin typeface="Calibri" pitchFamily="34" charset="0"/>
                <a:ea typeface="Calibri" pitchFamily="34" charset="-122"/>
                <a:cs typeface="Calibri" pitchFamily="34" charset="-120"/>
              </a:rPr>
              <a:t>EXAMPLE IN PRACTICE</a:t>
            </a:r>
            <a:endParaRPr lang="en-US" sz="1300" dirty="0"/>
          </a:p>
        </p:txBody>
      </p:sp>
      <p:sp>
        <p:nvSpPr>
          <p:cNvPr id="13" name="Text 9"/>
          <p:cNvSpPr txBox="1"/>
          <p:nvPr/>
        </p:nvSpPr>
        <p:spPr>
          <a:xfrm>
            <a:off x="868680" y="2697480"/>
            <a:ext cx="10424160" cy="1188720"/>
          </a:xfrm>
          <a:prstGeom prst="rect">
            <a:avLst/>
          </a:prstGeom>
          <a:noFill/>
          <a:ln/>
        </p:spPr>
        <p:txBody>
          <a:bodyPr wrap="square" lIns="0" tIns="0" rIns="0" bIns="0" rtlCol="0" anchor="t"/>
          <a:lstStyle/>
          <a:p>
            <a:pPr indent="0" marL="0">
              <a:lnSpc>
                <a:spcPct val="135000"/>
              </a:lnSpc>
              <a:buNone/>
            </a:pPr>
            <a:r>
              <a:rPr lang="en-US" sz="1600" dirty="0">
                <a:solidFill>
                  <a:srgbClr val="0B3556"/>
                </a:solidFill>
                <a:latin typeface="Calibri" pitchFamily="34" charset="0"/>
                <a:ea typeface="Calibri" pitchFamily="34" charset="-122"/>
                <a:cs typeface="Calibri" pitchFamily="34" charset="-120"/>
              </a:rPr>
              <a:t>A web browser with 10 tabs open is really 10+ processes/threads competing for one CPU. The OS scheduler gives each tab a tiny time slice — a few milliseconds each — switching so fast between them that every tab feels like it's running at the same time.</a:t>
            </a:r>
            <a:endParaRPr lang="en-US" sz="1600" dirty="0"/>
          </a:p>
        </p:txBody>
      </p:sp>
      <p:sp>
        <p:nvSpPr>
          <p:cNvPr id="14" name="Shape 10"/>
          <p:cNvSpPr/>
          <p:nvPr/>
        </p:nvSpPr>
        <p:spPr>
          <a:xfrm>
            <a:off x="548640" y="4251960"/>
            <a:ext cx="1417320" cy="411480"/>
          </a:xfrm>
          <a:prstGeom prst="roundRect">
            <a:avLst>
              <a:gd name="adj" fmla="val 48889"/>
            </a:avLst>
          </a:prstGeom>
          <a:solidFill>
            <a:srgbClr val="0F766E"/>
          </a:solidFill>
          <a:ln/>
        </p:spPr>
      </p:sp>
      <p:sp>
        <p:nvSpPr>
          <p:cNvPr id="15" name="Text 11"/>
          <p:cNvSpPr txBox="1"/>
          <p:nvPr/>
        </p:nvSpPr>
        <p:spPr>
          <a:xfrm>
            <a:off x="548640" y="4251960"/>
            <a:ext cx="1417320" cy="41148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KEY INSIGHT</a:t>
            </a:r>
            <a:endParaRPr lang="en-US" sz="1050" dirty="0"/>
          </a:p>
        </p:txBody>
      </p:sp>
      <p:sp>
        <p:nvSpPr>
          <p:cNvPr id="16" name="Text 12"/>
          <p:cNvSpPr txBox="1"/>
          <p:nvPr/>
        </p:nvSpPr>
        <p:spPr>
          <a:xfrm>
            <a:off x="2148840" y="4251960"/>
            <a:ext cx="9464040" cy="411480"/>
          </a:xfrm>
          <a:prstGeom prst="rect">
            <a:avLst/>
          </a:prstGeom>
          <a:noFill/>
          <a:ln/>
        </p:spPr>
        <p:txBody>
          <a:bodyPr wrap="square" lIns="0" tIns="0" rIns="0" bIns="0" rtlCol="0" anchor="ctr"/>
          <a:lstStyle/>
          <a:p>
            <a:pPr indent="0" marL="0">
              <a:buNone/>
            </a:pPr>
            <a:r>
              <a:rPr lang="en-US" sz="1400" b="1" i="1" dirty="0">
                <a:solidFill>
                  <a:srgbClr val="0B3556"/>
                </a:solidFill>
                <a:latin typeface="Calibri" pitchFamily="34" charset="0"/>
                <a:ea typeface="Calibri" pitchFamily="34" charset="-122"/>
                <a:cs typeface="Calibri" pitchFamily="34" charset="-120"/>
              </a:rPr>
              <a:t>Modern schedulers switch processes so fast that true multitasking feels simultaneous, even on a single CPU core.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686800" cy="274320"/>
          </a:xfrm>
          <a:prstGeom prst="rect">
            <a:avLst/>
          </a:prstGeom>
          <a:noFill/>
          <a:ln/>
        </p:spPr>
        <p:txBody>
          <a:bodyPr wrap="square" lIns="0" tIns="0" rIns="0" bIns="0" rtlCol="0" anchor="ctr"/>
          <a:lstStyle/>
          <a:p>
            <a:pPr indent="0" marL="0">
              <a:buNone/>
            </a:pPr>
            <a:r>
              <a:rPr lang="en-US" sz="1100" spc="100" kern="0" dirty="0">
                <a:solidFill>
                  <a:srgbClr val="6B7688"/>
                </a:solidFill>
                <a:latin typeface="Calibri" pitchFamily="34" charset="0"/>
                <a:ea typeface="Calibri" pitchFamily="34" charset="-122"/>
                <a:cs typeface="Calibri" pitchFamily="34" charset="-120"/>
              </a:rPr>
              <a:t>CH.8  ·  OPERATING SYSTEM SUPPORT  ·  2.2</a:t>
            </a:r>
            <a:endParaRPr lang="en-US" sz="1100" dirty="0"/>
          </a:p>
        </p:txBody>
      </p:sp>
      <p:sp>
        <p:nvSpPr>
          <p:cNvPr id="3" name="Text 1"/>
          <p:cNvSpPr txBox="1"/>
          <p:nvPr/>
        </p:nvSpPr>
        <p:spPr>
          <a:xfrm>
            <a:off x="548640" y="566928"/>
            <a:ext cx="8961120" cy="548640"/>
          </a:xfrm>
          <a:prstGeom prst="rect">
            <a:avLst/>
          </a:prstGeom>
          <a:noFill/>
          <a:ln/>
        </p:spPr>
        <p:txBody>
          <a:bodyPr wrap="square" lIns="0" tIns="0" rIns="0" bIns="0" rtlCol="0" anchor="ctr"/>
          <a:lstStyle/>
          <a:p>
            <a:pPr indent="0" marL="0">
              <a:buNone/>
            </a:pPr>
            <a:r>
              <a:rPr lang="en-US" sz="3000" b="1" dirty="0">
                <a:solidFill>
                  <a:srgbClr val="0B3556"/>
                </a:solidFill>
                <a:latin typeface="Cambria" pitchFamily="34" charset="0"/>
                <a:ea typeface="Cambria" pitchFamily="34" charset="-122"/>
                <a:cs typeface="Cambria" pitchFamily="34" charset="-120"/>
              </a:rPr>
              <a:t>Scheduling</a:t>
            </a:r>
            <a:endParaRPr lang="en-US" sz="3000" dirty="0"/>
          </a:p>
        </p:txBody>
      </p:sp>
      <p:sp>
        <p:nvSpPr>
          <p:cNvPr id="4" name="Text 2"/>
          <p:cNvSpPr txBox="1"/>
          <p:nvPr/>
        </p:nvSpPr>
        <p:spPr>
          <a:xfrm>
            <a:off x="548640" y="1078992"/>
            <a:ext cx="8961120" cy="320040"/>
          </a:xfrm>
          <a:prstGeom prst="rect">
            <a:avLst/>
          </a:prstGeom>
          <a:noFill/>
          <a:ln/>
        </p:spPr>
        <p:txBody>
          <a:bodyPr wrap="square" lIns="0" tIns="0" rIns="0" bIns="0" rtlCol="0" anchor="ctr"/>
          <a:lstStyle/>
          <a:p>
            <a:pPr indent="0" marL="0">
              <a:buNone/>
            </a:pPr>
            <a:r>
              <a:rPr lang="en-US" sz="1400" i="1" dirty="0">
                <a:solidFill>
                  <a:srgbClr val="0F766E"/>
                </a:solidFill>
                <a:latin typeface="Calibri" pitchFamily="34" charset="0"/>
                <a:ea typeface="Calibri" pitchFamily="34" charset="-122"/>
                <a:cs typeface="Calibri" pitchFamily="34" charset="-120"/>
              </a:rPr>
              <a:t>How It Works — Process Flow</a:t>
            </a:r>
            <a:endParaRPr lang="en-US" sz="1400" dirty="0"/>
          </a:p>
        </p:txBody>
      </p:sp>
      <p:sp>
        <p:nvSpPr>
          <p:cNvPr id="5" name="Shape 3"/>
          <p:cNvSpPr/>
          <p:nvPr/>
        </p:nvSpPr>
        <p:spPr>
          <a:xfrm>
            <a:off x="10698480" y="384048"/>
            <a:ext cx="868680" cy="868680"/>
          </a:xfrm>
          <a:prstGeom prst="roundRect">
            <a:avLst>
              <a:gd name="adj" fmla="val 16842"/>
            </a:avLst>
          </a:prstGeom>
          <a:solidFill>
            <a:srgbClr val="0F766E"/>
          </a:solidFill>
          <a:ln/>
        </p:spPr>
      </p:sp>
      <p:pic>
        <p:nvPicPr>
          <p:cNvPr id="6" name="Image 0" descr="/home/claude/icons_flat/clock.png">    </p:cNvPr>
          <p:cNvPicPr>
            <a:picLocks noChangeAspect="1"/>
          </p:cNvPicPr>
          <p:nvPr/>
        </p:nvPicPr>
        <p:blipFill>
          <a:blip r:embed="rId1"/>
          <a:stretch>
            <a:fillRect/>
          </a:stretch>
        </p:blipFill>
        <p:spPr>
          <a:xfrm>
            <a:off x="10927080" y="612648"/>
            <a:ext cx="411480" cy="411480"/>
          </a:xfrm>
          <a:prstGeom prst="rect">
            <a:avLst/>
          </a:prstGeom>
        </p:spPr>
      </p:pic>
      <p:sp>
        <p:nvSpPr>
          <p:cNvPr id="7" name="Text 4"/>
          <p:cNvSpPr txBox="1"/>
          <p:nvPr/>
        </p:nvSpPr>
        <p:spPr>
          <a:xfrm>
            <a:off x="548640" y="6537960"/>
            <a:ext cx="8229600" cy="256032"/>
          </a:xfrm>
          <a:prstGeom prst="rect">
            <a:avLst/>
          </a:prstGeom>
          <a:noFill/>
          <a:ln/>
        </p:spPr>
        <p:txBody>
          <a:bodyPr wrap="square" lIns="0" tIns="0" rIns="0" bIns="0" rtlCol="0" anchor="ctr"/>
          <a:lstStyle/>
          <a:p>
            <a:pPr indent="0" marL="0">
              <a:buNone/>
            </a:pPr>
            <a:r>
              <a:rPr lang="en-US" sz="950" dirty="0">
                <a:solidFill>
                  <a:srgbClr val="6B7688"/>
                </a:solidFill>
                <a:latin typeface="Calibri" pitchFamily="34" charset="0"/>
                <a:ea typeface="Calibri" pitchFamily="34" charset="-122"/>
                <a:cs typeface="Calibri" pitchFamily="34" charset="-120"/>
              </a:rPr>
              <a:t>Operating System Support — Chapter 8, William Stallings</a:t>
            </a:r>
            <a:endParaRPr lang="en-US" sz="950" dirty="0"/>
          </a:p>
        </p:txBody>
      </p:sp>
      <p:sp>
        <p:nvSpPr>
          <p:cNvPr id="8" name="Text 5"/>
          <p:cNvSpPr txBox="1"/>
          <p:nvPr/>
        </p:nvSpPr>
        <p:spPr>
          <a:xfrm>
            <a:off x="10515600" y="6537960"/>
            <a:ext cx="1097280" cy="256032"/>
          </a:xfrm>
          <a:prstGeom prst="rect">
            <a:avLst/>
          </a:prstGeom>
          <a:noFill/>
          <a:ln/>
        </p:spPr>
        <p:txBody>
          <a:bodyPr wrap="square" lIns="0" tIns="0" rIns="0" bIns="0" rtlCol="0" anchor="ctr"/>
          <a:lstStyle/>
          <a:p>
            <a:pPr algn="r" indent="0" marL="0">
              <a:buNone/>
            </a:pPr>
            <a:r>
              <a:rPr lang="en-US" sz="950" dirty="0">
                <a:solidFill>
                  <a:srgbClr val="6B7688"/>
                </a:solidFill>
                <a:latin typeface="Calibri" pitchFamily="34" charset="0"/>
                <a:ea typeface="Calibri" pitchFamily="34" charset="-122"/>
                <a:cs typeface="Calibri" pitchFamily="34" charset="-120"/>
              </a:rPr>
              <a:t>6/15</a:t>
            </a:r>
            <a:endParaRPr lang="en-US" sz="950" dirty="0"/>
          </a:p>
        </p:txBody>
      </p:sp>
      <p:sp>
        <p:nvSpPr>
          <p:cNvPr id="9" name="Shape 6"/>
          <p:cNvSpPr/>
          <p:nvPr/>
        </p:nvSpPr>
        <p:spPr>
          <a:xfrm>
            <a:off x="1234440" y="1737360"/>
            <a:ext cx="457200" cy="457200"/>
          </a:xfrm>
          <a:prstGeom prst="ellipse">
            <a:avLst/>
          </a:prstGeom>
          <a:solidFill>
            <a:srgbClr val="0F766E"/>
          </a:solidFill>
          <a:ln/>
        </p:spPr>
      </p:sp>
      <p:sp>
        <p:nvSpPr>
          <p:cNvPr id="10" name="Text 7"/>
          <p:cNvSpPr txBox="1"/>
          <p:nvPr/>
        </p:nvSpPr>
        <p:spPr>
          <a:xfrm>
            <a:off x="123444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1" name="Shape 8"/>
          <p:cNvSpPr/>
          <p:nvPr/>
        </p:nvSpPr>
        <p:spPr>
          <a:xfrm>
            <a:off x="2286000" y="1664208"/>
            <a:ext cx="7680960" cy="585216"/>
          </a:xfrm>
          <a:prstGeom prst="roundRect">
            <a:avLst>
              <a:gd name="adj" fmla="val 12500"/>
            </a:avLst>
          </a:prstGeom>
          <a:solidFill>
            <a:srgbClr val="F5F7FA"/>
          </a:solidFill>
          <a:ln w="12700">
            <a:solidFill>
              <a:srgbClr val="0F766E"/>
            </a:solidFill>
            <a:prstDash val="solid"/>
          </a:ln>
        </p:spPr>
      </p:sp>
      <p:sp>
        <p:nvSpPr>
          <p:cNvPr id="12" name="Text 9"/>
          <p:cNvSpPr txBox="1"/>
          <p:nvPr/>
        </p:nvSpPr>
        <p:spPr>
          <a:xfrm>
            <a:off x="2514600" y="1664208"/>
            <a:ext cx="7223760" cy="585216"/>
          </a:xfrm>
          <a:prstGeom prst="rect">
            <a:avLst/>
          </a:prstGeom>
          <a:noFill/>
          <a:ln/>
        </p:spPr>
        <p:txBody>
          <a:bodyPr wrap="square" lIns="0" tIns="0" rIns="0" bIns="0" rtlCol="0" anchor="ctr"/>
          <a:lstStyle/>
          <a:p>
            <a:pPr indent="0" marL="0">
              <a:buNone/>
            </a:pPr>
            <a:r>
              <a:rPr lang="en-US" sz="1400" dirty="0">
                <a:solidFill>
                  <a:srgbClr val="0B3556"/>
                </a:solidFill>
                <a:latin typeface="Calibri" pitchFamily="34" charset="0"/>
                <a:ea typeface="Calibri" pitchFamily="34" charset="-122"/>
                <a:cs typeface="Calibri" pitchFamily="34" charset="-120"/>
              </a:rPr>
              <a:t>New — process is being created</a:t>
            </a:r>
            <a:endParaRPr lang="en-US" sz="1400" dirty="0"/>
          </a:p>
        </p:txBody>
      </p:sp>
      <p:sp>
        <p:nvSpPr>
          <p:cNvPr id="13" name="Shape 10"/>
          <p:cNvSpPr/>
          <p:nvPr/>
        </p:nvSpPr>
        <p:spPr>
          <a:xfrm>
            <a:off x="1463040" y="2240280"/>
            <a:ext cx="0" cy="338328"/>
          </a:xfrm>
          <a:prstGeom prst="line">
            <a:avLst/>
          </a:prstGeom>
          <a:noFill/>
          <a:ln w="25400">
            <a:solidFill>
              <a:srgbClr val="0F766E"/>
            </a:solidFill>
            <a:prstDash val="solid"/>
            <a:tailEnd type="triangle"/>
          </a:ln>
        </p:spPr>
      </p:sp>
      <p:sp>
        <p:nvSpPr>
          <p:cNvPr id="14" name="Shape 11"/>
          <p:cNvSpPr/>
          <p:nvPr/>
        </p:nvSpPr>
        <p:spPr>
          <a:xfrm>
            <a:off x="1234440" y="2578608"/>
            <a:ext cx="457200" cy="457200"/>
          </a:xfrm>
          <a:prstGeom prst="ellipse">
            <a:avLst/>
          </a:prstGeom>
          <a:solidFill>
            <a:srgbClr val="0F766E"/>
          </a:solidFill>
          <a:ln/>
        </p:spPr>
      </p:sp>
      <p:sp>
        <p:nvSpPr>
          <p:cNvPr id="15" name="Text 12"/>
          <p:cNvSpPr txBox="1"/>
          <p:nvPr/>
        </p:nvSpPr>
        <p:spPr>
          <a:xfrm>
            <a:off x="1234440" y="25786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6" name="Shape 13"/>
          <p:cNvSpPr/>
          <p:nvPr/>
        </p:nvSpPr>
        <p:spPr>
          <a:xfrm>
            <a:off x="2286000" y="2505456"/>
            <a:ext cx="7680960" cy="585216"/>
          </a:xfrm>
          <a:prstGeom prst="roundRect">
            <a:avLst>
              <a:gd name="adj" fmla="val 12500"/>
            </a:avLst>
          </a:prstGeom>
          <a:solidFill>
            <a:srgbClr val="F5F7FA"/>
          </a:solidFill>
          <a:ln w="12700">
            <a:solidFill>
              <a:srgbClr val="0F766E"/>
            </a:solidFill>
            <a:prstDash val="solid"/>
          </a:ln>
        </p:spPr>
      </p:sp>
      <p:sp>
        <p:nvSpPr>
          <p:cNvPr id="17" name="Text 14"/>
          <p:cNvSpPr txBox="1"/>
          <p:nvPr/>
        </p:nvSpPr>
        <p:spPr>
          <a:xfrm>
            <a:off x="2514600" y="2505456"/>
            <a:ext cx="7223760" cy="585216"/>
          </a:xfrm>
          <a:prstGeom prst="rect">
            <a:avLst/>
          </a:prstGeom>
          <a:noFill/>
          <a:ln/>
        </p:spPr>
        <p:txBody>
          <a:bodyPr wrap="square" lIns="0" tIns="0" rIns="0" bIns="0" rtlCol="0" anchor="ctr"/>
          <a:lstStyle/>
          <a:p>
            <a:pPr indent="0" marL="0">
              <a:buNone/>
            </a:pPr>
            <a:r>
              <a:rPr lang="en-US" sz="1400" dirty="0">
                <a:solidFill>
                  <a:srgbClr val="0B3556"/>
                </a:solidFill>
                <a:latin typeface="Calibri" pitchFamily="34" charset="0"/>
                <a:ea typeface="Calibri" pitchFamily="34" charset="-122"/>
                <a:cs typeface="Calibri" pitchFamily="34" charset="-120"/>
              </a:rPr>
              <a:t>Ready — waiting in line for the CPU</a:t>
            </a:r>
            <a:endParaRPr lang="en-US" sz="1400" dirty="0"/>
          </a:p>
        </p:txBody>
      </p:sp>
      <p:sp>
        <p:nvSpPr>
          <p:cNvPr id="18" name="Shape 15"/>
          <p:cNvSpPr/>
          <p:nvPr/>
        </p:nvSpPr>
        <p:spPr>
          <a:xfrm>
            <a:off x="1463040" y="3081528"/>
            <a:ext cx="0" cy="338328"/>
          </a:xfrm>
          <a:prstGeom prst="line">
            <a:avLst/>
          </a:prstGeom>
          <a:noFill/>
          <a:ln w="25400">
            <a:solidFill>
              <a:srgbClr val="0F766E"/>
            </a:solidFill>
            <a:prstDash val="solid"/>
            <a:tailEnd type="triangle"/>
          </a:ln>
        </p:spPr>
      </p:sp>
      <p:sp>
        <p:nvSpPr>
          <p:cNvPr id="19" name="Shape 16"/>
          <p:cNvSpPr/>
          <p:nvPr/>
        </p:nvSpPr>
        <p:spPr>
          <a:xfrm>
            <a:off x="1234440" y="3419856"/>
            <a:ext cx="457200" cy="457200"/>
          </a:xfrm>
          <a:prstGeom prst="ellipse">
            <a:avLst/>
          </a:prstGeom>
          <a:solidFill>
            <a:srgbClr val="0F766E"/>
          </a:solidFill>
          <a:ln/>
        </p:spPr>
      </p:sp>
      <p:sp>
        <p:nvSpPr>
          <p:cNvPr id="20" name="Text 17"/>
          <p:cNvSpPr txBox="1"/>
          <p:nvPr/>
        </p:nvSpPr>
        <p:spPr>
          <a:xfrm>
            <a:off x="1234440" y="341985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Shape 18"/>
          <p:cNvSpPr/>
          <p:nvPr/>
        </p:nvSpPr>
        <p:spPr>
          <a:xfrm>
            <a:off x="2286000" y="3346704"/>
            <a:ext cx="7680960" cy="585216"/>
          </a:xfrm>
          <a:prstGeom prst="roundRect">
            <a:avLst>
              <a:gd name="adj" fmla="val 12500"/>
            </a:avLst>
          </a:prstGeom>
          <a:solidFill>
            <a:srgbClr val="F5F7FA"/>
          </a:solidFill>
          <a:ln w="12700">
            <a:solidFill>
              <a:srgbClr val="0F766E"/>
            </a:solidFill>
            <a:prstDash val="solid"/>
          </a:ln>
        </p:spPr>
      </p:sp>
      <p:sp>
        <p:nvSpPr>
          <p:cNvPr id="22" name="Text 19"/>
          <p:cNvSpPr txBox="1"/>
          <p:nvPr/>
        </p:nvSpPr>
        <p:spPr>
          <a:xfrm>
            <a:off x="2514600" y="3346704"/>
            <a:ext cx="7223760" cy="585216"/>
          </a:xfrm>
          <a:prstGeom prst="rect">
            <a:avLst/>
          </a:prstGeom>
          <a:noFill/>
          <a:ln/>
        </p:spPr>
        <p:txBody>
          <a:bodyPr wrap="square" lIns="0" tIns="0" rIns="0" bIns="0" rtlCol="0" anchor="ctr"/>
          <a:lstStyle/>
          <a:p>
            <a:pPr indent="0" marL="0">
              <a:buNone/>
            </a:pPr>
            <a:r>
              <a:rPr lang="en-US" sz="1400" dirty="0">
                <a:solidFill>
                  <a:srgbClr val="0B3556"/>
                </a:solidFill>
                <a:latin typeface="Calibri" pitchFamily="34" charset="0"/>
                <a:ea typeface="Calibri" pitchFamily="34" charset="-122"/>
                <a:cs typeface="Calibri" pitchFamily="34" charset="-120"/>
              </a:rPr>
              <a:t>Running — currently using the CPU</a:t>
            </a:r>
            <a:endParaRPr lang="en-US" sz="1400" dirty="0"/>
          </a:p>
        </p:txBody>
      </p:sp>
      <p:sp>
        <p:nvSpPr>
          <p:cNvPr id="23" name="Shape 20"/>
          <p:cNvSpPr/>
          <p:nvPr/>
        </p:nvSpPr>
        <p:spPr>
          <a:xfrm>
            <a:off x="1463040" y="3922776"/>
            <a:ext cx="0" cy="338328"/>
          </a:xfrm>
          <a:prstGeom prst="line">
            <a:avLst/>
          </a:prstGeom>
          <a:noFill/>
          <a:ln w="25400">
            <a:solidFill>
              <a:srgbClr val="0F766E"/>
            </a:solidFill>
            <a:prstDash val="solid"/>
            <a:tailEnd type="triangle"/>
          </a:ln>
        </p:spPr>
      </p:sp>
      <p:sp>
        <p:nvSpPr>
          <p:cNvPr id="24" name="Shape 21"/>
          <p:cNvSpPr/>
          <p:nvPr/>
        </p:nvSpPr>
        <p:spPr>
          <a:xfrm>
            <a:off x="1234440" y="4261104"/>
            <a:ext cx="457200" cy="457200"/>
          </a:xfrm>
          <a:prstGeom prst="ellipse">
            <a:avLst/>
          </a:prstGeom>
          <a:solidFill>
            <a:srgbClr val="0F766E"/>
          </a:solidFill>
          <a:ln/>
        </p:spPr>
      </p:sp>
      <p:sp>
        <p:nvSpPr>
          <p:cNvPr id="25" name="Text 22"/>
          <p:cNvSpPr txBox="1"/>
          <p:nvPr/>
        </p:nvSpPr>
        <p:spPr>
          <a:xfrm>
            <a:off x="1234440" y="426110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6" name="Shape 23"/>
          <p:cNvSpPr/>
          <p:nvPr/>
        </p:nvSpPr>
        <p:spPr>
          <a:xfrm>
            <a:off x="2286000" y="4187952"/>
            <a:ext cx="7680960" cy="585216"/>
          </a:xfrm>
          <a:prstGeom prst="roundRect">
            <a:avLst>
              <a:gd name="adj" fmla="val 12500"/>
            </a:avLst>
          </a:prstGeom>
          <a:solidFill>
            <a:srgbClr val="F5F7FA"/>
          </a:solidFill>
          <a:ln w="12700">
            <a:solidFill>
              <a:srgbClr val="0F766E"/>
            </a:solidFill>
            <a:prstDash val="solid"/>
          </a:ln>
        </p:spPr>
      </p:sp>
      <p:sp>
        <p:nvSpPr>
          <p:cNvPr id="27" name="Text 24"/>
          <p:cNvSpPr txBox="1"/>
          <p:nvPr/>
        </p:nvSpPr>
        <p:spPr>
          <a:xfrm>
            <a:off x="2514600" y="4187952"/>
            <a:ext cx="7223760" cy="585216"/>
          </a:xfrm>
          <a:prstGeom prst="rect">
            <a:avLst/>
          </a:prstGeom>
          <a:noFill/>
          <a:ln/>
        </p:spPr>
        <p:txBody>
          <a:bodyPr wrap="square" lIns="0" tIns="0" rIns="0" bIns="0" rtlCol="0" anchor="ctr"/>
          <a:lstStyle/>
          <a:p>
            <a:pPr indent="0" marL="0">
              <a:buNone/>
            </a:pPr>
            <a:r>
              <a:rPr lang="en-US" sz="1400" dirty="0">
                <a:solidFill>
                  <a:srgbClr val="0B3556"/>
                </a:solidFill>
                <a:latin typeface="Calibri" pitchFamily="34" charset="0"/>
                <a:ea typeface="Calibri" pitchFamily="34" charset="-122"/>
                <a:cs typeface="Calibri" pitchFamily="34" charset="-120"/>
              </a:rPr>
              <a:t>Blocked — waiting for I/O or an event</a:t>
            </a:r>
            <a:endParaRPr lang="en-US" sz="1400" dirty="0"/>
          </a:p>
        </p:txBody>
      </p:sp>
      <p:sp>
        <p:nvSpPr>
          <p:cNvPr id="28" name="Shape 25"/>
          <p:cNvSpPr/>
          <p:nvPr/>
        </p:nvSpPr>
        <p:spPr>
          <a:xfrm>
            <a:off x="1463040" y="4764024"/>
            <a:ext cx="0" cy="338328"/>
          </a:xfrm>
          <a:prstGeom prst="line">
            <a:avLst/>
          </a:prstGeom>
          <a:noFill/>
          <a:ln w="25400">
            <a:solidFill>
              <a:srgbClr val="0F766E"/>
            </a:solidFill>
            <a:prstDash val="solid"/>
            <a:tailEnd type="triangle"/>
          </a:ln>
        </p:spPr>
      </p:sp>
      <p:sp>
        <p:nvSpPr>
          <p:cNvPr id="29" name="Shape 26"/>
          <p:cNvSpPr/>
          <p:nvPr/>
        </p:nvSpPr>
        <p:spPr>
          <a:xfrm>
            <a:off x="1234440" y="5102352"/>
            <a:ext cx="457200" cy="457200"/>
          </a:xfrm>
          <a:prstGeom prst="ellipse">
            <a:avLst/>
          </a:prstGeom>
          <a:solidFill>
            <a:srgbClr val="0F766E"/>
          </a:solidFill>
          <a:ln/>
        </p:spPr>
      </p:sp>
      <p:sp>
        <p:nvSpPr>
          <p:cNvPr id="30" name="Text 27"/>
          <p:cNvSpPr txBox="1"/>
          <p:nvPr/>
        </p:nvSpPr>
        <p:spPr>
          <a:xfrm>
            <a:off x="1234440" y="51023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1" name="Shape 28"/>
          <p:cNvSpPr/>
          <p:nvPr/>
        </p:nvSpPr>
        <p:spPr>
          <a:xfrm>
            <a:off x="2286000" y="5029200"/>
            <a:ext cx="7680960" cy="585216"/>
          </a:xfrm>
          <a:prstGeom prst="roundRect">
            <a:avLst>
              <a:gd name="adj" fmla="val 12500"/>
            </a:avLst>
          </a:prstGeom>
          <a:solidFill>
            <a:srgbClr val="F5F7FA"/>
          </a:solidFill>
          <a:ln w="12700">
            <a:solidFill>
              <a:srgbClr val="0F766E"/>
            </a:solidFill>
            <a:prstDash val="solid"/>
          </a:ln>
        </p:spPr>
      </p:sp>
      <p:sp>
        <p:nvSpPr>
          <p:cNvPr id="32" name="Text 29"/>
          <p:cNvSpPr txBox="1"/>
          <p:nvPr/>
        </p:nvSpPr>
        <p:spPr>
          <a:xfrm>
            <a:off x="2514600" y="5029200"/>
            <a:ext cx="7223760" cy="585216"/>
          </a:xfrm>
          <a:prstGeom prst="rect">
            <a:avLst/>
          </a:prstGeom>
          <a:noFill/>
          <a:ln/>
        </p:spPr>
        <p:txBody>
          <a:bodyPr wrap="square" lIns="0" tIns="0" rIns="0" bIns="0" rtlCol="0" anchor="ctr"/>
          <a:lstStyle/>
          <a:p>
            <a:pPr indent="0" marL="0">
              <a:buNone/>
            </a:pPr>
            <a:r>
              <a:rPr lang="en-US" sz="1400" dirty="0">
                <a:solidFill>
                  <a:srgbClr val="0B3556"/>
                </a:solidFill>
                <a:latin typeface="Calibri" pitchFamily="34" charset="0"/>
                <a:ea typeface="Calibri" pitchFamily="34" charset="-122"/>
                <a:cs typeface="Calibri" pitchFamily="34" charset="-120"/>
              </a:rPr>
              <a:t>Terminated — process has finished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686800" cy="274320"/>
          </a:xfrm>
          <a:prstGeom prst="rect">
            <a:avLst/>
          </a:prstGeom>
          <a:noFill/>
          <a:ln/>
        </p:spPr>
        <p:txBody>
          <a:bodyPr wrap="square" lIns="0" tIns="0" rIns="0" bIns="0" rtlCol="0" anchor="ctr"/>
          <a:lstStyle/>
          <a:p>
            <a:pPr indent="0" marL="0">
              <a:buNone/>
            </a:pPr>
            <a:r>
              <a:rPr lang="en-US" sz="1100" spc="100" kern="0" dirty="0">
                <a:solidFill>
                  <a:srgbClr val="6B7688"/>
                </a:solidFill>
                <a:latin typeface="Calibri" pitchFamily="34" charset="0"/>
                <a:ea typeface="Calibri" pitchFamily="34" charset="-122"/>
                <a:cs typeface="Calibri" pitchFamily="34" charset="-120"/>
              </a:rPr>
              <a:t>CH.8  ·  OPERATING SYSTEM SUPPORT  ·  2.3</a:t>
            </a:r>
            <a:endParaRPr lang="en-US" sz="1100" dirty="0"/>
          </a:p>
        </p:txBody>
      </p:sp>
      <p:sp>
        <p:nvSpPr>
          <p:cNvPr id="3" name="Text 1"/>
          <p:cNvSpPr txBox="1"/>
          <p:nvPr/>
        </p:nvSpPr>
        <p:spPr>
          <a:xfrm>
            <a:off x="548640" y="566928"/>
            <a:ext cx="8961120" cy="548640"/>
          </a:xfrm>
          <a:prstGeom prst="rect">
            <a:avLst/>
          </a:prstGeom>
          <a:noFill/>
          <a:ln/>
        </p:spPr>
        <p:txBody>
          <a:bodyPr wrap="square" lIns="0" tIns="0" rIns="0" bIns="0" rtlCol="0" anchor="ctr"/>
          <a:lstStyle/>
          <a:p>
            <a:pPr indent="0" marL="0">
              <a:buNone/>
            </a:pPr>
            <a:r>
              <a:rPr lang="en-US" sz="3000" b="1" dirty="0">
                <a:solidFill>
                  <a:srgbClr val="0B3556"/>
                </a:solidFill>
                <a:latin typeface="Cambria" pitchFamily="34" charset="0"/>
                <a:ea typeface="Cambria" pitchFamily="34" charset="-122"/>
                <a:cs typeface="Cambria" pitchFamily="34" charset="-120"/>
              </a:rPr>
              <a:t>Memory Management</a:t>
            </a:r>
            <a:endParaRPr lang="en-US" sz="3000" dirty="0"/>
          </a:p>
        </p:txBody>
      </p:sp>
      <p:sp>
        <p:nvSpPr>
          <p:cNvPr id="4" name="Text 2"/>
          <p:cNvSpPr txBox="1"/>
          <p:nvPr/>
        </p:nvSpPr>
        <p:spPr>
          <a:xfrm>
            <a:off x="548640" y="1078992"/>
            <a:ext cx="8961120" cy="320040"/>
          </a:xfrm>
          <a:prstGeom prst="rect">
            <a:avLst/>
          </a:prstGeom>
          <a:noFill/>
          <a:ln/>
        </p:spPr>
        <p:txBody>
          <a:bodyPr wrap="square" lIns="0" tIns="0" rIns="0" bIns="0" rtlCol="0" anchor="ctr"/>
          <a:lstStyle/>
          <a:p>
            <a:pPr indent="0" marL="0">
              <a:buNone/>
            </a:pPr>
            <a:r>
              <a:rPr lang="en-US" sz="1400" i="1" dirty="0">
                <a:solidFill>
                  <a:srgbClr val="6B4192"/>
                </a:solidFill>
                <a:latin typeface="Calibri" pitchFamily="34" charset="0"/>
                <a:ea typeface="Calibri" pitchFamily="34" charset="-122"/>
                <a:cs typeface="Calibri" pitchFamily="34" charset="-120"/>
              </a:rPr>
              <a:t>Definition &amp; Key Characteristics</a:t>
            </a:r>
            <a:endParaRPr lang="en-US" sz="1400" dirty="0"/>
          </a:p>
        </p:txBody>
      </p:sp>
      <p:sp>
        <p:nvSpPr>
          <p:cNvPr id="5" name="Shape 3"/>
          <p:cNvSpPr/>
          <p:nvPr/>
        </p:nvSpPr>
        <p:spPr>
          <a:xfrm>
            <a:off x="10698480" y="384048"/>
            <a:ext cx="868680" cy="868680"/>
          </a:xfrm>
          <a:prstGeom prst="roundRect">
            <a:avLst>
              <a:gd name="adj" fmla="val 16842"/>
            </a:avLst>
          </a:prstGeom>
          <a:solidFill>
            <a:srgbClr val="6B4192"/>
          </a:solidFill>
          <a:ln/>
        </p:spPr>
      </p:sp>
      <p:pic>
        <p:nvPicPr>
          <p:cNvPr id="6" name="Image 0" descr="/home/claude/icons_flat/database.png">    </p:cNvPr>
          <p:cNvPicPr>
            <a:picLocks noChangeAspect="1"/>
          </p:cNvPicPr>
          <p:nvPr/>
        </p:nvPicPr>
        <p:blipFill>
          <a:blip r:embed="rId1"/>
          <a:stretch>
            <a:fillRect/>
          </a:stretch>
        </p:blipFill>
        <p:spPr>
          <a:xfrm>
            <a:off x="10927080" y="612648"/>
            <a:ext cx="411480" cy="411480"/>
          </a:xfrm>
          <a:prstGeom prst="rect">
            <a:avLst/>
          </a:prstGeom>
        </p:spPr>
      </p:pic>
      <p:sp>
        <p:nvSpPr>
          <p:cNvPr id="7" name="Text 4"/>
          <p:cNvSpPr txBox="1"/>
          <p:nvPr/>
        </p:nvSpPr>
        <p:spPr>
          <a:xfrm>
            <a:off x="548640" y="6537960"/>
            <a:ext cx="8229600" cy="256032"/>
          </a:xfrm>
          <a:prstGeom prst="rect">
            <a:avLst/>
          </a:prstGeom>
          <a:noFill/>
          <a:ln/>
        </p:spPr>
        <p:txBody>
          <a:bodyPr wrap="square" lIns="0" tIns="0" rIns="0" bIns="0" rtlCol="0" anchor="ctr"/>
          <a:lstStyle/>
          <a:p>
            <a:pPr indent="0" marL="0">
              <a:buNone/>
            </a:pPr>
            <a:r>
              <a:rPr lang="en-US" sz="950" dirty="0">
                <a:solidFill>
                  <a:srgbClr val="6B7688"/>
                </a:solidFill>
                <a:latin typeface="Calibri" pitchFamily="34" charset="0"/>
                <a:ea typeface="Calibri" pitchFamily="34" charset="-122"/>
                <a:cs typeface="Calibri" pitchFamily="34" charset="-120"/>
              </a:rPr>
              <a:t>Operating System Support — Chapter 8, William Stallings</a:t>
            </a:r>
            <a:endParaRPr lang="en-US" sz="950" dirty="0"/>
          </a:p>
        </p:txBody>
      </p:sp>
      <p:sp>
        <p:nvSpPr>
          <p:cNvPr id="8" name="Text 5"/>
          <p:cNvSpPr txBox="1"/>
          <p:nvPr/>
        </p:nvSpPr>
        <p:spPr>
          <a:xfrm>
            <a:off x="10515600" y="6537960"/>
            <a:ext cx="1097280" cy="256032"/>
          </a:xfrm>
          <a:prstGeom prst="rect">
            <a:avLst/>
          </a:prstGeom>
          <a:noFill/>
          <a:ln/>
        </p:spPr>
        <p:txBody>
          <a:bodyPr wrap="square" lIns="0" tIns="0" rIns="0" bIns="0" rtlCol="0" anchor="ctr"/>
          <a:lstStyle/>
          <a:p>
            <a:pPr algn="r" indent="0" marL="0">
              <a:buNone/>
            </a:pPr>
            <a:r>
              <a:rPr lang="en-US" sz="950" dirty="0">
                <a:solidFill>
                  <a:srgbClr val="6B7688"/>
                </a:solidFill>
                <a:latin typeface="Calibri" pitchFamily="34" charset="0"/>
                <a:ea typeface="Calibri" pitchFamily="34" charset="-122"/>
                <a:cs typeface="Calibri" pitchFamily="34" charset="-120"/>
              </a:rPr>
              <a:t>7/15</a:t>
            </a:r>
            <a:endParaRPr lang="en-US" sz="950" dirty="0"/>
          </a:p>
        </p:txBody>
      </p:sp>
      <p:sp>
        <p:nvSpPr>
          <p:cNvPr id="9" name="Text 6"/>
          <p:cNvSpPr txBox="1"/>
          <p:nvPr/>
        </p:nvSpPr>
        <p:spPr>
          <a:xfrm>
            <a:off x="548640" y="1600200"/>
            <a:ext cx="6400800" cy="274320"/>
          </a:xfrm>
          <a:prstGeom prst="rect">
            <a:avLst/>
          </a:prstGeom>
          <a:noFill/>
          <a:ln/>
        </p:spPr>
        <p:txBody>
          <a:bodyPr wrap="square" lIns="0" tIns="0" rIns="0" bIns="0" rtlCol="0" anchor="ctr"/>
          <a:lstStyle/>
          <a:p>
            <a:pPr indent="0" marL="0">
              <a:buNone/>
            </a:pPr>
            <a:r>
              <a:rPr lang="en-US" sz="1200" b="1" spc="100" kern="0" dirty="0">
                <a:solidFill>
                  <a:srgbClr val="6B4192"/>
                </a:solidFill>
                <a:latin typeface="Calibri" pitchFamily="34" charset="0"/>
                <a:ea typeface="Calibri" pitchFamily="34" charset="-122"/>
                <a:cs typeface="Calibri" pitchFamily="34" charset="-120"/>
              </a:rPr>
              <a:t>DEFINITION</a:t>
            </a:r>
            <a:endParaRPr lang="en-US" sz="1200" dirty="0"/>
          </a:p>
        </p:txBody>
      </p:sp>
      <p:sp>
        <p:nvSpPr>
          <p:cNvPr id="10" name="Shape 7"/>
          <p:cNvSpPr/>
          <p:nvPr/>
        </p:nvSpPr>
        <p:spPr>
          <a:xfrm>
            <a:off x="548640" y="1920240"/>
            <a:ext cx="6400800" cy="1188720"/>
          </a:xfrm>
          <a:prstGeom prst="roundRect">
            <a:avLst>
              <a:gd name="adj" fmla="val 6154"/>
            </a:avLst>
          </a:prstGeom>
          <a:solidFill>
            <a:srgbClr val="F5F7FA"/>
          </a:solidFill>
          <a:ln w="12700">
            <a:solidFill>
              <a:srgbClr val="DCE3EA"/>
            </a:solidFill>
            <a:prstDash val="solid"/>
          </a:ln>
        </p:spPr>
      </p:sp>
      <p:sp>
        <p:nvSpPr>
          <p:cNvPr id="11" name="Text 8"/>
          <p:cNvSpPr txBox="1"/>
          <p:nvPr/>
        </p:nvSpPr>
        <p:spPr>
          <a:xfrm>
            <a:off x="777240" y="2029968"/>
            <a:ext cx="5943600" cy="969264"/>
          </a:xfrm>
          <a:prstGeom prst="rect">
            <a:avLst/>
          </a:prstGeom>
          <a:noFill/>
          <a:ln/>
        </p:spPr>
        <p:txBody>
          <a:bodyPr wrap="square" lIns="0" tIns="0" rIns="0" bIns="0" rtlCol="0" anchor="ctr"/>
          <a:lstStyle/>
          <a:p>
            <a:pPr indent="0" marL="0">
              <a:lnSpc>
                <a:spcPct val="120000"/>
              </a:lnSpc>
              <a:buNone/>
            </a:pPr>
            <a:r>
              <a:rPr lang="en-US" sz="1450" dirty="0">
                <a:solidFill>
                  <a:srgbClr val="0B3556"/>
                </a:solidFill>
                <a:latin typeface="Calibri" pitchFamily="34" charset="0"/>
                <a:ea typeface="Calibri" pitchFamily="34" charset="-122"/>
                <a:cs typeface="Calibri" pitchFamily="34" charset="-120"/>
              </a:rPr>
              <a:t>Memory management is how the OS keeps track of which parts of memory are in use, allocates memory to processes, and protects each process's memory from the others.</a:t>
            </a:r>
            <a:endParaRPr lang="en-US" sz="1450" dirty="0"/>
          </a:p>
        </p:txBody>
      </p:sp>
      <p:sp>
        <p:nvSpPr>
          <p:cNvPr id="12" name="Text 9"/>
          <p:cNvSpPr txBox="1"/>
          <p:nvPr/>
        </p:nvSpPr>
        <p:spPr>
          <a:xfrm>
            <a:off x="548640" y="3337560"/>
            <a:ext cx="6400800" cy="274320"/>
          </a:xfrm>
          <a:prstGeom prst="rect">
            <a:avLst/>
          </a:prstGeom>
          <a:noFill/>
          <a:ln/>
        </p:spPr>
        <p:txBody>
          <a:bodyPr wrap="square" lIns="0" tIns="0" rIns="0" bIns="0" rtlCol="0" anchor="ctr"/>
          <a:lstStyle/>
          <a:p>
            <a:pPr indent="0" marL="0">
              <a:buNone/>
            </a:pPr>
            <a:r>
              <a:rPr lang="en-US" sz="1200" b="1" spc="100" kern="0" dirty="0">
                <a:solidFill>
                  <a:srgbClr val="6B4192"/>
                </a:solidFill>
                <a:latin typeface="Calibri" pitchFamily="34" charset="0"/>
                <a:ea typeface="Calibri" pitchFamily="34" charset="-122"/>
                <a:cs typeface="Calibri" pitchFamily="34" charset="-120"/>
              </a:rPr>
              <a:t>KEY CHARACTERISTICS</a:t>
            </a:r>
            <a:endParaRPr lang="en-US" sz="1200" dirty="0"/>
          </a:p>
        </p:txBody>
      </p:sp>
      <p:sp>
        <p:nvSpPr>
          <p:cNvPr id="13" name="Shape 10"/>
          <p:cNvSpPr/>
          <p:nvPr/>
        </p:nvSpPr>
        <p:spPr>
          <a:xfrm>
            <a:off x="548640" y="3703320"/>
            <a:ext cx="237744" cy="237744"/>
          </a:xfrm>
          <a:prstGeom prst="ellipse">
            <a:avLst/>
          </a:prstGeom>
          <a:solidFill>
            <a:srgbClr val="6B4192"/>
          </a:solidFill>
          <a:ln/>
        </p:spPr>
      </p:sp>
      <p:pic>
        <p:nvPicPr>
          <p:cNvPr id="14" name="Image 1" descr="/home/claude/icons_flat/check.png">    </p:cNvPr>
          <p:cNvPicPr>
            <a:picLocks noChangeAspect="1"/>
          </p:cNvPicPr>
          <p:nvPr/>
        </p:nvPicPr>
        <p:blipFill>
          <a:blip r:embed="rId2"/>
          <a:stretch>
            <a:fillRect/>
          </a:stretch>
        </p:blipFill>
        <p:spPr>
          <a:xfrm>
            <a:off x="585216" y="3739896"/>
            <a:ext cx="164592" cy="164592"/>
          </a:xfrm>
          <a:prstGeom prst="rect">
            <a:avLst/>
          </a:prstGeom>
        </p:spPr>
      </p:pic>
      <p:sp>
        <p:nvSpPr>
          <p:cNvPr id="15" name="Text 11"/>
          <p:cNvSpPr txBox="1"/>
          <p:nvPr/>
        </p:nvSpPr>
        <p:spPr>
          <a:xfrm>
            <a:off x="914400" y="3630168"/>
            <a:ext cx="6035040" cy="457200"/>
          </a:xfrm>
          <a:prstGeom prst="rect">
            <a:avLst/>
          </a:prstGeom>
          <a:noFill/>
          <a:ln/>
        </p:spPr>
        <p:txBody>
          <a:bodyPr wrap="square" lIns="0" tIns="0" rIns="0" bIns="0" rtlCol="0" anchor="ctr"/>
          <a:lstStyle/>
          <a:p>
            <a:pPr indent="0" marL="0">
              <a:lnSpc>
                <a:spcPct val="105000"/>
              </a:lnSpc>
              <a:buNone/>
            </a:pPr>
            <a:r>
              <a:rPr lang="en-US" sz="1300" dirty="0">
                <a:solidFill>
                  <a:srgbClr val="0B3556"/>
                </a:solidFill>
                <a:latin typeface="Calibri" pitchFamily="34" charset="0"/>
                <a:ea typeface="Calibri" pitchFamily="34" charset="-122"/>
                <a:cs typeface="Calibri" pitchFamily="34" charset="-120"/>
              </a:rPr>
              <a:t>Relocation — a program may run at a different address each time it runs</a:t>
            </a:r>
            <a:endParaRPr lang="en-US" sz="1300" dirty="0"/>
          </a:p>
        </p:txBody>
      </p:sp>
      <p:sp>
        <p:nvSpPr>
          <p:cNvPr id="16" name="Shape 12"/>
          <p:cNvSpPr/>
          <p:nvPr/>
        </p:nvSpPr>
        <p:spPr>
          <a:xfrm>
            <a:off x="548640" y="4270248"/>
            <a:ext cx="237744" cy="237744"/>
          </a:xfrm>
          <a:prstGeom prst="ellipse">
            <a:avLst/>
          </a:prstGeom>
          <a:solidFill>
            <a:srgbClr val="6B4192"/>
          </a:solidFill>
          <a:ln/>
        </p:spPr>
      </p:sp>
      <p:pic>
        <p:nvPicPr>
          <p:cNvPr id="17" name="Image 2" descr="/home/claude/icons_flat/check.png">    </p:cNvPr>
          <p:cNvPicPr>
            <a:picLocks noChangeAspect="1"/>
          </p:cNvPicPr>
          <p:nvPr/>
        </p:nvPicPr>
        <p:blipFill>
          <a:blip r:embed="rId3"/>
          <a:stretch>
            <a:fillRect/>
          </a:stretch>
        </p:blipFill>
        <p:spPr>
          <a:xfrm>
            <a:off x="585216" y="4306824"/>
            <a:ext cx="164592" cy="164592"/>
          </a:xfrm>
          <a:prstGeom prst="rect">
            <a:avLst/>
          </a:prstGeom>
        </p:spPr>
      </p:pic>
      <p:sp>
        <p:nvSpPr>
          <p:cNvPr id="18" name="Text 13"/>
          <p:cNvSpPr txBox="1"/>
          <p:nvPr/>
        </p:nvSpPr>
        <p:spPr>
          <a:xfrm>
            <a:off x="914400" y="4197096"/>
            <a:ext cx="6035040" cy="457200"/>
          </a:xfrm>
          <a:prstGeom prst="rect">
            <a:avLst/>
          </a:prstGeom>
          <a:noFill/>
          <a:ln/>
        </p:spPr>
        <p:txBody>
          <a:bodyPr wrap="square" lIns="0" tIns="0" rIns="0" bIns="0" rtlCol="0" anchor="ctr"/>
          <a:lstStyle/>
          <a:p>
            <a:pPr indent="0" marL="0">
              <a:lnSpc>
                <a:spcPct val="105000"/>
              </a:lnSpc>
              <a:buNone/>
            </a:pPr>
            <a:r>
              <a:rPr lang="en-US" sz="1300" dirty="0">
                <a:solidFill>
                  <a:srgbClr val="0B3556"/>
                </a:solidFill>
                <a:latin typeface="Calibri" pitchFamily="34" charset="0"/>
                <a:ea typeface="Calibri" pitchFamily="34" charset="-122"/>
                <a:cs typeface="Calibri" pitchFamily="34" charset="-120"/>
              </a:rPr>
              <a:t>Protection — one process must never touch another process’s memory</a:t>
            </a:r>
            <a:endParaRPr lang="en-US" sz="1300" dirty="0"/>
          </a:p>
        </p:txBody>
      </p:sp>
      <p:sp>
        <p:nvSpPr>
          <p:cNvPr id="19" name="Shape 14"/>
          <p:cNvSpPr/>
          <p:nvPr/>
        </p:nvSpPr>
        <p:spPr>
          <a:xfrm>
            <a:off x="548640" y="4837176"/>
            <a:ext cx="237744" cy="237744"/>
          </a:xfrm>
          <a:prstGeom prst="ellipse">
            <a:avLst/>
          </a:prstGeom>
          <a:solidFill>
            <a:srgbClr val="6B4192"/>
          </a:solidFill>
          <a:ln/>
        </p:spPr>
      </p:sp>
      <p:pic>
        <p:nvPicPr>
          <p:cNvPr id="20" name="Image 3" descr="/home/claude/icons_flat/check.png">    </p:cNvPr>
          <p:cNvPicPr>
            <a:picLocks noChangeAspect="1"/>
          </p:cNvPicPr>
          <p:nvPr/>
        </p:nvPicPr>
        <p:blipFill>
          <a:blip r:embed="rId4"/>
          <a:stretch>
            <a:fillRect/>
          </a:stretch>
        </p:blipFill>
        <p:spPr>
          <a:xfrm>
            <a:off x="585216" y="4873752"/>
            <a:ext cx="164592" cy="164592"/>
          </a:xfrm>
          <a:prstGeom prst="rect">
            <a:avLst/>
          </a:prstGeom>
        </p:spPr>
      </p:pic>
      <p:sp>
        <p:nvSpPr>
          <p:cNvPr id="21" name="Text 15"/>
          <p:cNvSpPr txBox="1"/>
          <p:nvPr/>
        </p:nvSpPr>
        <p:spPr>
          <a:xfrm>
            <a:off x="914400" y="4764024"/>
            <a:ext cx="6035040" cy="457200"/>
          </a:xfrm>
          <a:prstGeom prst="rect">
            <a:avLst/>
          </a:prstGeom>
          <a:noFill/>
          <a:ln/>
        </p:spPr>
        <p:txBody>
          <a:bodyPr wrap="square" lIns="0" tIns="0" rIns="0" bIns="0" rtlCol="0" anchor="ctr"/>
          <a:lstStyle/>
          <a:p>
            <a:pPr indent="0" marL="0">
              <a:lnSpc>
                <a:spcPct val="105000"/>
              </a:lnSpc>
              <a:buNone/>
            </a:pPr>
            <a:r>
              <a:rPr lang="en-US" sz="1300" dirty="0">
                <a:solidFill>
                  <a:srgbClr val="0B3556"/>
                </a:solidFill>
                <a:latin typeface="Calibri" pitchFamily="34" charset="0"/>
                <a:ea typeface="Calibri" pitchFamily="34" charset="-122"/>
                <a:cs typeface="Calibri" pitchFamily="34" charset="-120"/>
              </a:rPr>
              <a:t>Sharing — some memory (like libraries) can safely be shared</a:t>
            </a:r>
            <a:endParaRPr lang="en-US" sz="1300" dirty="0"/>
          </a:p>
        </p:txBody>
      </p:sp>
      <p:sp>
        <p:nvSpPr>
          <p:cNvPr id="22" name="Shape 16"/>
          <p:cNvSpPr/>
          <p:nvPr/>
        </p:nvSpPr>
        <p:spPr>
          <a:xfrm>
            <a:off x="548640" y="5404104"/>
            <a:ext cx="237744" cy="237744"/>
          </a:xfrm>
          <a:prstGeom prst="ellipse">
            <a:avLst/>
          </a:prstGeom>
          <a:solidFill>
            <a:srgbClr val="6B4192"/>
          </a:solidFill>
          <a:ln/>
        </p:spPr>
      </p:sp>
      <p:pic>
        <p:nvPicPr>
          <p:cNvPr id="23" name="Image 4" descr="/home/claude/icons_flat/check.png">    </p:cNvPr>
          <p:cNvPicPr>
            <a:picLocks noChangeAspect="1"/>
          </p:cNvPicPr>
          <p:nvPr/>
        </p:nvPicPr>
        <p:blipFill>
          <a:blip r:embed="rId5"/>
          <a:stretch>
            <a:fillRect/>
          </a:stretch>
        </p:blipFill>
        <p:spPr>
          <a:xfrm>
            <a:off x="585216" y="5440680"/>
            <a:ext cx="164592" cy="164592"/>
          </a:xfrm>
          <a:prstGeom prst="rect">
            <a:avLst/>
          </a:prstGeom>
        </p:spPr>
      </p:pic>
      <p:sp>
        <p:nvSpPr>
          <p:cNvPr id="24" name="Text 17"/>
          <p:cNvSpPr txBox="1"/>
          <p:nvPr/>
        </p:nvSpPr>
        <p:spPr>
          <a:xfrm>
            <a:off x="914400" y="5330952"/>
            <a:ext cx="6035040" cy="457200"/>
          </a:xfrm>
          <a:prstGeom prst="rect">
            <a:avLst/>
          </a:prstGeom>
          <a:noFill/>
          <a:ln/>
        </p:spPr>
        <p:txBody>
          <a:bodyPr wrap="square" lIns="0" tIns="0" rIns="0" bIns="0" rtlCol="0" anchor="ctr"/>
          <a:lstStyle/>
          <a:p>
            <a:pPr indent="0" marL="0">
              <a:lnSpc>
                <a:spcPct val="105000"/>
              </a:lnSpc>
              <a:buNone/>
            </a:pPr>
            <a:r>
              <a:rPr lang="en-US" sz="1300" dirty="0">
                <a:solidFill>
                  <a:srgbClr val="0B3556"/>
                </a:solidFill>
                <a:latin typeface="Calibri" pitchFamily="34" charset="0"/>
                <a:ea typeface="Calibri" pitchFamily="34" charset="-122"/>
                <a:cs typeface="Calibri" pitchFamily="34" charset="-120"/>
              </a:rPr>
              <a:t>Logical vs physical organization — addresses get translated behind the scenes</a:t>
            </a:r>
            <a:endParaRPr lang="en-US" sz="1300" dirty="0"/>
          </a:p>
        </p:txBody>
      </p:sp>
      <p:sp>
        <p:nvSpPr>
          <p:cNvPr id="25" name="Shape 18"/>
          <p:cNvSpPr/>
          <p:nvPr/>
        </p:nvSpPr>
        <p:spPr>
          <a:xfrm>
            <a:off x="7269480" y="1600200"/>
            <a:ext cx="4343400" cy="4480560"/>
          </a:xfrm>
          <a:prstGeom prst="roundRect">
            <a:avLst>
              <a:gd name="adj" fmla="val 2105"/>
            </a:avLst>
          </a:prstGeom>
          <a:solidFill>
            <a:srgbClr val="6B4192"/>
          </a:solidFill>
          <a:ln/>
        </p:spPr>
      </p:sp>
      <p:sp>
        <p:nvSpPr>
          <p:cNvPr id="26" name="Shape 19"/>
          <p:cNvSpPr/>
          <p:nvPr/>
        </p:nvSpPr>
        <p:spPr>
          <a:xfrm>
            <a:off x="7543800" y="1874520"/>
            <a:ext cx="548640" cy="548640"/>
          </a:xfrm>
          <a:prstGeom prst="roundRect">
            <a:avLst>
              <a:gd name="adj" fmla="val 20000"/>
            </a:avLst>
          </a:prstGeom>
          <a:solidFill>
            <a:srgbClr val="FFFFFF">
              <a:alpha val="85000"/>
            </a:srgbClr>
          </a:solidFill>
          <a:ln/>
        </p:spPr>
      </p:sp>
      <p:pic>
        <p:nvPicPr>
          <p:cNvPr id="27" name="Image 5" descr="/home/claude/icons_flat/bulb.png">    </p:cNvPr>
          <p:cNvPicPr>
            <a:picLocks noChangeAspect="1"/>
          </p:cNvPicPr>
          <p:nvPr/>
        </p:nvPicPr>
        <p:blipFill>
          <a:blip r:embed="rId6"/>
          <a:stretch>
            <a:fillRect/>
          </a:stretch>
        </p:blipFill>
        <p:spPr>
          <a:xfrm>
            <a:off x="7680960" y="2011680"/>
            <a:ext cx="274320" cy="274320"/>
          </a:xfrm>
          <a:prstGeom prst="rect">
            <a:avLst/>
          </a:prstGeom>
        </p:spPr>
      </p:pic>
      <p:sp>
        <p:nvSpPr>
          <p:cNvPr id="28" name="Text 20"/>
          <p:cNvSpPr txBox="1"/>
          <p:nvPr/>
        </p:nvSpPr>
        <p:spPr>
          <a:xfrm>
            <a:off x="7543800" y="2542032"/>
            <a:ext cx="3840480" cy="320040"/>
          </a:xfrm>
          <a:prstGeom prst="rect">
            <a:avLst/>
          </a:prstGeom>
          <a:noFill/>
          <a:ln/>
        </p:spPr>
        <p:txBody>
          <a:bodyPr wrap="square" lIns="0" tIns="0" rIns="0" bIns="0" rtlCol="0" anchor="ctr"/>
          <a:lstStyle/>
          <a:p>
            <a:pPr indent="0" marL="0">
              <a:buNone/>
            </a:pPr>
            <a:r>
              <a:rPr lang="en-US" sz="1300" b="1" spc="100" kern="0" dirty="0">
                <a:solidFill>
                  <a:srgbClr val="FFFFFF"/>
                </a:solidFill>
                <a:latin typeface="Calibri" pitchFamily="34" charset="0"/>
                <a:ea typeface="Calibri" pitchFamily="34" charset="-122"/>
                <a:cs typeface="Calibri" pitchFamily="34" charset="-120"/>
              </a:rPr>
              <a:t>WHY IT MATTERS</a:t>
            </a:r>
            <a:endParaRPr lang="en-US" sz="1300" dirty="0"/>
          </a:p>
        </p:txBody>
      </p:sp>
      <p:sp>
        <p:nvSpPr>
          <p:cNvPr id="29" name="Text 21"/>
          <p:cNvSpPr txBox="1"/>
          <p:nvPr/>
        </p:nvSpPr>
        <p:spPr>
          <a:xfrm>
            <a:off x="7543800" y="2926080"/>
            <a:ext cx="3840480" cy="3017520"/>
          </a:xfrm>
          <a:prstGeom prst="rect">
            <a:avLst/>
          </a:prstGeom>
          <a:noFill/>
          <a:ln/>
        </p:spPr>
        <p:txBody>
          <a:bodyPr wrap="square" lIns="0" tIns="0" rIns="0" bIns="0" rtlCol="0" anchor="t"/>
          <a:lstStyle/>
          <a:p>
            <a:pPr indent="0" marL="0">
              <a:lnSpc>
                <a:spcPct val="135000"/>
              </a:lnSpc>
              <a:buNone/>
            </a:pPr>
            <a:r>
              <a:rPr lang="en-US" sz="1400" dirty="0">
                <a:solidFill>
                  <a:srgbClr val="FFFFFF"/>
                </a:solidFill>
                <a:latin typeface="Calibri" pitchFamily="34" charset="0"/>
                <a:ea typeface="Calibri" pitchFamily="34" charset="-122"/>
                <a:cs typeface="Calibri" pitchFamily="34" charset="-120"/>
              </a:rPr>
              <a:t>Without memory management, one buggy or malicious program could overwrite another program's data directly — crashing the whole system or exposing private data.</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686800" cy="274320"/>
          </a:xfrm>
          <a:prstGeom prst="rect">
            <a:avLst/>
          </a:prstGeom>
          <a:noFill/>
          <a:ln/>
        </p:spPr>
        <p:txBody>
          <a:bodyPr wrap="square" lIns="0" tIns="0" rIns="0" bIns="0" rtlCol="0" anchor="ctr"/>
          <a:lstStyle/>
          <a:p>
            <a:pPr indent="0" marL="0">
              <a:buNone/>
            </a:pPr>
            <a:r>
              <a:rPr lang="en-US" sz="1100" spc="100" kern="0" dirty="0">
                <a:solidFill>
                  <a:srgbClr val="6B7688"/>
                </a:solidFill>
                <a:latin typeface="Calibri" pitchFamily="34" charset="0"/>
                <a:ea typeface="Calibri" pitchFamily="34" charset="-122"/>
                <a:cs typeface="Calibri" pitchFamily="34" charset="-120"/>
              </a:rPr>
              <a:t>CH.8  ·  OPERATING SYSTEM SUPPORT  ·  2.3</a:t>
            </a:r>
            <a:endParaRPr lang="en-US" sz="1100" dirty="0"/>
          </a:p>
        </p:txBody>
      </p:sp>
      <p:sp>
        <p:nvSpPr>
          <p:cNvPr id="3" name="Text 1"/>
          <p:cNvSpPr txBox="1"/>
          <p:nvPr/>
        </p:nvSpPr>
        <p:spPr>
          <a:xfrm>
            <a:off x="548640" y="566928"/>
            <a:ext cx="8961120" cy="548640"/>
          </a:xfrm>
          <a:prstGeom prst="rect">
            <a:avLst/>
          </a:prstGeom>
          <a:noFill/>
          <a:ln/>
        </p:spPr>
        <p:txBody>
          <a:bodyPr wrap="square" lIns="0" tIns="0" rIns="0" bIns="0" rtlCol="0" anchor="ctr"/>
          <a:lstStyle/>
          <a:p>
            <a:pPr indent="0" marL="0">
              <a:buNone/>
            </a:pPr>
            <a:r>
              <a:rPr lang="en-US" sz="3000" b="1" dirty="0">
                <a:solidFill>
                  <a:srgbClr val="0B3556"/>
                </a:solidFill>
                <a:latin typeface="Cambria" pitchFamily="34" charset="0"/>
                <a:ea typeface="Cambria" pitchFamily="34" charset="-122"/>
                <a:cs typeface="Cambria" pitchFamily="34" charset="-120"/>
              </a:rPr>
              <a:t>Memory Management</a:t>
            </a:r>
            <a:endParaRPr lang="en-US" sz="3000" dirty="0"/>
          </a:p>
        </p:txBody>
      </p:sp>
      <p:sp>
        <p:nvSpPr>
          <p:cNvPr id="4" name="Text 2"/>
          <p:cNvSpPr txBox="1"/>
          <p:nvPr/>
        </p:nvSpPr>
        <p:spPr>
          <a:xfrm>
            <a:off x="548640" y="1078992"/>
            <a:ext cx="8961120" cy="320040"/>
          </a:xfrm>
          <a:prstGeom prst="rect">
            <a:avLst/>
          </a:prstGeom>
          <a:noFill/>
          <a:ln/>
        </p:spPr>
        <p:txBody>
          <a:bodyPr wrap="square" lIns="0" tIns="0" rIns="0" bIns="0" rtlCol="0" anchor="ctr"/>
          <a:lstStyle/>
          <a:p>
            <a:pPr indent="0" marL="0">
              <a:buNone/>
            </a:pPr>
            <a:r>
              <a:rPr lang="en-US" sz="1400" i="1" dirty="0">
                <a:solidFill>
                  <a:srgbClr val="6B4192"/>
                </a:solidFill>
                <a:latin typeface="Calibri" pitchFamily="34" charset="0"/>
                <a:ea typeface="Calibri" pitchFamily="34" charset="-122"/>
                <a:cs typeface="Calibri" pitchFamily="34" charset="-120"/>
              </a:rPr>
              <a:t>Technical Example</a:t>
            </a:r>
            <a:endParaRPr lang="en-US" sz="1400" dirty="0"/>
          </a:p>
        </p:txBody>
      </p:sp>
      <p:sp>
        <p:nvSpPr>
          <p:cNvPr id="5" name="Shape 3"/>
          <p:cNvSpPr/>
          <p:nvPr/>
        </p:nvSpPr>
        <p:spPr>
          <a:xfrm>
            <a:off x="10698480" y="384048"/>
            <a:ext cx="868680" cy="868680"/>
          </a:xfrm>
          <a:prstGeom prst="roundRect">
            <a:avLst>
              <a:gd name="adj" fmla="val 16842"/>
            </a:avLst>
          </a:prstGeom>
          <a:solidFill>
            <a:srgbClr val="6B4192"/>
          </a:solidFill>
          <a:ln/>
        </p:spPr>
      </p:sp>
      <p:pic>
        <p:nvPicPr>
          <p:cNvPr id="6" name="Image 0" descr="/home/claude/icons_flat/database.png">    </p:cNvPr>
          <p:cNvPicPr>
            <a:picLocks noChangeAspect="1"/>
          </p:cNvPicPr>
          <p:nvPr/>
        </p:nvPicPr>
        <p:blipFill>
          <a:blip r:embed="rId1"/>
          <a:stretch>
            <a:fillRect/>
          </a:stretch>
        </p:blipFill>
        <p:spPr>
          <a:xfrm>
            <a:off x="10927080" y="612648"/>
            <a:ext cx="411480" cy="411480"/>
          </a:xfrm>
          <a:prstGeom prst="rect">
            <a:avLst/>
          </a:prstGeom>
        </p:spPr>
      </p:pic>
      <p:sp>
        <p:nvSpPr>
          <p:cNvPr id="7" name="Text 4"/>
          <p:cNvSpPr txBox="1"/>
          <p:nvPr/>
        </p:nvSpPr>
        <p:spPr>
          <a:xfrm>
            <a:off x="548640" y="6537960"/>
            <a:ext cx="8229600" cy="256032"/>
          </a:xfrm>
          <a:prstGeom prst="rect">
            <a:avLst/>
          </a:prstGeom>
          <a:noFill/>
          <a:ln/>
        </p:spPr>
        <p:txBody>
          <a:bodyPr wrap="square" lIns="0" tIns="0" rIns="0" bIns="0" rtlCol="0" anchor="ctr"/>
          <a:lstStyle/>
          <a:p>
            <a:pPr indent="0" marL="0">
              <a:buNone/>
            </a:pPr>
            <a:r>
              <a:rPr lang="en-US" sz="950" dirty="0">
                <a:solidFill>
                  <a:srgbClr val="6B7688"/>
                </a:solidFill>
                <a:latin typeface="Calibri" pitchFamily="34" charset="0"/>
                <a:ea typeface="Calibri" pitchFamily="34" charset="-122"/>
                <a:cs typeface="Calibri" pitchFamily="34" charset="-120"/>
              </a:rPr>
              <a:t>Operating System Support — Chapter 8, William Stallings</a:t>
            </a:r>
            <a:endParaRPr lang="en-US" sz="950" dirty="0"/>
          </a:p>
        </p:txBody>
      </p:sp>
      <p:sp>
        <p:nvSpPr>
          <p:cNvPr id="8" name="Text 5"/>
          <p:cNvSpPr txBox="1"/>
          <p:nvPr/>
        </p:nvSpPr>
        <p:spPr>
          <a:xfrm>
            <a:off x="10515600" y="6537960"/>
            <a:ext cx="1097280" cy="256032"/>
          </a:xfrm>
          <a:prstGeom prst="rect">
            <a:avLst/>
          </a:prstGeom>
          <a:noFill/>
          <a:ln/>
        </p:spPr>
        <p:txBody>
          <a:bodyPr wrap="square" lIns="0" tIns="0" rIns="0" bIns="0" rtlCol="0" anchor="ctr"/>
          <a:lstStyle/>
          <a:p>
            <a:pPr algn="r" indent="0" marL="0">
              <a:buNone/>
            </a:pPr>
            <a:r>
              <a:rPr lang="en-US" sz="950" dirty="0">
                <a:solidFill>
                  <a:srgbClr val="6B7688"/>
                </a:solidFill>
                <a:latin typeface="Calibri" pitchFamily="34" charset="0"/>
                <a:ea typeface="Calibri" pitchFamily="34" charset="-122"/>
                <a:cs typeface="Calibri" pitchFamily="34" charset="-120"/>
              </a:rPr>
              <a:t>8/15</a:t>
            </a:r>
            <a:endParaRPr lang="en-US" sz="950" dirty="0"/>
          </a:p>
        </p:txBody>
      </p:sp>
      <p:sp>
        <p:nvSpPr>
          <p:cNvPr id="9" name="Shape 6"/>
          <p:cNvSpPr/>
          <p:nvPr/>
        </p:nvSpPr>
        <p:spPr>
          <a:xfrm>
            <a:off x="548640" y="1691640"/>
            <a:ext cx="11064240" cy="2286000"/>
          </a:xfrm>
          <a:prstGeom prst="roundRect">
            <a:avLst>
              <a:gd name="adj" fmla="val 4000"/>
            </a:avLst>
          </a:prstGeom>
          <a:solidFill>
            <a:srgbClr val="F5F7FA"/>
          </a:solidFill>
          <a:ln w="12700">
            <a:solidFill>
              <a:srgbClr val="DCE3EA"/>
            </a:solidFill>
            <a:prstDash val="solid"/>
          </a:ln>
        </p:spPr>
      </p:sp>
      <p:sp>
        <p:nvSpPr>
          <p:cNvPr id="10" name="Shape 7"/>
          <p:cNvSpPr/>
          <p:nvPr/>
        </p:nvSpPr>
        <p:spPr>
          <a:xfrm>
            <a:off x="868680" y="1965960"/>
            <a:ext cx="502920" cy="502920"/>
          </a:xfrm>
          <a:prstGeom prst="roundRect">
            <a:avLst>
              <a:gd name="adj" fmla="val 18182"/>
            </a:avLst>
          </a:prstGeom>
          <a:solidFill>
            <a:srgbClr val="6B4192"/>
          </a:solidFill>
          <a:ln/>
        </p:spPr>
      </p:sp>
      <p:pic>
        <p:nvPicPr>
          <p:cNvPr id="11" name="Image 1" descr="/home/claude/icons_flat/bulb.png">    </p:cNvPr>
          <p:cNvPicPr>
            <a:picLocks noChangeAspect="1"/>
          </p:cNvPicPr>
          <p:nvPr/>
        </p:nvPicPr>
        <p:blipFill>
          <a:blip r:embed="rId2"/>
          <a:stretch>
            <a:fillRect/>
          </a:stretch>
        </p:blipFill>
        <p:spPr>
          <a:xfrm>
            <a:off x="987552" y="2084832"/>
            <a:ext cx="265176" cy="265176"/>
          </a:xfrm>
          <a:prstGeom prst="rect">
            <a:avLst/>
          </a:prstGeom>
        </p:spPr>
      </p:pic>
      <p:sp>
        <p:nvSpPr>
          <p:cNvPr id="12" name="Text 8"/>
          <p:cNvSpPr txBox="1"/>
          <p:nvPr/>
        </p:nvSpPr>
        <p:spPr>
          <a:xfrm>
            <a:off x="1508760" y="2048256"/>
            <a:ext cx="5486400" cy="365760"/>
          </a:xfrm>
          <a:prstGeom prst="rect">
            <a:avLst/>
          </a:prstGeom>
          <a:noFill/>
          <a:ln/>
        </p:spPr>
        <p:txBody>
          <a:bodyPr wrap="square" lIns="0" tIns="0" rIns="0" bIns="0" rtlCol="0" anchor="ctr"/>
          <a:lstStyle/>
          <a:p>
            <a:pPr indent="0" marL="0">
              <a:buNone/>
            </a:pPr>
            <a:r>
              <a:rPr lang="en-US" sz="1300" b="1" spc="100" kern="0" dirty="0">
                <a:solidFill>
                  <a:srgbClr val="6B4192"/>
                </a:solidFill>
                <a:latin typeface="Calibri" pitchFamily="34" charset="0"/>
                <a:ea typeface="Calibri" pitchFamily="34" charset="-122"/>
                <a:cs typeface="Calibri" pitchFamily="34" charset="-120"/>
              </a:rPr>
              <a:t>EXAMPLE IN PRACTICE</a:t>
            </a:r>
            <a:endParaRPr lang="en-US" sz="1300" dirty="0"/>
          </a:p>
        </p:txBody>
      </p:sp>
      <p:sp>
        <p:nvSpPr>
          <p:cNvPr id="13" name="Text 9"/>
          <p:cNvSpPr txBox="1"/>
          <p:nvPr/>
        </p:nvSpPr>
        <p:spPr>
          <a:xfrm>
            <a:off x="868680" y="2697480"/>
            <a:ext cx="10424160" cy="1188720"/>
          </a:xfrm>
          <a:prstGeom prst="rect">
            <a:avLst/>
          </a:prstGeom>
          <a:noFill/>
          <a:ln/>
        </p:spPr>
        <p:txBody>
          <a:bodyPr wrap="square" lIns="0" tIns="0" rIns="0" bIns="0" rtlCol="0" anchor="t"/>
          <a:lstStyle/>
          <a:p>
            <a:pPr indent="0" marL="0">
              <a:lnSpc>
                <a:spcPct val="135000"/>
              </a:lnSpc>
              <a:buNone/>
            </a:pPr>
            <a:r>
              <a:rPr lang="en-US" sz="1600" dirty="0">
                <a:solidFill>
                  <a:srgbClr val="0B3556"/>
                </a:solidFill>
                <a:latin typeface="Calibri" pitchFamily="34" charset="0"/>
                <a:ea typeface="Calibri" pitchFamily="34" charset="-122"/>
                <a:cs typeface="Calibri" pitchFamily="34" charset="-120"/>
              </a:rPr>
              <a:t>When you open 5 Chrome tabs and a Word document at once, each program believes it has its own private, continuous block of memory starting at address zero. In reality, the OS scatters them across physical RAM and quietly translates addresses so none of them ever collide.</a:t>
            </a:r>
            <a:endParaRPr lang="en-US" sz="1600" dirty="0"/>
          </a:p>
        </p:txBody>
      </p:sp>
      <p:sp>
        <p:nvSpPr>
          <p:cNvPr id="14" name="Shape 10"/>
          <p:cNvSpPr/>
          <p:nvPr/>
        </p:nvSpPr>
        <p:spPr>
          <a:xfrm>
            <a:off x="548640" y="4251960"/>
            <a:ext cx="1417320" cy="411480"/>
          </a:xfrm>
          <a:prstGeom prst="roundRect">
            <a:avLst>
              <a:gd name="adj" fmla="val 48889"/>
            </a:avLst>
          </a:prstGeom>
          <a:solidFill>
            <a:srgbClr val="6B4192"/>
          </a:solidFill>
          <a:ln/>
        </p:spPr>
      </p:sp>
      <p:sp>
        <p:nvSpPr>
          <p:cNvPr id="15" name="Text 11"/>
          <p:cNvSpPr txBox="1"/>
          <p:nvPr/>
        </p:nvSpPr>
        <p:spPr>
          <a:xfrm>
            <a:off x="548640" y="4251960"/>
            <a:ext cx="1417320" cy="41148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KEY INSIGHT</a:t>
            </a:r>
            <a:endParaRPr lang="en-US" sz="1050" dirty="0"/>
          </a:p>
        </p:txBody>
      </p:sp>
      <p:sp>
        <p:nvSpPr>
          <p:cNvPr id="16" name="Text 12"/>
          <p:cNvSpPr txBox="1"/>
          <p:nvPr/>
        </p:nvSpPr>
        <p:spPr>
          <a:xfrm>
            <a:off x="2148840" y="4251960"/>
            <a:ext cx="9464040" cy="411480"/>
          </a:xfrm>
          <a:prstGeom prst="rect">
            <a:avLst/>
          </a:prstGeom>
          <a:noFill/>
          <a:ln/>
        </p:spPr>
        <p:txBody>
          <a:bodyPr wrap="square" lIns="0" tIns="0" rIns="0" bIns="0" rtlCol="0" anchor="ctr"/>
          <a:lstStyle/>
          <a:p>
            <a:pPr indent="0" marL="0">
              <a:buNone/>
            </a:pPr>
            <a:r>
              <a:rPr lang="en-US" sz="1400" b="1" i="1" dirty="0">
                <a:solidFill>
                  <a:srgbClr val="0B3556"/>
                </a:solidFill>
                <a:latin typeface="Calibri" pitchFamily="34" charset="0"/>
                <a:ea typeface="Calibri" pitchFamily="34" charset="-122"/>
                <a:cs typeface="Calibri" pitchFamily="34" charset="-120"/>
              </a:rPr>
              <a:t>Every program is quietly living in an isolated, translated 'illusion' of memory that the OS constructs and protects.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686800" cy="274320"/>
          </a:xfrm>
          <a:prstGeom prst="rect">
            <a:avLst/>
          </a:prstGeom>
          <a:noFill/>
          <a:ln/>
        </p:spPr>
        <p:txBody>
          <a:bodyPr wrap="square" lIns="0" tIns="0" rIns="0" bIns="0" rtlCol="0" anchor="ctr"/>
          <a:lstStyle/>
          <a:p>
            <a:pPr indent="0" marL="0">
              <a:buNone/>
            </a:pPr>
            <a:r>
              <a:rPr lang="en-US" sz="1100" spc="100" kern="0" dirty="0">
                <a:solidFill>
                  <a:srgbClr val="6B7688"/>
                </a:solidFill>
                <a:latin typeface="Calibri" pitchFamily="34" charset="0"/>
                <a:ea typeface="Calibri" pitchFamily="34" charset="-122"/>
                <a:cs typeface="Calibri" pitchFamily="34" charset="-120"/>
              </a:rPr>
              <a:t>CH.8  ·  OPERATING SYSTEM SUPPORT  ·  2.3</a:t>
            </a:r>
            <a:endParaRPr lang="en-US" sz="1100" dirty="0"/>
          </a:p>
        </p:txBody>
      </p:sp>
      <p:sp>
        <p:nvSpPr>
          <p:cNvPr id="3" name="Text 1"/>
          <p:cNvSpPr txBox="1"/>
          <p:nvPr/>
        </p:nvSpPr>
        <p:spPr>
          <a:xfrm>
            <a:off x="548640" y="566928"/>
            <a:ext cx="8961120" cy="548640"/>
          </a:xfrm>
          <a:prstGeom prst="rect">
            <a:avLst/>
          </a:prstGeom>
          <a:noFill/>
          <a:ln/>
        </p:spPr>
        <p:txBody>
          <a:bodyPr wrap="square" lIns="0" tIns="0" rIns="0" bIns="0" rtlCol="0" anchor="ctr"/>
          <a:lstStyle/>
          <a:p>
            <a:pPr indent="0" marL="0">
              <a:buNone/>
            </a:pPr>
            <a:r>
              <a:rPr lang="en-US" sz="3000" b="1" dirty="0">
                <a:solidFill>
                  <a:srgbClr val="0B3556"/>
                </a:solidFill>
                <a:latin typeface="Cambria" pitchFamily="34" charset="0"/>
                <a:ea typeface="Cambria" pitchFamily="34" charset="-122"/>
                <a:cs typeface="Cambria" pitchFamily="34" charset="-120"/>
              </a:rPr>
              <a:t>Memory Management</a:t>
            </a:r>
            <a:endParaRPr lang="en-US" sz="3000" dirty="0"/>
          </a:p>
        </p:txBody>
      </p:sp>
      <p:sp>
        <p:nvSpPr>
          <p:cNvPr id="4" name="Text 2"/>
          <p:cNvSpPr txBox="1"/>
          <p:nvPr/>
        </p:nvSpPr>
        <p:spPr>
          <a:xfrm>
            <a:off x="548640" y="1078992"/>
            <a:ext cx="8961120" cy="320040"/>
          </a:xfrm>
          <a:prstGeom prst="rect">
            <a:avLst/>
          </a:prstGeom>
          <a:noFill/>
          <a:ln/>
        </p:spPr>
        <p:txBody>
          <a:bodyPr wrap="square" lIns="0" tIns="0" rIns="0" bIns="0" rtlCol="0" anchor="ctr"/>
          <a:lstStyle/>
          <a:p>
            <a:pPr indent="0" marL="0">
              <a:buNone/>
            </a:pPr>
            <a:r>
              <a:rPr lang="en-US" sz="1400" i="1" dirty="0">
                <a:solidFill>
                  <a:srgbClr val="6B4192"/>
                </a:solidFill>
                <a:latin typeface="Calibri" pitchFamily="34" charset="0"/>
                <a:ea typeface="Calibri" pitchFamily="34" charset="-122"/>
                <a:cs typeface="Calibri" pitchFamily="34" charset="-120"/>
              </a:rPr>
              <a:t>How It Works — Process Flow</a:t>
            </a:r>
            <a:endParaRPr lang="en-US" sz="1400" dirty="0"/>
          </a:p>
        </p:txBody>
      </p:sp>
      <p:sp>
        <p:nvSpPr>
          <p:cNvPr id="5" name="Shape 3"/>
          <p:cNvSpPr/>
          <p:nvPr/>
        </p:nvSpPr>
        <p:spPr>
          <a:xfrm>
            <a:off x="10698480" y="384048"/>
            <a:ext cx="868680" cy="868680"/>
          </a:xfrm>
          <a:prstGeom prst="roundRect">
            <a:avLst>
              <a:gd name="adj" fmla="val 16842"/>
            </a:avLst>
          </a:prstGeom>
          <a:solidFill>
            <a:srgbClr val="6B4192"/>
          </a:solidFill>
          <a:ln/>
        </p:spPr>
      </p:sp>
      <p:pic>
        <p:nvPicPr>
          <p:cNvPr id="6" name="Image 0" descr="/home/claude/icons_flat/database.png">    </p:cNvPr>
          <p:cNvPicPr>
            <a:picLocks noChangeAspect="1"/>
          </p:cNvPicPr>
          <p:nvPr/>
        </p:nvPicPr>
        <p:blipFill>
          <a:blip r:embed="rId1"/>
          <a:stretch>
            <a:fillRect/>
          </a:stretch>
        </p:blipFill>
        <p:spPr>
          <a:xfrm>
            <a:off x="10927080" y="612648"/>
            <a:ext cx="411480" cy="411480"/>
          </a:xfrm>
          <a:prstGeom prst="rect">
            <a:avLst/>
          </a:prstGeom>
        </p:spPr>
      </p:pic>
      <p:sp>
        <p:nvSpPr>
          <p:cNvPr id="7" name="Text 4"/>
          <p:cNvSpPr txBox="1"/>
          <p:nvPr/>
        </p:nvSpPr>
        <p:spPr>
          <a:xfrm>
            <a:off x="548640" y="6537960"/>
            <a:ext cx="8229600" cy="256032"/>
          </a:xfrm>
          <a:prstGeom prst="rect">
            <a:avLst/>
          </a:prstGeom>
          <a:noFill/>
          <a:ln/>
        </p:spPr>
        <p:txBody>
          <a:bodyPr wrap="square" lIns="0" tIns="0" rIns="0" bIns="0" rtlCol="0" anchor="ctr"/>
          <a:lstStyle/>
          <a:p>
            <a:pPr indent="0" marL="0">
              <a:buNone/>
            </a:pPr>
            <a:r>
              <a:rPr lang="en-US" sz="950" dirty="0">
                <a:solidFill>
                  <a:srgbClr val="6B7688"/>
                </a:solidFill>
                <a:latin typeface="Calibri" pitchFamily="34" charset="0"/>
                <a:ea typeface="Calibri" pitchFamily="34" charset="-122"/>
                <a:cs typeface="Calibri" pitchFamily="34" charset="-120"/>
              </a:rPr>
              <a:t>Operating System Support — Chapter 8, William Stallings</a:t>
            </a:r>
            <a:endParaRPr lang="en-US" sz="950" dirty="0"/>
          </a:p>
        </p:txBody>
      </p:sp>
      <p:sp>
        <p:nvSpPr>
          <p:cNvPr id="8" name="Text 5"/>
          <p:cNvSpPr txBox="1"/>
          <p:nvPr/>
        </p:nvSpPr>
        <p:spPr>
          <a:xfrm>
            <a:off x="10515600" y="6537960"/>
            <a:ext cx="1097280" cy="256032"/>
          </a:xfrm>
          <a:prstGeom prst="rect">
            <a:avLst/>
          </a:prstGeom>
          <a:noFill/>
          <a:ln/>
        </p:spPr>
        <p:txBody>
          <a:bodyPr wrap="square" lIns="0" tIns="0" rIns="0" bIns="0" rtlCol="0" anchor="ctr"/>
          <a:lstStyle/>
          <a:p>
            <a:pPr algn="r" indent="0" marL="0">
              <a:buNone/>
            </a:pPr>
            <a:r>
              <a:rPr lang="en-US" sz="950" dirty="0">
                <a:solidFill>
                  <a:srgbClr val="6B7688"/>
                </a:solidFill>
                <a:latin typeface="Calibri" pitchFamily="34" charset="0"/>
                <a:ea typeface="Calibri" pitchFamily="34" charset="-122"/>
                <a:cs typeface="Calibri" pitchFamily="34" charset="-120"/>
              </a:rPr>
              <a:t>9/15</a:t>
            </a:r>
            <a:endParaRPr lang="en-US" sz="950" dirty="0"/>
          </a:p>
        </p:txBody>
      </p:sp>
      <p:sp>
        <p:nvSpPr>
          <p:cNvPr id="9" name="Shape 6"/>
          <p:cNvSpPr/>
          <p:nvPr/>
        </p:nvSpPr>
        <p:spPr>
          <a:xfrm>
            <a:off x="1234440" y="1737360"/>
            <a:ext cx="457200" cy="457200"/>
          </a:xfrm>
          <a:prstGeom prst="ellipse">
            <a:avLst/>
          </a:prstGeom>
          <a:solidFill>
            <a:srgbClr val="6B4192"/>
          </a:solidFill>
          <a:ln/>
        </p:spPr>
      </p:sp>
      <p:sp>
        <p:nvSpPr>
          <p:cNvPr id="10" name="Text 7"/>
          <p:cNvSpPr txBox="1"/>
          <p:nvPr/>
        </p:nvSpPr>
        <p:spPr>
          <a:xfrm>
            <a:off x="123444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1" name="Shape 8"/>
          <p:cNvSpPr/>
          <p:nvPr/>
        </p:nvSpPr>
        <p:spPr>
          <a:xfrm>
            <a:off x="2286000" y="1664208"/>
            <a:ext cx="7680960" cy="795528"/>
          </a:xfrm>
          <a:prstGeom prst="roundRect">
            <a:avLst>
              <a:gd name="adj" fmla="val 9195"/>
            </a:avLst>
          </a:prstGeom>
          <a:solidFill>
            <a:srgbClr val="F5F7FA"/>
          </a:solidFill>
          <a:ln w="12700">
            <a:solidFill>
              <a:srgbClr val="6B4192"/>
            </a:solidFill>
            <a:prstDash val="solid"/>
          </a:ln>
        </p:spPr>
      </p:sp>
      <p:sp>
        <p:nvSpPr>
          <p:cNvPr id="12" name="Text 9"/>
          <p:cNvSpPr txBox="1"/>
          <p:nvPr/>
        </p:nvSpPr>
        <p:spPr>
          <a:xfrm>
            <a:off x="2514600" y="1664208"/>
            <a:ext cx="7223760" cy="795528"/>
          </a:xfrm>
          <a:prstGeom prst="rect">
            <a:avLst/>
          </a:prstGeom>
          <a:noFill/>
          <a:ln/>
        </p:spPr>
        <p:txBody>
          <a:bodyPr wrap="square" lIns="0" tIns="0" rIns="0" bIns="0" rtlCol="0" anchor="ctr"/>
          <a:lstStyle/>
          <a:p>
            <a:pPr indent="0" marL="0">
              <a:buNone/>
            </a:pPr>
            <a:r>
              <a:rPr lang="en-US" sz="1400" dirty="0">
                <a:solidFill>
                  <a:srgbClr val="0B3556"/>
                </a:solidFill>
                <a:latin typeface="Calibri" pitchFamily="34" charset="0"/>
                <a:ea typeface="Calibri" pitchFamily="34" charset="-122"/>
                <a:cs typeface="Calibri" pitchFamily="34" charset="-120"/>
              </a:rPr>
              <a:t>CPU generates a logical (virtual) address</a:t>
            </a:r>
            <a:endParaRPr lang="en-US" sz="1400" dirty="0"/>
          </a:p>
        </p:txBody>
      </p:sp>
      <p:sp>
        <p:nvSpPr>
          <p:cNvPr id="13" name="Shape 10"/>
          <p:cNvSpPr/>
          <p:nvPr/>
        </p:nvSpPr>
        <p:spPr>
          <a:xfrm>
            <a:off x="1463040" y="2240280"/>
            <a:ext cx="0" cy="548640"/>
          </a:xfrm>
          <a:prstGeom prst="line">
            <a:avLst/>
          </a:prstGeom>
          <a:noFill/>
          <a:ln w="25400">
            <a:solidFill>
              <a:srgbClr val="6B4192"/>
            </a:solidFill>
            <a:prstDash val="solid"/>
            <a:tailEnd type="triangle"/>
          </a:ln>
        </p:spPr>
      </p:sp>
      <p:sp>
        <p:nvSpPr>
          <p:cNvPr id="14" name="Shape 11"/>
          <p:cNvSpPr/>
          <p:nvPr/>
        </p:nvSpPr>
        <p:spPr>
          <a:xfrm>
            <a:off x="1234440" y="2788920"/>
            <a:ext cx="457200" cy="457200"/>
          </a:xfrm>
          <a:prstGeom prst="ellipse">
            <a:avLst/>
          </a:prstGeom>
          <a:solidFill>
            <a:srgbClr val="6B4192"/>
          </a:solidFill>
          <a:ln/>
        </p:spPr>
      </p:sp>
      <p:sp>
        <p:nvSpPr>
          <p:cNvPr id="15" name="Text 12"/>
          <p:cNvSpPr txBox="1"/>
          <p:nvPr/>
        </p:nvSpPr>
        <p:spPr>
          <a:xfrm>
            <a:off x="1234440" y="2788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6" name="Shape 13"/>
          <p:cNvSpPr/>
          <p:nvPr/>
        </p:nvSpPr>
        <p:spPr>
          <a:xfrm>
            <a:off x="2286000" y="2715768"/>
            <a:ext cx="7680960" cy="795528"/>
          </a:xfrm>
          <a:prstGeom prst="roundRect">
            <a:avLst>
              <a:gd name="adj" fmla="val 9195"/>
            </a:avLst>
          </a:prstGeom>
          <a:solidFill>
            <a:srgbClr val="F5F7FA"/>
          </a:solidFill>
          <a:ln w="12700">
            <a:solidFill>
              <a:srgbClr val="6B4192"/>
            </a:solidFill>
            <a:prstDash val="solid"/>
          </a:ln>
        </p:spPr>
      </p:sp>
      <p:sp>
        <p:nvSpPr>
          <p:cNvPr id="17" name="Text 14"/>
          <p:cNvSpPr txBox="1"/>
          <p:nvPr/>
        </p:nvSpPr>
        <p:spPr>
          <a:xfrm>
            <a:off x="2514600" y="2715768"/>
            <a:ext cx="7223760" cy="795528"/>
          </a:xfrm>
          <a:prstGeom prst="rect">
            <a:avLst/>
          </a:prstGeom>
          <a:noFill/>
          <a:ln/>
        </p:spPr>
        <p:txBody>
          <a:bodyPr wrap="square" lIns="0" tIns="0" rIns="0" bIns="0" rtlCol="0" anchor="ctr"/>
          <a:lstStyle/>
          <a:p>
            <a:pPr indent="0" marL="0">
              <a:buNone/>
            </a:pPr>
            <a:r>
              <a:rPr lang="en-US" sz="1400" dirty="0">
                <a:solidFill>
                  <a:srgbClr val="0B3556"/>
                </a:solidFill>
                <a:latin typeface="Calibri" pitchFamily="34" charset="0"/>
                <a:ea typeface="Calibri" pitchFamily="34" charset="-122"/>
                <a:cs typeface="Calibri" pitchFamily="34" charset="-120"/>
              </a:rPr>
              <a:t>Memory Management Unit (MMU) looks it up</a:t>
            </a:r>
            <a:endParaRPr lang="en-US" sz="1400" dirty="0"/>
          </a:p>
        </p:txBody>
      </p:sp>
      <p:sp>
        <p:nvSpPr>
          <p:cNvPr id="18" name="Shape 15"/>
          <p:cNvSpPr/>
          <p:nvPr/>
        </p:nvSpPr>
        <p:spPr>
          <a:xfrm>
            <a:off x="1463040" y="3291840"/>
            <a:ext cx="0" cy="548640"/>
          </a:xfrm>
          <a:prstGeom prst="line">
            <a:avLst/>
          </a:prstGeom>
          <a:noFill/>
          <a:ln w="25400">
            <a:solidFill>
              <a:srgbClr val="6B4192"/>
            </a:solidFill>
            <a:prstDash val="solid"/>
            <a:tailEnd type="triangle"/>
          </a:ln>
        </p:spPr>
      </p:sp>
      <p:sp>
        <p:nvSpPr>
          <p:cNvPr id="19" name="Shape 16"/>
          <p:cNvSpPr/>
          <p:nvPr/>
        </p:nvSpPr>
        <p:spPr>
          <a:xfrm>
            <a:off x="1234440" y="3840480"/>
            <a:ext cx="457200" cy="457200"/>
          </a:xfrm>
          <a:prstGeom prst="ellipse">
            <a:avLst/>
          </a:prstGeom>
          <a:solidFill>
            <a:srgbClr val="6B4192"/>
          </a:solidFill>
          <a:ln/>
        </p:spPr>
      </p:sp>
      <p:sp>
        <p:nvSpPr>
          <p:cNvPr id="20" name="Text 17"/>
          <p:cNvSpPr txBox="1"/>
          <p:nvPr/>
        </p:nvSpPr>
        <p:spPr>
          <a:xfrm>
            <a:off x="1234440" y="3840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Shape 18"/>
          <p:cNvSpPr/>
          <p:nvPr/>
        </p:nvSpPr>
        <p:spPr>
          <a:xfrm>
            <a:off x="2286000" y="3767328"/>
            <a:ext cx="7680960" cy="795528"/>
          </a:xfrm>
          <a:prstGeom prst="roundRect">
            <a:avLst>
              <a:gd name="adj" fmla="val 9195"/>
            </a:avLst>
          </a:prstGeom>
          <a:solidFill>
            <a:srgbClr val="F5F7FA"/>
          </a:solidFill>
          <a:ln w="12700">
            <a:solidFill>
              <a:srgbClr val="6B4192"/>
            </a:solidFill>
            <a:prstDash val="solid"/>
          </a:ln>
        </p:spPr>
      </p:sp>
      <p:sp>
        <p:nvSpPr>
          <p:cNvPr id="22" name="Text 19"/>
          <p:cNvSpPr txBox="1"/>
          <p:nvPr/>
        </p:nvSpPr>
        <p:spPr>
          <a:xfrm>
            <a:off x="2514600" y="3767328"/>
            <a:ext cx="7223760" cy="795528"/>
          </a:xfrm>
          <a:prstGeom prst="rect">
            <a:avLst/>
          </a:prstGeom>
          <a:noFill/>
          <a:ln/>
        </p:spPr>
        <p:txBody>
          <a:bodyPr wrap="square" lIns="0" tIns="0" rIns="0" bIns="0" rtlCol="0" anchor="ctr"/>
          <a:lstStyle/>
          <a:p>
            <a:pPr indent="0" marL="0">
              <a:buNone/>
            </a:pPr>
            <a:r>
              <a:rPr lang="en-US" sz="1400" dirty="0">
                <a:solidFill>
                  <a:srgbClr val="0B3556"/>
                </a:solidFill>
                <a:latin typeface="Calibri" pitchFamily="34" charset="0"/>
                <a:ea typeface="Calibri" pitchFamily="34" charset="-122"/>
                <a:cs typeface="Calibri" pitchFamily="34" charset="-120"/>
              </a:rPr>
              <a:t>MMU translates it into a physical address</a:t>
            </a:r>
            <a:endParaRPr lang="en-US" sz="1400" dirty="0"/>
          </a:p>
        </p:txBody>
      </p:sp>
      <p:sp>
        <p:nvSpPr>
          <p:cNvPr id="23" name="Shape 20"/>
          <p:cNvSpPr/>
          <p:nvPr/>
        </p:nvSpPr>
        <p:spPr>
          <a:xfrm>
            <a:off x="1463040" y="4343400"/>
            <a:ext cx="0" cy="548640"/>
          </a:xfrm>
          <a:prstGeom prst="line">
            <a:avLst/>
          </a:prstGeom>
          <a:noFill/>
          <a:ln w="25400">
            <a:solidFill>
              <a:srgbClr val="6B4192"/>
            </a:solidFill>
            <a:prstDash val="solid"/>
            <a:tailEnd type="triangle"/>
          </a:ln>
        </p:spPr>
      </p:sp>
      <p:sp>
        <p:nvSpPr>
          <p:cNvPr id="24" name="Shape 21"/>
          <p:cNvSpPr/>
          <p:nvPr/>
        </p:nvSpPr>
        <p:spPr>
          <a:xfrm>
            <a:off x="1234440" y="4892040"/>
            <a:ext cx="457200" cy="457200"/>
          </a:xfrm>
          <a:prstGeom prst="ellipse">
            <a:avLst/>
          </a:prstGeom>
          <a:solidFill>
            <a:srgbClr val="6B4192"/>
          </a:solidFill>
          <a:ln/>
        </p:spPr>
      </p:sp>
      <p:sp>
        <p:nvSpPr>
          <p:cNvPr id="25" name="Text 22"/>
          <p:cNvSpPr txBox="1"/>
          <p:nvPr/>
        </p:nvSpPr>
        <p:spPr>
          <a:xfrm>
            <a:off x="1234440" y="4892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6" name="Shape 23"/>
          <p:cNvSpPr/>
          <p:nvPr/>
        </p:nvSpPr>
        <p:spPr>
          <a:xfrm>
            <a:off x="2286000" y="4818888"/>
            <a:ext cx="7680960" cy="795528"/>
          </a:xfrm>
          <a:prstGeom prst="roundRect">
            <a:avLst>
              <a:gd name="adj" fmla="val 9195"/>
            </a:avLst>
          </a:prstGeom>
          <a:solidFill>
            <a:srgbClr val="F5F7FA"/>
          </a:solidFill>
          <a:ln w="12700">
            <a:solidFill>
              <a:srgbClr val="6B4192"/>
            </a:solidFill>
            <a:prstDash val="solid"/>
          </a:ln>
        </p:spPr>
      </p:sp>
      <p:sp>
        <p:nvSpPr>
          <p:cNvPr id="27" name="Text 24"/>
          <p:cNvSpPr txBox="1"/>
          <p:nvPr/>
        </p:nvSpPr>
        <p:spPr>
          <a:xfrm>
            <a:off x="2514600" y="4818888"/>
            <a:ext cx="7223760" cy="795528"/>
          </a:xfrm>
          <a:prstGeom prst="rect">
            <a:avLst/>
          </a:prstGeom>
          <a:noFill/>
          <a:ln/>
        </p:spPr>
        <p:txBody>
          <a:bodyPr wrap="square" lIns="0" tIns="0" rIns="0" bIns="0" rtlCol="0" anchor="ctr"/>
          <a:lstStyle/>
          <a:p>
            <a:pPr indent="0" marL="0">
              <a:buNone/>
            </a:pPr>
            <a:r>
              <a:rPr lang="en-US" sz="1400" dirty="0">
                <a:solidFill>
                  <a:srgbClr val="0B3556"/>
                </a:solidFill>
                <a:latin typeface="Calibri" pitchFamily="34" charset="0"/>
                <a:ea typeface="Calibri" pitchFamily="34" charset="-122"/>
                <a:cs typeface="Calibri" pitchFamily="34" charset="-120"/>
              </a:rPr>
              <a:t>CPU accesses the real location in RAM</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686800" cy="274320"/>
          </a:xfrm>
          <a:prstGeom prst="rect">
            <a:avLst/>
          </a:prstGeom>
          <a:noFill/>
          <a:ln/>
        </p:spPr>
        <p:txBody>
          <a:bodyPr wrap="square" lIns="0" tIns="0" rIns="0" bIns="0" rtlCol="0" anchor="ctr"/>
          <a:lstStyle/>
          <a:p>
            <a:pPr indent="0" marL="0">
              <a:buNone/>
            </a:pPr>
            <a:r>
              <a:rPr lang="en-US" sz="1100" spc="100" kern="0" dirty="0">
                <a:solidFill>
                  <a:srgbClr val="6B7688"/>
                </a:solidFill>
                <a:latin typeface="Calibri" pitchFamily="34" charset="0"/>
                <a:ea typeface="Calibri" pitchFamily="34" charset="-122"/>
                <a:cs typeface="Calibri" pitchFamily="34" charset="-120"/>
              </a:rPr>
              <a:t>CH.8  ·  OPERATING SYSTEM SUPPORT  ·  2.4</a:t>
            </a:r>
            <a:endParaRPr lang="en-US" sz="1100" dirty="0"/>
          </a:p>
        </p:txBody>
      </p:sp>
      <p:sp>
        <p:nvSpPr>
          <p:cNvPr id="3" name="Text 1"/>
          <p:cNvSpPr txBox="1"/>
          <p:nvPr/>
        </p:nvSpPr>
        <p:spPr>
          <a:xfrm>
            <a:off x="548640" y="566928"/>
            <a:ext cx="8961120" cy="548640"/>
          </a:xfrm>
          <a:prstGeom prst="rect">
            <a:avLst/>
          </a:prstGeom>
          <a:noFill/>
          <a:ln/>
        </p:spPr>
        <p:txBody>
          <a:bodyPr wrap="square" lIns="0" tIns="0" rIns="0" bIns="0" rtlCol="0" anchor="ctr"/>
          <a:lstStyle/>
          <a:p>
            <a:pPr indent="0" marL="0">
              <a:buNone/>
            </a:pPr>
            <a:r>
              <a:rPr lang="en-US" sz="3000" b="1" dirty="0">
                <a:solidFill>
                  <a:srgbClr val="0B3556"/>
                </a:solidFill>
                <a:latin typeface="Cambria" pitchFamily="34" charset="0"/>
                <a:ea typeface="Cambria" pitchFamily="34" charset="-122"/>
                <a:cs typeface="Cambria" pitchFamily="34" charset="-120"/>
              </a:rPr>
              <a:t>Intel x86 Memory Management</a:t>
            </a:r>
            <a:endParaRPr lang="en-US" sz="3000" dirty="0"/>
          </a:p>
        </p:txBody>
      </p:sp>
      <p:sp>
        <p:nvSpPr>
          <p:cNvPr id="4" name="Text 2"/>
          <p:cNvSpPr txBox="1"/>
          <p:nvPr/>
        </p:nvSpPr>
        <p:spPr>
          <a:xfrm>
            <a:off x="548640" y="1078992"/>
            <a:ext cx="8961120" cy="320040"/>
          </a:xfrm>
          <a:prstGeom prst="rect">
            <a:avLst/>
          </a:prstGeom>
          <a:noFill/>
          <a:ln/>
        </p:spPr>
        <p:txBody>
          <a:bodyPr wrap="square" lIns="0" tIns="0" rIns="0" bIns="0" rtlCol="0" anchor="ctr"/>
          <a:lstStyle/>
          <a:p>
            <a:pPr indent="0" marL="0">
              <a:buNone/>
            </a:pPr>
            <a:r>
              <a:rPr lang="en-US" sz="1400" i="1" dirty="0">
                <a:solidFill>
                  <a:srgbClr val="9A3B4A"/>
                </a:solidFill>
                <a:latin typeface="Calibri" pitchFamily="34" charset="0"/>
                <a:ea typeface="Calibri" pitchFamily="34" charset="-122"/>
                <a:cs typeface="Calibri" pitchFamily="34" charset="-120"/>
              </a:rPr>
              <a:t>Definition &amp; Key Characteristics</a:t>
            </a:r>
            <a:endParaRPr lang="en-US" sz="1400" dirty="0"/>
          </a:p>
        </p:txBody>
      </p:sp>
      <p:sp>
        <p:nvSpPr>
          <p:cNvPr id="5" name="Shape 3"/>
          <p:cNvSpPr/>
          <p:nvPr/>
        </p:nvSpPr>
        <p:spPr>
          <a:xfrm>
            <a:off x="10698480" y="384048"/>
            <a:ext cx="868680" cy="868680"/>
          </a:xfrm>
          <a:prstGeom prst="roundRect">
            <a:avLst>
              <a:gd name="adj" fmla="val 16842"/>
            </a:avLst>
          </a:prstGeom>
          <a:solidFill>
            <a:srgbClr val="9A3B4A"/>
          </a:solidFill>
          <a:ln/>
        </p:spPr>
      </p:sp>
      <p:pic>
        <p:nvPicPr>
          <p:cNvPr id="6" name="Image 0" descr="/home/claude/icons_flat/microchip.png">    </p:cNvPr>
          <p:cNvPicPr>
            <a:picLocks noChangeAspect="1"/>
          </p:cNvPicPr>
          <p:nvPr/>
        </p:nvPicPr>
        <p:blipFill>
          <a:blip r:embed="rId1"/>
          <a:stretch>
            <a:fillRect/>
          </a:stretch>
        </p:blipFill>
        <p:spPr>
          <a:xfrm>
            <a:off x="10927080" y="612648"/>
            <a:ext cx="411480" cy="411480"/>
          </a:xfrm>
          <a:prstGeom prst="rect">
            <a:avLst/>
          </a:prstGeom>
        </p:spPr>
      </p:pic>
      <p:sp>
        <p:nvSpPr>
          <p:cNvPr id="7" name="Text 4"/>
          <p:cNvSpPr txBox="1"/>
          <p:nvPr/>
        </p:nvSpPr>
        <p:spPr>
          <a:xfrm>
            <a:off x="548640" y="6537960"/>
            <a:ext cx="8229600" cy="256032"/>
          </a:xfrm>
          <a:prstGeom prst="rect">
            <a:avLst/>
          </a:prstGeom>
          <a:noFill/>
          <a:ln/>
        </p:spPr>
        <p:txBody>
          <a:bodyPr wrap="square" lIns="0" tIns="0" rIns="0" bIns="0" rtlCol="0" anchor="ctr"/>
          <a:lstStyle/>
          <a:p>
            <a:pPr indent="0" marL="0">
              <a:buNone/>
            </a:pPr>
            <a:r>
              <a:rPr lang="en-US" sz="950" dirty="0">
                <a:solidFill>
                  <a:srgbClr val="6B7688"/>
                </a:solidFill>
                <a:latin typeface="Calibri" pitchFamily="34" charset="0"/>
                <a:ea typeface="Calibri" pitchFamily="34" charset="-122"/>
                <a:cs typeface="Calibri" pitchFamily="34" charset="-120"/>
              </a:rPr>
              <a:t>Operating System Support — Chapter 8, William Stallings</a:t>
            </a:r>
            <a:endParaRPr lang="en-US" sz="950" dirty="0"/>
          </a:p>
        </p:txBody>
      </p:sp>
      <p:sp>
        <p:nvSpPr>
          <p:cNvPr id="8" name="Text 5"/>
          <p:cNvSpPr txBox="1"/>
          <p:nvPr/>
        </p:nvSpPr>
        <p:spPr>
          <a:xfrm>
            <a:off x="10515600" y="6537960"/>
            <a:ext cx="1097280" cy="256032"/>
          </a:xfrm>
          <a:prstGeom prst="rect">
            <a:avLst/>
          </a:prstGeom>
          <a:noFill/>
          <a:ln/>
        </p:spPr>
        <p:txBody>
          <a:bodyPr wrap="square" lIns="0" tIns="0" rIns="0" bIns="0" rtlCol="0" anchor="ctr"/>
          <a:lstStyle/>
          <a:p>
            <a:pPr algn="r" indent="0" marL="0">
              <a:buNone/>
            </a:pPr>
            <a:r>
              <a:rPr lang="en-US" sz="950" dirty="0">
                <a:solidFill>
                  <a:srgbClr val="6B7688"/>
                </a:solidFill>
                <a:latin typeface="Calibri" pitchFamily="34" charset="0"/>
                <a:ea typeface="Calibri" pitchFamily="34" charset="-122"/>
                <a:cs typeface="Calibri" pitchFamily="34" charset="-120"/>
              </a:rPr>
              <a:t>10/15</a:t>
            </a:r>
            <a:endParaRPr lang="en-US" sz="950" dirty="0"/>
          </a:p>
        </p:txBody>
      </p:sp>
      <p:sp>
        <p:nvSpPr>
          <p:cNvPr id="9" name="Text 6"/>
          <p:cNvSpPr txBox="1"/>
          <p:nvPr/>
        </p:nvSpPr>
        <p:spPr>
          <a:xfrm>
            <a:off x="548640" y="1600200"/>
            <a:ext cx="6400800" cy="274320"/>
          </a:xfrm>
          <a:prstGeom prst="rect">
            <a:avLst/>
          </a:prstGeom>
          <a:noFill/>
          <a:ln/>
        </p:spPr>
        <p:txBody>
          <a:bodyPr wrap="square" lIns="0" tIns="0" rIns="0" bIns="0" rtlCol="0" anchor="ctr"/>
          <a:lstStyle/>
          <a:p>
            <a:pPr indent="0" marL="0">
              <a:buNone/>
            </a:pPr>
            <a:r>
              <a:rPr lang="en-US" sz="1200" b="1" spc="100" kern="0" dirty="0">
                <a:solidFill>
                  <a:srgbClr val="9A3B4A"/>
                </a:solidFill>
                <a:latin typeface="Calibri" pitchFamily="34" charset="0"/>
                <a:ea typeface="Calibri" pitchFamily="34" charset="-122"/>
                <a:cs typeface="Calibri" pitchFamily="34" charset="-120"/>
              </a:rPr>
              <a:t>DEFINITION</a:t>
            </a:r>
            <a:endParaRPr lang="en-US" sz="1200" dirty="0"/>
          </a:p>
        </p:txBody>
      </p:sp>
      <p:sp>
        <p:nvSpPr>
          <p:cNvPr id="10" name="Shape 7"/>
          <p:cNvSpPr/>
          <p:nvPr/>
        </p:nvSpPr>
        <p:spPr>
          <a:xfrm>
            <a:off x="548640" y="1920240"/>
            <a:ext cx="6400800" cy="1188720"/>
          </a:xfrm>
          <a:prstGeom prst="roundRect">
            <a:avLst>
              <a:gd name="adj" fmla="val 6154"/>
            </a:avLst>
          </a:prstGeom>
          <a:solidFill>
            <a:srgbClr val="F5F7FA"/>
          </a:solidFill>
          <a:ln w="12700">
            <a:solidFill>
              <a:srgbClr val="DCE3EA"/>
            </a:solidFill>
            <a:prstDash val="solid"/>
          </a:ln>
        </p:spPr>
      </p:sp>
      <p:sp>
        <p:nvSpPr>
          <p:cNvPr id="11" name="Text 8"/>
          <p:cNvSpPr txBox="1"/>
          <p:nvPr/>
        </p:nvSpPr>
        <p:spPr>
          <a:xfrm>
            <a:off x="777240" y="2029968"/>
            <a:ext cx="5943600" cy="969264"/>
          </a:xfrm>
          <a:prstGeom prst="rect">
            <a:avLst/>
          </a:prstGeom>
          <a:noFill/>
          <a:ln/>
        </p:spPr>
        <p:txBody>
          <a:bodyPr wrap="square" lIns="0" tIns="0" rIns="0" bIns="0" rtlCol="0" anchor="ctr"/>
          <a:lstStyle/>
          <a:p>
            <a:pPr indent="0" marL="0">
              <a:lnSpc>
                <a:spcPct val="120000"/>
              </a:lnSpc>
              <a:buNone/>
            </a:pPr>
            <a:r>
              <a:rPr lang="en-US" sz="1450" dirty="0">
                <a:solidFill>
                  <a:srgbClr val="0B3556"/>
                </a:solidFill>
                <a:latin typeface="Calibri" pitchFamily="34" charset="0"/>
                <a:ea typeface="Calibri" pitchFamily="34" charset="-122"/>
                <a:cs typeface="Calibri" pitchFamily="34" charset="-120"/>
              </a:rPr>
              <a:t>Intel x86 processors manage memory in two stages: segmentation first, then paging — giving both logical structure and efficient physical memory use.</a:t>
            </a:r>
            <a:endParaRPr lang="en-US" sz="1450" dirty="0"/>
          </a:p>
        </p:txBody>
      </p:sp>
      <p:sp>
        <p:nvSpPr>
          <p:cNvPr id="12" name="Text 9"/>
          <p:cNvSpPr txBox="1"/>
          <p:nvPr/>
        </p:nvSpPr>
        <p:spPr>
          <a:xfrm>
            <a:off x="548640" y="3337560"/>
            <a:ext cx="6400800" cy="274320"/>
          </a:xfrm>
          <a:prstGeom prst="rect">
            <a:avLst/>
          </a:prstGeom>
          <a:noFill/>
          <a:ln/>
        </p:spPr>
        <p:txBody>
          <a:bodyPr wrap="square" lIns="0" tIns="0" rIns="0" bIns="0" rtlCol="0" anchor="ctr"/>
          <a:lstStyle/>
          <a:p>
            <a:pPr indent="0" marL="0">
              <a:buNone/>
            </a:pPr>
            <a:r>
              <a:rPr lang="en-US" sz="1200" b="1" spc="100" kern="0" dirty="0">
                <a:solidFill>
                  <a:srgbClr val="9A3B4A"/>
                </a:solidFill>
                <a:latin typeface="Calibri" pitchFamily="34" charset="0"/>
                <a:ea typeface="Calibri" pitchFamily="34" charset="-122"/>
                <a:cs typeface="Calibri" pitchFamily="34" charset="-120"/>
              </a:rPr>
              <a:t>KEY CHARACTERISTICS</a:t>
            </a:r>
            <a:endParaRPr lang="en-US" sz="1200" dirty="0"/>
          </a:p>
        </p:txBody>
      </p:sp>
      <p:sp>
        <p:nvSpPr>
          <p:cNvPr id="13" name="Shape 10"/>
          <p:cNvSpPr/>
          <p:nvPr/>
        </p:nvSpPr>
        <p:spPr>
          <a:xfrm>
            <a:off x="548640" y="3703320"/>
            <a:ext cx="237744" cy="237744"/>
          </a:xfrm>
          <a:prstGeom prst="ellipse">
            <a:avLst/>
          </a:prstGeom>
          <a:solidFill>
            <a:srgbClr val="9A3B4A"/>
          </a:solidFill>
          <a:ln/>
        </p:spPr>
      </p:sp>
      <p:pic>
        <p:nvPicPr>
          <p:cNvPr id="14" name="Image 1" descr="/home/claude/icons_flat/check.png">    </p:cNvPr>
          <p:cNvPicPr>
            <a:picLocks noChangeAspect="1"/>
          </p:cNvPicPr>
          <p:nvPr/>
        </p:nvPicPr>
        <p:blipFill>
          <a:blip r:embed="rId2"/>
          <a:stretch>
            <a:fillRect/>
          </a:stretch>
        </p:blipFill>
        <p:spPr>
          <a:xfrm>
            <a:off x="585216" y="3739896"/>
            <a:ext cx="164592" cy="164592"/>
          </a:xfrm>
          <a:prstGeom prst="rect">
            <a:avLst/>
          </a:prstGeom>
        </p:spPr>
      </p:pic>
      <p:sp>
        <p:nvSpPr>
          <p:cNvPr id="15" name="Text 11"/>
          <p:cNvSpPr txBox="1"/>
          <p:nvPr/>
        </p:nvSpPr>
        <p:spPr>
          <a:xfrm>
            <a:off x="914400" y="3630168"/>
            <a:ext cx="6035040" cy="457200"/>
          </a:xfrm>
          <a:prstGeom prst="rect">
            <a:avLst/>
          </a:prstGeom>
          <a:noFill/>
          <a:ln/>
        </p:spPr>
        <p:txBody>
          <a:bodyPr wrap="square" lIns="0" tIns="0" rIns="0" bIns="0" rtlCol="0" anchor="ctr"/>
          <a:lstStyle/>
          <a:p>
            <a:pPr indent="0" marL="0">
              <a:lnSpc>
                <a:spcPct val="105000"/>
              </a:lnSpc>
              <a:buNone/>
            </a:pPr>
            <a:r>
              <a:rPr lang="en-US" sz="1300" dirty="0">
                <a:solidFill>
                  <a:srgbClr val="0B3556"/>
                </a:solidFill>
                <a:latin typeface="Calibri" pitchFamily="34" charset="0"/>
                <a:ea typeface="Calibri" pitchFamily="34" charset="-122"/>
                <a:cs typeface="Calibri" pitchFamily="34" charset="-120"/>
              </a:rPr>
              <a:t>Segmentation divides a program into logical parts: code, data, stack</a:t>
            </a:r>
            <a:endParaRPr lang="en-US" sz="1300" dirty="0"/>
          </a:p>
        </p:txBody>
      </p:sp>
      <p:sp>
        <p:nvSpPr>
          <p:cNvPr id="16" name="Shape 12"/>
          <p:cNvSpPr/>
          <p:nvPr/>
        </p:nvSpPr>
        <p:spPr>
          <a:xfrm>
            <a:off x="548640" y="4270248"/>
            <a:ext cx="237744" cy="237744"/>
          </a:xfrm>
          <a:prstGeom prst="ellipse">
            <a:avLst/>
          </a:prstGeom>
          <a:solidFill>
            <a:srgbClr val="9A3B4A"/>
          </a:solidFill>
          <a:ln/>
        </p:spPr>
      </p:sp>
      <p:pic>
        <p:nvPicPr>
          <p:cNvPr id="17" name="Image 2" descr="/home/claude/icons_flat/check.png">    </p:cNvPr>
          <p:cNvPicPr>
            <a:picLocks noChangeAspect="1"/>
          </p:cNvPicPr>
          <p:nvPr/>
        </p:nvPicPr>
        <p:blipFill>
          <a:blip r:embed="rId3"/>
          <a:stretch>
            <a:fillRect/>
          </a:stretch>
        </p:blipFill>
        <p:spPr>
          <a:xfrm>
            <a:off x="585216" y="4306824"/>
            <a:ext cx="164592" cy="164592"/>
          </a:xfrm>
          <a:prstGeom prst="rect">
            <a:avLst/>
          </a:prstGeom>
        </p:spPr>
      </p:pic>
      <p:sp>
        <p:nvSpPr>
          <p:cNvPr id="18" name="Text 13"/>
          <p:cNvSpPr txBox="1"/>
          <p:nvPr/>
        </p:nvSpPr>
        <p:spPr>
          <a:xfrm>
            <a:off x="914400" y="4197096"/>
            <a:ext cx="6035040" cy="457200"/>
          </a:xfrm>
          <a:prstGeom prst="rect">
            <a:avLst/>
          </a:prstGeom>
          <a:noFill/>
          <a:ln/>
        </p:spPr>
        <p:txBody>
          <a:bodyPr wrap="square" lIns="0" tIns="0" rIns="0" bIns="0" rtlCol="0" anchor="ctr"/>
          <a:lstStyle/>
          <a:p>
            <a:pPr indent="0" marL="0">
              <a:lnSpc>
                <a:spcPct val="105000"/>
              </a:lnSpc>
              <a:buNone/>
            </a:pPr>
            <a:r>
              <a:rPr lang="en-US" sz="1300" dirty="0">
                <a:solidFill>
                  <a:srgbClr val="0B3556"/>
                </a:solidFill>
                <a:latin typeface="Calibri" pitchFamily="34" charset="0"/>
                <a:ea typeface="Calibri" pitchFamily="34" charset="-122"/>
                <a:cs typeface="Calibri" pitchFamily="34" charset="-120"/>
              </a:rPr>
              <a:t>Segment tables (GDT / LDT) describe where each segment lives</a:t>
            </a:r>
            <a:endParaRPr lang="en-US" sz="1300" dirty="0"/>
          </a:p>
        </p:txBody>
      </p:sp>
      <p:sp>
        <p:nvSpPr>
          <p:cNvPr id="19" name="Shape 14"/>
          <p:cNvSpPr/>
          <p:nvPr/>
        </p:nvSpPr>
        <p:spPr>
          <a:xfrm>
            <a:off x="548640" y="4837176"/>
            <a:ext cx="237744" cy="237744"/>
          </a:xfrm>
          <a:prstGeom prst="ellipse">
            <a:avLst/>
          </a:prstGeom>
          <a:solidFill>
            <a:srgbClr val="9A3B4A"/>
          </a:solidFill>
          <a:ln/>
        </p:spPr>
      </p:sp>
      <p:pic>
        <p:nvPicPr>
          <p:cNvPr id="20" name="Image 3" descr="/home/claude/icons_flat/check.png">    </p:cNvPr>
          <p:cNvPicPr>
            <a:picLocks noChangeAspect="1"/>
          </p:cNvPicPr>
          <p:nvPr/>
        </p:nvPicPr>
        <p:blipFill>
          <a:blip r:embed="rId4"/>
          <a:stretch>
            <a:fillRect/>
          </a:stretch>
        </p:blipFill>
        <p:spPr>
          <a:xfrm>
            <a:off x="585216" y="4873752"/>
            <a:ext cx="164592" cy="164592"/>
          </a:xfrm>
          <a:prstGeom prst="rect">
            <a:avLst/>
          </a:prstGeom>
        </p:spPr>
      </p:pic>
      <p:sp>
        <p:nvSpPr>
          <p:cNvPr id="21" name="Text 15"/>
          <p:cNvSpPr txBox="1"/>
          <p:nvPr/>
        </p:nvSpPr>
        <p:spPr>
          <a:xfrm>
            <a:off x="914400" y="4764024"/>
            <a:ext cx="6035040" cy="457200"/>
          </a:xfrm>
          <a:prstGeom prst="rect">
            <a:avLst/>
          </a:prstGeom>
          <a:noFill/>
          <a:ln/>
        </p:spPr>
        <p:txBody>
          <a:bodyPr wrap="square" lIns="0" tIns="0" rIns="0" bIns="0" rtlCol="0" anchor="ctr"/>
          <a:lstStyle/>
          <a:p>
            <a:pPr indent="0" marL="0">
              <a:lnSpc>
                <a:spcPct val="105000"/>
              </a:lnSpc>
              <a:buNone/>
            </a:pPr>
            <a:r>
              <a:rPr lang="en-US" sz="1300" dirty="0">
                <a:solidFill>
                  <a:srgbClr val="0B3556"/>
                </a:solidFill>
                <a:latin typeface="Calibri" pitchFamily="34" charset="0"/>
                <a:ea typeface="Calibri" pitchFamily="34" charset="-122"/>
                <a:cs typeface="Calibri" pitchFamily="34" charset="-120"/>
              </a:rPr>
              <a:t>After segmentation, paging further splits memory into fixed 4KB pages</a:t>
            </a:r>
            <a:endParaRPr lang="en-US" sz="1300" dirty="0"/>
          </a:p>
        </p:txBody>
      </p:sp>
      <p:sp>
        <p:nvSpPr>
          <p:cNvPr id="22" name="Shape 16"/>
          <p:cNvSpPr/>
          <p:nvPr/>
        </p:nvSpPr>
        <p:spPr>
          <a:xfrm>
            <a:off x="548640" y="5404104"/>
            <a:ext cx="237744" cy="237744"/>
          </a:xfrm>
          <a:prstGeom prst="ellipse">
            <a:avLst/>
          </a:prstGeom>
          <a:solidFill>
            <a:srgbClr val="9A3B4A"/>
          </a:solidFill>
          <a:ln/>
        </p:spPr>
      </p:sp>
      <p:pic>
        <p:nvPicPr>
          <p:cNvPr id="23" name="Image 4" descr="/home/claude/icons_flat/check.png">    </p:cNvPr>
          <p:cNvPicPr>
            <a:picLocks noChangeAspect="1"/>
          </p:cNvPicPr>
          <p:nvPr/>
        </p:nvPicPr>
        <p:blipFill>
          <a:blip r:embed="rId5"/>
          <a:stretch>
            <a:fillRect/>
          </a:stretch>
        </p:blipFill>
        <p:spPr>
          <a:xfrm>
            <a:off x="585216" y="5440680"/>
            <a:ext cx="164592" cy="164592"/>
          </a:xfrm>
          <a:prstGeom prst="rect">
            <a:avLst/>
          </a:prstGeom>
        </p:spPr>
      </p:pic>
      <p:sp>
        <p:nvSpPr>
          <p:cNvPr id="24" name="Text 17"/>
          <p:cNvSpPr txBox="1"/>
          <p:nvPr/>
        </p:nvSpPr>
        <p:spPr>
          <a:xfrm>
            <a:off x="914400" y="5330952"/>
            <a:ext cx="6035040" cy="457200"/>
          </a:xfrm>
          <a:prstGeom prst="rect">
            <a:avLst/>
          </a:prstGeom>
          <a:noFill/>
          <a:ln/>
        </p:spPr>
        <p:txBody>
          <a:bodyPr wrap="square" lIns="0" tIns="0" rIns="0" bIns="0" rtlCol="0" anchor="ctr"/>
          <a:lstStyle/>
          <a:p>
            <a:pPr indent="0" marL="0">
              <a:lnSpc>
                <a:spcPct val="105000"/>
              </a:lnSpc>
              <a:buNone/>
            </a:pPr>
            <a:r>
              <a:rPr lang="en-US" sz="1300" dirty="0">
                <a:solidFill>
                  <a:srgbClr val="0B3556"/>
                </a:solidFill>
                <a:latin typeface="Calibri" pitchFamily="34" charset="0"/>
                <a:ea typeface="Calibri" pitchFamily="34" charset="-122"/>
                <a:cs typeface="Calibri" pitchFamily="34" charset="-120"/>
              </a:rPr>
              <a:t>Protection rings (0–3) control what code is allowed to do</a:t>
            </a:r>
            <a:endParaRPr lang="en-US" sz="1300" dirty="0"/>
          </a:p>
        </p:txBody>
      </p:sp>
      <p:sp>
        <p:nvSpPr>
          <p:cNvPr id="25" name="Shape 18"/>
          <p:cNvSpPr/>
          <p:nvPr/>
        </p:nvSpPr>
        <p:spPr>
          <a:xfrm>
            <a:off x="7269480" y="1600200"/>
            <a:ext cx="4343400" cy="4480560"/>
          </a:xfrm>
          <a:prstGeom prst="roundRect">
            <a:avLst>
              <a:gd name="adj" fmla="val 2105"/>
            </a:avLst>
          </a:prstGeom>
          <a:solidFill>
            <a:srgbClr val="9A3B4A"/>
          </a:solidFill>
          <a:ln/>
        </p:spPr>
      </p:sp>
      <p:sp>
        <p:nvSpPr>
          <p:cNvPr id="26" name="Shape 19"/>
          <p:cNvSpPr/>
          <p:nvPr/>
        </p:nvSpPr>
        <p:spPr>
          <a:xfrm>
            <a:off x="7543800" y="1874520"/>
            <a:ext cx="548640" cy="548640"/>
          </a:xfrm>
          <a:prstGeom prst="roundRect">
            <a:avLst>
              <a:gd name="adj" fmla="val 20000"/>
            </a:avLst>
          </a:prstGeom>
          <a:solidFill>
            <a:srgbClr val="FFFFFF">
              <a:alpha val="85000"/>
            </a:srgbClr>
          </a:solidFill>
          <a:ln/>
        </p:spPr>
      </p:sp>
      <p:pic>
        <p:nvPicPr>
          <p:cNvPr id="27" name="Image 5" descr="/home/claude/icons_flat/bulb.png">    </p:cNvPr>
          <p:cNvPicPr>
            <a:picLocks noChangeAspect="1"/>
          </p:cNvPicPr>
          <p:nvPr/>
        </p:nvPicPr>
        <p:blipFill>
          <a:blip r:embed="rId6"/>
          <a:stretch>
            <a:fillRect/>
          </a:stretch>
        </p:blipFill>
        <p:spPr>
          <a:xfrm>
            <a:off x="7680960" y="2011680"/>
            <a:ext cx="274320" cy="274320"/>
          </a:xfrm>
          <a:prstGeom prst="rect">
            <a:avLst/>
          </a:prstGeom>
        </p:spPr>
      </p:pic>
      <p:sp>
        <p:nvSpPr>
          <p:cNvPr id="28" name="Text 20"/>
          <p:cNvSpPr txBox="1"/>
          <p:nvPr/>
        </p:nvSpPr>
        <p:spPr>
          <a:xfrm>
            <a:off x="7543800" y="2542032"/>
            <a:ext cx="3840480" cy="320040"/>
          </a:xfrm>
          <a:prstGeom prst="rect">
            <a:avLst/>
          </a:prstGeom>
          <a:noFill/>
          <a:ln/>
        </p:spPr>
        <p:txBody>
          <a:bodyPr wrap="square" lIns="0" tIns="0" rIns="0" bIns="0" rtlCol="0" anchor="ctr"/>
          <a:lstStyle/>
          <a:p>
            <a:pPr indent="0" marL="0">
              <a:buNone/>
            </a:pPr>
            <a:r>
              <a:rPr lang="en-US" sz="1300" b="1" spc="100" kern="0" dirty="0">
                <a:solidFill>
                  <a:srgbClr val="FFFFFF"/>
                </a:solidFill>
                <a:latin typeface="Calibri" pitchFamily="34" charset="0"/>
                <a:ea typeface="Calibri" pitchFamily="34" charset="-122"/>
                <a:cs typeface="Calibri" pitchFamily="34" charset="-120"/>
              </a:rPr>
              <a:t>WHY IT MATTERS</a:t>
            </a:r>
            <a:endParaRPr lang="en-US" sz="1300" dirty="0"/>
          </a:p>
        </p:txBody>
      </p:sp>
      <p:sp>
        <p:nvSpPr>
          <p:cNvPr id="29" name="Text 21"/>
          <p:cNvSpPr txBox="1"/>
          <p:nvPr/>
        </p:nvSpPr>
        <p:spPr>
          <a:xfrm>
            <a:off x="7543800" y="2926080"/>
            <a:ext cx="3840480" cy="3017520"/>
          </a:xfrm>
          <a:prstGeom prst="rect">
            <a:avLst/>
          </a:prstGeom>
          <a:noFill/>
          <a:ln/>
        </p:spPr>
        <p:txBody>
          <a:bodyPr wrap="square" lIns="0" tIns="0" rIns="0" bIns="0" rtlCol="0" anchor="t"/>
          <a:lstStyle/>
          <a:p>
            <a:pPr indent="0" marL="0">
              <a:lnSpc>
                <a:spcPct val="135000"/>
              </a:lnSpc>
              <a:buNone/>
            </a:pPr>
            <a:r>
              <a:rPr lang="en-US" sz="1400" dirty="0">
                <a:solidFill>
                  <a:srgbClr val="FFFFFF"/>
                </a:solidFill>
                <a:latin typeface="Calibri" pitchFamily="34" charset="0"/>
                <a:ea typeface="Calibri" pitchFamily="34" charset="-122"/>
                <a:cs typeface="Calibri" pitchFamily="34" charset="-120"/>
              </a:rPr>
              <a:t>The two-stage design lets x86 systems run many isolated programs safely and efficiently on the same physical hardware — a foundation for both classic multitasking and modern virtualization.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686800" cy="274320"/>
          </a:xfrm>
          <a:prstGeom prst="rect">
            <a:avLst/>
          </a:prstGeom>
          <a:noFill/>
          <a:ln/>
        </p:spPr>
        <p:txBody>
          <a:bodyPr wrap="square" lIns="0" tIns="0" rIns="0" bIns="0" rtlCol="0" anchor="ctr"/>
          <a:lstStyle/>
          <a:p>
            <a:pPr indent="0" marL="0">
              <a:buNone/>
            </a:pPr>
            <a:r>
              <a:rPr lang="en-US" sz="1100" spc="100" kern="0" dirty="0">
                <a:solidFill>
                  <a:srgbClr val="6B7688"/>
                </a:solidFill>
                <a:latin typeface="Calibri" pitchFamily="34" charset="0"/>
                <a:ea typeface="Calibri" pitchFamily="34" charset="-122"/>
                <a:cs typeface="Calibri" pitchFamily="34" charset="-120"/>
              </a:rPr>
              <a:t>CH.8  ·  OPERATING SYSTEM SUPPORT  ·  2.4</a:t>
            </a:r>
            <a:endParaRPr lang="en-US" sz="1100" dirty="0"/>
          </a:p>
        </p:txBody>
      </p:sp>
      <p:sp>
        <p:nvSpPr>
          <p:cNvPr id="3" name="Text 1"/>
          <p:cNvSpPr txBox="1"/>
          <p:nvPr/>
        </p:nvSpPr>
        <p:spPr>
          <a:xfrm>
            <a:off x="548640" y="566928"/>
            <a:ext cx="8961120" cy="548640"/>
          </a:xfrm>
          <a:prstGeom prst="rect">
            <a:avLst/>
          </a:prstGeom>
          <a:noFill/>
          <a:ln/>
        </p:spPr>
        <p:txBody>
          <a:bodyPr wrap="square" lIns="0" tIns="0" rIns="0" bIns="0" rtlCol="0" anchor="ctr"/>
          <a:lstStyle/>
          <a:p>
            <a:pPr indent="0" marL="0">
              <a:buNone/>
            </a:pPr>
            <a:r>
              <a:rPr lang="en-US" sz="3000" b="1" dirty="0">
                <a:solidFill>
                  <a:srgbClr val="0B3556"/>
                </a:solidFill>
                <a:latin typeface="Cambria" pitchFamily="34" charset="0"/>
                <a:ea typeface="Cambria" pitchFamily="34" charset="-122"/>
                <a:cs typeface="Cambria" pitchFamily="34" charset="-120"/>
              </a:rPr>
              <a:t>Intel x86 Memory Management</a:t>
            </a:r>
            <a:endParaRPr lang="en-US" sz="3000" dirty="0"/>
          </a:p>
        </p:txBody>
      </p:sp>
      <p:sp>
        <p:nvSpPr>
          <p:cNvPr id="4" name="Text 2"/>
          <p:cNvSpPr txBox="1"/>
          <p:nvPr/>
        </p:nvSpPr>
        <p:spPr>
          <a:xfrm>
            <a:off x="548640" y="1078992"/>
            <a:ext cx="8961120" cy="320040"/>
          </a:xfrm>
          <a:prstGeom prst="rect">
            <a:avLst/>
          </a:prstGeom>
          <a:noFill/>
          <a:ln/>
        </p:spPr>
        <p:txBody>
          <a:bodyPr wrap="square" lIns="0" tIns="0" rIns="0" bIns="0" rtlCol="0" anchor="ctr"/>
          <a:lstStyle/>
          <a:p>
            <a:pPr indent="0" marL="0">
              <a:buNone/>
            </a:pPr>
            <a:r>
              <a:rPr lang="en-US" sz="1400" i="1" dirty="0">
                <a:solidFill>
                  <a:srgbClr val="9A3B4A"/>
                </a:solidFill>
                <a:latin typeface="Calibri" pitchFamily="34" charset="0"/>
                <a:ea typeface="Calibri" pitchFamily="34" charset="-122"/>
                <a:cs typeface="Calibri" pitchFamily="34" charset="-120"/>
              </a:rPr>
              <a:t>Technical Example</a:t>
            </a:r>
            <a:endParaRPr lang="en-US" sz="1400" dirty="0"/>
          </a:p>
        </p:txBody>
      </p:sp>
      <p:sp>
        <p:nvSpPr>
          <p:cNvPr id="5" name="Shape 3"/>
          <p:cNvSpPr/>
          <p:nvPr/>
        </p:nvSpPr>
        <p:spPr>
          <a:xfrm>
            <a:off x="10698480" y="384048"/>
            <a:ext cx="868680" cy="868680"/>
          </a:xfrm>
          <a:prstGeom prst="roundRect">
            <a:avLst>
              <a:gd name="adj" fmla="val 16842"/>
            </a:avLst>
          </a:prstGeom>
          <a:solidFill>
            <a:srgbClr val="9A3B4A"/>
          </a:solidFill>
          <a:ln/>
        </p:spPr>
      </p:sp>
      <p:pic>
        <p:nvPicPr>
          <p:cNvPr id="6" name="Image 0" descr="/home/claude/icons_flat/microchip.png">    </p:cNvPr>
          <p:cNvPicPr>
            <a:picLocks noChangeAspect="1"/>
          </p:cNvPicPr>
          <p:nvPr/>
        </p:nvPicPr>
        <p:blipFill>
          <a:blip r:embed="rId1"/>
          <a:stretch>
            <a:fillRect/>
          </a:stretch>
        </p:blipFill>
        <p:spPr>
          <a:xfrm>
            <a:off x="10927080" y="612648"/>
            <a:ext cx="411480" cy="411480"/>
          </a:xfrm>
          <a:prstGeom prst="rect">
            <a:avLst/>
          </a:prstGeom>
        </p:spPr>
      </p:pic>
      <p:sp>
        <p:nvSpPr>
          <p:cNvPr id="7" name="Text 4"/>
          <p:cNvSpPr txBox="1"/>
          <p:nvPr/>
        </p:nvSpPr>
        <p:spPr>
          <a:xfrm>
            <a:off x="548640" y="6537960"/>
            <a:ext cx="8229600" cy="256032"/>
          </a:xfrm>
          <a:prstGeom prst="rect">
            <a:avLst/>
          </a:prstGeom>
          <a:noFill/>
          <a:ln/>
        </p:spPr>
        <p:txBody>
          <a:bodyPr wrap="square" lIns="0" tIns="0" rIns="0" bIns="0" rtlCol="0" anchor="ctr"/>
          <a:lstStyle/>
          <a:p>
            <a:pPr indent="0" marL="0">
              <a:buNone/>
            </a:pPr>
            <a:r>
              <a:rPr lang="en-US" sz="950" dirty="0">
                <a:solidFill>
                  <a:srgbClr val="6B7688"/>
                </a:solidFill>
                <a:latin typeface="Calibri" pitchFamily="34" charset="0"/>
                <a:ea typeface="Calibri" pitchFamily="34" charset="-122"/>
                <a:cs typeface="Calibri" pitchFamily="34" charset="-120"/>
              </a:rPr>
              <a:t>Operating System Support — Chapter 8, William Stallings</a:t>
            </a:r>
            <a:endParaRPr lang="en-US" sz="950" dirty="0"/>
          </a:p>
        </p:txBody>
      </p:sp>
      <p:sp>
        <p:nvSpPr>
          <p:cNvPr id="8" name="Text 5"/>
          <p:cNvSpPr txBox="1"/>
          <p:nvPr/>
        </p:nvSpPr>
        <p:spPr>
          <a:xfrm>
            <a:off x="10515600" y="6537960"/>
            <a:ext cx="1097280" cy="256032"/>
          </a:xfrm>
          <a:prstGeom prst="rect">
            <a:avLst/>
          </a:prstGeom>
          <a:noFill/>
          <a:ln/>
        </p:spPr>
        <p:txBody>
          <a:bodyPr wrap="square" lIns="0" tIns="0" rIns="0" bIns="0" rtlCol="0" anchor="ctr"/>
          <a:lstStyle/>
          <a:p>
            <a:pPr algn="r" indent="0" marL="0">
              <a:buNone/>
            </a:pPr>
            <a:r>
              <a:rPr lang="en-US" sz="950" dirty="0">
                <a:solidFill>
                  <a:srgbClr val="6B7688"/>
                </a:solidFill>
                <a:latin typeface="Calibri" pitchFamily="34" charset="0"/>
                <a:ea typeface="Calibri" pitchFamily="34" charset="-122"/>
                <a:cs typeface="Calibri" pitchFamily="34" charset="-120"/>
              </a:rPr>
              <a:t>11/15</a:t>
            </a:r>
            <a:endParaRPr lang="en-US" sz="950" dirty="0"/>
          </a:p>
        </p:txBody>
      </p:sp>
      <p:sp>
        <p:nvSpPr>
          <p:cNvPr id="9" name="Shape 6"/>
          <p:cNvSpPr/>
          <p:nvPr/>
        </p:nvSpPr>
        <p:spPr>
          <a:xfrm>
            <a:off x="548640" y="1691640"/>
            <a:ext cx="11064240" cy="2286000"/>
          </a:xfrm>
          <a:prstGeom prst="roundRect">
            <a:avLst>
              <a:gd name="adj" fmla="val 4000"/>
            </a:avLst>
          </a:prstGeom>
          <a:solidFill>
            <a:srgbClr val="F5F7FA"/>
          </a:solidFill>
          <a:ln w="12700">
            <a:solidFill>
              <a:srgbClr val="DCE3EA"/>
            </a:solidFill>
            <a:prstDash val="solid"/>
          </a:ln>
        </p:spPr>
      </p:sp>
      <p:sp>
        <p:nvSpPr>
          <p:cNvPr id="10" name="Shape 7"/>
          <p:cNvSpPr/>
          <p:nvPr/>
        </p:nvSpPr>
        <p:spPr>
          <a:xfrm>
            <a:off x="868680" y="1965960"/>
            <a:ext cx="502920" cy="502920"/>
          </a:xfrm>
          <a:prstGeom prst="roundRect">
            <a:avLst>
              <a:gd name="adj" fmla="val 18182"/>
            </a:avLst>
          </a:prstGeom>
          <a:solidFill>
            <a:srgbClr val="9A3B4A"/>
          </a:solidFill>
          <a:ln/>
        </p:spPr>
      </p:sp>
      <p:pic>
        <p:nvPicPr>
          <p:cNvPr id="11" name="Image 1" descr="/home/claude/icons_flat/bulb.png">    </p:cNvPr>
          <p:cNvPicPr>
            <a:picLocks noChangeAspect="1"/>
          </p:cNvPicPr>
          <p:nvPr/>
        </p:nvPicPr>
        <p:blipFill>
          <a:blip r:embed="rId2"/>
          <a:stretch>
            <a:fillRect/>
          </a:stretch>
        </p:blipFill>
        <p:spPr>
          <a:xfrm>
            <a:off x="987552" y="2084832"/>
            <a:ext cx="265176" cy="265176"/>
          </a:xfrm>
          <a:prstGeom prst="rect">
            <a:avLst/>
          </a:prstGeom>
        </p:spPr>
      </p:pic>
      <p:sp>
        <p:nvSpPr>
          <p:cNvPr id="12" name="Text 8"/>
          <p:cNvSpPr txBox="1"/>
          <p:nvPr/>
        </p:nvSpPr>
        <p:spPr>
          <a:xfrm>
            <a:off x="1508760" y="2048256"/>
            <a:ext cx="5486400" cy="365760"/>
          </a:xfrm>
          <a:prstGeom prst="rect">
            <a:avLst/>
          </a:prstGeom>
          <a:noFill/>
          <a:ln/>
        </p:spPr>
        <p:txBody>
          <a:bodyPr wrap="square" lIns="0" tIns="0" rIns="0" bIns="0" rtlCol="0" anchor="ctr"/>
          <a:lstStyle/>
          <a:p>
            <a:pPr indent="0" marL="0">
              <a:buNone/>
            </a:pPr>
            <a:r>
              <a:rPr lang="en-US" sz="1300" b="1" spc="100" kern="0" dirty="0">
                <a:solidFill>
                  <a:srgbClr val="9A3B4A"/>
                </a:solidFill>
                <a:latin typeface="Calibri" pitchFamily="34" charset="0"/>
                <a:ea typeface="Calibri" pitchFamily="34" charset="-122"/>
                <a:cs typeface="Calibri" pitchFamily="34" charset="-120"/>
              </a:rPr>
              <a:t>EXAMPLE IN PRACTICE</a:t>
            </a:r>
            <a:endParaRPr lang="en-US" sz="1300" dirty="0"/>
          </a:p>
        </p:txBody>
      </p:sp>
      <p:sp>
        <p:nvSpPr>
          <p:cNvPr id="13" name="Text 9"/>
          <p:cNvSpPr txBox="1"/>
          <p:nvPr/>
        </p:nvSpPr>
        <p:spPr>
          <a:xfrm>
            <a:off x="868680" y="2697480"/>
            <a:ext cx="10424160" cy="1188720"/>
          </a:xfrm>
          <a:prstGeom prst="rect">
            <a:avLst/>
          </a:prstGeom>
          <a:noFill/>
          <a:ln/>
        </p:spPr>
        <p:txBody>
          <a:bodyPr wrap="square" lIns="0" tIns="0" rIns="0" bIns="0" rtlCol="0" anchor="t"/>
          <a:lstStyle/>
          <a:p>
            <a:pPr indent="0" marL="0">
              <a:lnSpc>
                <a:spcPct val="135000"/>
              </a:lnSpc>
              <a:buNone/>
            </a:pPr>
            <a:r>
              <a:rPr lang="en-US" sz="1600" dirty="0">
                <a:solidFill>
                  <a:srgbClr val="0B3556"/>
                </a:solidFill>
                <a:latin typeface="Calibri" pitchFamily="34" charset="0"/>
                <a:ea typeface="Calibri" pitchFamily="34" charset="-122"/>
                <a:cs typeface="Calibri" pitchFamily="34" charset="-120"/>
              </a:rPr>
              <a:t>When Windows runs on an x86 PC, the kernel executes in Ring 0 with full hardware access, while your web browser runs in Ring 3. If the browser tries to directly access a disk controller, the x86 protection hardware blocks it — forcing it to politely ask the kernel instead.</a:t>
            </a:r>
            <a:endParaRPr lang="en-US" sz="1600" dirty="0"/>
          </a:p>
        </p:txBody>
      </p:sp>
      <p:sp>
        <p:nvSpPr>
          <p:cNvPr id="14" name="Shape 10"/>
          <p:cNvSpPr/>
          <p:nvPr/>
        </p:nvSpPr>
        <p:spPr>
          <a:xfrm>
            <a:off x="548640" y="4251960"/>
            <a:ext cx="1417320" cy="411480"/>
          </a:xfrm>
          <a:prstGeom prst="roundRect">
            <a:avLst>
              <a:gd name="adj" fmla="val 48889"/>
            </a:avLst>
          </a:prstGeom>
          <a:solidFill>
            <a:srgbClr val="9A3B4A"/>
          </a:solidFill>
          <a:ln/>
        </p:spPr>
      </p:sp>
      <p:sp>
        <p:nvSpPr>
          <p:cNvPr id="15" name="Text 11"/>
          <p:cNvSpPr txBox="1"/>
          <p:nvPr/>
        </p:nvSpPr>
        <p:spPr>
          <a:xfrm>
            <a:off x="548640" y="4251960"/>
            <a:ext cx="1417320" cy="41148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KEY INSIGHT</a:t>
            </a:r>
            <a:endParaRPr lang="en-US" sz="1050" dirty="0"/>
          </a:p>
        </p:txBody>
      </p:sp>
      <p:sp>
        <p:nvSpPr>
          <p:cNvPr id="16" name="Text 12"/>
          <p:cNvSpPr txBox="1"/>
          <p:nvPr/>
        </p:nvSpPr>
        <p:spPr>
          <a:xfrm>
            <a:off x="2148840" y="4251960"/>
            <a:ext cx="9464040" cy="411480"/>
          </a:xfrm>
          <a:prstGeom prst="rect">
            <a:avLst/>
          </a:prstGeom>
          <a:noFill/>
          <a:ln/>
        </p:spPr>
        <p:txBody>
          <a:bodyPr wrap="square" lIns="0" tIns="0" rIns="0" bIns="0" rtlCol="0" anchor="ctr"/>
          <a:lstStyle/>
          <a:p>
            <a:pPr indent="0" marL="0">
              <a:buNone/>
            </a:pPr>
            <a:r>
              <a:rPr lang="en-US" sz="1400" b="1" i="1" dirty="0">
                <a:solidFill>
                  <a:srgbClr val="0B3556"/>
                </a:solidFill>
                <a:latin typeface="Calibri" pitchFamily="34" charset="0"/>
                <a:ea typeface="Calibri" pitchFamily="34" charset="-122"/>
                <a:cs typeface="Calibri" pitchFamily="34" charset="-120"/>
              </a:rPr>
              <a:t>The x86 protection-ring model is a big part of why a crashing app rarely takes down the whole operating system.</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686800" cy="274320"/>
          </a:xfrm>
          <a:prstGeom prst="rect">
            <a:avLst/>
          </a:prstGeom>
          <a:noFill/>
          <a:ln/>
        </p:spPr>
        <p:txBody>
          <a:bodyPr wrap="square" lIns="0" tIns="0" rIns="0" bIns="0" rtlCol="0" anchor="ctr"/>
          <a:lstStyle/>
          <a:p>
            <a:pPr indent="0" marL="0">
              <a:buNone/>
            </a:pPr>
            <a:r>
              <a:rPr lang="en-US" sz="1100" spc="100" kern="0" dirty="0">
                <a:solidFill>
                  <a:srgbClr val="6B7688"/>
                </a:solidFill>
                <a:latin typeface="Calibri" pitchFamily="34" charset="0"/>
                <a:ea typeface="Calibri" pitchFamily="34" charset="-122"/>
                <a:cs typeface="Calibri" pitchFamily="34" charset="-120"/>
              </a:rPr>
              <a:t>CH.8  ·  OPERATING SYSTEM SUPPORT  ·  2.4</a:t>
            </a:r>
            <a:endParaRPr lang="en-US" sz="1100" dirty="0"/>
          </a:p>
        </p:txBody>
      </p:sp>
      <p:sp>
        <p:nvSpPr>
          <p:cNvPr id="3" name="Text 1"/>
          <p:cNvSpPr txBox="1"/>
          <p:nvPr/>
        </p:nvSpPr>
        <p:spPr>
          <a:xfrm>
            <a:off x="548640" y="566928"/>
            <a:ext cx="8961120" cy="548640"/>
          </a:xfrm>
          <a:prstGeom prst="rect">
            <a:avLst/>
          </a:prstGeom>
          <a:noFill/>
          <a:ln/>
        </p:spPr>
        <p:txBody>
          <a:bodyPr wrap="square" lIns="0" tIns="0" rIns="0" bIns="0" rtlCol="0" anchor="ctr"/>
          <a:lstStyle/>
          <a:p>
            <a:pPr indent="0" marL="0">
              <a:buNone/>
            </a:pPr>
            <a:r>
              <a:rPr lang="en-US" sz="3000" b="1" dirty="0">
                <a:solidFill>
                  <a:srgbClr val="0B3556"/>
                </a:solidFill>
                <a:latin typeface="Cambria" pitchFamily="34" charset="0"/>
                <a:ea typeface="Cambria" pitchFamily="34" charset="-122"/>
                <a:cs typeface="Cambria" pitchFamily="34" charset="-120"/>
              </a:rPr>
              <a:t>Intel x86 Memory Management</a:t>
            </a:r>
            <a:endParaRPr lang="en-US" sz="3000" dirty="0"/>
          </a:p>
        </p:txBody>
      </p:sp>
      <p:sp>
        <p:nvSpPr>
          <p:cNvPr id="4" name="Text 2"/>
          <p:cNvSpPr txBox="1"/>
          <p:nvPr/>
        </p:nvSpPr>
        <p:spPr>
          <a:xfrm>
            <a:off x="548640" y="1078992"/>
            <a:ext cx="8961120" cy="320040"/>
          </a:xfrm>
          <a:prstGeom prst="rect">
            <a:avLst/>
          </a:prstGeom>
          <a:noFill/>
          <a:ln/>
        </p:spPr>
        <p:txBody>
          <a:bodyPr wrap="square" lIns="0" tIns="0" rIns="0" bIns="0" rtlCol="0" anchor="ctr"/>
          <a:lstStyle/>
          <a:p>
            <a:pPr indent="0" marL="0">
              <a:buNone/>
            </a:pPr>
            <a:r>
              <a:rPr lang="en-US" sz="1400" i="1" dirty="0">
                <a:solidFill>
                  <a:srgbClr val="9A3B4A"/>
                </a:solidFill>
                <a:latin typeface="Calibri" pitchFamily="34" charset="0"/>
                <a:ea typeface="Calibri" pitchFamily="34" charset="-122"/>
                <a:cs typeface="Calibri" pitchFamily="34" charset="-120"/>
              </a:rPr>
              <a:t>How It Works — Process Flow</a:t>
            </a:r>
            <a:endParaRPr lang="en-US" sz="1400" dirty="0"/>
          </a:p>
        </p:txBody>
      </p:sp>
      <p:sp>
        <p:nvSpPr>
          <p:cNvPr id="5" name="Shape 3"/>
          <p:cNvSpPr/>
          <p:nvPr/>
        </p:nvSpPr>
        <p:spPr>
          <a:xfrm>
            <a:off x="10698480" y="384048"/>
            <a:ext cx="868680" cy="868680"/>
          </a:xfrm>
          <a:prstGeom prst="roundRect">
            <a:avLst>
              <a:gd name="adj" fmla="val 16842"/>
            </a:avLst>
          </a:prstGeom>
          <a:solidFill>
            <a:srgbClr val="9A3B4A"/>
          </a:solidFill>
          <a:ln/>
        </p:spPr>
      </p:sp>
      <p:pic>
        <p:nvPicPr>
          <p:cNvPr id="6" name="Image 0" descr="/home/claude/icons_flat/microchip.png">    </p:cNvPr>
          <p:cNvPicPr>
            <a:picLocks noChangeAspect="1"/>
          </p:cNvPicPr>
          <p:nvPr/>
        </p:nvPicPr>
        <p:blipFill>
          <a:blip r:embed="rId1"/>
          <a:stretch>
            <a:fillRect/>
          </a:stretch>
        </p:blipFill>
        <p:spPr>
          <a:xfrm>
            <a:off x="10927080" y="612648"/>
            <a:ext cx="411480" cy="411480"/>
          </a:xfrm>
          <a:prstGeom prst="rect">
            <a:avLst/>
          </a:prstGeom>
        </p:spPr>
      </p:pic>
      <p:sp>
        <p:nvSpPr>
          <p:cNvPr id="7" name="Text 4"/>
          <p:cNvSpPr txBox="1"/>
          <p:nvPr/>
        </p:nvSpPr>
        <p:spPr>
          <a:xfrm>
            <a:off x="548640" y="6537960"/>
            <a:ext cx="8229600" cy="256032"/>
          </a:xfrm>
          <a:prstGeom prst="rect">
            <a:avLst/>
          </a:prstGeom>
          <a:noFill/>
          <a:ln/>
        </p:spPr>
        <p:txBody>
          <a:bodyPr wrap="square" lIns="0" tIns="0" rIns="0" bIns="0" rtlCol="0" anchor="ctr"/>
          <a:lstStyle/>
          <a:p>
            <a:pPr indent="0" marL="0">
              <a:buNone/>
            </a:pPr>
            <a:r>
              <a:rPr lang="en-US" sz="950" dirty="0">
                <a:solidFill>
                  <a:srgbClr val="6B7688"/>
                </a:solidFill>
                <a:latin typeface="Calibri" pitchFamily="34" charset="0"/>
                <a:ea typeface="Calibri" pitchFamily="34" charset="-122"/>
                <a:cs typeface="Calibri" pitchFamily="34" charset="-120"/>
              </a:rPr>
              <a:t>Operating System Support — Chapter 8, William Stallings</a:t>
            </a:r>
            <a:endParaRPr lang="en-US" sz="950" dirty="0"/>
          </a:p>
        </p:txBody>
      </p:sp>
      <p:sp>
        <p:nvSpPr>
          <p:cNvPr id="8" name="Text 5"/>
          <p:cNvSpPr txBox="1"/>
          <p:nvPr/>
        </p:nvSpPr>
        <p:spPr>
          <a:xfrm>
            <a:off x="10515600" y="6537960"/>
            <a:ext cx="1097280" cy="256032"/>
          </a:xfrm>
          <a:prstGeom prst="rect">
            <a:avLst/>
          </a:prstGeom>
          <a:noFill/>
          <a:ln/>
        </p:spPr>
        <p:txBody>
          <a:bodyPr wrap="square" lIns="0" tIns="0" rIns="0" bIns="0" rtlCol="0" anchor="ctr"/>
          <a:lstStyle/>
          <a:p>
            <a:pPr algn="r" indent="0" marL="0">
              <a:buNone/>
            </a:pPr>
            <a:r>
              <a:rPr lang="en-US" sz="950" dirty="0">
                <a:solidFill>
                  <a:srgbClr val="6B7688"/>
                </a:solidFill>
                <a:latin typeface="Calibri" pitchFamily="34" charset="0"/>
                <a:ea typeface="Calibri" pitchFamily="34" charset="-122"/>
                <a:cs typeface="Calibri" pitchFamily="34" charset="-120"/>
              </a:rPr>
              <a:t>12/15</a:t>
            </a:r>
            <a:endParaRPr lang="en-US" sz="950" dirty="0"/>
          </a:p>
        </p:txBody>
      </p:sp>
      <p:sp>
        <p:nvSpPr>
          <p:cNvPr id="9" name="Shape 6"/>
          <p:cNvSpPr/>
          <p:nvPr/>
        </p:nvSpPr>
        <p:spPr>
          <a:xfrm>
            <a:off x="1234440" y="1737360"/>
            <a:ext cx="457200" cy="457200"/>
          </a:xfrm>
          <a:prstGeom prst="ellipse">
            <a:avLst/>
          </a:prstGeom>
          <a:solidFill>
            <a:srgbClr val="9A3B4A"/>
          </a:solidFill>
          <a:ln/>
        </p:spPr>
      </p:sp>
      <p:sp>
        <p:nvSpPr>
          <p:cNvPr id="10" name="Text 7"/>
          <p:cNvSpPr txBox="1"/>
          <p:nvPr/>
        </p:nvSpPr>
        <p:spPr>
          <a:xfrm>
            <a:off x="123444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1" name="Shape 8"/>
          <p:cNvSpPr/>
          <p:nvPr/>
        </p:nvSpPr>
        <p:spPr>
          <a:xfrm>
            <a:off x="2286000" y="1664208"/>
            <a:ext cx="7680960" cy="795528"/>
          </a:xfrm>
          <a:prstGeom prst="roundRect">
            <a:avLst>
              <a:gd name="adj" fmla="val 9195"/>
            </a:avLst>
          </a:prstGeom>
          <a:solidFill>
            <a:srgbClr val="F5F7FA"/>
          </a:solidFill>
          <a:ln w="12700">
            <a:solidFill>
              <a:srgbClr val="9A3B4A"/>
            </a:solidFill>
            <a:prstDash val="solid"/>
          </a:ln>
        </p:spPr>
      </p:sp>
      <p:sp>
        <p:nvSpPr>
          <p:cNvPr id="12" name="Text 9"/>
          <p:cNvSpPr txBox="1"/>
          <p:nvPr/>
        </p:nvSpPr>
        <p:spPr>
          <a:xfrm>
            <a:off x="2514600" y="1664208"/>
            <a:ext cx="7223760" cy="795528"/>
          </a:xfrm>
          <a:prstGeom prst="rect">
            <a:avLst/>
          </a:prstGeom>
          <a:noFill/>
          <a:ln/>
        </p:spPr>
        <p:txBody>
          <a:bodyPr wrap="square" lIns="0" tIns="0" rIns="0" bIns="0" rtlCol="0" anchor="ctr"/>
          <a:lstStyle/>
          <a:p>
            <a:pPr indent="0" marL="0">
              <a:buNone/>
            </a:pPr>
            <a:r>
              <a:rPr lang="en-US" sz="1400" dirty="0">
                <a:solidFill>
                  <a:srgbClr val="0B3556"/>
                </a:solidFill>
                <a:latin typeface="Calibri" pitchFamily="34" charset="0"/>
                <a:ea typeface="Calibri" pitchFamily="34" charset="-122"/>
                <a:cs typeface="Calibri" pitchFamily="34" charset="-120"/>
              </a:rPr>
              <a:t>Logical address (segment : offset)</a:t>
            </a:r>
            <a:endParaRPr lang="en-US" sz="1400" dirty="0"/>
          </a:p>
        </p:txBody>
      </p:sp>
      <p:sp>
        <p:nvSpPr>
          <p:cNvPr id="13" name="Shape 10"/>
          <p:cNvSpPr/>
          <p:nvPr/>
        </p:nvSpPr>
        <p:spPr>
          <a:xfrm>
            <a:off x="1463040" y="2240280"/>
            <a:ext cx="0" cy="548640"/>
          </a:xfrm>
          <a:prstGeom prst="line">
            <a:avLst/>
          </a:prstGeom>
          <a:noFill/>
          <a:ln w="25400">
            <a:solidFill>
              <a:srgbClr val="9A3B4A"/>
            </a:solidFill>
            <a:prstDash val="solid"/>
            <a:tailEnd type="triangle"/>
          </a:ln>
        </p:spPr>
      </p:sp>
      <p:sp>
        <p:nvSpPr>
          <p:cNvPr id="14" name="Shape 11"/>
          <p:cNvSpPr/>
          <p:nvPr/>
        </p:nvSpPr>
        <p:spPr>
          <a:xfrm>
            <a:off x="1234440" y="2788920"/>
            <a:ext cx="457200" cy="457200"/>
          </a:xfrm>
          <a:prstGeom prst="ellipse">
            <a:avLst/>
          </a:prstGeom>
          <a:solidFill>
            <a:srgbClr val="9A3B4A"/>
          </a:solidFill>
          <a:ln/>
        </p:spPr>
      </p:sp>
      <p:sp>
        <p:nvSpPr>
          <p:cNvPr id="15" name="Text 12"/>
          <p:cNvSpPr txBox="1"/>
          <p:nvPr/>
        </p:nvSpPr>
        <p:spPr>
          <a:xfrm>
            <a:off x="1234440" y="2788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6" name="Shape 13"/>
          <p:cNvSpPr/>
          <p:nvPr/>
        </p:nvSpPr>
        <p:spPr>
          <a:xfrm>
            <a:off x="2286000" y="2715768"/>
            <a:ext cx="7680960" cy="795528"/>
          </a:xfrm>
          <a:prstGeom prst="roundRect">
            <a:avLst>
              <a:gd name="adj" fmla="val 9195"/>
            </a:avLst>
          </a:prstGeom>
          <a:solidFill>
            <a:srgbClr val="F5F7FA"/>
          </a:solidFill>
          <a:ln w="12700">
            <a:solidFill>
              <a:srgbClr val="9A3B4A"/>
            </a:solidFill>
            <a:prstDash val="solid"/>
          </a:ln>
        </p:spPr>
      </p:sp>
      <p:sp>
        <p:nvSpPr>
          <p:cNvPr id="17" name="Text 14"/>
          <p:cNvSpPr txBox="1"/>
          <p:nvPr/>
        </p:nvSpPr>
        <p:spPr>
          <a:xfrm>
            <a:off x="2514600" y="2715768"/>
            <a:ext cx="7223760" cy="795528"/>
          </a:xfrm>
          <a:prstGeom prst="rect">
            <a:avLst/>
          </a:prstGeom>
          <a:noFill/>
          <a:ln/>
        </p:spPr>
        <p:txBody>
          <a:bodyPr wrap="square" lIns="0" tIns="0" rIns="0" bIns="0" rtlCol="0" anchor="ctr"/>
          <a:lstStyle/>
          <a:p>
            <a:pPr indent="0" marL="0">
              <a:buNone/>
            </a:pPr>
            <a:r>
              <a:rPr lang="en-US" sz="1400" dirty="0">
                <a:solidFill>
                  <a:srgbClr val="0B3556"/>
                </a:solidFill>
                <a:latin typeface="Calibri" pitchFamily="34" charset="0"/>
                <a:ea typeface="Calibri" pitchFamily="34" charset="-122"/>
                <a:cs typeface="Calibri" pitchFamily="34" charset="-120"/>
              </a:rPr>
              <a:t>Segmentation unit converts it to a linear address</a:t>
            </a:r>
            <a:endParaRPr lang="en-US" sz="1400" dirty="0"/>
          </a:p>
        </p:txBody>
      </p:sp>
      <p:sp>
        <p:nvSpPr>
          <p:cNvPr id="18" name="Shape 15"/>
          <p:cNvSpPr/>
          <p:nvPr/>
        </p:nvSpPr>
        <p:spPr>
          <a:xfrm>
            <a:off x="1463040" y="3291840"/>
            <a:ext cx="0" cy="548640"/>
          </a:xfrm>
          <a:prstGeom prst="line">
            <a:avLst/>
          </a:prstGeom>
          <a:noFill/>
          <a:ln w="25400">
            <a:solidFill>
              <a:srgbClr val="9A3B4A"/>
            </a:solidFill>
            <a:prstDash val="solid"/>
            <a:tailEnd type="triangle"/>
          </a:ln>
        </p:spPr>
      </p:sp>
      <p:sp>
        <p:nvSpPr>
          <p:cNvPr id="19" name="Shape 16"/>
          <p:cNvSpPr/>
          <p:nvPr/>
        </p:nvSpPr>
        <p:spPr>
          <a:xfrm>
            <a:off x="1234440" y="3840480"/>
            <a:ext cx="457200" cy="457200"/>
          </a:xfrm>
          <a:prstGeom prst="ellipse">
            <a:avLst/>
          </a:prstGeom>
          <a:solidFill>
            <a:srgbClr val="9A3B4A"/>
          </a:solidFill>
          <a:ln/>
        </p:spPr>
      </p:sp>
      <p:sp>
        <p:nvSpPr>
          <p:cNvPr id="20" name="Text 17"/>
          <p:cNvSpPr txBox="1"/>
          <p:nvPr/>
        </p:nvSpPr>
        <p:spPr>
          <a:xfrm>
            <a:off x="1234440" y="3840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Shape 18"/>
          <p:cNvSpPr/>
          <p:nvPr/>
        </p:nvSpPr>
        <p:spPr>
          <a:xfrm>
            <a:off x="2286000" y="3767328"/>
            <a:ext cx="7680960" cy="795528"/>
          </a:xfrm>
          <a:prstGeom prst="roundRect">
            <a:avLst>
              <a:gd name="adj" fmla="val 9195"/>
            </a:avLst>
          </a:prstGeom>
          <a:solidFill>
            <a:srgbClr val="F5F7FA"/>
          </a:solidFill>
          <a:ln w="12700">
            <a:solidFill>
              <a:srgbClr val="9A3B4A"/>
            </a:solidFill>
            <a:prstDash val="solid"/>
          </a:ln>
        </p:spPr>
      </p:sp>
      <p:sp>
        <p:nvSpPr>
          <p:cNvPr id="22" name="Text 19"/>
          <p:cNvSpPr txBox="1"/>
          <p:nvPr/>
        </p:nvSpPr>
        <p:spPr>
          <a:xfrm>
            <a:off x="2514600" y="3767328"/>
            <a:ext cx="7223760" cy="795528"/>
          </a:xfrm>
          <a:prstGeom prst="rect">
            <a:avLst/>
          </a:prstGeom>
          <a:noFill/>
          <a:ln/>
        </p:spPr>
        <p:txBody>
          <a:bodyPr wrap="square" lIns="0" tIns="0" rIns="0" bIns="0" rtlCol="0" anchor="ctr"/>
          <a:lstStyle/>
          <a:p>
            <a:pPr indent="0" marL="0">
              <a:buNone/>
            </a:pPr>
            <a:r>
              <a:rPr lang="en-US" sz="1400" dirty="0">
                <a:solidFill>
                  <a:srgbClr val="0B3556"/>
                </a:solidFill>
                <a:latin typeface="Calibri" pitchFamily="34" charset="0"/>
                <a:ea typeface="Calibri" pitchFamily="34" charset="-122"/>
                <a:cs typeface="Calibri" pitchFamily="34" charset="-120"/>
              </a:rPr>
              <a:t>Paging unit converts the linear address to a physical address</a:t>
            </a:r>
            <a:endParaRPr lang="en-US" sz="1400" dirty="0"/>
          </a:p>
        </p:txBody>
      </p:sp>
      <p:sp>
        <p:nvSpPr>
          <p:cNvPr id="23" name="Shape 20"/>
          <p:cNvSpPr/>
          <p:nvPr/>
        </p:nvSpPr>
        <p:spPr>
          <a:xfrm>
            <a:off x="1463040" y="4343400"/>
            <a:ext cx="0" cy="548640"/>
          </a:xfrm>
          <a:prstGeom prst="line">
            <a:avLst/>
          </a:prstGeom>
          <a:noFill/>
          <a:ln w="25400">
            <a:solidFill>
              <a:srgbClr val="9A3B4A"/>
            </a:solidFill>
            <a:prstDash val="solid"/>
            <a:tailEnd type="triangle"/>
          </a:ln>
        </p:spPr>
      </p:sp>
      <p:sp>
        <p:nvSpPr>
          <p:cNvPr id="24" name="Shape 21"/>
          <p:cNvSpPr/>
          <p:nvPr/>
        </p:nvSpPr>
        <p:spPr>
          <a:xfrm>
            <a:off x="1234440" y="4892040"/>
            <a:ext cx="457200" cy="457200"/>
          </a:xfrm>
          <a:prstGeom prst="ellipse">
            <a:avLst/>
          </a:prstGeom>
          <a:solidFill>
            <a:srgbClr val="9A3B4A"/>
          </a:solidFill>
          <a:ln/>
        </p:spPr>
      </p:sp>
      <p:sp>
        <p:nvSpPr>
          <p:cNvPr id="25" name="Text 22"/>
          <p:cNvSpPr txBox="1"/>
          <p:nvPr/>
        </p:nvSpPr>
        <p:spPr>
          <a:xfrm>
            <a:off x="1234440" y="4892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6" name="Shape 23"/>
          <p:cNvSpPr/>
          <p:nvPr/>
        </p:nvSpPr>
        <p:spPr>
          <a:xfrm>
            <a:off x="2286000" y="4818888"/>
            <a:ext cx="7680960" cy="795528"/>
          </a:xfrm>
          <a:prstGeom prst="roundRect">
            <a:avLst>
              <a:gd name="adj" fmla="val 9195"/>
            </a:avLst>
          </a:prstGeom>
          <a:solidFill>
            <a:srgbClr val="F5F7FA"/>
          </a:solidFill>
          <a:ln w="12700">
            <a:solidFill>
              <a:srgbClr val="9A3B4A"/>
            </a:solidFill>
            <a:prstDash val="solid"/>
          </a:ln>
        </p:spPr>
      </p:sp>
      <p:sp>
        <p:nvSpPr>
          <p:cNvPr id="27" name="Text 24"/>
          <p:cNvSpPr txBox="1"/>
          <p:nvPr/>
        </p:nvSpPr>
        <p:spPr>
          <a:xfrm>
            <a:off x="2514600" y="4818888"/>
            <a:ext cx="7223760" cy="795528"/>
          </a:xfrm>
          <a:prstGeom prst="rect">
            <a:avLst/>
          </a:prstGeom>
          <a:noFill/>
          <a:ln/>
        </p:spPr>
        <p:txBody>
          <a:bodyPr wrap="square" lIns="0" tIns="0" rIns="0" bIns="0" rtlCol="0" anchor="ctr"/>
          <a:lstStyle/>
          <a:p>
            <a:pPr indent="0" marL="0">
              <a:buNone/>
            </a:pPr>
            <a:r>
              <a:rPr lang="en-US" sz="1400" dirty="0">
                <a:solidFill>
                  <a:srgbClr val="0B3556"/>
                </a:solidFill>
                <a:latin typeface="Calibri" pitchFamily="34" charset="0"/>
                <a:ea typeface="Calibri" pitchFamily="34" charset="-122"/>
                <a:cs typeface="Calibri" pitchFamily="34" charset="-120"/>
              </a:rPr>
              <a:t>CPU accesses the physical memory location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686800" cy="274320"/>
          </a:xfrm>
          <a:prstGeom prst="rect">
            <a:avLst/>
          </a:prstGeom>
          <a:noFill/>
          <a:ln/>
        </p:spPr>
        <p:txBody>
          <a:bodyPr wrap="square" lIns="0" tIns="0" rIns="0" bIns="0" rtlCol="0" anchor="ctr"/>
          <a:lstStyle/>
          <a:p>
            <a:pPr indent="0" marL="0">
              <a:buNone/>
            </a:pPr>
            <a:r>
              <a:rPr lang="en-US" sz="1100" spc="100" kern="0" dirty="0">
                <a:solidFill>
                  <a:srgbClr val="6B7688"/>
                </a:solidFill>
                <a:latin typeface="Calibri" pitchFamily="34" charset="0"/>
                <a:ea typeface="Calibri" pitchFamily="34" charset="-122"/>
                <a:cs typeface="Calibri" pitchFamily="34" charset="-120"/>
              </a:rPr>
              <a:t>CH.8  ·  OPERATING SYSTEM SUPPORT  ·  2.5</a:t>
            </a:r>
            <a:endParaRPr lang="en-US" sz="1100" dirty="0"/>
          </a:p>
        </p:txBody>
      </p:sp>
      <p:sp>
        <p:nvSpPr>
          <p:cNvPr id="3" name="Text 1"/>
          <p:cNvSpPr txBox="1"/>
          <p:nvPr/>
        </p:nvSpPr>
        <p:spPr>
          <a:xfrm>
            <a:off x="548640" y="566928"/>
            <a:ext cx="8961120" cy="548640"/>
          </a:xfrm>
          <a:prstGeom prst="rect">
            <a:avLst/>
          </a:prstGeom>
          <a:noFill/>
          <a:ln/>
        </p:spPr>
        <p:txBody>
          <a:bodyPr wrap="square" lIns="0" tIns="0" rIns="0" bIns="0" rtlCol="0" anchor="ctr"/>
          <a:lstStyle/>
          <a:p>
            <a:pPr indent="0" marL="0">
              <a:buNone/>
            </a:pPr>
            <a:r>
              <a:rPr lang="en-US" sz="3000" b="1" dirty="0">
                <a:solidFill>
                  <a:srgbClr val="0B3556"/>
                </a:solidFill>
                <a:latin typeface="Cambria" pitchFamily="34" charset="0"/>
                <a:ea typeface="Cambria" pitchFamily="34" charset="-122"/>
                <a:cs typeface="Cambria" pitchFamily="34" charset="-120"/>
              </a:rPr>
              <a:t>ARM Memory Management</a:t>
            </a:r>
            <a:endParaRPr lang="en-US" sz="3000" dirty="0"/>
          </a:p>
        </p:txBody>
      </p:sp>
      <p:sp>
        <p:nvSpPr>
          <p:cNvPr id="4" name="Text 2"/>
          <p:cNvSpPr txBox="1"/>
          <p:nvPr/>
        </p:nvSpPr>
        <p:spPr>
          <a:xfrm>
            <a:off x="548640" y="1078992"/>
            <a:ext cx="8961120" cy="320040"/>
          </a:xfrm>
          <a:prstGeom prst="rect">
            <a:avLst/>
          </a:prstGeom>
          <a:noFill/>
          <a:ln/>
        </p:spPr>
        <p:txBody>
          <a:bodyPr wrap="square" lIns="0" tIns="0" rIns="0" bIns="0" rtlCol="0" anchor="ctr"/>
          <a:lstStyle/>
          <a:p>
            <a:pPr indent="0" marL="0">
              <a:buNone/>
            </a:pPr>
            <a:r>
              <a:rPr lang="en-US" sz="1400" i="1" dirty="0">
                <a:solidFill>
                  <a:srgbClr val="3F6B35"/>
                </a:solidFill>
                <a:latin typeface="Calibri" pitchFamily="34" charset="0"/>
                <a:ea typeface="Calibri" pitchFamily="34" charset="-122"/>
                <a:cs typeface="Calibri" pitchFamily="34" charset="-120"/>
              </a:rPr>
              <a:t>Definition &amp; Key Characteristics</a:t>
            </a:r>
            <a:endParaRPr lang="en-US" sz="1400" dirty="0"/>
          </a:p>
        </p:txBody>
      </p:sp>
      <p:sp>
        <p:nvSpPr>
          <p:cNvPr id="5" name="Shape 3"/>
          <p:cNvSpPr/>
          <p:nvPr/>
        </p:nvSpPr>
        <p:spPr>
          <a:xfrm>
            <a:off x="10698480" y="384048"/>
            <a:ext cx="868680" cy="868680"/>
          </a:xfrm>
          <a:prstGeom prst="roundRect">
            <a:avLst>
              <a:gd name="adj" fmla="val 16842"/>
            </a:avLst>
          </a:prstGeom>
          <a:solidFill>
            <a:srgbClr val="3F6B35"/>
          </a:solidFill>
          <a:ln/>
        </p:spPr>
      </p:sp>
      <p:pic>
        <p:nvPicPr>
          <p:cNvPr id="6" name="Image 0" descr="/home/claude/icons_flat/mobile.png">    </p:cNvPr>
          <p:cNvPicPr>
            <a:picLocks noChangeAspect="1"/>
          </p:cNvPicPr>
          <p:nvPr/>
        </p:nvPicPr>
        <p:blipFill>
          <a:blip r:embed="rId1"/>
          <a:stretch>
            <a:fillRect/>
          </a:stretch>
        </p:blipFill>
        <p:spPr>
          <a:xfrm>
            <a:off x="10927080" y="612648"/>
            <a:ext cx="411480" cy="411480"/>
          </a:xfrm>
          <a:prstGeom prst="rect">
            <a:avLst/>
          </a:prstGeom>
        </p:spPr>
      </p:pic>
      <p:sp>
        <p:nvSpPr>
          <p:cNvPr id="7" name="Text 4"/>
          <p:cNvSpPr txBox="1"/>
          <p:nvPr/>
        </p:nvSpPr>
        <p:spPr>
          <a:xfrm>
            <a:off x="548640" y="6537960"/>
            <a:ext cx="8229600" cy="256032"/>
          </a:xfrm>
          <a:prstGeom prst="rect">
            <a:avLst/>
          </a:prstGeom>
          <a:noFill/>
          <a:ln/>
        </p:spPr>
        <p:txBody>
          <a:bodyPr wrap="square" lIns="0" tIns="0" rIns="0" bIns="0" rtlCol="0" anchor="ctr"/>
          <a:lstStyle/>
          <a:p>
            <a:pPr indent="0" marL="0">
              <a:buNone/>
            </a:pPr>
            <a:r>
              <a:rPr lang="en-US" sz="950" dirty="0">
                <a:solidFill>
                  <a:srgbClr val="6B7688"/>
                </a:solidFill>
                <a:latin typeface="Calibri" pitchFamily="34" charset="0"/>
                <a:ea typeface="Calibri" pitchFamily="34" charset="-122"/>
                <a:cs typeface="Calibri" pitchFamily="34" charset="-120"/>
              </a:rPr>
              <a:t>Operating System Support — Chapter 8, William Stallings</a:t>
            </a:r>
            <a:endParaRPr lang="en-US" sz="950" dirty="0"/>
          </a:p>
        </p:txBody>
      </p:sp>
      <p:sp>
        <p:nvSpPr>
          <p:cNvPr id="8" name="Text 5"/>
          <p:cNvSpPr txBox="1"/>
          <p:nvPr/>
        </p:nvSpPr>
        <p:spPr>
          <a:xfrm>
            <a:off x="10515600" y="6537960"/>
            <a:ext cx="1097280" cy="256032"/>
          </a:xfrm>
          <a:prstGeom prst="rect">
            <a:avLst/>
          </a:prstGeom>
          <a:noFill/>
          <a:ln/>
        </p:spPr>
        <p:txBody>
          <a:bodyPr wrap="square" lIns="0" tIns="0" rIns="0" bIns="0" rtlCol="0" anchor="ctr"/>
          <a:lstStyle/>
          <a:p>
            <a:pPr algn="r" indent="0" marL="0">
              <a:buNone/>
            </a:pPr>
            <a:r>
              <a:rPr lang="en-US" sz="950" dirty="0">
                <a:solidFill>
                  <a:srgbClr val="6B7688"/>
                </a:solidFill>
                <a:latin typeface="Calibri" pitchFamily="34" charset="0"/>
                <a:ea typeface="Calibri" pitchFamily="34" charset="-122"/>
                <a:cs typeface="Calibri" pitchFamily="34" charset="-120"/>
              </a:rPr>
              <a:t>13/15</a:t>
            </a:r>
            <a:endParaRPr lang="en-US" sz="950" dirty="0"/>
          </a:p>
        </p:txBody>
      </p:sp>
      <p:sp>
        <p:nvSpPr>
          <p:cNvPr id="9" name="Text 6"/>
          <p:cNvSpPr txBox="1"/>
          <p:nvPr/>
        </p:nvSpPr>
        <p:spPr>
          <a:xfrm>
            <a:off x="548640" y="1600200"/>
            <a:ext cx="6400800" cy="274320"/>
          </a:xfrm>
          <a:prstGeom prst="rect">
            <a:avLst/>
          </a:prstGeom>
          <a:noFill/>
          <a:ln/>
        </p:spPr>
        <p:txBody>
          <a:bodyPr wrap="square" lIns="0" tIns="0" rIns="0" bIns="0" rtlCol="0" anchor="ctr"/>
          <a:lstStyle/>
          <a:p>
            <a:pPr indent="0" marL="0">
              <a:buNone/>
            </a:pPr>
            <a:r>
              <a:rPr lang="en-US" sz="1200" b="1" spc="100" kern="0" dirty="0">
                <a:solidFill>
                  <a:srgbClr val="3F6B35"/>
                </a:solidFill>
                <a:latin typeface="Calibri" pitchFamily="34" charset="0"/>
                <a:ea typeface="Calibri" pitchFamily="34" charset="-122"/>
                <a:cs typeface="Calibri" pitchFamily="34" charset="-120"/>
              </a:rPr>
              <a:t>DEFINITION</a:t>
            </a:r>
            <a:endParaRPr lang="en-US" sz="1200" dirty="0"/>
          </a:p>
        </p:txBody>
      </p:sp>
      <p:sp>
        <p:nvSpPr>
          <p:cNvPr id="10" name="Shape 7"/>
          <p:cNvSpPr/>
          <p:nvPr/>
        </p:nvSpPr>
        <p:spPr>
          <a:xfrm>
            <a:off x="548640" y="1920240"/>
            <a:ext cx="6400800" cy="1188720"/>
          </a:xfrm>
          <a:prstGeom prst="roundRect">
            <a:avLst>
              <a:gd name="adj" fmla="val 6154"/>
            </a:avLst>
          </a:prstGeom>
          <a:solidFill>
            <a:srgbClr val="F5F7FA"/>
          </a:solidFill>
          <a:ln w="12700">
            <a:solidFill>
              <a:srgbClr val="DCE3EA"/>
            </a:solidFill>
            <a:prstDash val="solid"/>
          </a:ln>
        </p:spPr>
      </p:sp>
      <p:sp>
        <p:nvSpPr>
          <p:cNvPr id="11" name="Text 8"/>
          <p:cNvSpPr txBox="1"/>
          <p:nvPr/>
        </p:nvSpPr>
        <p:spPr>
          <a:xfrm>
            <a:off x="777240" y="2029968"/>
            <a:ext cx="5943600" cy="969264"/>
          </a:xfrm>
          <a:prstGeom prst="rect">
            <a:avLst/>
          </a:prstGeom>
          <a:noFill/>
          <a:ln/>
        </p:spPr>
        <p:txBody>
          <a:bodyPr wrap="square" lIns="0" tIns="0" rIns="0" bIns="0" rtlCol="0" anchor="ctr"/>
          <a:lstStyle/>
          <a:p>
            <a:pPr indent="0" marL="0">
              <a:lnSpc>
                <a:spcPct val="120000"/>
              </a:lnSpc>
              <a:buNone/>
            </a:pPr>
            <a:r>
              <a:rPr lang="en-US" sz="1450" dirty="0">
                <a:solidFill>
                  <a:srgbClr val="0B3556"/>
                </a:solidFill>
                <a:latin typeface="Calibri" pitchFamily="34" charset="0"/>
                <a:ea typeface="Calibri" pitchFamily="34" charset="-122"/>
                <a:cs typeface="Calibri" pitchFamily="34" charset="-120"/>
              </a:rPr>
              <a:t>ARM processors use a Memory Management Unit (MMU) with multi-level translation tables to convert virtual addresses into physical addresses, supporting several page sizes.</a:t>
            </a:r>
            <a:endParaRPr lang="en-US" sz="1450" dirty="0"/>
          </a:p>
        </p:txBody>
      </p:sp>
      <p:sp>
        <p:nvSpPr>
          <p:cNvPr id="12" name="Text 9"/>
          <p:cNvSpPr txBox="1"/>
          <p:nvPr/>
        </p:nvSpPr>
        <p:spPr>
          <a:xfrm>
            <a:off x="548640" y="3337560"/>
            <a:ext cx="6400800" cy="274320"/>
          </a:xfrm>
          <a:prstGeom prst="rect">
            <a:avLst/>
          </a:prstGeom>
          <a:noFill/>
          <a:ln/>
        </p:spPr>
        <p:txBody>
          <a:bodyPr wrap="square" lIns="0" tIns="0" rIns="0" bIns="0" rtlCol="0" anchor="ctr"/>
          <a:lstStyle/>
          <a:p>
            <a:pPr indent="0" marL="0">
              <a:buNone/>
            </a:pPr>
            <a:r>
              <a:rPr lang="en-US" sz="1200" b="1" spc="100" kern="0" dirty="0">
                <a:solidFill>
                  <a:srgbClr val="3F6B35"/>
                </a:solidFill>
                <a:latin typeface="Calibri" pitchFamily="34" charset="0"/>
                <a:ea typeface="Calibri" pitchFamily="34" charset="-122"/>
                <a:cs typeface="Calibri" pitchFamily="34" charset="-120"/>
              </a:rPr>
              <a:t>KEY CHARACTERISTICS</a:t>
            </a:r>
            <a:endParaRPr lang="en-US" sz="1200" dirty="0"/>
          </a:p>
        </p:txBody>
      </p:sp>
      <p:sp>
        <p:nvSpPr>
          <p:cNvPr id="13" name="Shape 10"/>
          <p:cNvSpPr/>
          <p:nvPr/>
        </p:nvSpPr>
        <p:spPr>
          <a:xfrm>
            <a:off x="548640" y="3703320"/>
            <a:ext cx="237744" cy="237744"/>
          </a:xfrm>
          <a:prstGeom prst="ellipse">
            <a:avLst/>
          </a:prstGeom>
          <a:solidFill>
            <a:srgbClr val="3F6B35"/>
          </a:solidFill>
          <a:ln/>
        </p:spPr>
      </p:sp>
      <p:pic>
        <p:nvPicPr>
          <p:cNvPr id="14" name="Image 1" descr="/home/claude/icons_flat/check.png">    </p:cNvPr>
          <p:cNvPicPr>
            <a:picLocks noChangeAspect="1"/>
          </p:cNvPicPr>
          <p:nvPr/>
        </p:nvPicPr>
        <p:blipFill>
          <a:blip r:embed="rId2"/>
          <a:stretch>
            <a:fillRect/>
          </a:stretch>
        </p:blipFill>
        <p:spPr>
          <a:xfrm>
            <a:off x="585216" y="3739896"/>
            <a:ext cx="164592" cy="164592"/>
          </a:xfrm>
          <a:prstGeom prst="rect">
            <a:avLst/>
          </a:prstGeom>
        </p:spPr>
      </p:pic>
      <p:sp>
        <p:nvSpPr>
          <p:cNvPr id="15" name="Text 11"/>
          <p:cNvSpPr txBox="1"/>
          <p:nvPr/>
        </p:nvSpPr>
        <p:spPr>
          <a:xfrm>
            <a:off x="914400" y="3630168"/>
            <a:ext cx="6035040" cy="457200"/>
          </a:xfrm>
          <a:prstGeom prst="rect">
            <a:avLst/>
          </a:prstGeom>
          <a:noFill/>
          <a:ln/>
        </p:spPr>
        <p:txBody>
          <a:bodyPr wrap="square" lIns="0" tIns="0" rIns="0" bIns="0" rtlCol="0" anchor="ctr"/>
          <a:lstStyle/>
          <a:p>
            <a:pPr indent="0" marL="0">
              <a:lnSpc>
                <a:spcPct val="105000"/>
              </a:lnSpc>
              <a:buNone/>
            </a:pPr>
            <a:r>
              <a:rPr lang="en-US" sz="1300" dirty="0">
                <a:solidFill>
                  <a:srgbClr val="0B3556"/>
                </a:solidFill>
                <a:latin typeface="Calibri" pitchFamily="34" charset="0"/>
                <a:ea typeface="Calibri" pitchFamily="34" charset="-122"/>
                <a:cs typeface="Calibri" pitchFamily="34" charset="-120"/>
              </a:rPr>
              <a:t>Uses translation tables — the same role as x86 page tables</a:t>
            </a:r>
            <a:endParaRPr lang="en-US" sz="1300" dirty="0"/>
          </a:p>
        </p:txBody>
      </p:sp>
      <p:sp>
        <p:nvSpPr>
          <p:cNvPr id="16" name="Shape 12"/>
          <p:cNvSpPr/>
          <p:nvPr/>
        </p:nvSpPr>
        <p:spPr>
          <a:xfrm>
            <a:off x="548640" y="4270248"/>
            <a:ext cx="237744" cy="237744"/>
          </a:xfrm>
          <a:prstGeom prst="ellipse">
            <a:avLst/>
          </a:prstGeom>
          <a:solidFill>
            <a:srgbClr val="3F6B35"/>
          </a:solidFill>
          <a:ln/>
        </p:spPr>
      </p:sp>
      <p:pic>
        <p:nvPicPr>
          <p:cNvPr id="17" name="Image 2" descr="/home/claude/icons_flat/check.png">    </p:cNvPr>
          <p:cNvPicPr>
            <a:picLocks noChangeAspect="1"/>
          </p:cNvPicPr>
          <p:nvPr/>
        </p:nvPicPr>
        <p:blipFill>
          <a:blip r:embed="rId3"/>
          <a:stretch>
            <a:fillRect/>
          </a:stretch>
        </p:blipFill>
        <p:spPr>
          <a:xfrm>
            <a:off x="585216" y="4306824"/>
            <a:ext cx="164592" cy="164592"/>
          </a:xfrm>
          <a:prstGeom prst="rect">
            <a:avLst/>
          </a:prstGeom>
        </p:spPr>
      </p:pic>
      <p:sp>
        <p:nvSpPr>
          <p:cNvPr id="18" name="Text 13"/>
          <p:cNvSpPr txBox="1"/>
          <p:nvPr/>
        </p:nvSpPr>
        <p:spPr>
          <a:xfrm>
            <a:off x="914400" y="4197096"/>
            <a:ext cx="6035040" cy="457200"/>
          </a:xfrm>
          <a:prstGeom prst="rect">
            <a:avLst/>
          </a:prstGeom>
          <a:noFill/>
          <a:ln/>
        </p:spPr>
        <p:txBody>
          <a:bodyPr wrap="square" lIns="0" tIns="0" rIns="0" bIns="0" rtlCol="0" anchor="ctr"/>
          <a:lstStyle/>
          <a:p>
            <a:pPr indent="0" marL="0">
              <a:lnSpc>
                <a:spcPct val="105000"/>
              </a:lnSpc>
              <a:buNone/>
            </a:pPr>
            <a:r>
              <a:rPr lang="en-US" sz="1300" dirty="0">
                <a:solidFill>
                  <a:srgbClr val="0B3556"/>
                </a:solidFill>
                <a:latin typeface="Calibri" pitchFamily="34" charset="0"/>
                <a:ea typeface="Calibri" pitchFamily="34" charset="-122"/>
                <a:cs typeface="Calibri" pitchFamily="34" charset="-120"/>
              </a:rPr>
              <a:t>Supports multiple page/section sizes: 4KB, 64KB, 1MB, 16MB</a:t>
            </a:r>
            <a:endParaRPr lang="en-US" sz="1300" dirty="0"/>
          </a:p>
        </p:txBody>
      </p:sp>
      <p:sp>
        <p:nvSpPr>
          <p:cNvPr id="19" name="Shape 14"/>
          <p:cNvSpPr/>
          <p:nvPr/>
        </p:nvSpPr>
        <p:spPr>
          <a:xfrm>
            <a:off x="548640" y="4837176"/>
            <a:ext cx="237744" cy="237744"/>
          </a:xfrm>
          <a:prstGeom prst="ellipse">
            <a:avLst/>
          </a:prstGeom>
          <a:solidFill>
            <a:srgbClr val="3F6B35"/>
          </a:solidFill>
          <a:ln/>
        </p:spPr>
      </p:sp>
      <p:pic>
        <p:nvPicPr>
          <p:cNvPr id="20" name="Image 3" descr="/home/claude/icons_flat/check.png">    </p:cNvPr>
          <p:cNvPicPr>
            <a:picLocks noChangeAspect="1"/>
          </p:cNvPicPr>
          <p:nvPr/>
        </p:nvPicPr>
        <p:blipFill>
          <a:blip r:embed="rId4"/>
          <a:stretch>
            <a:fillRect/>
          </a:stretch>
        </p:blipFill>
        <p:spPr>
          <a:xfrm>
            <a:off x="585216" y="4873752"/>
            <a:ext cx="164592" cy="164592"/>
          </a:xfrm>
          <a:prstGeom prst="rect">
            <a:avLst/>
          </a:prstGeom>
        </p:spPr>
      </p:pic>
      <p:sp>
        <p:nvSpPr>
          <p:cNvPr id="21" name="Text 15"/>
          <p:cNvSpPr txBox="1"/>
          <p:nvPr/>
        </p:nvSpPr>
        <p:spPr>
          <a:xfrm>
            <a:off x="914400" y="4764024"/>
            <a:ext cx="6035040" cy="457200"/>
          </a:xfrm>
          <a:prstGeom prst="rect">
            <a:avLst/>
          </a:prstGeom>
          <a:noFill/>
          <a:ln/>
        </p:spPr>
        <p:txBody>
          <a:bodyPr wrap="square" lIns="0" tIns="0" rIns="0" bIns="0" rtlCol="0" anchor="ctr"/>
          <a:lstStyle/>
          <a:p>
            <a:pPr indent="0" marL="0">
              <a:lnSpc>
                <a:spcPct val="105000"/>
              </a:lnSpc>
              <a:buNone/>
            </a:pPr>
            <a:r>
              <a:rPr lang="en-US" sz="1300" dirty="0">
                <a:solidFill>
                  <a:srgbClr val="0B3556"/>
                </a:solidFill>
                <a:latin typeface="Calibri" pitchFamily="34" charset="0"/>
                <a:ea typeface="Calibri" pitchFamily="34" charset="-122"/>
                <a:cs typeface="Calibri" pitchFamily="34" charset="-120"/>
              </a:rPr>
              <a:t>A Translation Lookaside Buffer (TLB) caches recent translations for speed</a:t>
            </a:r>
            <a:endParaRPr lang="en-US" sz="1300" dirty="0"/>
          </a:p>
        </p:txBody>
      </p:sp>
      <p:sp>
        <p:nvSpPr>
          <p:cNvPr id="22" name="Shape 16"/>
          <p:cNvSpPr/>
          <p:nvPr/>
        </p:nvSpPr>
        <p:spPr>
          <a:xfrm>
            <a:off x="548640" y="5404104"/>
            <a:ext cx="237744" cy="237744"/>
          </a:xfrm>
          <a:prstGeom prst="ellipse">
            <a:avLst/>
          </a:prstGeom>
          <a:solidFill>
            <a:srgbClr val="3F6B35"/>
          </a:solidFill>
          <a:ln/>
        </p:spPr>
      </p:sp>
      <p:pic>
        <p:nvPicPr>
          <p:cNvPr id="23" name="Image 4" descr="/home/claude/icons_flat/check.png">    </p:cNvPr>
          <p:cNvPicPr>
            <a:picLocks noChangeAspect="1"/>
          </p:cNvPicPr>
          <p:nvPr/>
        </p:nvPicPr>
        <p:blipFill>
          <a:blip r:embed="rId5"/>
          <a:stretch>
            <a:fillRect/>
          </a:stretch>
        </p:blipFill>
        <p:spPr>
          <a:xfrm>
            <a:off x="585216" y="5440680"/>
            <a:ext cx="164592" cy="164592"/>
          </a:xfrm>
          <a:prstGeom prst="rect">
            <a:avLst/>
          </a:prstGeom>
        </p:spPr>
      </p:pic>
      <p:sp>
        <p:nvSpPr>
          <p:cNvPr id="24" name="Text 17"/>
          <p:cNvSpPr txBox="1"/>
          <p:nvPr/>
        </p:nvSpPr>
        <p:spPr>
          <a:xfrm>
            <a:off x="914400" y="5330952"/>
            <a:ext cx="6035040" cy="457200"/>
          </a:xfrm>
          <a:prstGeom prst="rect">
            <a:avLst/>
          </a:prstGeom>
          <a:noFill/>
          <a:ln/>
        </p:spPr>
        <p:txBody>
          <a:bodyPr wrap="square" lIns="0" tIns="0" rIns="0" bIns="0" rtlCol="0" anchor="ctr"/>
          <a:lstStyle/>
          <a:p>
            <a:pPr indent="0" marL="0">
              <a:lnSpc>
                <a:spcPct val="105000"/>
              </a:lnSpc>
              <a:buNone/>
            </a:pPr>
            <a:r>
              <a:rPr lang="en-US" sz="1300" dirty="0">
                <a:solidFill>
                  <a:srgbClr val="0B3556"/>
                </a:solidFill>
                <a:latin typeface="Calibri" pitchFamily="34" charset="0"/>
                <a:ea typeface="Calibri" pitchFamily="34" charset="-122"/>
                <a:cs typeface="Calibri" pitchFamily="34" charset="-120"/>
              </a:rPr>
              <a:t>Access permissions and domains control which processes can access which memory</a:t>
            </a:r>
            <a:endParaRPr lang="en-US" sz="1300" dirty="0"/>
          </a:p>
        </p:txBody>
      </p:sp>
      <p:sp>
        <p:nvSpPr>
          <p:cNvPr id="25" name="Shape 18"/>
          <p:cNvSpPr/>
          <p:nvPr/>
        </p:nvSpPr>
        <p:spPr>
          <a:xfrm>
            <a:off x="7269480" y="1600200"/>
            <a:ext cx="4343400" cy="4480560"/>
          </a:xfrm>
          <a:prstGeom prst="roundRect">
            <a:avLst>
              <a:gd name="adj" fmla="val 2105"/>
            </a:avLst>
          </a:prstGeom>
          <a:solidFill>
            <a:srgbClr val="3F6B35"/>
          </a:solidFill>
          <a:ln/>
        </p:spPr>
      </p:sp>
      <p:sp>
        <p:nvSpPr>
          <p:cNvPr id="26" name="Shape 19"/>
          <p:cNvSpPr/>
          <p:nvPr/>
        </p:nvSpPr>
        <p:spPr>
          <a:xfrm>
            <a:off x="7543800" y="1874520"/>
            <a:ext cx="548640" cy="548640"/>
          </a:xfrm>
          <a:prstGeom prst="roundRect">
            <a:avLst>
              <a:gd name="adj" fmla="val 20000"/>
            </a:avLst>
          </a:prstGeom>
          <a:solidFill>
            <a:srgbClr val="FFFFFF">
              <a:alpha val="85000"/>
            </a:srgbClr>
          </a:solidFill>
          <a:ln/>
        </p:spPr>
      </p:sp>
      <p:pic>
        <p:nvPicPr>
          <p:cNvPr id="27" name="Image 5" descr="/home/claude/icons_flat/bulb.png">    </p:cNvPr>
          <p:cNvPicPr>
            <a:picLocks noChangeAspect="1"/>
          </p:cNvPicPr>
          <p:nvPr/>
        </p:nvPicPr>
        <p:blipFill>
          <a:blip r:embed="rId6"/>
          <a:stretch>
            <a:fillRect/>
          </a:stretch>
        </p:blipFill>
        <p:spPr>
          <a:xfrm>
            <a:off x="7680960" y="2011680"/>
            <a:ext cx="274320" cy="274320"/>
          </a:xfrm>
          <a:prstGeom prst="rect">
            <a:avLst/>
          </a:prstGeom>
        </p:spPr>
      </p:pic>
      <p:sp>
        <p:nvSpPr>
          <p:cNvPr id="28" name="Text 20"/>
          <p:cNvSpPr txBox="1"/>
          <p:nvPr/>
        </p:nvSpPr>
        <p:spPr>
          <a:xfrm>
            <a:off x="7543800" y="2542032"/>
            <a:ext cx="3840480" cy="320040"/>
          </a:xfrm>
          <a:prstGeom prst="rect">
            <a:avLst/>
          </a:prstGeom>
          <a:noFill/>
          <a:ln/>
        </p:spPr>
        <p:txBody>
          <a:bodyPr wrap="square" lIns="0" tIns="0" rIns="0" bIns="0" rtlCol="0" anchor="ctr"/>
          <a:lstStyle/>
          <a:p>
            <a:pPr indent="0" marL="0">
              <a:buNone/>
            </a:pPr>
            <a:r>
              <a:rPr lang="en-US" sz="1300" b="1" spc="100" kern="0" dirty="0">
                <a:solidFill>
                  <a:srgbClr val="FFFFFF"/>
                </a:solidFill>
                <a:latin typeface="Calibri" pitchFamily="34" charset="0"/>
                <a:ea typeface="Calibri" pitchFamily="34" charset="-122"/>
                <a:cs typeface="Calibri" pitchFamily="34" charset="-120"/>
              </a:rPr>
              <a:t>WHY IT MATTERS</a:t>
            </a:r>
            <a:endParaRPr lang="en-US" sz="1300" dirty="0"/>
          </a:p>
        </p:txBody>
      </p:sp>
      <p:sp>
        <p:nvSpPr>
          <p:cNvPr id="29" name="Text 21"/>
          <p:cNvSpPr txBox="1"/>
          <p:nvPr/>
        </p:nvSpPr>
        <p:spPr>
          <a:xfrm>
            <a:off x="7543800" y="2926080"/>
            <a:ext cx="3840480" cy="3017520"/>
          </a:xfrm>
          <a:prstGeom prst="rect">
            <a:avLst/>
          </a:prstGeom>
          <a:noFill/>
          <a:ln/>
        </p:spPr>
        <p:txBody>
          <a:bodyPr wrap="square" lIns="0" tIns="0" rIns="0" bIns="0" rtlCol="0" anchor="t"/>
          <a:lstStyle/>
          <a:p>
            <a:pPr indent="0" marL="0">
              <a:lnSpc>
                <a:spcPct val="135000"/>
              </a:lnSpc>
              <a:buNone/>
            </a:pPr>
            <a:r>
              <a:rPr lang="en-US" sz="1400" dirty="0">
                <a:solidFill>
                  <a:srgbClr val="FFFFFF"/>
                </a:solidFill>
                <a:latin typeface="Calibri" pitchFamily="34" charset="0"/>
                <a:ea typeface="Calibri" pitchFamily="34" charset="-122"/>
                <a:cs typeface="Calibri" pitchFamily="34" charset="-120"/>
              </a:rPr>
              <a:t>ARM chips run in billions of battery-powered devices, so memory management must be fast and power-efficient — every unnecessary memory lookup drains the battery a little more.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686800" cy="274320"/>
          </a:xfrm>
          <a:prstGeom prst="rect">
            <a:avLst/>
          </a:prstGeom>
          <a:noFill/>
          <a:ln/>
        </p:spPr>
        <p:txBody>
          <a:bodyPr wrap="square" lIns="0" tIns="0" rIns="0" bIns="0" rtlCol="0" anchor="ctr"/>
          <a:lstStyle/>
          <a:p>
            <a:pPr indent="0" marL="0">
              <a:buNone/>
            </a:pPr>
            <a:r>
              <a:rPr lang="en-US" sz="1100" spc="100" kern="0" dirty="0">
                <a:solidFill>
                  <a:srgbClr val="6B7688"/>
                </a:solidFill>
                <a:latin typeface="Calibri" pitchFamily="34" charset="0"/>
                <a:ea typeface="Calibri" pitchFamily="34" charset="-122"/>
                <a:cs typeface="Calibri" pitchFamily="34" charset="-120"/>
              </a:rPr>
              <a:t>CH.8  ·  OPERATING SYSTEM SUPPORT  ·  2.5</a:t>
            </a:r>
            <a:endParaRPr lang="en-US" sz="1100" dirty="0"/>
          </a:p>
        </p:txBody>
      </p:sp>
      <p:sp>
        <p:nvSpPr>
          <p:cNvPr id="3" name="Text 1"/>
          <p:cNvSpPr txBox="1"/>
          <p:nvPr/>
        </p:nvSpPr>
        <p:spPr>
          <a:xfrm>
            <a:off x="548640" y="566928"/>
            <a:ext cx="8961120" cy="548640"/>
          </a:xfrm>
          <a:prstGeom prst="rect">
            <a:avLst/>
          </a:prstGeom>
          <a:noFill/>
          <a:ln/>
        </p:spPr>
        <p:txBody>
          <a:bodyPr wrap="square" lIns="0" tIns="0" rIns="0" bIns="0" rtlCol="0" anchor="ctr"/>
          <a:lstStyle/>
          <a:p>
            <a:pPr indent="0" marL="0">
              <a:buNone/>
            </a:pPr>
            <a:r>
              <a:rPr lang="en-US" sz="3000" b="1" dirty="0">
                <a:solidFill>
                  <a:srgbClr val="0B3556"/>
                </a:solidFill>
                <a:latin typeface="Cambria" pitchFamily="34" charset="0"/>
                <a:ea typeface="Cambria" pitchFamily="34" charset="-122"/>
                <a:cs typeface="Cambria" pitchFamily="34" charset="-120"/>
              </a:rPr>
              <a:t>ARM Memory Management</a:t>
            </a:r>
            <a:endParaRPr lang="en-US" sz="3000" dirty="0"/>
          </a:p>
        </p:txBody>
      </p:sp>
      <p:sp>
        <p:nvSpPr>
          <p:cNvPr id="4" name="Text 2"/>
          <p:cNvSpPr txBox="1"/>
          <p:nvPr/>
        </p:nvSpPr>
        <p:spPr>
          <a:xfrm>
            <a:off x="548640" y="1078992"/>
            <a:ext cx="8961120" cy="320040"/>
          </a:xfrm>
          <a:prstGeom prst="rect">
            <a:avLst/>
          </a:prstGeom>
          <a:noFill/>
          <a:ln/>
        </p:spPr>
        <p:txBody>
          <a:bodyPr wrap="square" lIns="0" tIns="0" rIns="0" bIns="0" rtlCol="0" anchor="ctr"/>
          <a:lstStyle/>
          <a:p>
            <a:pPr indent="0" marL="0">
              <a:buNone/>
            </a:pPr>
            <a:r>
              <a:rPr lang="en-US" sz="1400" i="1" dirty="0">
                <a:solidFill>
                  <a:srgbClr val="3F6B35"/>
                </a:solidFill>
                <a:latin typeface="Calibri" pitchFamily="34" charset="0"/>
                <a:ea typeface="Calibri" pitchFamily="34" charset="-122"/>
                <a:cs typeface="Calibri" pitchFamily="34" charset="-120"/>
              </a:rPr>
              <a:t>Technical Example</a:t>
            </a:r>
            <a:endParaRPr lang="en-US" sz="1400" dirty="0"/>
          </a:p>
        </p:txBody>
      </p:sp>
      <p:sp>
        <p:nvSpPr>
          <p:cNvPr id="5" name="Shape 3"/>
          <p:cNvSpPr/>
          <p:nvPr/>
        </p:nvSpPr>
        <p:spPr>
          <a:xfrm>
            <a:off x="10698480" y="384048"/>
            <a:ext cx="868680" cy="868680"/>
          </a:xfrm>
          <a:prstGeom prst="roundRect">
            <a:avLst>
              <a:gd name="adj" fmla="val 16842"/>
            </a:avLst>
          </a:prstGeom>
          <a:solidFill>
            <a:srgbClr val="3F6B35"/>
          </a:solidFill>
          <a:ln/>
        </p:spPr>
      </p:sp>
      <p:pic>
        <p:nvPicPr>
          <p:cNvPr id="6" name="Image 0" descr="/home/claude/icons_flat/mobile.png">    </p:cNvPr>
          <p:cNvPicPr>
            <a:picLocks noChangeAspect="1"/>
          </p:cNvPicPr>
          <p:nvPr/>
        </p:nvPicPr>
        <p:blipFill>
          <a:blip r:embed="rId1"/>
          <a:stretch>
            <a:fillRect/>
          </a:stretch>
        </p:blipFill>
        <p:spPr>
          <a:xfrm>
            <a:off x="10927080" y="612648"/>
            <a:ext cx="411480" cy="411480"/>
          </a:xfrm>
          <a:prstGeom prst="rect">
            <a:avLst/>
          </a:prstGeom>
        </p:spPr>
      </p:pic>
      <p:sp>
        <p:nvSpPr>
          <p:cNvPr id="7" name="Text 4"/>
          <p:cNvSpPr txBox="1"/>
          <p:nvPr/>
        </p:nvSpPr>
        <p:spPr>
          <a:xfrm>
            <a:off x="548640" y="6537960"/>
            <a:ext cx="8229600" cy="256032"/>
          </a:xfrm>
          <a:prstGeom prst="rect">
            <a:avLst/>
          </a:prstGeom>
          <a:noFill/>
          <a:ln/>
        </p:spPr>
        <p:txBody>
          <a:bodyPr wrap="square" lIns="0" tIns="0" rIns="0" bIns="0" rtlCol="0" anchor="ctr"/>
          <a:lstStyle/>
          <a:p>
            <a:pPr indent="0" marL="0">
              <a:buNone/>
            </a:pPr>
            <a:r>
              <a:rPr lang="en-US" sz="950" dirty="0">
                <a:solidFill>
                  <a:srgbClr val="6B7688"/>
                </a:solidFill>
                <a:latin typeface="Calibri" pitchFamily="34" charset="0"/>
                <a:ea typeface="Calibri" pitchFamily="34" charset="-122"/>
                <a:cs typeface="Calibri" pitchFamily="34" charset="-120"/>
              </a:rPr>
              <a:t>Operating System Support — Chapter 8, William Stallings</a:t>
            </a:r>
            <a:endParaRPr lang="en-US" sz="950" dirty="0"/>
          </a:p>
        </p:txBody>
      </p:sp>
      <p:sp>
        <p:nvSpPr>
          <p:cNvPr id="8" name="Text 5"/>
          <p:cNvSpPr txBox="1"/>
          <p:nvPr/>
        </p:nvSpPr>
        <p:spPr>
          <a:xfrm>
            <a:off x="10515600" y="6537960"/>
            <a:ext cx="1097280" cy="256032"/>
          </a:xfrm>
          <a:prstGeom prst="rect">
            <a:avLst/>
          </a:prstGeom>
          <a:noFill/>
          <a:ln/>
        </p:spPr>
        <p:txBody>
          <a:bodyPr wrap="square" lIns="0" tIns="0" rIns="0" bIns="0" rtlCol="0" anchor="ctr"/>
          <a:lstStyle/>
          <a:p>
            <a:pPr algn="r" indent="0" marL="0">
              <a:buNone/>
            </a:pPr>
            <a:r>
              <a:rPr lang="en-US" sz="950" dirty="0">
                <a:solidFill>
                  <a:srgbClr val="6B7688"/>
                </a:solidFill>
                <a:latin typeface="Calibri" pitchFamily="34" charset="0"/>
                <a:ea typeface="Calibri" pitchFamily="34" charset="-122"/>
                <a:cs typeface="Calibri" pitchFamily="34" charset="-120"/>
              </a:rPr>
              <a:t>14/15</a:t>
            </a:r>
            <a:endParaRPr lang="en-US" sz="950" dirty="0"/>
          </a:p>
        </p:txBody>
      </p:sp>
      <p:sp>
        <p:nvSpPr>
          <p:cNvPr id="9" name="Shape 6"/>
          <p:cNvSpPr/>
          <p:nvPr/>
        </p:nvSpPr>
        <p:spPr>
          <a:xfrm>
            <a:off x="548640" y="1691640"/>
            <a:ext cx="11064240" cy="2286000"/>
          </a:xfrm>
          <a:prstGeom prst="roundRect">
            <a:avLst>
              <a:gd name="adj" fmla="val 4000"/>
            </a:avLst>
          </a:prstGeom>
          <a:solidFill>
            <a:srgbClr val="F5F7FA"/>
          </a:solidFill>
          <a:ln w="12700">
            <a:solidFill>
              <a:srgbClr val="DCE3EA"/>
            </a:solidFill>
            <a:prstDash val="solid"/>
          </a:ln>
        </p:spPr>
      </p:sp>
      <p:sp>
        <p:nvSpPr>
          <p:cNvPr id="10" name="Shape 7"/>
          <p:cNvSpPr/>
          <p:nvPr/>
        </p:nvSpPr>
        <p:spPr>
          <a:xfrm>
            <a:off x="868680" y="1965960"/>
            <a:ext cx="502920" cy="502920"/>
          </a:xfrm>
          <a:prstGeom prst="roundRect">
            <a:avLst>
              <a:gd name="adj" fmla="val 18182"/>
            </a:avLst>
          </a:prstGeom>
          <a:solidFill>
            <a:srgbClr val="3F6B35"/>
          </a:solidFill>
          <a:ln/>
        </p:spPr>
      </p:sp>
      <p:pic>
        <p:nvPicPr>
          <p:cNvPr id="11" name="Image 1" descr="/home/claude/icons_flat/bulb.png">    </p:cNvPr>
          <p:cNvPicPr>
            <a:picLocks noChangeAspect="1"/>
          </p:cNvPicPr>
          <p:nvPr/>
        </p:nvPicPr>
        <p:blipFill>
          <a:blip r:embed="rId2"/>
          <a:stretch>
            <a:fillRect/>
          </a:stretch>
        </p:blipFill>
        <p:spPr>
          <a:xfrm>
            <a:off x="987552" y="2084832"/>
            <a:ext cx="265176" cy="265176"/>
          </a:xfrm>
          <a:prstGeom prst="rect">
            <a:avLst/>
          </a:prstGeom>
        </p:spPr>
      </p:pic>
      <p:sp>
        <p:nvSpPr>
          <p:cNvPr id="12" name="Text 8"/>
          <p:cNvSpPr txBox="1"/>
          <p:nvPr/>
        </p:nvSpPr>
        <p:spPr>
          <a:xfrm>
            <a:off x="1508760" y="2048256"/>
            <a:ext cx="5486400" cy="365760"/>
          </a:xfrm>
          <a:prstGeom prst="rect">
            <a:avLst/>
          </a:prstGeom>
          <a:noFill/>
          <a:ln/>
        </p:spPr>
        <p:txBody>
          <a:bodyPr wrap="square" lIns="0" tIns="0" rIns="0" bIns="0" rtlCol="0" anchor="ctr"/>
          <a:lstStyle/>
          <a:p>
            <a:pPr indent="0" marL="0">
              <a:buNone/>
            </a:pPr>
            <a:r>
              <a:rPr lang="en-US" sz="1300" b="1" spc="100" kern="0" dirty="0">
                <a:solidFill>
                  <a:srgbClr val="3F6B35"/>
                </a:solidFill>
                <a:latin typeface="Calibri" pitchFamily="34" charset="0"/>
                <a:ea typeface="Calibri" pitchFamily="34" charset="-122"/>
                <a:cs typeface="Calibri" pitchFamily="34" charset="-120"/>
              </a:rPr>
              <a:t>EXAMPLE IN PRACTICE</a:t>
            </a:r>
            <a:endParaRPr lang="en-US" sz="1300" dirty="0"/>
          </a:p>
        </p:txBody>
      </p:sp>
      <p:sp>
        <p:nvSpPr>
          <p:cNvPr id="13" name="Text 9"/>
          <p:cNvSpPr txBox="1"/>
          <p:nvPr/>
        </p:nvSpPr>
        <p:spPr>
          <a:xfrm>
            <a:off x="868680" y="2697480"/>
            <a:ext cx="10424160" cy="1188720"/>
          </a:xfrm>
          <a:prstGeom prst="rect">
            <a:avLst/>
          </a:prstGeom>
          <a:noFill/>
          <a:ln/>
        </p:spPr>
        <p:txBody>
          <a:bodyPr wrap="square" lIns="0" tIns="0" rIns="0" bIns="0" rtlCol="0" anchor="t"/>
          <a:lstStyle/>
          <a:p>
            <a:pPr indent="0" marL="0">
              <a:lnSpc>
                <a:spcPct val="135000"/>
              </a:lnSpc>
              <a:buNone/>
            </a:pPr>
            <a:r>
              <a:rPr lang="en-US" sz="1600" dirty="0">
                <a:solidFill>
                  <a:srgbClr val="0B3556"/>
                </a:solidFill>
                <a:latin typeface="Calibri" pitchFamily="34" charset="0"/>
                <a:ea typeface="Calibri" pitchFamily="34" charset="-122"/>
                <a:cs typeface="Calibri" pitchFamily="34" charset="-120"/>
              </a:rPr>
              <a:t>Your phone's ARM chip runs dozens of background apps (mail sync, maps, notifications) at once without draining the battery instantly. Fast TLB lookups mean the CPU rarely has to do a full, power-hungry page-table walk just to read or write memory.</a:t>
            </a:r>
            <a:endParaRPr lang="en-US" sz="1600" dirty="0"/>
          </a:p>
        </p:txBody>
      </p:sp>
      <p:sp>
        <p:nvSpPr>
          <p:cNvPr id="14" name="Shape 10"/>
          <p:cNvSpPr/>
          <p:nvPr/>
        </p:nvSpPr>
        <p:spPr>
          <a:xfrm>
            <a:off x="548640" y="4251960"/>
            <a:ext cx="1417320" cy="411480"/>
          </a:xfrm>
          <a:prstGeom prst="roundRect">
            <a:avLst>
              <a:gd name="adj" fmla="val 48889"/>
            </a:avLst>
          </a:prstGeom>
          <a:solidFill>
            <a:srgbClr val="3F6B35"/>
          </a:solidFill>
          <a:ln/>
        </p:spPr>
      </p:sp>
      <p:sp>
        <p:nvSpPr>
          <p:cNvPr id="15" name="Text 11"/>
          <p:cNvSpPr txBox="1"/>
          <p:nvPr/>
        </p:nvSpPr>
        <p:spPr>
          <a:xfrm>
            <a:off x="548640" y="4251960"/>
            <a:ext cx="1417320" cy="41148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KEY INSIGHT</a:t>
            </a:r>
            <a:endParaRPr lang="en-US" sz="1050" dirty="0"/>
          </a:p>
        </p:txBody>
      </p:sp>
      <p:sp>
        <p:nvSpPr>
          <p:cNvPr id="16" name="Text 12"/>
          <p:cNvSpPr txBox="1"/>
          <p:nvPr/>
        </p:nvSpPr>
        <p:spPr>
          <a:xfrm>
            <a:off x="2148840" y="4251960"/>
            <a:ext cx="9464040" cy="411480"/>
          </a:xfrm>
          <a:prstGeom prst="rect">
            <a:avLst/>
          </a:prstGeom>
          <a:noFill/>
          <a:ln/>
        </p:spPr>
        <p:txBody>
          <a:bodyPr wrap="square" lIns="0" tIns="0" rIns="0" bIns="0" rtlCol="0" anchor="ctr"/>
          <a:lstStyle/>
          <a:p>
            <a:pPr indent="0" marL="0">
              <a:buNone/>
            </a:pPr>
            <a:r>
              <a:rPr lang="en-US" sz="1400" b="1" i="1" dirty="0">
                <a:solidFill>
                  <a:srgbClr val="0B3556"/>
                </a:solidFill>
                <a:latin typeface="Calibri" pitchFamily="34" charset="0"/>
                <a:ea typeface="Calibri" pitchFamily="34" charset="-122"/>
                <a:cs typeface="Calibri" pitchFamily="34" charset="-120"/>
              </a:rPr>
              <a:t>The TLB cache is often the single biggest reason ARM devices feel responsive despite modest CPU speeds.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686800" cy="274320"/>
          </a:xfrm>
          <a:prstGeom prst="rect">
            <a:avLst/>
          </a:prstGeom>
          <a:noFill/>
          <a:ln/>
        </p:spPr>
        <p:txBody>
          <a:bodyPr wrap="square" lIns="0" tIns="0" rIns="0" bIns="0" rtlCol="0" anchor="ctr"/>
          <a:lstStyle/>
          <a:p>
            <a:pPr indent="0" marL="0">
              <a:buNone/>
            </a:pPr>
            <a:r>
              <a:rPr lang="en-US" sz="1100" spc="100" kern="0" dirty="0">
                <a:solidFill>
                  <a:srgbClr val="6B7688"/>
                </a:solidFill>
                <a:latin typeface="Calibri" pitchFamily="34" charset="0"/>
                <a:ea typeface="Calibri" pitchFamily="34" charset="-122"/>
                <a:cs typeface="Calibri" pitchFamily="34" charset="-120"/>
              </a:rPr>
              <a:t>CH.8  ·  OPERATING SYSTEM SUPPORT  ·  2.5</a:t>
            </a:r>
            <a:endParaRPr lang="en-US" sz="1100" dirty="0"/>
          </a:p>
        </p:txBody>
      </p:sp>
      <p:sp>
        <p:nvSpPr>
          <p:cNvPr id="3" name="Text 1"/>
          <p:cNvSpPr txBox="1"/>
          <p:nvPr/>
        </p:nvSpPr>
        <p:spPr>
          <a:xfrm>
            <a:off x="548640" y="566928"/>
            <a:ext cx="8961120" cy="548640"/>
          </a:xfrm>
          <a:prstGeom prst="rect">
            <a:avLst/>
          </a:prstGeom>
          <a:noFill/>
          <a:ln/>
        </p:spPr>
        <p:txBody>
          <a:bodyPr wrap="square" lIns="0" tIns="0" rIns="0" bIns="0" rtlCol="0" anchor="ctr"/>
          <a:lstStyle/>
          <a:p>
            <a:pPr indent="0" marL="0">
              <a:buNone/>
            </a:pPr>
            <a:r>
              <a:rPr lang="en-US" sz="3000" b="1" dirty="0">
                <a:solidFill>
                  <a:srgbClr val="0B3556"/>
                </a:solidFill>
                <a:latin typeface="Cambria" pitchFamily="34" charset="0"/>
                <a:ea typeface="Cambria" pitchFamily="34" charset="-122"/>
                <a:cs typeface="Cambria" pitchFamily="34" charset="-120"/>
              </a:rPr>
              <a:t>ARM Memory Management</a:t>
            </a:r>
            <a:endParaRPr lang="en-US" sz="3000" dirty="0"/>
          </a:p>
        </p:txBody>
      </p:sp>
      <p:sp>
        <p:nvSpPr>
          <p:cNvPr id="4" name="Text 2"/>
          <p:cNvSpPr txBox="1"/>
          <p:nvPr/>
        </p:nvSpPr>
        <p:spPr>
          <a:xfrm>
            <a:off x="548640" y="1078992"/>
            <a:ext cx="8961120" cy="320040"/>
          </a:xfrm>
          <a:prstGeom prst="rect">
            <a:avLst/>
          </a:prstGeom>
          <a:noFill/>
          <a:ln/>
        </p:spPr>
        <p:txBody>
          <a:bodyPr wrap="square" lIns="0" tIns="0" rIns="0" bIns="0" rtlCol="0" anchor="ctr"/>
          <a:lstStyle/>
          <a:p>
            <a:pPr indent="0" marL="0">
              <a:buNone/>
            </a:pPr>
            <a:r>
              <a:rPr lang="en-US" sz="1400" i="1" dirty="0">
                <a:solidFill>
                  <a:srgbClr val="3F6B35"/>
                </a:solidFill>
                <a:latin typeface="Calibri" pitchFamily="34" charset="0"/>
                <a:ea typeface="Calibri" pitchFamily="34" charset="-122"/>
                <a:cs typeface="Calibri" pitchFamily="34" charset="-120"/>
              </a:rPr>
              <a:t>How It Works — Process Flow</a:t>
            </a:r>
            <a:endParaRPr lang="en-US" sz="1400" dirty="0"/>
          </a:p>
        </p:txBody>
      </p:sp>
      <p:sp>
        <p:nvSpPr>
          <p:cNvPr id="5" name="Shape 3"/>
          <p:cNvSpPr/>
          <p:nvPr/>
        </p:nvSpPr>
        <p:spPr>
          <a:xfrm>
            <a:off x="10698480" y="384048"/>
            <a:ext cx="868680" cy="868680"/>
          </a:xfrm>
          <a:prstGeom prst="roundRect">
            <a:avLst>
              <a:gd name="adj" fmla="val 16842"/>
            </a:avLst>
          </a:prstGeom>
          <a:solidFill>
            <a:srgbClr val="3F6B35"/>
          </a:solidFill>
          <a:ln/>
        </p:spPr>
      </p:sp>
      <p:pic>
        <p:nvPicPr>
          <p:cNvPr id="6" name="Image 0" descr="/home/claude/icons_flat/mobile.png">    </p:cNvPr>
          <p:cNvPicPr>
            <a:picLocks noChangeAspect="1"/>
          </p:cNvPicPr>
          <p:nvPr/>
        </p:nvPicPr>
        <p:blipFill>
          <a:blip r:embed="rId1"/>
          <a:stretch>
            <a:fillRect/>
          </a:stretch>
        </p:blipFill>
        <p:spPr>
          <a:xfrm>
            <a:off x="10927080" y="612648"/>
            <a:ext cx="411480" cy="411480"/>
          </a:xfrm>
          <a:prstGeom prst="rect">
            <a:avLst/>
          </a:prstGeom>
        </p:spPr>
      </p:pic>
      <p:sp>
        <p:nvSpPr>
          <p:cNvPr id="7" name="Text 4"/>
          <p:cNvSpPr txBox="1"/>
          <p:nvPr/>
        </p:nvSpPr>
        <p:spPr>
          <a:xfrm>
            <a:off x="548640" y="6537960"/>
            <a:ext cx="8229600" cy="256032"/>
          </a:xfrm>
          <a:prstGeom prst="rect">
            <a:avLst/>
          </a:prstGeom>
          <a:noFill/>
          <a:ln/>
        </p:spPr>
        <p:txBody>
          <a:bodyPr wrap="square" lIns="0" tIns="0" rIns="0" bIns="0" rtlCol="0" anchor="ctr"/>
          <a:lstStyle/>
          <a:p>
            <a:pPr indent="0" marL="0">
              <a:buNone/>
            </a:pPr>
            <a:r>
              <a:rPr lang="en-US" sz="950" dirty="0">
                <a:solidFill>
                  <a:srgbClr val="6B7688"/>
                </a:solidFill>
                <a:latin typeface="Calibri" pitchFamily="34" charset="0"/>
                <a:ea typeface="Calibri" pitchFamily="34" charset="-122"/>
                <a:cs typeface="Calibri" pitchFamily="34" charset="-120"/>
              </a:rPr>
              <a:t>Operating System Support — Chapter 8, William Stallings</a:t>
            </a:r>
            <a:endParaRPr lang="en-US" sz="950" dirty="0"/>
          </a:p>
        </p:txBody>
      </p:sp>
      <p:sp>
        <p:nvSpPr>
          <p:cNvPr id="8" name="Text 5"/>
          <p:cNvSpPr txBox="1"/>
          <p:nvPr/>
        </p:nvSpPr>
        <p:spPr>
          <a:xfrm>
            <a:off x="10515600" y="6537960"/>
            <a:ext cx="1097280" cy="256032"/>
          </a:xfrm>
          <a:prstGeom prst="rect">
            <a:avLst/>
          </a:prstGeom>
          <a:noFill/>
          <a:ln/>
        </p:spPr>
        <p:txBody>
          <a:bodyPr wrap="square" lIns="0" tIns="0" rIns="0" bIns="0" rtlCol="0" anchor="ctr"/>
          <a:lstStyle/>
          <a:p>
            <a:pPr algn="r" indent="0" marL="0">
              <a:buNone/>
            </a:pPr>
            <a:r>
              <a:rPr lang="en-US" sz="950" dirty="0">
                <a:solidFill>
                  <a:srgbClr val="6B7688"/>
                </a:solidFill>
                <a:latin typeface="Calibri" pitchFamily="34" charset="0"/>
                <a:ea typeface="Calibri" pitchFamily="34" charset="-122"/>
                <a:cs typeface="Calibri" pitchFamily="34" charset="-120"/>
              </a:rPr>
              <a:t>15/15</a:t>
            </a:r>
            <a:endParaRPr lang="en-US" sz="950" dirty="0"/>
          </a:p>
        </p:txBody>
      </p:sp>
      <p:sp>
        <p:nvSpPr>
          <p:cNvPr id="9" name="Shape 6"/>
          <p:cNvSpPr/>
          <p:nvPr/>
        </p:nvSpPr>
        <p:spPr>
          <a:xfrm>
            <a:off x="1234440" y="1737360"/>
            <a:ext cx="457200" cy="457200"/>
          </a:xfrm>
          <a:prstGeom prst="ellipse">
            <a:avLst/>
          </a:prstGeom>
          <a:solidFill>
            <a:srgbClr val="3F6B35"/>
          </a:solidFill>
          <a:ln/>
        </p:spPr>
      </p:sp>
      <p:sp>
        <p:nvSpPr>
          <p:cNvPr id="10" name="Text 7"/>
          <p:cNvSpPr txBox="1"/>
          <p:nvPr/>
        </p:nvSpPr>
        <p:spPr>
          <a:xfrm>
            <a:off x="123444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1" name="Shape 8"/>
          <p:cNvSpPr/>
          <p:nvPr/>
        </p:nvSpPr>
        <p:spPr>
          <a:xfrm>
            <a:off x="2286000" y="1664208"/>
            <a:ext cx="7680960" cy="795528"/>
          </a:xfrm>
          <a:prstGeom prst="roundRect">
            <a:avLst>
              <a:gd name="adj" fmla="val 9195"/>
            </a:avLst>
          </a:prstGeom>
          <a:solidFill>
            <a:srgbClr val="F5F7FA"/>
          </a:solidFill>
          <a:ln w="12700">
            <a:solidFill>
              <a:srgbClr val="3F6B35"/>
            </a:solidFill>
            <a:prstDash val="solid"/>
          </a:ln>
        </p:spPr>
      </p:sp>
      <p:sp>
        <p:nvSpPr>
          <p:cNvPr id="12" name="Text 9"/>
          <p:cNvSpPr txBox="1"/>
          <p:nvPr/>
        </p:nvSpPr>
        <p:spPr>
          <a:xfrm>
            <a:off x="2514600" y="1664208"/>
            <a:ext cx="7223760" cy="795528"/>
          </a:xfrm>
          <a:prstGeom prst="rect">
            <a:avLst/>
          </a:prstGeom>
          <a:noFill/>
          <a:ln/>
        </p:spPr>
        <p:txBody>
          <a:bodyPr wrap="square" lIns="0" tIns="0" rIns="0" bIns="0" rtlCol="0" anchor="ctr"/>
          <a:lstStyle/>
          <a:p>
            <a:pPr indent="0" marL="0">
              <a:buNone/>
            </a:pPr>
            <a:r>
              <a:rPr lang="en-US" sz="1400" dirty="0">
                <a:solidFill>
                  <a:srgbClr val="0B3556"/>
                </a:solidFill>
                <a:latin typeface="Calibri" pitchFamily="34" charset="0"/>
                <a:ea typeface="Calibri" pitchFamily="34" charset="-122"/>
                <a:cs typeface="Calibri" pitchFamily="34" charset="-120"/>
              </a:rPr>
              <a:t>CPU requests a virtual address</a:t>
            </a:r>
            <a:endParaRPr lang="en-US" sz="1400" dirty="0"/>
          </a:p>
        </p:txBody>
      </p:sp>
      <p:sp>
        <p:nvSpPr>
          <p:cNvPr id="13" name="Shape 10"/>
          <p:cNvSpPr/>
          <p:nvPr/>
        </p:nvSpPr>
        <p:spPr>
          <a:xfrm>
            <a:off x="1463040" y="2240280"/>
            <a:ext cx="0" cy="548640"/>
          </a:xfrm>
          <a:prstGeom prst="line">
            <a:avLst/>
          </a:prstGeom>
          <a:noFill/>
          <a:ln w="25400">
            <a:solidFill>
              <a:srgbClr val="3F6B35"/>
            </a:solidFill>
            <a:prstDash val="solid"/>
            <a:tailEnd type="triangle"/>
          </a:ln>
        </p:spPr>
      </p:sp>
      <p:sp>
        <p:nvSpPr>
          <p:cNvPr id="14" name="Shape 11"/>
          <p:cNvSpPr/>
          <p:nvPr/>
        </p:nvSpPr>
        <p:spPr>
          <a:xfrm>
            <a:off x="1234440" y="2788920"/>
            <a:ext cx="457200" cy="457200"/>
          </a:xfrm>
          <a:prstGeom prst="ellipse">
            <a:avLst/>
          </a:prstGeom>
          <a:solidFill>
            <a:srgbClr val="3F6B35"/>
          </a:solidFill>
          <a:ln/>
        </p:spPr>
      </p:sp>
      <p:sp>
        <p:nvSpPr>
          <p:cNvPr id="15" name="Text 12"/>
          <p:cNvSpPr txBox="1"/>
          <p:nvPr/>
        </p:nvSpPr>
        <p:spPr>
          <a:xfrm>
            <a:off x="1234440" y="2788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6" name="Shape 13"/>
          <p:cNvSpPr/>
          <p:nvPr/>
        </p:nvSpPr>
        <p:spPr>
          <a:xfrm>
            <a:off x="2286000" y="2715768"/>
            <a:ext cx="7680960" cy="795528"/>
          </a:xfrm>
          <a:prstGeom prst="roundRect">
            <a:avLst>
              <a:gd name="adj" fmla="val 9195"/>
            </a:avLst>
          </a:prstGeom>
          <a:solidFill>
            <a:srgbClr val="F5F7FA"/>
          </a:solidFill>
          <a:ln w="12700">
            <a:solidFill>
              <a:srgbClr val="3F6B35"/>
            </a:solidFill>
            <a:prstDash val="solid"/>
          </a:ln>
        </p:spPr>
      </p:sp>
      <p:sp>
        <p:nvSpPr>
          <p:cNvPr id="17" name="Text 14"/>
          <p:cNvSpPr txBox="1"/>
          <p:nvPr/>
        </p:nvSpPr>
        <p:spPr>
          <a:xfrm>
            <a:off x="2514600" y="2715768"/>
            <a:ext cx="7223760" cy="795528"/>
          </a:xfrm>
          <a:prstGeom prst="rect">
            <a:avLst/>
          </a:prstGeom>
          <a:noFill/>
          <a:ln/>
        </p:spPr>
        <p:txBody>
          <a:bodyPr wrap="square" lIns="0" tIns="0" rIns="0" bIns="0" rtlCol="0" anchor="ctr"/>
          <a:lstStyle/>
          <a:p>
            <a:pPr indent="0" marL="0">
              <a:buNone/>
            </a:pPr>
            <a:r>
              <a:rPr lang="en-US" sz="1400" dirty="0">
                <a:solidFill>
                  <a:srgbClr val="0B3556"/>
                </a:solidFill>
                <a:latin typeface="Calibri" pitchFamily="34" charset="0"/>
                <a:ea typeface="Calibri" pitchFamily="34" charset="-122"/>
                <a:cs typeface="Calibri" pitchFamily="34" charset="-120"/>
              </a:rPr>
              <a:t>MMU checks the TLB first (fast cache)</a:t>
            </a:r>
            <a:endParaRPr lang="en-US" sz="1400" dirty="0"/>
          </a:p>
        </p:txBody>
      </p:sp>
      <p:sp>
        <p:nvSpPr>
          <p:cNvPr id="18" name="Shape 15"/>
          <p:cNvSpPr/>
          <p:nvPr/>
        </p:nvSpPr>
        <p:spPr>
          <a:xfrm>
            <a:off x="1463040" y="3291840"/>
            <a:ext cx="0" cy="548640"/>
          </a:xfrm>
          <a:prstGeom prst="line">
            <a:avLst/>
          </a:prstGeom>
          <a:noFill/>
          <a:ln w="25400">
            <a:solidFill>
              <a:srgbClr val="3F6B35"/>
            </a:solidFill>
            <a:prstDash val="solid"/>
            <a:tailEnd type="triangle"/>
          </a:ln>
        </p:spPr>
      </p:sp>
      <p:sp>
        <p:nvSpPr>
          <p:cNvPr id="19" name="Shape 16"/>
          <p:cNvSpPr/>
          <p:nvPr/>
        </p:nvSpPr>
        <p:spPr>
          <a:xfrm>
            <a:off x="1234440" y="3840480"/>
            <a:ext cx="457200" cy="457200"/>
          </a:xfrm>
          <a:prstGeom prst="ellipse">
            <a:avLst/>
          </a:prstGeom>
          <a:solidFill>
            <a:srgbClr val="3F6B35"/>
          </a:solidFill>
          <a:ln/>
        </p:spPr>
      </p:sp>
      <p:sp>
        <p:nvSpPr>
          <p:cNvPr id="20" name="Text 17"/>
          <p:cNvSpPr txBox="1"/>
          <p:nvPr/>
        </p:nvSpPr>
        <p:spPr>
          <a:xfrm>
            <a:off x="1234440" y="3840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Shape 18"/>
          <p:cNvSpPr/>
          <p:nvPr/>
        </p:nvSpPr>
        <p:spPr>
          <a:xfrm>
            <a:off x="2286000" y="3767328"/>
            <a:ext cx="7680960" cy="795528"/>
          </a:xfrm>
          <a:prstGeom prst="roundRect">
            <a:avLst>
              <a:gd name="adj" fmla="val 9195"/>
            </a:avLst>
          </a:prstGeom>
          <a:solidFill>
            <a:srgbClr val="F5F7FA"/>
          </a:solidFill>
          <a:ln w="12700">
            <a:solidFill>
              <a:srgbClr val="3F6B35"/>
            </a:solidFill>
            <a:prstDash val="solid"/>
          </a:ln>
        </p:spPr>
      </p:sp>
      <p:sp>
        <p:nvSpPr>
          <p:cNvPr id="22" name="Text 19"/>
          <p:cNvSpPr txBox="1"/>
          <p:nvPr/>
        </p:nvSpPr>
        <p:spPr>
          <a:xfrm>
            <a:off x="2514600" y="3767328"/>
            <a:ext cx="7223760" cy="795528"/>
          </a:xfrm>
          <a:prstGeom prst="rect">
            <a:avLst/>
          </a:prstGeom>
          <a:noFill/>
          <a:ln/>
        </p:spPr>
        <p:txBody>
          <a:bodyPr wrap="square" lIns="0" tIns="0" rIns="0" bIns="0" rtlCol="0" anchor="ctr"/>
          <a:lstStyle/>
          <a:p>
            <a:pPr indent="0" marL="0">
              <a:buNone/>
            </a:pPr>
            <a:r>
              <a:rPr lang="en-US" sz="1400" dirty="0">
                <a:solidFill>
                  <a:srgbClr val="0B3556"/>
                </a:solidFill>
                <a:latin typeface="Calibri" pitchFamily="34" charset="0"/>
                <a:ea typeface="Calibri" pitchFamily="34" charset="-122"/>
                <a:cs typeface="Calibri" pitchFamily="34" charset="-120"/>
              </a:rPr>
              <a:t>If missing, MMU walks the translation tables in memory</a:t>
            </a:r>
            <a:endParaRPr lang="en-US" sz="1400" dirty="0"/>
          </a:p>
        </p:txBody>
      </p:sp>
      <p:sp>
        <p:nvSpPr>
          <p:cNvPr id="23" name="Shape 20"/>
          <p:cNvSpPr/>
          <p:nvPr/>
        </p:nvSpPr>
        <p:spPr>
          <a:xfrm>
            <a:off x="1463040" y="4343400"/>
            <a:ext cx="0" cy="548640"/>
          </a:xfrm>
          <a:prstGeom prst="line">
            <a:avLst/>
          </a:prstGeom>
          <a:noFill/>
          <a:ln w="25400">
            <a:solidFill>
              <a:srgbClr val="3F6B35"/>
            </a:solidFill>
            <a:prstDash val="solid"/>
            <a:tailEnd type="triangle"/>
          </a:ln>
        </p:spPr>
      </p:sp>
      <p:sp>
        <p:nvSpPr>
          <p:cNvPr id="24" name="Shape 21"/>
          <p:cNvSpPr/>
          <p:nvPr/>
        </p:nvSpPr>
        <p:spPr>
          <a:xfrm>
            <a:off x="1234440" y="4892040"/>
            <a:ext cx="457200" cy="457200"/>
          </a:xfrm>
          <a:prstGeom prst="ellipse">
            <a:avLst/>
          </a:prstGeom>
          <a:solidFill>
            <a:srgbClr val="3F6B35"/>
          </a:solidFill>
          <a:ln/>
        </p:spPr>
      </p:sp>
      <p:sp>
        <p:nvSpPr>
          <p:cNvPr id="25" name="Text 22"/>
          <p:cNvSpPr txBox="1"/>
          <p:nvPr/>
        </p:nvSpPr>
        <p:spPr>
          <a:xfrm>
            <a:off x="1234440" y="4892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6" name="Shape 23"/>
          <p:cNvSpPr/>
          <p:nvPr/>
        </p:nvSpPr>
        <p:spPr>
          <a:xfrm>
            <a:off x="2286000" y="4818888"/>
            <a:ext cx="7680960" cy="795528"/>
          </a:xfrm>
          <a:prstGeom prst="roundRect">
            <a:avLst>
              <a:gd name="adj" fmla="val 9195"/>
            </a:avLst>
          </a:prstGeom>
          <a:solidFill>
            <a:srgbClr val="F5F7FA"/>
          </a:solidFill>
          <a:ln w="12700">
            <a:solidFill>
              <a:srgbClr val="3F6B35"/>
            </a:solidFill>
            <a:prstDash val="solid"/>
          </a:ln>
        </p:spPr>
      </p:sp>
      <p:sp>
        <p:nvSpPr>
          <p:cNvPr id="27" name="Text 24"/>
          <p:cNvSpPr txBox="1"/>
          <p:nvPr/>
        </p:nvSpPr>
        <p:spPr>
          <a:xfrm>
            <a:off x="2514600" y="4818888"/>
            <a:ext cx="7223760" cy="795528"/>
          </a:xfrm>
          <a:prstGeom prst="rect">
            <a:avLst/>
          </a:prstGeom>
          <a:noFill/>
          <a:ln/>
        </p:spPr>
        <p:txBody>
          <a:bodyPr wrap="square" lIns="0" tIns="0" rIns="0" bIns="0" rtlCol="0" anchor="ctr"/>
          <a:lstStyle/>
          <a:p>
            <a:pPr indent="0" marL="0">
              <a:buNone/>
            </a:pPr>
            <a:r>
              <a:rPr lang="en-US" sz="1400" dirty="0">
                <a:solidFill>
                  <a:srgbClr val="0B3556"/>
                </a:solidFill>
                <a:latin typeface="Calibri" pitchFamily="34" charset="0"/>
                <a:ea typeface="Calibri" pitchFamily="34" charset="-122"/>
                <a:cs typeface="Calibri" pitchFamily="34" charset="-120"/>
              </a:rPr>
              <a:t>Result is stored in the TLB and used to reach physical memory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2026-09-17T03:21:18Z</dcterms:created>
  <dcterms:modified xsi:type="dcterms:W3CDTF">2026-09-17T03:21:18Z</dcterms:modified>
</cp:coreProperties>
</file>