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4" d="100"/>
          <a:sy n="74" d="100"/>
        </p:scale>
        <p:origin x="55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674794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502920" cy="6858000"/>
          </a:xfrm>
          <a:prstGeom prst="rect">
            <a:avLst/>
          </a:prstGeom>
          <a:solidFill>
            <a:srgbClr val="C0392B"/>
          </a:solidFill>
          <a:ln/>
        </p:spPr>
      </p:sp>
      <p:sp>
        <p:nvSpPr>
          <p:cNvPr id="3" name="Shape 1"/>
          <p:cNvSpPr/>
          <p:nvPr/>
        </p:nvSpPr>
        <p:spPr>
          <a:xfrm>
            <a:off x="1463040" y="1463040"/>
            <a:ext cx="9235440" cy="3931920"/>
          </a:xfrm>
          <a:prstGeom prst="roundRect">
            <a:avLst>
              <a:gd name="adj" fmla="val 2791"/>
            </a:avLst>
          </a:prstGeom>
          <a:solidFill>
            <a:srgbClr val="FFF8E1"/>
          </a:solidFill>
          <a:ln w="19050">
            <a:solidFill>
              <a:srgbClr val="C0392B"/>
            </a:solidFill>
            <a:prstDash val="dash"/>
          </a:ln>
          <a:effectLst>
            <a:outerShdw blurRad="101600" dist="38100" dir="5400000" algn="bl" rotWithShape="0">
              <a:srgbClr val="000000">
                <a:alpha val="35000"/>
              </a:srgbClr>
            </a:outerShdw>
          </a:effectLst>
        </p:spPr>
      </p:sp>
      <p:sp>
        <p:nvSpPr>
          <p:cNvPr id="4" name="Text 2"/>
          <p:cNvSpPr/>
          <p:nvPr/>
        </p:nvSpPr>
        <p:spPr>
          <a:xfrm>
            <a:off x="1920240" y="1874520"/>
            <a:ext cx="8412480" cy="1005840"/>
          </a:xfrm>
          <a:prstGeom prst="rect">
            <a:avLst/>
          </a:prstGeom>
          <a:noFill/>
          <a:ln/>
        </p:spPr>
        <p:txBody>
          <a:bodyPr wrap="square" lIns="0" tIns="0" rIns="0" bIns="0" rtlCol="0" anchor="ctr"/>
          <a:lstStyle/>
          <a:p>
            <a:pPr marL="0" indent="0">
              <a:buNone/>
            </a:pPr>
            <a:r>
              <a:rPr lang="en-US" sz="4800" b="1" dirty="0">
                <a:solidFill>
                  <a:srgbClr val="1B3A6B"/>
                </a:solidFill>
                <a:latin typeface="Comic Sans MS" pitchFamily="34" charset="0"/>
                <a:ea typeface="Comic Sans MS" pitchFamily="34" charset="-122"/>
                <a:cs typeface="Comic Sans MS" pitchFamily="34" charset="-120"/>
              </a:rPr>
              <a:t>INPUT / OUTPUT</a:t>
            </a:r>
            <a:endParaRPr lang="en-US" sz="4800" dirty="0"/>
          </a:p>
        </p:txBody>
      </p:sp>
      <p:sp>
        <p:nvSpPr>
          <p:cNvPr id="5" name="Text 3"/>
          <p:cNvSpPr/>
          <p:nvPr/>
        </p:nvSpPr>
        <p:spPr>
          <a:xfrm>
            <a:off x="1965960" y="2880360"/>
            <a:ext cx="8229600" cy="502920"/>
          </a:xfrm>
          <a:prstGeom prst="rect">
            <a:avLst/>
          </a:prstGeom>
          <a:noFill/>
          <a:ln/>
        </p:spPr>
        <p:txBody>
          <a:bodyPr wrap="square" lIns="0" tIns="0" rIns="0" bIns="0" rtlCol="0" anchor="ctr"/>
          <a:lstStyle/>
          <a:p>
            <a:pPr marL="0" indent="0">
              <a:buNone/>
            </a:pPr>
            <a:r>
              <a:rPr lang="en-US" sz="1800" i="1" dirty="0">
                <a:solidFill>
                  <a:srgbClr val="4A4A4A"/>
                </a:solidFill>
                <a:latin typeface="Calibri" pitchFamily="34" charset="0"/>
                <a:ea typeface="Calibri" pitchFamily="34" charset="-122"/>
                <a:cs typeface="Calibri" pitchFamily="34" charset="-120"/>
              </a:rPr>
              <a:t>My Handwritten Study Notes — Computer Architecture</a:t>
            </a:r>
            <a:endParaRPr lang="en-US" sz="1800" dirty="0"/>
          </a:p>
        </p:txBody>
      </p:sp>
      <p:sp>
        <p:nvSpPr>
          <p:cNvPr id="6" name="Shape 4"/>
          <p:cNvSpPr/>
          <p:nvPr/>
        </p:nvSpPr>
        <p:spPr>
          <a:xfrm>
            <a:off x="1965960" y="3520440"/>
            <a:ext cx="8138160" cy="0"/>
          </a:xfrm>
          <a:prstGeom prst="line">
            <a:avLst/>
          </a:prstGeom>
          <a:noFill/>
          <a:ln w="12700">
            <a:solidFill>
              <a:srgbClr val="C0392B"/>
            </a:solidFill>
            <a:prstDash val="solid"/>
          </a:ln>
        </p:spPr>
      </p:sp>
      <p:sp>
        <p:nvSpPr>
          <p:cNvPr id="7" name="Text 5"/>
          <p:cNvSpPr/>
          <p:nvPr/>
        </p:nvSpPr>
        <p:spPr>
          <a:xfrm>
            <a:off x="1965960" y="3703320"/>
            <a:ext cx="8229600" cy="365760"/>
          </a:xfrm>
          <a:prstGeom prst="rect">
            <a:avLst/>
          </a:prstGeom>
          <a:noFill/>
          <a:ln/>
        </p:spPr>
        <p:txBody>
          <a:bodyPr wrap="square" lIns="0" tIns="0" rIns="0" bIns="0" rtlCol="0" anchor="ctr"/>
          <a:lstStyle/>
          <a:p>
            <a:pPr marL="0" indent="0">
              <a:buNone/>
            </a:pPr>
            <a:r>
              <a:rPr lang="en-US" sz="1400" dirty="0">
                <a:solidFill>
                  <a:srgbClr val="1B3A6B"/>
                </a:solidFill>
                <a:latin typeface="Calibri" pitchFamily="34" charset="0"/>
                <a:ea typeface="Calibri" pitchFamily="34" charset="-122"/>
                <a:cs typeface="Calibri" pitchFamily="34" charset="-120"/>
              </a:rPr>
              <a:t>Chapter 7 — William Stallings, Computer Organization and Architecture</a:t>
            </a:r>
            <a:endParaRPr lang="en-US" sz="1400" dirty="0"/>
          </a:p>
        </p:txBody>
      </p:sp>
      <p:sp>
        <p:nvSpPr>
          <p:cNvPr id="9" name="Shape 7"/>
          <p:cNvSpPr/>
          <p:nvPr/>
        </p:nvSpPr>
        <p:spPr>
          <a:xfrm>
            <a:off x="9966960" y="1737360"/>
            <a:ext cx="822960" cy="822960"/>
          </a:xfrm>
          <a:prstGeom prst="ellipse">
            <a:avLst/>
          </a:prstGeom>
          <a:solidFill>
            <a:srgbClr val="DCE6F5"/>
          </a:solidFill>
          <a:ln/>
          <a:effectLst>
            <a:outerShdw blurRad="50800" dist="25400" dir="5400000" algn="bl" rotWithShape="0">
              <a:srgbClr val="999999">
                <a:alpha val="25000"/>
              </a:srgbClr>
            </a:outerShdw>
          </a:effectLst>
        </p:spPr>
      </p:sp>
      <p:pic>
        <p:nvPicPr>
          <p:cNvPr id="10" name="Image 0" descr="/home/claude/iobook/icons/book.png"/>
          <p:cNvPicPr>
            <a:picLocks noChangeAspect="1"/>
          </p:cNvPicPr>
          <p:nvPr/>
        </p:nvPicPr>
        <p:blipFill>
          <a:blip r:embed="rId3"/>
          <a:stretch>
            <a:fillRect/>
          </a:stretch>
        </p:blipFill>
        <p:spPr>
          <a:xfrm>
            <a:off x="10148011" y="1918411"/>
            <a:ext cx="460858" cy="460858"/>
          </a:xfrm>
          <a:prstGeom prst="rect">
            <a:avLst/>
          </a:prstGeom>
        </p:spPr>
      </p:pic>
      <p:sp>
        <p:nvSpPr>
          <p:cNvPr id="11" name="Text 8"/>
          <p:cNvSpPr/>
          <p:nvPr/>
        </p:nvSpPr>
        <p:spPr>
          <a:xfrm>
            <a:off x="11475720" y="6510528"/>
            <a:ext cx="548640" cy="274320"/>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1/30</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8E1"/>
        </a:solidFill>
        <a:effectLst/>
      </p:bgPr>
    </p:bg>
    <p:spTree>
      <p:nvGrpSpPr>
        <p:cNvPr id="1" name=""/>
        <p:cNvGrpSpPr/>
        <p:nvPr/>
      </p:nvGrpSpPr>
      <p:grpSpPr>
        <a:xfrm>
          <a:off x="0" y="0"/>
          <a:ext cx="0" cy="0"/>
          <a:chOff x="0" y="0"/>
          <a:chExt cx="0" cy="0"/>
        </a:xfrm>
      </p:grpSpPr>
      <p:sp>
        <p:nvSpPr>
          <p:cNvPr id="2" name="Shape 0"/>
          <p:cNvSpPr/>
          <p:nvPr/>
        </p:nvSpPr>
        <p:spPr>
          <a:xfrm>
            <a:off x="1234440" y="1417320"/>
            <a:ext cx="10607040" cy="0"/>
          </a:xfrm>
          <a:prstGeom prst="line">
            <a:avLst/>
          </a:prstGeom>
          <a:noFill/>
          <a:ln w="12700">
            <a:solidFill>
              <a:srgbClr val="E9DFC4"/>
            </a:solidFill>
            <a:prstDash val="solid"/>
          </a:ln>
        </p:spPr>
      </p:sp>
      <p:sp>
        <p:nvSpPr>
          <p:cNvPr id="3" name="Shape 1"/>
          <p:cNvSpPr/>
          <p:nvPr/>
        </p:nvSpPr>
        <p:spPr>
          <a:xfrm>
            <a:off x="1234440" y="1801368"/>
            <a:ext cx="10607040" cy="0"/>
          </a:xfrm>
          <a:prstGeom prst="line">
            <a:avLst/>
          </a:prstGeom>
          <a:noFill/>
          <a:ln w="12700">
            <a:solidFill>
              <a:srgbClr val="E9DFC4"/>
            </a:solidFill>
            <a:prstDash val="solid"/>
          </a:ln>
        </p:spPr>
      </p:sp>
      <p:sp>
        <p:nvSpPr>
          <p:cNvPr id="4" name="Shape 2"/>
          <p:cNvSpPr/>
          <p:nvPr/>
        </p:nvSpPr>
        <p:spPr>
          <a:xfrm>
            <a:off x="1234440" y="2185416"/>
            <a:ext cx="10607040" cy="0"/>
          </a:xfrm>
          <a:prstGeom prst="line">
            <a:avLst/>
          </a:prstGeom>
          <a:noFill/>
          <a:ln w="12700">
            <a:solidFill>
              <a:srgbClr val="E9DFC4"/>
            </a:solidFill>
            <a:prstDash val="solid"/>
          </a:ln>
        </p:spPr>
      </p:sp>
      <p:sp>
        <p:nvSpPr>
          <p:cNvPr id="5" name="Shape 3"/>
          <p:cNvSpPr/>
          <p:nvPr/>
        </p:nvSpPr>
        <p:spPr>
          <a:xfrm>
            <a:off x="1234440" y="2569464"/>
            <a:ext cx="10607040" cy="0"/>
          </a:xfrm>
          <a:prstGeom prst="line">
            <a:avLst/>
          </a:prstGeom>
          <a:noFill/>
          <a:ln w="12700">
            <a:solidFill>
              <a:srgbClr val="E9DFC4"/>
            </a:solidFill>
            <a:prstDash val="solid"/>
          </a:ln>
        </p:spPr>
      </p:sp>
      <p:sp>
        <p:nvSpPr>
          <p:cNvPr id="6" name="Shape 4"/>
          <p:cNvSpPr/>
          <p:nvPr/>
        </p:nvSpPr>
        <p:spPr>
          <a:xfrm>
            <a:off x="1234440" y="2953512"/>
            <a:ext cx="10607040" cy="0"/>
          </a:xfrm>
          <a:prstGeom prst="line">
            <a:avLst/>
          </a:prstGeom>
          <a:noFill/>
          <a:ln w="12700">
            <a:solidFill>
              <a:srgbClr val="E9DFC4"/>
            </a:solidFill>
            <a:prstDash val="solid"/>
          </a:ln>
        </p:spPr>
      </p:sp>
      <p:sp>
        <p:nvSpPr>
          <p:cNvPr id="7" name="Shape 5"/>
          <p:cNvSpPr/>
          <p:nvPr/>
        </p:nvSpPr>
        <p:spPr>
          <a:xfrm>
            <a:off x="1234440" y="3337560"/>
            <a:ext cx="10607040" cy="0"/>
          </a:xfrm>
          <a:prstGeom prst="line">
            <a:avLst/>
          </a:prstGeom>
          <a:noFill/>
          <a:ln w="12700">
            <a:solidFill>
              <a:srgbClr val="E9DFC4"/>
            </a:solidFill>
            <a:prstDash val="solid"/>
          </a:ln>
        </p:spPr>
      </p:sp>
      <p:sp>
        <p:nvSpPr>
          <p:cNvPr id="8" name="Shape 6"/>
          <p:cNvSpPr/>
          <p:nvPr/>
        </p:nvSpPr>
        <p:spPr>
          <a:xfrm>
            <a:off x="1234440" y="3721608"/>
            <a:ext cx="10607040" cy="0"/>
          </a:xfrm>
          <a:prstGeom prst="line">
            <a:avLst/>
          </a:prstGeom>
          <a:noFill/>
          <a:ln w="12700">
            <a:solidFill>
              <a:srgbClr val="E9DFC4"/>
            </a:solidFill>
            <a:prstDash val="solid"/>
          </a:ln>
        </p:spPr>
      </p:sp>
      <p:sp>
        <p:nvSpPr>
          <p:cNvPr id="9" name="Shape 7"/>
          <p:cNvSpPr/>
          <p:nvPr/>
        </p:nvSpPr>
        <p:spPr>
          <a:xfrm>
            <a:off x="1234440" y="4105656"/>
            <a:ext cx="10607040" cy="0"/>
          </a:xfrm>
          <a:prstGeom prst="line">
            <a:avLst/>
          </a:prstGeom>
          <a:noFill/>
          <a:ln w="12700">
            <a:solidFill>
              <a:srgbClr val="E9DFC4"/>
            </a:solidFill>
            <a:prstDash val="solid"/>
          </a:ln>
        </p:spPr>
      </p:sp>
      <p:sp>
        <p:nvSpPr>
          <p:cNvPr id="10" name="Shape 8"/>
          <p:cNvSpPr/>
          <p:nvPr/>
        </p:nvSpPr>
        <p:spPr>
          <a:xfrm>
            <a:off x="1234440" y="4489704"/>
            <a:ext cx="10607040" cy="0"/>
          </a:xfrm>
          <a:prstGeom prst="line">
            <a:avLst/>
          </a:prstGeom>
          <a:noFill/>
          <a:ln w="12700">
            <a:solidFill>
              <a:srgbClr val="E9DFC4"/>
            </a:solidFill>
            <a:prstDash val="solid"/>
          </a:ln>
        </p:spPr>
      </p:sp>
      <p:sp>
        <p:nvSpPr>
          <p:cNvPr id="11" name="Shape 9"/>
          <p:cNvSpPr/>
          <p:nvPr/>
        </p:nvSpPr>
        <p:spPr>
          <a:xfrm>
            <a:off x="1234440" y="4873752"/>
            <a:ext cx="10607040" cy="0"/>
          </a:xfrm>
          <a:prstGeom prst="line">
            <a:avLst/>
          </a:prstGeom>
          <a:noFill/>
          <a:ln w="12700">
            <a:solidFill>
              <a:srgbClr val="E9DFC4"/>
            </a:solidFill>
            <a:prstDash val="solid"/>
          </a:ln>
        </p:spPr>
      </p:sp>
      <p:sp>
        <p:nvSpPr>
          <p:cNvPr id="12" name="Shape 10"/>
          <p:cNvSpPr/>
          <p:nvPr/>
        </p:nvSpPr>
        <p:spPr>
          <a:xfrm>
            <a:off x="1234440" y="5257800"/>
            <a:ext cx="10607040" cy="0"/>
          </a:xfrm>
          <a:prstGeom prst="line">
            <a:avLst/>
          </a:prstGeom>
          <a:noFill/>
          <a:ln w="12700">
            <a:solidFill>
              <a:srgbClr val="E9DFC4"/>
            </a:solidFill>
            <a:prstDash val="solid"/>
          </a:ln>
        </p:spPr>
      </p:sp>
      <p:sp>
        <p:nvSpPr>
          <p:cNvPr id="13" name="Shape 11"/>
          <p:cNvSpPr/>
          <p:nvPr/>
        </p:nvSpPr>
        <p:spPr>
          <a:xfrm>
            <a:off x="1234440" y="5641848"/>
            <a:ext cx="10607040" cy="0"/>
          </a:xfrm>
          <a:prstGeom prst="line">
            <a:avLst/>
          </a:prstGeom>
          <a:noFill/>
          <a:ln w="12700">
            <a:solidFill>
              <a:srgbClr val="E9DFC4"/>
            </a:solidFill>
            <a:prstDash val="solid"/>
          </a:ln>
        </p:spPr>
      </p:sp>
      <p:sp>
        <p:nvSpPr>
          <p:cNvPr id="14" name="Shape 12"/>
          <p:cNvSpPr/>
          <p:nvPr/>
        </p:nvSpPr>
        <p:spPr>
          <a:xfrm>
            <a:off x="1234440" y="6025896"/>
            <a:ext cx="10607040" cy="0"/>
          </a:xfrm>
          <a:prstGeom prst="line">
            <a:avLst/>
          </a:prstGeom>
          <a:noFill/>
          <a:ln w="12700">
            <a:solidFill>
              <a:srgbClr val="E9DFC4"/>
            </a:solidFill>
            <a:prstDash val="solid"/>
          </a:ln>
        </p:spPr>
      </p:sp>
      <p:sp>
        <p:nvSpPr>
          <p:cNvPr id="15" name="Shape 13"/>
          <p:cNvSpPr/>
          <p:nvPr/>
        </p:nvSpPr>
        <p:spPr>
          <a:xfrm>
            <a:off x="1234440" y="6409944"/>
            <a:ext cx="10607040" cy="0"/>
          </a:xfrm>
          <a:prstGeom prst="line">
            <a:avLst/>
          </a:prstGeom>
          <a:noFill/>
          <a:ln w="12700">
            <a:solidFill>
              <a:srgbClr val="E9DFC4"/>
            </a:solidFill>
            <a:prstDash val="solid"/>
          </a:ln>
        </p:spPr>
      </p:sp>
      <p:sp>
        <p:nvSpPr>
          <p:cNvPr id="16" name="Shape 14"/>
          <p:cNvSpPr/>
          <p:nvPr/>
        </p:nvSpPr>
        <p:spPr>
          <a:xfrm>
            <a:off x="1051560" y="320040"/>
            <a:ext cx="0" cy="6309360"/>
          </a:xfrm>
          <a:prstGeom prst="line">
            <a:avLst/>
          </a:prstGeom>
          <a:noFill/>
          <a:ln w="15875">
            <a:solidFill>
              <a:srgbClr val="C0392B"/>
            </a:solidFill>
            <a:prstDash val="solid"/>
          </a:ln>
        </p:spPr>
      </p:sp>
      <p:sp>
        <p:nvSpPr>
          <p:cNvPr id="17" name="Text 15"/>
          <p:cNvSpPr/>
          <p:nvPr/>
        </p:nvSpPr>
        <p:spPr>
          <a:xfrm>
            <a:off x="1280160" y="310896"/>
            <a:ext cx="2743200" cy="320040"/>
          </a:xfrm>
          <a:prstGeom prst="rect">
            <a:avLst/>
          </a:prstGeom>
          <a:noFill/>
          <a:ln/>
        </p:spPr>
        <p:txBody>
          <a:bodyPr wrap="square" lIns="0" tIns="0" rIns="0" bIns="0" rtlCol="0" anchor="ctr"/>
          <a:lstStyle/>
          <a:p>
            <a:pPr marL="0" indent="0">
              <a:buNone/>
            </a:pPr>
            <a:r>
              <a:rPr lang="en-US" sz="1300" b="1" dirty="0">
                <a:solidFill>
                  <a:srgbClr val="C0392B"/>
                </a:solidFill>
                <a:latin typeface="Calibri" pitchFamily="34" charset="0"/>
                <a:ea typeface="Calibri" pitchFamily="34" charset="-122"/>
                <a:cs typeface="Calibri" pitchFamily="34" charset="-120"/>
              </a:rPr>
              <a:t>Topic 1.1</a:t>
            </a:r>
            <a:endParaRPr lang="en-US" sz="1300" dirty="0"/>
          </a:p>
        </p:txBody>
      </p:sp>
      <p:sp>
        <p:nvSpPr>
          <p:cNvPr id="18" name="Text 16"/>
          <p:cNvSpPr/>
          <p:nvPr/>
        </p:nvSpPr>
        <p:spPr>
          <a:xfrm>
            <a:off x="1234440" y="566928"/>
            <a:ext cx="8138160" cy="777240"/>
          </a:xfrm>
          <a:prstGeom prst="rect">
            <a:avLst/>
          </a:prstGeom>
          <a:noFill/>
          <a:ln/>
        </p:spPr>
        <p:txBody>
          <a:bodyPr wrap="square" lIns="0" tIns="0" rIns="0" bIns="0" rtlCol="0" anchor="t"/>
          <a:lstStyle/>
          <a:p>
            <a:pPr marL="0" indent="0">
              <a:buNone/>
            </a:pPr>
            <a:r>
              <a:rPr lang="en-US" sz="3000" b="1" dirty="0">
                <a:solidFill>
                  <a:srgbClr val="1B3A6B"/>
                </a:solidFill>
                <a:latin typeface="Comic Sans MS" pitchFamily="34" charset="0"/>
                <a:ea typeface="Comic Sans MS" pitchFamily="34" charset="-122"/>
                <a:cs typeface="Comic Sans MS" pitchFamily="34" charset="-120"/>
              </a:rPr>
              <a:t>External Devices</a:t>
            </a:r>
            <a:endParaRPr lang="en-US" sz="3000" dirty="0"/>
          </a:p>
        </p:txBody>
      </p:sp>
      <p:sp>
        <p:nvSpPr>
          <p:cNvPr id="19" name="Shape 17"/>
          <p:cNvSpPr/>
          <p:nvPr/>
        </p:nvSpPr>
        <p:spPr>
          <a:xfrm>
            <a:off x="9646920" y="384048"/>
            <a:ext cx="1965960" cy="384048"/>
          </a:xfrm>
          <a:prstGeom prst="roundRect">
            <a:avLst>
              <a:gd name="adj" fmla="val 19048"/>
            </a:avLst>
          </a:prstGeom>
          <a:solidFill>
            <a:srgbClr val="C0392B"/>
          </a:solidFill>
          <a:ln/>
        </p:spPr>
      </p:sp>
      <p:sp>
        <p:nvSpPr>
          <p:cNvPr id="20" name="Text 18"/>
          <p:cNvSpPr/>
          <p:nvPr/>
        </p:nvSpPr>
        <p:spPr>
          <a:xfrm>
            <a:off x="9646920" y="384048"/>
            <a:ext cx="196596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DEFINITION</a:t>
            </a:r>
            <a:endParaRPr lang="en-US" sz="1200" dirty="0"/>
          </a:p>
        </p:txBody>
      </p:sp>
      <p:sp>
        <p:nvSpPr>
          <p:cNvPr id="21" name="Shape 19"/>
          <p:cNvSpPr/>
          <p:nvPr/>
        </p:nvSpPr>
        <p:spPr>
          <a:xfrm>
            <a:off x="8732520" y="502920"/>
            <a:ext cx="1051560" cy="1051560"/>
          </a:xfrm>
          <a:prstGeom prst="ellipse">
            <a:avLst/>
          </a:prstGeom>
          <a:solidFill>
            <a:srgbClr val="DCE6F5"/>
          </a:solidFill>
          <a:ln/>
          <a:effectLst>
            <a:outerShdw blurRad="50800" dist="25400" dir="5400000" algn="bl" rotWithShape="0">
              <a:srgbClr val="999999">
                <a:alpha val="25000"/>
              </a:srgbClr>
            </a:outerShdw>
          </a:effectLst>
        </p:spPr>
      </p:sp>
      <p:pic>
        <p:nvPicPr>
          <p:cNvPr id="22" name="Image 0" descr="/home/claude/iobook/icons/keyboard.png"/>
          <p:cNvPicPr>
            <a:picLocks noChangeAspect="1"/>
          </p:cNvPicPr>
          <p:nvPr/>
        </p:nvPicPr>
        <p:blipFill>
          <a:blip r:embed="rId3"/>
          <a:stretch>
            <a:fillRect/>
          </a:stretch>
        </p:blipFill>
        <p:spPr>
          <a:xfrm>
            <a:off x="8963863" y="734263"/>
            <a:ext cx="588874" cy="588874"/>
          </a:xfrm>
          <a:prstGeom prst="rect">
            <a:avLst/>
          </a:prstGeom>
        </p:spPr>
      </p:pic>
      <p:sp>
        <p:nvSpPr>
          <p:cNvPr id="23" name="Shape 20"/>
          <p:cNvSpPr/>
          <p:nvPr/>
        </p:nvSpPr>
        <p:spPr>
          <a:xfrm>
            <a:off x="1280160" y="1600200"/>
            <a:ext cx="7360920" cy="1554480"/>
          </a:xfrm>
          <a:prstGeom prst="roundRect">
            <a:avLst>
              <a:gd name="adj" fmla="val 5882"/>
            </a:avLst>
          </a:prstGeom>
          <a:solidFill>
            <a:srgbClr val="FFE082">
              <a:alpha val="65000"/>
            </a:srgbClr>
          </a:solidFill>
          <a:ln w="12700">
            <a:solidFill>
              <a:srgbClr val="1B3A6B"/>
            </a:solidFill>
            <a:prstDash val="dash"/>
          </a:ln>
        </p:spPr>
      </p:sp>
      <p:sp>
        <p:nvSpPr>
          <p:cNvPr id="24" name="Text 21"/>
          <p:cNvSpPr/>
          <p:nvPr/>
        </p:nvSpPr>
        <p:spPr>
          <a:xfrm>
            <a:off x="1463040" y="1691640"/>
            <a:ext cx="6949440" cy="274320"/>
          </a:xfrm>
          <a:prstGeom prst="rect">
            <a:avLst/>
          </a:prstGeom>
          <a:noFill/>
          <a:ln/>
        </p:spPr>
        <p:txBody>
          <a:bodyPr wrap="square" lIns="0" tIns="0" rIns="0" bIns="0" rtlCol="0" anchor="ctr"/>
          <a:lstStyle/>
          <a:p>
            <a:pPr marL="0" indent="0">
              <a:buNone/>
            </a:pPr>
            <a:r>
              <a:rPr lang="en-US" sz="1200" b="1" dirty="0">
                <a:solidFill>
                  <a:srgbClr val="C0392B"/>
                </a:solidFill>
                <a:latin typeface="Calibri" pitchFamily="34" charset="0"/>
                <a:ea typeface="Calibri" pitchFamily="34" charset="-122"/>
                <a:cs typeface="Calibri" pitchFamily="34" charset="-120"/>
              </a:rPr>
              <a:t>IN SIMPLE WORDS:</a:t>
            </a:r>
            <a:endParaRPr lang="en-US" sz="1200" dirty="0"/>
          </a:p>
        </p:txBody>
      </p:sp>
      <p:sp>
        <p:nvSpPr>
          <p:cNvPr id="25" name="Text 22"/>
          <p:cNvSpPr/>
          <p:nvPr/>
        </p:nvSpPr>
        <p:spPr>
          <a:xfrm>
            <a:off x="1463040" y="1965960"/>
            <a:ext cx="6949440" cy="1097280"/>
          </a:xfrm>
          <a:prstGeom prst="rect">
            <a:avLst/>
          </a:prstGeom>
          <a:noFill/>
          <a:ln/>
        </p:spPr>
        <p:txBody>
          <a:bodyPr wrap="square" lIns="0" tIns="0" rIns="0" bIns="0" rtlCol="0" anchor="t"/>
          <a:lstStyle/>
          <a:p>
            <a:pPr marL="0" indent="0">
              <a:buNone/>
            </a:pPr>
            <a:r>
              <a:rPr lang="en-US" sz="1500" dirty="0">
                <a:solidFill>
                  <a:srgbClr val="1B3A6B"/>
                </a:solidFill>
                <a:latin typeface="Calibri" pitchFamily="34" charset="0"/>
                <a:ea typeface="Calibri" pitchFamily="34" charset="-122"/>
                <a:cs typeface="Calibri" pitchFamily="34" charset="-120"/>
              </a:rPr>
              <a:t>Any hardware outside the CPU and main memory that lets the computer talk to the outside world — for input, output, or both.</a:t>
            </a:r>
            <a:endParaRPr lang="en-US" sz="1500" dirty="0"/>
          </a:p>
        </p:txBody>
      </p:sp>
      <p:sp>
        <p:nvSpPr>
          <p:cNvPr id="26" name="Text 23"/>
          <p:cNvSpPr/>
          <p:nvPr/>
        </p:nvSpPr>
        <p:spPr>
          <a:xfrm>
            <a:off x="1280160" y="3429000"/>
            <a:ext cx="7315200" cy="320040"/>
          </a:xfrm>
          <a:prstGeom prst="rect">
            <a:avLst/>
          </a:prstGeom>
          <a:noFill/>
          <a:ln/>
        </p:spPr>
        <p:txBody>
          <a:bodyPr wrap="square" lIns="0" tIns="0" rIns="0" bIns="0" rtlCol="0" anchor="ctr"/>
          <a:lstStyle/>
          <a:p>
            <a:pPr marL="0" indent="0">
              <a:buNone/>
            </a:pPr>
            <a:r>
              <a:rPr lang="en-US" sz="1300" b="1" dirty="0">
                <a:solidFill>
                  <a:srgbClr val="1B3A6B"/>
                </a:solidFill>
                <a:latin typeface="Calibri" pitchFamily="34" charset="0"/>
                <a:ea typeface="Calibri" pitchFamily="34" charset="-122"/>
                <a:cs typeface="Calibri" pitchFamily="34" charset="-120"/>
              </a:rPr>
              <a:t>KEY POINTS TO REMEMBER</a:t>
            </a:r>
            <a:endParaRPr lang="en-US" sz="1300" dirty="0"/>
          </a:p>
        </p:txBody>
      </p:sp>
      <p:sp>
        <p:nvSpPr>
          <p:cNvPr id="27" name="Text 24"/>
          <p:cNvSpPr/>
          <p:nvPr/>
        </p:nvSpPr>
        <p:spPr>
          <a:xfrm>
            <a:off x="1463040" y="3794760"/>
            <a:ext cx="6949440" cy="2286000"/>
          </a:xfrm>
          <a:prstGeom prst="rect">
            <a:avLst/>
          </a:prstGeom>
          <a:noFill/>
          <a:ln/>
        </p:spPr>
        <p:txBody>
          <a:bodyPr wrap="square" lIns="0" tIns="0" rIns="0" bIns="0" rtlCol="0" anchor="t"/>
          <a:lstStyle/>
          <a:p>
            <a:pPr marL="254000" indent="-254000">
              <a:spcAft>
                <a:spcPts val="1000"/>
              </a:spcAft>
              <a:buSzPct val="100000"/>
              <a:buChar char="✓"/>
            </a:pPr>
            <a:r>
              <a:rPr lang="en-US" sz="1400" dirty="0">
                <a:solidFill>
                  <a:srgbClr val="4A4A4A"/>
                </a:solidFill>
                <a:latin typeface="Calibri" pitchFamily="34" charset="0"/>
                <a:ea typeface="Calibri" pitchFamily="34" charset="-122"/>
                <a:cs typeface="Calibri" pitchFamily="34" charset="-120"/>
              </a:rPr>
              <a:t>Input devices send data IN (keyboard, mouse, scanner)</a:t>
            </a:r>
            <a:endParaRPr lang="en-US" sz="1400" dirty="0"/>
          </a:p>
          <a:p>
            <a:pPr marL="254000" indent="-254000">
              <a:spcAft>
                <a:spcPts val="1000"/>
              </a:spcAft>
              <a:buSzPct val="100000"/>
              <a:buChar char="✓"/>
            </a:pPr>
            <a:r>
              <a:rPr lang="en-US" sz="1400" dirty="0">
                <a:solidFill>
                  <a:srgbClr val="4A4A4A"/>
                </a:solidFill>
                <a:latin typeface="Calibri" pitchFamily="34" charset="0"/>
                <a:ea typeface="Calibri" pitchFamily="34" charset="-122"/>
                <a:cs typeface="Calibri" pitchFamily="34" charset="-120"/>
              </a:rPr>
              <a:t>Output devices send data OUT (monitor, printer, speaker)</a:t>
            </a:r>
            <a:endParaRPr lang="en-US" sz="1400" dirty="0"/>
          </a:p>
          <a:p>
            <a:pPr marL="254000" indent="-254000">
              <a:spcAft>
                <a:spcPts val="1000"/>
              </a:spcAft>
              <a:buSzPct val="100000"/>
              <a:buChar char="✓"/>
            </a:pPr>
            <a:r>
              <a:rPr lang="en-US" sz="1400" dirty="0">
                <a:solidFill>
                  <a:srgbClr val="4A4A4A"/>
                </a:solidFill>
                <a:latin typeface="Calibri" pitchFamily="34" charset="0"/>
                <a:ea typeface="Calibri" pitchFamily="34" charset="-122"/>
                <a:cs typeface="Calibri" pitchFamily="34" charset="-120"/>
              </a:rPr>
              <a:t>Storage devices keep data for later (hard disk, USB drive)</a:t>
            </a:r>
            <a:endParaRPr lang="en-US" sz="1400" dirty="0"/>
          </a:p>
        </p:txBody>
      </p:sp>
      <p:sp>
        <p:nvSpPr>
          <p:cNvPr id="28" name="Text 25"/>
          <p:cNvSpPr/>
          <p:nvPr/>
        </p:nvSpPr>
        <p:spPr>
          <a:xfrm>
            <a:off x="320040" y="6510528"/>
            <a:ext cx="5486400" cy="274320"/>
          </a:xfrm>
          <a:prstGeom prst="rect">
            <a:avLst/>
          </a:prstGeom>
          <a:noFill/>
          <a:ln/>
        </p:spPr>
        <p:txBody>
          <a:bodyPr wrap="square" lIns="0" tIns="0" rIns="0" bIns="0" rtlCol="0" anchor="ctr"/>
          <a:lstStyle/>
          <a:p>
            <a:pPr marL="0" indent="0">
              <a:buNone/>
            </a:pPr>
            <a:r>
              <a:rPr lang="en-US" sz="1000" i="1" dirty="0">
                <a:solidFill>
                  <a:srgbClr val="4A4A4A"/>
                </a:solidFill>
                <a:latin typeface="Calibri" pitchFamily="34" charset="0"/>
                <a:ea typeface="Calibri" pitchFamily="34" charset="-122"/>
                <a:cs typeface="Calibri" pitchFamily="34" charset="-120"/>
              </a:rPr>
              <a:t>External Devices</a:t>
            </a:r>
            <a:endParaRPr lang="en-US" sz="1000" dirty="0"/>
          </a:p>
        </p:txBody>
      </p:sp>
      <p:sp>
        <p:nvSpPr>
          <p:cNvPr id="29" name="Text 26"/>
          <p:cNvSpPr/>
          <p:nvPr/>
        </p:nvSpPr>
        <p:spPr>
          <a:xfrm>
            <a:off x="5029200" y="6510528"/>
            <a:ext cx="5029200" cy="274320"/>
          </a:xfrm>
          <a:prstGeom prst="rect">
            <a:avLst/>
          </a:prstGeom>
          <a:noFill/>
          <a:ln/>
        </p:spPr>
        <p:txBody>
          <a:bodyPr wrap="square" lIns="0" tIns="0" rIns="0" bIns="0" rtlCol="0" anchor="ctr"/>
          <a:lstStyle/>
          <a:p>
            <a:pPr marL="0" indent="0" algn="r">
              <a:buNone/>
            </a:pPr>
            <a:r>
              <a:rPr lang="en-US" sz="900" dirty="0">
                <a:solidFill>
                  <a:srgbClr val="4A4A4A"/>
                </a:solidFill>
                <a:latin typeface="Calibri" pitchFamily="34" charset="0"/>
                <a:ea typeface="Calibri" pitchFamily="34" charset="-122"/>
                <a:cs typeface="Calibri" pitchFamily="34" charset="-120"/>
              </a:rPr>
              <a:t>Ch.7 • Stallings, Computer Organization &amp; Architecture</a:t>
            </a:r>
            <a:endParaRPr lang="en-US" sz="900" dirty="0"/>
          </a:p>
        </p:txBody>
      </p:sp>
      <p:sp>
        <p:nvSpPr>
          <p:cNvPr id="30" name="Text 27"/>
          <p:cNvSpPr/>
          <p:nvPr/>
        </p:nvSpPr>
        <p:spPr>
          <a:xfrm>
            <a:off x="11475720" y="6510528"/>
            <a:ext cx="548640" cy="274320"/>
          </a:xfrm>
          <a:prstGeom prst="rect">
            <a:avLst/>
          </a:prstGeom>
          <a:noFill/>
          <a:ln/>
        </p:spPr>
        <p:txBody>
          <a:bodyPr wrap="square" lIns="0" tIns="0" rIns="0" bIns="0" rtlCol="0" anchor="ctr"/>
          <a:lstStyle/>
          <a:p>
            <a:pPr marL="0" indent="0" algn="r">
              <a:buNone/>
            </a:pPr>
            <a:r>
              <a:rPr lang="en-US" sz="1000" dirty="0">
                <a:solidFill>
                  <a:srgbClr val="4A4A4A"/>
                </a:solidFill>
                <a:latin typeface="Calibri" pitchFamily="34" charset="0"/>
                <a:ea typeface="Calibri" pitchFamily="34" charset="-122"/>
                <a:cs typeface="Calibri" pitchFamily="34" charset="-120"/>
              </a:rPr>
              <a:t>2/30</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8E1"/>
        </a:solidFill>
        <a:effectLst/>
      </p:bgPr>
    </p:bg>
    <p:spTree>
      <p:nvGrpSpPr>
        <p:cNvPr id="1" name=""/>
        <p:cNvGrpSpPr/>
        <p:nvPr/>
      </p:nvGrpSpPr>
      <p:grpSpPr>
        <a:xfrm>
          <a:off x="0" y="0"/>
          <a:ext cx="0" cy="0"/>
          <a:chOff x="0" y="0"/>
          <a:chExt cx="0" cy="0"/>
        </a:xfrm>
      </p:grpSpPr>
      <p:sp>
        <p:nvSpPr>
          <p:cNvPr id="2" name="Shape 0"/>
          <p:cNvSpPr/>
          <p:nvPr/>
        </p:nvSpPr>
        <p:spPr>
          <a:xfrm>
            <a:off x="1234440" y="1417320"/>
            <a:ext cx="10607040" cy="0"/>
          </a:xfrm>
          <a:prstGeom prst="line">
            <a:avLst/>
          </a:prstGeom>
          <a:noFill/>
          <a:ln w="12700">
            <a:solidFill>
              <a:srgbClr val="E9DFC4"/>
            </a:solidFill>
            <a:prstDash val="solid"/>
          </a:ln>
        </p:spPr>
      </p:sp>
      <p:sp>
        <p:nvSpPr>
          <p:cNvPr id="3" name="Shape 1"/>
          <p:cNvSpPr/>
          <p:nvPr/>
        </p:nvSpPr>
        <p:spPr>
          <a:xfrm>
            <a:off x="1234440" y="1801368"/>
            <a:ext cx="10607040" cy="0"/>
          </a:xfrm>
          <a:prstGeom prst="line">
            <a:avLst/>
          </a:prstGeom>
          <a:noFill/>
          <a:ln w="12700">
            <a:solidFill>
              <a:srgbClr val="E9DFC4"/>
            </a:solidFill>
            <a:prstDash val="solid"/>
          </a:ln>
        </p:spPr>
      </p:sp>
      <p:sp>
        <p:nvSpPr>
          <p:cNvPr id="4" name="Shape 2"/>
          <p:cNvSpPr/>
          <p:nvPr/>
        </p:nvSpPr>
        <p:spPr>
          <a:xfrm>
            <a:off x="1234440" y="2185416"/>
            <a:ext cx="10607040" cy="0"/>
          </a:xfrm>
          <a:prstGeom prst="line">
            <a:avLst/>
          </a:prstGeom>
          <a:noFill/>
          <a:ln w="12700">
            <a:solidFill>
              <a:srgbClr val="E9DFC4"/>
            </a:solidFill>
            <a:prstDash val="solid"/>
          </a:ln>
        </p:spPr>
      </p:sp>
      <p:sp>
        <p:nvSpPr>
          <p:cNvPr id="5" name="Shape 3"/>
          <p:cNvSpPr/>
          <p:nvPr/>
        </p:nvSpPr>
        <p:spPr>
          <a:xfrm>
            <a:off x="1234440" y="2569464"/>
            <a:ext cx="10607040" cy="0"/>
          </a:xfrm>
          <a:prstGeom prst="line">
            <a:avLst/>
          </a:prstGeom>
          <a:noFill/>
          <a:ln w="12700">
            <a:solidFill>
              <a:srgbClr val="E9DFC4"/>
            </a:solidFill>
            <a:prstDash val="solid"/>
          </a:ln>
        </p:spPr>
      </p:sp>
      <p:sp>
        <p:nvSpPr>
          <p:cNvPr id="6" name="Shape 4"/>
          <p:cNvSpPr/>
          <p:nvPr/>
        </p:nvSpPr>
        <p:spPr>
          <a:xfrm>
            <a:off x="1234440" y="2953512"/>
            <a:ext cx="10607040" cy="0"/>
          </a:xfrm>
          <a:prstGeom prst="line">
            <a:avLst/>
          </a:prstGeom>
          <a:noFill/>
          <a:ln w="12700">
            <a:solidFill>
              <a:srgbClr val="E9DFC4"/>
            </a:solidFill>
            <a:prstDash val="solid"/>
          </a:ln>
        </p:spPr>
      </p:sp>
      <p:sp>
        <p:nvSpPr>
          <p:cNvPr id="7" name="Shape 5"/>
          <p:cNvSpPr/>
          <p:nvPr/>
        </p:nvSpPr>
        <p:spPr>
          <a:xfrm>
            <a:off x="1234440" y="3337560"/>
            <a:ext cx="10607040" cy="0"/>
          </a:xfrm>
          <a:prstGeom prst="line">
            <a:avLst/>
          </a:prstGeom>
          <a:noFill/>
          <a:ln w="12700">
            <a:solidFill>
              <a:srgbClr val="E9DFC4"/>
            </a:solidFill>
            <a:prstDash val="solid"/>
          </a:ln>
        </p:spPr>
      </p:sp>
      <p:sp>
        <p:nvSpPr>
          <p:cNvPr id="8" name="Shape 6"/>
          <p:cNvSpPr/>
          <p:nvPr/>
        </p:nvSpPr>
        <p:spPr>
          <a:xfrm>
            <a:off x="1234440" y="3721608"/>
            <a:ext cx="10607040" cy="0"/>
          </a:xfrm>
          <a:prstGeom prst="line">
            <a:avLst/>
          </a:prstGeom>
          <a:noFill/>
          <a:ln w="12700">
            <a:solidFill>
              <a:srgbClr val="E9DFC4"/>
            </a:solidFill>
            <a:prstDash val="solid"/>
          </a:ln>
        </p:spPr>
      </p:sp>
      <p:sp>
        <p:nvSpPr>
          <p:cNvPr id="9" name="Shape 7"/>
          <p:cNvSpPr/>
          <p:nvPr/>
        </p:nvSpPr>
        <p:spPr>
          <a:xfrm>
            <a:off x="1234440" y="4105656"/>
            <a:ext cx="10607040" cy="0"/>
          </a:xfrm>
          <a:prstGeom prst="line">
            <a:avLst/>
          </a:prstGeom>
          <a:noFill/>
          <a:ln w="12700">
            <a:solidFill>
              <a:srgbClr val="E9DFC4"/>
            </a:solidFill>
            <a:prstDash val="solid"/>
          </a:ln>
        </p:spPr>
      </p:sp>
      <p:sp>
        <p:nvSpPr>
          <p:cNvPr id="10" name="Shape 8"/>
          <p:cNvSpPr/>
          <p:nvPr/>
        </p:nvSpPr>
        <p:spPr>
          <a:xfrm>
            <a:off x="1234440" y="4489704"/>
            <a:ext cx="10607040" cy="0"/>
          </a:xfrm>
          <a:prstGeom prst="line">
            <a:avLst/>
          </a:prstGeom>
          <a:noFill/>
          <a:ln w="12700">
            <a:solidFill>
              <a:srgbClr val="E9DFC4"/>
            </a:solidFill>
            <a:prstDash val="solid"/>
          </a:ln>
        </p:spPr>
      </p:sp>
      <p:sp>
        <p:nvSpPr>
          <p:cNvPr id="11" name="Shape 9"/>
          <p:cNvSpPr/>
          <p:nvPr/>
        </p:nvSpPr>
        <p:spPr>
          <a:xfrm>
            <a:off x="1234440" y="4873752"/>
            <a:ext cx="10607040" cy="0"/>
          </a:xfrm>
          <a:prstGeom prst="line">
            <a:avLst/>
          </a:prstGeom>
          <a:noFill/>
          <a:ln w="12700">
            <a:solidFill>
              <a:srgbClr val="E9DFC4"/>
            </a:solidFill>
            <a:prstDash val="solid"/>
          </a:ln>
        </p:spPr>
      </p:sp>
      <p:sp>
        <p:nvSpPr>
          <p:cNvPr id="12" name="Shape 10"/>
          <p:cNvSpPr/>
          <p:nvPr/>
        </p:nvSpPr>
        <p:spPr>
          <a:xfrm>
            <a:off x="1234440" y="5257800"/>
            <a:ext cx="10607040" cy="0"/>
          </a:xfrm>
          <a:prstGeom prst="line">
            <a:avLst/>
          </a:prstGeom>
          <a:noFill/>
          <a:ln w="12700">
            <a:solidFill>
              <a:srgbClr val="E9DFC4"/>
            </a:solidFill>
            <a:prstDash val="solid"/>
          </a:ln>
        </p:spPr>
      </p:sp>
      <p:sp>
        <p:nvSpPr>
          <p:cNvPr id="13" name="Shape 11"/>
          <p:cNvSpPr/>
          <p:nvPr/>
        </p:nvSpPr>
        <p:spPr>
          <a:xfrm>
            <a:off x="1234440" y="5641848"/>
            <a:ext cx="10607040" cy="0"/>
          </a:xfrm>
          <a:prstGeom prst="line">
            <a:avLst/>
          </a:prstGeom>
          <a:noFill/>
          <a:ln w="12700">
            <a:solidFill>
              <a:srgbClr val="E9DFC4"/>
            </a:solidFill>
            <a:prstDash val="solid"/>
          </a:ln>
        </p:spPr>
      </p:sp>
      <p:sp>
        <p:nvSpPr>
          <p:cNvPr id="14" name="Shape 12"/>
          <p:cNvSpPr/>
          <p:nvPr/>
        </p:nvSpPr>
        <p:spPr>
          <a:xfrm>
            <a:off x="1234440" y="6025896"/>
            <a:ext cx="10607040" cy="0"/>
          </a:xfrm>
          <a:prstGeom prst="line">
            <a:avLst/>
          </a:prstGeom>
          <a:noFill/>
          <a:ln w="12700">
            <a:solidFill>
              <a:srgbClr val="E9DFC4"/>
            </a:solidFill>
            <a:prstDash val="solid"/>
          </a:ln>
        </p:spPr>
      </p:sp>
      <p:sp>
        <p:nvSpPr>
          <p:cNvPr id="15" name="Shape 13"/>
          <p:cNvSpPr/>
          <p:nvPr/>
        </p:nvSpPr>
        <p:spPr>
          <a:xfrm>
            <a:off x="1234440" y="6409944"/>
            <a:ext cx="10607040" cy="0"/>
          </a:xfrm>
          <a:prstGeom prst="line">
            <a:avLst/>
          </a:prstGeom>
          <a:noFill/>
          <a:ln w="12700">
            <a:solidFill>
              <a:srgbClr val="E9DFC4"/>
            </a:solidFill>
            <a:prstDash val="solid"/>
          </a:ln>
        </p:spPr>
      </p:sp>
      <p:sp>
        <p:nvSpPr>
          <p:cNvPr id="16" name="Shape 14"/>
          <p:cNvSpPr/>
          <p:nvPr/>
        </p:nvSpPr>
        <p:spPr>
          <a:xfrm>
            <a:off x="1051560" y="320040"/>
            <a:ext cx="0" cy="6309360"/>
          </a:xfrm>
          <a:prstGeom prst="line">
            <a:avLst/>
          </a:prstGeom>
          <a:noFill/>
          <a:ln w="15875">
            <a:solidFill>
              <a:srgbClr val="C0392B"/>
            </a:solidFill>
            <a:prstDash val="solid"/>
          </a:ln>
        </p:spPr>
      </p:sp>
      <p:sp>
        <p:nvSpPr>
          <p:cNvPr id="17" name="Text 15"/>
          <p:cNvSpPr/>
          <p:nvPr/>
        </p:nvSpPr>
        <p:spPr>
          <a:xfrm>
            <a:off x="1280160" y="310896"/>
            <a:ext cx="2743200" cy="320040"/>
          </a:xfrm>
          <a:prstGeom prst="rect">
            <a:avLst/>
          </a:prstGeom>
          <a:noFill/>
          <a:ln/>
        </p:spPr>
        <p:txBody>
          <a:bodyPr wrap="square" lIns="0" tIns="0" rIns="0" bIns="0" rtlCol="0" anchor="ctr"/>
          <a:lstStyle/>
          <a:p>
            <a:pPr marL="0" indent="0">
              <a:buNone/>
            </a:pPr>
            <a:r>
              <a:rPr lang="en-US" sz="1300" b="1" dirty="0">
                <a:solidFill>
                  <a:srgbClr val="C0392B"/>
                </a:solidFill>
                <a:latin typeface="Calibri" pitchFamily="34" charset="0"/>
                <a:ea typeface="Calibri" pitchFamily="34" charset="-122"/>
                <a:cs typeface="Calibri" pitchFamily="34" charset="-120"/>
              </a:rPr>
              <a:t>Topic 1.1</a:t>
            </a:r>
            <a:endParaRPr lang="en-US" sz="1300" dirty="0"/>
          </a:p>
        </p:txBody>
      </p:sp>
      <p:sp>
        <p:nvSpPr>
          <p:cNvPr id="18" name="Text 16"/>
          <p:cNvSpPr/>
          <p:nvPr/>
        </p:nvSpPr>
        <p:spPr>
          <a:xfrm>
            <a:off x="1234440" y="566928"/>
            <a:ext cx="8138160" cy="777240"/>
          </a:xfrm>
          <a:prstGeom prst="rect">
            <a:avLst/>
          </a:prstGeom>
          <a:noFill/>
          <a:ln/>
        </p:spPr>
        <p:txBody>
          <a:bodyPr wrap="square" lIns="0" tIns="0" rIns="0" bIns="0" rtlCol="0" anchor="t"/>
          <a:lstStyle/>
          <a:p>
            <a:pPr marL="0" indent="0">
              <a:buNone/>
            </a:pPr>
            <a:r>
              <a:rPr lang="en-US" sz="3000" b="1" dirty="0">
                <a:solidFill>
                  <a:srgbClr val="1B3A6B"/>
                </a:solidFill>
                <a:latin typeface="Comic Sans MS" pitchFamily="34" charset="0"/>
                <a:ea typeface="Comic Sans MS" pitchFamily="34" charset="-122"/>
                <a:cs typeface="Comic Sans MS" pitchFamily="34" charset="-120"/>
              </a:rPr>
              <a:t>External Devices</a:t>
            </a:r>
            <a:endParaRPr lang="en-US" sz="3000" dirty="0"/>
          </a:p>
        </p:txBody>
      </p:sp>
      <p:sp>
        <p:nvSpPr>
          <p:cNvPr id="19" name="Shape 17"/>
          <p:cNvSpPr/>
          <p:nvPr/>
        </p:nvSpPr>
        <p:spPr>
          <a:xfrm>
            <a:off x="9646920" y="384048"/>
            <a:ext cx="1965960" cy="384048"/>
          </a:xfrm>
          <a:prstGeom prst="roundRect">
            <a:avLst>
              <a:gd name="adj" fmla="val 19048"/>
            </a:avLst>
          </a:prstGeom>
          <a:solidFill>
            <a:srgbClr val="C0392B"/>
          </a:solidFill>
          <a:ln/>
        </p:spPr>
      </p:sp>
      <p:sp>
        <p:nvSpPr>
          <p:cNvPr id="20" name="Text 18"/>
          <p:cNvSpPr/>
          <p:nvPr/>
        </p:nvSpPr>
        <p:spPr>
          <a:xfrm>
            <a:off x="9646920" y="384048"/>
            <a:ext cx="196596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HOW IT WORKS</a:t>
            </a:r>
            <a:endParaRPr lang="en-US" sz="1200" dirty="0"/>
          </a:p>
        </p:txBody>
      </p:sp>
      <p:sp>
        <p:nvSpPr>
          <p:cNvPr id="21" name="Shape 19"/>
          <p:cNvSpPr/>
          <p:nvPr/>
        </p:nvSpPr>
        <p:spPr>
          <a:xfrm>
            <a:off x="8732520" y="502920"/>
            <a:ext cx="1051560" cy="1051560"/>
          </a:xfrm>
          <a:prstGeom prst="ellipse">
            <a:avLst/>
          </a:prstGeom>
          <a:solidFill>
            <a:srgbClr val="DCE6F5"/>
          </a:solidFill>
          <a:ln/>
          <a:effectLst>
            <a:outerShdw blurRad="50800" dist="25400" dir="5400000" algn="bl" rotWithShape="0">
              <a:srgbClr val="999999">
                <a:alpha val="25000"/>
              </a:srgbClr>
            </a:outerShdw>
          </a:effectLst>
        </p:spPr>
      </p:sp>
      <p:pic>
        <p:nvPicPr>
          <p:cNvPr id="22" name="Image 0" descr="/home/claude/iobook/icons/keyboard.png"/>
          <p:cNvPicPr>
            <a:picLocks noChangeAspect="1"/>
          </p:cNvPicPr>
          <p:nvPr/>
        </p:nvPicPr>
        <p:blipFill>
          <a:blip r:embed="rId3"/>
          <a:stretch>
            <a:fillRect/>
          </a:stretch>
        </p:blipFill>
        <p:spPr>
          <a:xfrm>
            <a:off x="8963863" y="734263"/>
            <a:ext cx="588874" cy="588874"/>
          </a:xfrm>
          <a:prstGeom prst="rect">
            <a:avLst/>
          </a:prstGeom>
        </p:spPr>
      </p:pic>
      <p:sp>
        <p:nvSpPr>
          <p:cNvPr id="23" name="Shape 20"/>
          <p:cNvSpPr/>
          <p:nvPr/>
        </p:nvSpPr>
        <p:spPr>
          <a:xfrm>
            <a:off x="1280160" y="1965960"/>
            <a:ext cx="2331720" cy="1600200"/>
          </a:xfrm>
          <a:prstGeom prst="roundRect">
            <a:avLst>
              <a:gd name="adj" fmla="val 4571"/>
            </a:avLst>
          </a:prstGeom>
          <a:solidFill>
            <a:srgbClr val="FFFFFF"/>
          </a:solidFill>
          <a:ln w="12700">
            <a:solidFill>
              <a:srgbClr val="1B3A6B"/>
            </a:solidFill>
            <a:prstDash val="solid"/>
          </a:ln>
          <a:effectLst>
            <a:outerShdw blurRad="38100" dist="25400" dir="5400000" algn="bl" rotWithShape="0">
              <a:srgbClr val="999999">
                <a:alpha val="20000"/>
              </a:srgbClr>
            </a:outerShdw>
          </a:effectLst>
        </p:spPr>
      </p:sp>
      <p:sp>
        <p:nvSpPr>
          <p:cNvPr id="24" name="Shape 21"/>
          <p:cNvSpPr/>
          <p:nvPr/>
        </p:nvSpPr>
        <p:spPr>
          <a:xfrm>
            <a:off x="2244852" y="1764792"/>
            <a:ext cx="402336" cy="402336"/>
          </a:xfrm>
          <a:prstGeom prst="ellipse">
            <a:avLst/>
          </a:prstGeom>
          <a:solidFill>
            <a:srgbClr val="C0392B"/>
          </a:solidFill>
          <a:ln w="25400">
            <a:solidFill>
              <a:srgbClr val="FFF8E1"/>
            </a:solidFill>
            <a:prstDash val="solid"/>
          </a:ln>
        </p:spPr>
      </p:sp>
      <p:sp>
        <p:nvSpPr>
          <p:cNvPr id="25" name="Text 22"/>
          <p:cNvSpPr/>
          <p:nvPr/>
        </p:nvSpPr>
        <p:spPr>
          <a:xfrm>
            <a:off x="2244852" y="1764792"/>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26" name="Text 23"/>
          <p:cNvSpPr/>
          <p:nvPr/>
        </p:nvSpPr>
        <p:spPr>
          <a:xfrm>
            <a:off x="1389888" y="2221992"/>
            <a:ext cx="2112264" cy="502920"/>
          </a:xfrm>
          <a:prstGeom prst="rect">
            <a:avLst/>
          </a:prstGeom>
          <a:noFill/>
          <a:ln/>
        </p:spPr>
        <p:txBody>
          <a:bodyPr wrap="square" lIns="0" tIns="0" rIns="0" bIns="0" rtlCol="0" anchor="t"/>
          <a:lstStyle/>
          <a:p>
            <a:pPr marL="0" indent="0">
              <a:buNone/>
            </a:pPr>
            <a:r>
              <a:rPr lang="en-US" sz="1350" b="1" dirty="0">
                <a:solidFill>
                  <a:srgbClr val="1B3A6B"/>
                </a:solidFill>
                <a:latin typeface="Calibri" pitchFamily="34" charset="0"/>
                <a:ea typeface="Calibri" pitchFamily="34" charset="-122"/>
                <a:cs typeface="Calibri" pitchFamily="34" charset="-120"/>
              </a:rPr>
              <a:t>1. Device</a:t>
            </a:r>
            <a:endParaRPr lang="en-US" sz="1350" dirty="0"/>
          </a:p>
        </p:txBody>
      </p:sp>
      <p:sp>
        <p:nvSpPr>
          <p:cNvPr id="27" name="Text 24"/>
          <p:cNvSpPr/>
          <p:nvPr/>
        </p:nvSpPr>
        <p:spPr>
          <a:xfrm>
            <a:off x="1389888" y="2715768"/>
            <a:ext cx="2112264" cy="777240"/>
          </a:xfrm>
          <a:prstGeom prst="rect">
            <a:avLst/>
          </a:prstGeom>
          <a:noFill/>
          <a:ln/>
        </p:spPr>
        <p:txBody>
          <a:bodyPr wrap="square" lIns="0" tIns="0" rIns="0" bIns="0" rtlCol="0" anchor="t"/>
          <a:lstStyle/>
          <a:p>
            <a:pPr marL="0" indent="0">
              <a:buNone/>
            </a:pPr>
            <a:r>
              <a:rPr lang="en-US" sz="1100" dirty="0">
                <a:solidFill>
                  <a:srgbClr val="4A4A4A"/>
                </a:solidFill>
                <a:latin typeface="Calibri" pitchFamily="34" charset="0"/>
                <a:ea typeface="Calibri" pitchFamily="34" charset="-122"/>
                <a:cs typeface="Calibri" pitchFamily="34" charset="-120"/>
              </a:rPr>
              <a:t>User types on a keyboard</a:t>
            </a:r>
            <a:endParaRPr lang="en-US" sz="1100" dirty="0"/>
          </a:p>
        </p:txBody>
      </p:sp>
      <p:pic>
        <p:nvPicPr>
          <p:cNvPr id="28" name="Image 1" descr="/home/claude/iobook/icons/arrowRight.png"/>
          <p:cNvPicPr>
            <a:picLocks noChangeAspect="1"/>
          </p:cNvPicPr>
          <p:nvPr/>
        </p:nvPicPr>
        <p:blipFill>
          <a:blip r:embed="rId4"/>
          <a:stretch>
            <a:fillRect/>
          </a:stretch>
        </p:blipFill>
        <p:spPr>
          <a:xfrm>
            <a:off x="3639312" y="2628900"/>
            <a:ext cx="274320" cy="274320"/>
          </a:xfrm>
          <a:prstGeom prst="rect">
            <a:avLst/>
          </a:prstGeom>
        </p:spPr>
      </p:pic>
      <p:sp>
        <p:nvSpPr>
          <p:cNvPr id="29" name="Shape 25"/>
          <p:cNvSpPr/>
          <p:nvPr/>
        </p:nvSpPr>
        <p:spPr>
          <a:xfrm>
            <a:off x="3931920" y="1965960"/>
            <a:ext cx="2331720" cy="1600200"/>
          </a:xfrm>
          <a:prstGeom prst="roundRect">
            <a:avLst>
              <a:gd name="adj" fmla="val 4571"/>
            </a:avLst>
          </a:prstGeom>
          <a:solidFill>
            <a:srgbClr val="FFFFFF"/>
          </a:solidFill>
          <a:ln w="12700">
            <a:solidFill>
              <a:srgbClr val="1B3A6B"/>
            </a:solidFill>
            <a:prstDash val="solid"/>
          </a:ln>
          <a:effectLst>
            <a:outerShdw blurRad="38100" dist="25400" dir="5400000" algn="bl" rotWithShape="0">
              <a:srgbClr val="999999">
                <a:alpha val="20000"/>
              </a:srgbClr>
            </a:outerShdw>
          </a:effectLst>
        </p:spPr>
      </p:sp>
      <p:sp>
        <p:nvSpPr>
          <p:cNvPr id="30" name="Shape 26"/>
          <p:cNvSpPr/>
          <p:nvPr/>
        </p:nvSpPr>
        <p:spPr>
          <a:xfrm>
            <a:off x="4896612" y="1764792"/>
            <a:ext cx="402336" cy="402336"/>
          </a:xfrm>
          <a:prstGeom prst="ellipse">
            <a:avLst/>
          </a:prstGeom>
          <a:solidFill>
            <a:srgbClr val="C0392B"/>
          </a:solidFill>
          <a:ln w="25400">
            <a:solidFill>
              <a:srgbClr val="FFF8E1"/>
            </a:solidFill>
            <a:prstDash val="solid"/>
          </a:ln>
        </p:spPr>
      </p:sp>
      <p:sp>
        <p:nvSpPr>
          <p:cNvPr id="31" name="Text 27"/>
          <p:cNvSpPr/>
          <p:nvPr/>
        </p:nvSpPr>
        <p:spPr>
          <a:xfrm>
            <a:off x="4896612" y="1764792"/>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32" name="Text 28"/>
          <p:cNvSpPr/>
          <p:nvPr/>
        </p:nvSpPr>
        <p:spPr>
          <a:xfrm>
            <a:off x="4041648" y="2221992"/>
            <a:ext cx="2112264" cy="502920"/>
          </a:xfrm>
          <a:prstGeom prst="rect">
            <a:avLst/>
          </a:prstGeom>
          <a:noFill/>
          <a:ln/>
        </p:spPr>
        <p:txBody>
          <a:bodyPr wrap="square" lIns="0" tIns="0" rIns="0" bIns="0" rtlCol="0" anchor="t"/>
          <a:lstStyle/>
          <a:p>
            <a:pPr marL="0" indent="0">
              <a:buNone/>
            </a:pPr>
            <a:r>
              <a:rPr lang="en-US" sz="1350" b="1" dirty="0">
                <a:solidFill>
                  <a:srgbClr val="1B3A6B"/>
                </a:solidFill>
                <a:latin typeface="Calibri" pitchFamily="34" charset="0"/>
                <a:ea typeface="Calibri" pitchFamily="34" charset="-122"/>
                <a:cs typeface="Calibri" pitchFamily="34" charset="-120"/>
              </a:rPr>
              <a:t>2. Transducer</a:t>
            </a:r>
            <a:endParaRPr lang="en-US" sz="1350" dirty="0"/>
          </a:p>
        </p:txBody>
      </p:sp>
      <p:sp>
        <p:nvSpPr>
          <p:cNvPr id="33" name="Text 29"/>
          <p:cNvSpPr/>
          <p:nvPr/>
        </p:nvSpPr>
        <p:spPr>
          <a:xfrm>
            <a:off x="4041648" y="2715768"/>
            <a:ext cx="2112264" cy="777240"/>
          </a:xfrm>
          <a:prstGeom prst="rect">
            <a:avLst/>
          </a:prstGeom>
          <a:noFill/>
          <a:ln/>
        </p:spPr>
        <p:txBody>
          <a:bodyPr wrap="square" lIns="0" tIns="0" rIns="0" bIns="0" rtlCol="0" anchor="t"/>
          <a:lstStyle/>
          <a:p>
            <a:pPr marL="0" indent="0">
              <a:buNone/>
            </a:pPr>
            <a:r>
              <a:rPr lang="en-US" sz="1100" dirty="0">
                <a:solidFill>
                  <a:srgbClr val="4A4A4A"/>
                </a:solidFill>
                <a:latin typeface="Calibri" pitchFamily="34" charset="0"/>
                <a:ea typeface="Calibri" pitchFamily="34" charset="-122"/>
                <a:cs typeface="Calibri" pitchFamily="34" charset="-120"/>
              </a:rPr>
              <a:t>Converts the keypress into an electrical signal</a:t>
            </a:r>
            <a:endParaRPr lang="en-US" sz="1100" dirty="0"/>
          </a:p>
        </p:txBody>
      </p:sp>
      <p:pic>
        <p:nvPicPr>
          <p:cNvPr id="34" name="Image 2" descr="/home/claude/iobook/icons/arrowRight.png"/>
          <p:cNvPicPr>
            <a:picLocks noChangeAspect="1"/>
          </p:cNvPicPr>
          <p:nvPr/>
        </p:nvPicPr>
        <p:blipFill>
          <a:blip r:embed="rId4"/>
          <a:stretch>
            <a:fillRect/>
          </a:stretch>
        </p:blipFill>
        <p:spPr>
          <a:xfrm>
            <a:off x="6291072" y="2628900"/>
            <a:ext cx="274320" cy="274320"/>
          </a:xfrm>
          <a:prstGeom prst="rect">
            <a:avLst/>
          </a:prstGeom>
        </p:spPr>
      </p:pic>
      <p:sp>
        <p:nvSpPr>
          <p:cNvPr id="35" name="Shape 30"/>
          <p:cNvSpPr/>
          <p:nvPr/>
        </p:nvSpPr>
        <p:spPr>
          <a:xfrm>
            <a:off x="6583680" y="1965960"/>
            <a:ext cx="2331720" cy="1600200"/>
          </a:xfrm>
          <a:prstGeom prst="roundRect">
            <a:avLst>
              <a:gd name="adj" fmla="val 4571"/>
            </a:avLst>
          </a:prstGeom>
          <a:solidFill>
            <a:srgbClr val="FFFFFF"/>
          </a:solidFill>
          <a:ln w="12700">
            <a:solidFill>
              <a:srgbClr val="1B3A6B"/>
            </a:solidFill>
            <a:prstDash val="solid"/>
          </a:ln>
          <a:effectLst>
            <a:outerShdw blurRad="38100" dist="25400" dir="5400000" algn="bl" rotWithShape="0">
              <a:srgbClr val="999999">
                <a:alpha val="20000"/>
              </a:srgbClr>
            </a:outerShdw>
          </a:effectLst>
        </p:spPr>
      </p:sp>
      <p:sp>
        <p:nvSpPr>
          <p:cNvPr id="36" name="Shape 31"/>
          <p:cNvSpPr/>
          <p:nvPr/>
        </p:nvSpPr>
        <p:spPr>
          <a:xfrm>
            <a:off x="7548372" y="1764792"/>
            <a:ext cx="402336" cy="402336"/>
          </a:xfrm>
          <a:prstGeom prst="ellipse">
            <a:avLst/>
          </a:prstGeom>
          <a:solidFill>
            <a:srgbClr val="C0392B"/>
          </a:solidFill>
          <a:ln w="25400">
            <a:solidFill>
              <a:srgbClr val="FFF8E1"/>
            </a:solidFill>
            <a:prstDash val="solid"/>
          </a:ln>
        </p:spPr>
      </p:sp>
      <p:sp>
        <p:nvSpPr>
          <p:cNvPr id="37" name="Text 32"/>
          <p:cNvSpPr/>
          <p:nvPr/>
        </p:nvSpPr>
        <p:spPr>
          <a:xfrm>
            <a:off x="7548372" y="1764792"/>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38" name="Text 33"/>
          <p:cNvSpPr/>
          <p:nvPr/>
        </p:nvSpPr>
        <p:spPr>
          <a:xfrm>
            <a:off x="6693408" y="2221992"/>
            <a:ext cx="2112264" cy="502920"/>
          </a:xfrm>
          <a:prstGeom prst="rect">
            <a:avLst/>
          </a:prstGeom>
          <a:noFill/>
          <a:ln/>
        </p:spPr>
        <p:txBody>
          <a:bodyPr wrap="square" lIns="0" tIns="0" rIns="0" bIns="0" rtlCol="0" anchor="t"/>
          <a:lstStyle/>
          <a:p>
            <a:pPr marL="0" indent="0">
              <a:buNone/>
            </a:pPr>
            <a:r>
              <a:rPr lang="en-US" sz="1350" b="1" dirty="0">
                <a:solidFill>
                  <a:srgbClr val="1B3A6B"/>
                </a:solidFill>
                <a:latin typeface="Calibri" pitchFamily="34" charset="0"/>
                <a:ea typeface="Calibri" pitchFamily="34" charset="-122"/>
                <a:cs typeface="Calibri" pitchFamily="34" charset="-120"/>
              </a:rPr>
              <a:t>3. Link/Cable</a:t>
            </a:r>
            <a:endParaRPr lang="en-US" sz="1350" dirty="0"/>
          </a:p>
        </p:txBody>
      </p:sp>
      <p:sp>
        <p:nvSpPr>
          <p:cNvPr id="39" name="Text 34"/>
          <p:cNvSpPr/>
          <p:nvPr/>
        </p:nvSpPr>
        <p:spPr>
          <a:xfrm>
            <a:off x="6693408" y="2715768"/>
            <a:ext cx="2112264" cy="777240"/>
          </a:xfrm>
          <a:prstGeom prst="rect">
            <a:avLst/>
          </a:prstGeom>
          <a:noFill/>
          <a:ln/>
        </p:spPr>
        <p:txBody>
          <a:bodyPr wrap="square" lIns="0" tIns="0" rIns="0" bIns="0" rtlCol="0" anchor="t"/>
          <a:lstStyle/>
          <a:p>
            <a:pPr marL="0" indent="0">
              <a:buNone/>
            </a:pPr>
            <a:r>
              <a:rPr lang="en-US" sz="1100" dirty="0">
                <a:solidFill>
                  <a:srgbClr val="4A4A4A"/>
                </a:solidFill>
                <a:latin typeface="Calibri" pitchFamily="34" charset="0"/>
                <a:ea typeface="Calibri" pitchFamily="34" charset="-122"/>
                <a:cs typeface="Calibri" pitchFamily="34" charset="-120"/>
              </a:rPr>
              <a:t>Signal travels through a cable or wireless link</a:t>
            </a:r>
            <a:endParaRPr lang="en-US" sz="1100" dirty="0"/>
          </a:p>
        </p:txBody>
      </p:sp>
      <p:pic>
        <p:nvPicPr>
          <p:cNvPr id="40" name="Image 3" descr="/home/claude/iobook/icons/arrowRight.png"/>
          <p:cNvPicPr>
            <a:picLocks noChangeAspect="1"/>
          </p:cNvPicPr>
          <p:nvPr/>
        </p:nvPicPr>
        <p:blipFill>
          <a:blip r:embed="rId4"/>
          <a:stretch>
            <a:fillRect/>
          </a:stretch>
        </p:blipFill>
        <p:spPr>
          <a:xfrm>
            <a:off x="8942832" y="2628900"/>
            <a:ext cx="274320" cy="274320"/>
          </a:xfrm>
          <a:prstGeom prst="rect">
            <a:avLst/>
          </a:prstGeom>
        </p:spPr>
      </p:pic>
      <p:sp>
        <p:nvSpPr>
          <p:cNvPr id="41" name="Shape 35"/>
          <p:cNvSpPr/>
          <p:nvPr/>
        </p:nvSpPr>
        <p:spPr>
          <a:xfrm>
            <a:off x="9235440" y="1965960"/>
            <a:ext cx="2331720" cy="1600200"/>
          </a:xfrm>
          <a:prstGeom prst="roundRect">
            <a:avLst>
              <a:gd name="adj" fmla="val 4571"/>
            </a:avLst>
          </a:prstGeom>
          <a:solidFill>
            <a:srgbClr val="FFFFFF"/>
          </a:solidFill>
          <a:ln w="12700">
            <a:solidFill>
              <a:srgbClr val="1B3A6B"/>
            </a:solidFill>
            <a:prstDash val="solid"/>
          </a:ln>
          <a:effectLst>
            <a:outerShdw blurRad="38100" dist="25400" dir="5400000" algn="bl" rotWithShape="0">
              <a:srgbClr val="999999">
                <a:alpha val="20000"/>
              </a:srgbClr>
            </a:outerShdw>
          </a:effectLst>
        </p:spPr>
      </p:sp>
      <p:sp>
        <p:nvSpPr>
          <p:cNvPr id="42" name="Shape 36"/>
          <p:cNvSpPr/>
          <p:nvPr/>
        </p:nvSpPr>
        <p:spPr>
          <a:xfrm>
            <a:off x="10200132" y="1764792"/>
            <a:ext cx="402336" cy="402336"/>
          </a:xfrm>
          <a:prstGeom prst="ellipse">
            <a:avLst/>
          </a:prstGeom>
          <a:solidFill>
            <a:srgbClr val="C0392B"/>
          </a:solidFill>
          <a:ln w="25400">
            <a:solidFill>
              <a:srgbClr val="FFF8E1"/>
            </a:solidFill>
            <a:prstDash val="solid"/>
          </a:ln>
        </p:spPr>
      </p:sp>
      <p:sp>
        <p:nvSpPr>
          <p:cNvPr id="43" name="Text 37"/>
          <p:cNvSpPr/>
          <p:nvPr/>
        </p:nvSpPr>
        <p:spPr>
          <a:xfrm>
            <a:off x="10200132" y="1764792"/>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44" name="Text 38"/>
          <p:cNvSpPr/>
          <p:nvPr/>
        </p:nvSpPr>
        <p:spPr>
          <a:xfrm>
            <a:off x="9345168" y="2221992"/>
            <a:ext cx="2112264" cy="502920"/>
          </a:xfrm>
          <a:prstGeom prst="rect">
            <a:avLst/>
          </a:prstGeom>
          <a:noFill/>
          <a:ln/>
        </p:spPr>
        <p:txBody>
          <a:bodyPr wrap="square" lIns="0" tIns="0" rIns="0" bIns="0" rtlCol="0" anchor="t"/>
          <a:lstStyle/>
          <a:p>
            <a:pPr marL="0" indent="0">
              <a:buNone/>
            </a:pPr>
            <a:r>
              <a:rPr lang="en-US" sz="1350" b="1" dirty="0">
                <a:solidFill>
                  <a:srgbClr val="1B3A6B"/>
                </a:solidFill>
                <a:latin typeface="Calibri" pitchFamily="34" charset="0"/>
                <a:ea typeface="Calibri" pitchFamily="34" charset="-122"/>
                <a:cs typeface="Calibri" pitchFamily="34" charset="-120"/>
              </a:rPr>
              <a:t>4. I/O Module</a:t>
            </a:r>
            <a:endParaRPr lang="en-US" sz="1350" dirty="0"/>
          </a:p>
        </p:txBody>
      </p:sp>
      <p:sp>
        <p:nvSpPr>
          <p:cNvPr id="45" name="Text 39"/>
          <p:cNvSpPr/>
          <p:nvPr/>
        </p:nvSpPr>
        <p:spPr>
          <a:xfrm>
            <a:off x="9345168" y="2715768"/>
            <a:ext cx="2112264" cy="777240"/>
          </a:xfrm>
          <a:prstGeom prst="rect">
            <a:avLst/>
          </a:prstGeom>
          <a:noFill/>
          <a:ln/>
        </p:spPr>
        <p:txBody>
          <a:bodyPr wrap="square" lIns="0" tIns="0" rIns="0" bIns="0" rtlCol="0" anchor="t"/>
          <a:lstStyle/>
          <a:p>
            <a:pPr marL="0" indent="0">
              <a:buNone/>
            </a:pPr>
            <a:r>
              <a:rPr lang="en-US" sz="1100" dirty="0">
                <a:solidFill>
                  <a:srgbClr val="4A4A4A"/>
                </a:solidFill>
                <a:latin typeface="Calibri" pitchFamily="34" charset="0"/>
                <a:ea typeface="Calibri" pitchFamily="34" charset="-122"/>
                <a:cs typeface="Calibri" pitchFamily="34" charset="-120"/>
              </a:rPr>
              <a:t>Signal reaches the I/O module, ready for the CPU</a:t>
            </a:r>
            <a:endParaRPr lang="en-US" sz="1100" dirty="0"/>
          </a:p>
        </p:txBody>
      </p:sp>
      <p:sp>
        <p:nvSpPr>
          <p:cNvPr id="46" name="Shape 40"/>
          <p:cNvSpPr/>
          <p:nvPr/>
        </p:nvSpPr>
        <p:spPr>
          <a:xfrm>
            <a:off x="1280160" y="3977640"/>
            <a:ext cx="8778240" cy="1234440"/>
          </a:xfrm>
          <a:prstGeom prst="roundRect">
            <a:avLst>
              <a:gd name="adj" fmla="val 7407"/>
            </a:avLst>
          </a:prstGeom>
          <a:solidFill>
            <a:srgbClr val="DCE6F5">
              <a:alpha val="70000"/>
            </a:srgbClr>
          </a:solidFill>
          <a:ln w="9525">
            <a:solidFill>
              <a:srgbClr val="1B3A6B"/>
            </a:solidFill>
            <a:prstDash val="sysDot"/>
          </a:ln>
        </p:spPr>
      </p:sp>
      <p:pic>
        <p:nvPicPr>
          <p:cNvPr id="47" name="Image 4" descr="/home/claude/iobook/icons/lightbulb.png"/>
          <p:cNvPicPr>
            <a:picLocks noChangeAspect="1"/>
          </p:cNvPicPr>
          <p:nvPr/>
        </p:nvPicPr>
        <p:blipFill>
          <a:blip r:embed="rId5"/>
          <a:stretch>
            <a:fillRect/>
          </a:stretch>
        </p:blipFill>
        <p:spPr>
          <a:xfrm>
            <a:off x="1463040" y="4160520"/>
            <a:ext cx="502920" cy="502920"/>
          </a:xfrm>
          <a:prstGeom prst="rect">
            <a:avLst/>
          </a:prstGeom>
        </p:spPr>
      </p:pic>
      <p:sp>
        <p:nvSpPr>
          <p:cNvPr id="48" name="Text 41"/>
          <p:cNvSpPr/>
          <p:nvPr/>
        </p:nvSpPr>
        <p:spPr>
          <a:xfrm>
            <a:off x="2103120" y="4114800"/>
            <a:ext cx="7772400" cy="1005840"/>
          </a:xfrm>
          <a:prstGeom prst="rect">
            <a:avLst/>
          </a:prstGeom>
          <a:noFill/>
          <a:ln/>
        </p:spPr>
        <p:txBody>
          <a:bodyPr wrap="square" lIns="0" tIns="0" rIns="0" bIns="0" rtlCol="0" anchor="ctr"/>
          <a:lstStyle/>
          <a:p>
            <a:pPr marL="0" indent="0">
              <a:buNone/>
            </a:pPr>
            <a:r>
              <a:rPr lang="en-US" sz="1350" i="1" dirty="0">
                <a:solidFill>
                  <a:srgbClr val="1B3A6B"/>
                </a:solidFill>
                <a:latin typeface="Calibri" pitchFamily="34" charset="0"/>
                <a:ea typeface="Calibri" pitchFamily="34" charset="-122"/>
                <a:cs typeface="Calibri" pitchFamily="34" charset="-120"/>
              </a:rPr>
              <a:t>Rule of thumb: if you can physically touch it and it isn't the CPU or RAM, it's probably an external device!</a:t>
            </a:r>
            <a:endParaRPr lang="en-US" sz="1350" dirty="0"/>
          </a:p>
        </p:txBody>
      </p:sp>
      <p:sp>
        <p:nvSpPr>
          <p:cNvPr id="49" name="Text 42"/>
          <p:cNvSpPr/>
          <p:nvPr/>
        </p:nvSpPr>
        <p:spPr>
          <a:xfrm>
            <a:off x="320040" y="6510528"/>
            <a:ext cx="5486400" cy="274320"/>
          </a:xfrm>
          <a:prstGeom prst="rect">
            <a:avLst/>
          </a:prstGeom>
          <a:noFill/>
          <a:ln/>
        </p:spPr>
        <p:txBody>
          <a:bodyPr wrap="square" lIns="0" tIns="0" rIns="0" bIns="0" rtlCol="0" anchor="ctr"/>
          <a:lstStyle/>
          <a:p>
            <a:pPr marL="0" indent="0">
              <a:buNone/>
            </a:pPr>
            <a:r>
              <a:rPr lang="en-US" sz="1000" i="1" dirty="0">
                <a:solidFill>
                  <a:srgbClr val="4A4A4A"/>
                </a:solidFill>
                <a:latin typeface="Calibri" pitchFamily="34" charset="0"/>
                <a:ea typeface="Calibri" pitchFamily="34" charset="-122"/>
                <a:cs typeface="Calibri" pitchFamily="34" charset="-120"/>
              </a:rPr>
              <a:t>External Devices</a:t>
            </a:r>
            <a:endParaRPr lang="en-US" sz="1000" dirty="0"/>
          </a:p>
        </p:txBody>
      </p:sp>
      <p:sp>
        <p:nvSpPr>
          <p:cNvPr id="50" name="Text 43"/>
          <p:cNvSpPr/>
          <p:nvPr/>
        </p:nvSpPr>
        <p:spPr>
          <a:xfrm>
            <a:off x="5029200" y="6510528"/>
            <a:ext cx="5029200" cy="274320"/>
          </a:xfrm>
          <a:prstGeom prst="rect">
            <a:avLst/>
          </a:prstGeom>
          <a:noFill/>
          <a:ln/>
        </p:spPr>
        <p:txBody>
          <a:bodyPr wrap="square" lIns="0" tIns="0" rIns="0" bIns="0" rtlCol="0" anchor="ctr"/>
          <a:lstStyle/>
          <a:p>
            <a:pPr marL="0" indent="0" algn="r">
              <a:buNone/>
            </a:pPr>
            <a:r>
              <a:rPr lang="en-US" sz="900" dirty="0">
                <a:solidFill>
                  <a:srgbClr val="4A4A4A"/>
                </a:solidFill>
                <a:latin typeface="Calibri" pitchFamily="34" charset="0"/>
                <a:ea typeface="Calibri" pitchFamily="34" charset="-122"/>
                <a:cs typeface="Calibri" pitchFamily="34" charset="-120"/>
              </a:rPr>
              <a:t>Ch.7 • Stallings, Computer Organization &amp; Architecture</a:t>
            </a:r>
            <a:endParaRPr lang="en-US" sz="900" dirty="0"/>
          </a:p>
        </p:txBody>
      </p:sp>
      <p:sp>
        <p:nvSpPr>
          <p:cNvPr id="51" name="Text 44"/>
          <p:cNvSpPr/>
          <p:nvPr/>
        </p:nvSpPr>
        <p:spPr>
          <a:xfrm>
            <a:off x="11475720" y="6510528"/>
            <a:ext cx="548640" cy="274320"/>
          </a:xfrm>
          <a:prstGeom prst="rect">
            <a:avLst/>
          </a:prstGeom>
          <a:noFill/>
          <a:ln/>
        </p:spPr>
        <p:txBody>
          <a:bodyPr wrap="square" lIns="0" tIns="0" rIns="0" bIns="0" rtlCol="0" anchor="ctr"/>
          <a:lstStyle/>
          <a:p>
            <a:pPr marL="0" indent="0" algn="r">
              <a:buNone/>
            </a:pPr>
            <a:r>
              <a:rPr lang="en-US" sz="1000" dirty="0">
                <a:solidFill>
                  <a:srgbClr val="4A4A4A"/>
                </a:solidFill>
                <a:latin typeface="Calibri" pitchFamily="34" charset="0"/>
                <a:ea typeface="Calibri" pitchFamily="34" charset="-122"/>
                <a:cs typeface="Calibri" pitchFamily="34" charset="-120"/>
              </a:rPr>
              <a:t>3/30</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8E1"/>
        </a:solidFill>
        <a:effectLst/>
      </p:bgPr>
    </p:bg>
    <p:spTree>
      <p:nvGrpSpPr>
        <p:cNvPr id="1" name=""/>
        <p:cNvGrpSpPr/>
        <p:nvPr/>
      </p:nvGrpSpPr>
      <p:grpSpPr>
        <a:xfrm>
          <a:off x="0" y="0"/>
          <a:ext cx="0" cy="0"/>
          <a:chOff x="0" y="0"/>
          <a:chExt cx="0" cy="0"/>
        </a:xfrm>
      </p:grpSpPr>
      <p:sp>
        <p:nvSpPr>
          <p:cNvPr id="2" name="Shape 0"/>
          <p:cNvSpPr/>
          <p:nvPr/>
        </p:nvSpPr>
        <p:spPr>
          <a:xfrm>
            <a:off x="1234440" y="1417320"/>
            <a:ext cx="10607040" cy="0"/>
          </a:xfrm>
          <a:prstGeom prst="line">
            <a:avLst/>
          </a:prstGeom>
          <a:noFill/>
          <a:ln w="12700">
            <a:solidFill>
              <a:srgbClr val="E9DFC4"/>
            </a:solidFill>
            <a:prstDash val="solid"/>
          </a:ln>
        </p:spPr>
      </p:sp>
      <p:sp>
        <p:nvSpPr>
          <p:cNvPr id="3" name="Shape 1"/>
          <p:cNvSpPr/>
          <p:nvPr/>
        </p:nvSpPr>
        <p:spPr>
          <a:xfrm>
            <a:off x="1234440" y="1801368"/>
            <a:ext cx="10607040" cy="0"/>
          </a:xfrm>
          <a:prstGeom prst="line">
            <a:avLst/>
          </a:prstGeom>
          <a:noFill/>
          <a:ln w="12700">
            <a:solidFill>
              <a:srgbClr val="E9DFC4"/>
            </a:solidFill>
            <a:prstDash val="solid"/>
          </a:ln>
        </p:spPr>
      </p:sp>
      <p:sp>
        <p:nvSpPr>
          <p:cNvPr id="4" name="Shape 2"/>
          <p:cNvSpPr/>
          <p:nvPr/>
        </p:nvSpPr>
        <p:spPr>
          <a:xfrm>
            <a:off x="1234440" y="2185416"/>
            <a:ext cx="10607040" cy="0"/>
          </a:xfrm>
          <a:prstGeom prst="line">
            <a:avLst/>
          </a:prstGeom>
          <a:noFill/>
          <a:ln w="12700">
            <a:solidFill>
              <a:srgbClr val="E9DFC4"/>
            </a:solidFill>
            <a:prstDash val="solid"/>
          </a:ln>
        </p:spPr>
      </p:sp>
      <p:sp>
        <p:nvSpPr>
          <p:cNvPr id="5" name="Shape 3"/>
          <p:cNvSpPr/>
          <p:nvPr/>
        </p:nvSpPr>
        <p:spPr>
          <a:xfrm>
            <a:off x="1234440" y="2569464"/>
            <a:ext cx="10607040" cy="0"/>
          </a:xfrm>
          <a:prstGeom prst="line">
            <a:avLst/>
          </a:prstGeom>
          <a:noFill/>
          <a:ln w="12700">
            <a:solidFill>
              <a:srgbClr val="E9DFC4"/>
            </a:solidFill>
            <a:prstDash val="solid"/>
          </a:ln>
        </p:spPr>
      </p:sp>
      <p:sp>
        <p:nvSpPr>
          <p:cNvPr id="6" name="Shape 4"/>
          <p:cNvSpPr/>
          <p:nvPr/>
        </p:nvSpPr>
        <p:spPr>
          <a:xfrm>
            <a:off x="1234440" y="2953512"/>
            <a:ext cx="10607040" cy="0"/>
          </a:xfrm>
          <a:prstGeom prst="line">
            <a:avLst/>
          </a:prstGeom>
          <a:noFill/>
          <a:ln w="12700">
            <a:solidFill>
              <a:srgbClr val="E9DFC4"/>
            </a:solidFill>
            <a:prstDash val="solid"/>
          </a:ln>
        </p:spPr>
      </p:sp>
      <p:sp>
        <p:nvSpPr>
          <p:cNvPr id="7" name="Shape 5"/>
          <p:cNvSpPr/>
          <p:nvPr/>
        </p:nvSpPr>
        <p:spPr>
          <a:xfrm>
            <a:off x="1234440" y="3337560"/>
            <a:ext cx="10607040" cy="0"/>
          </a:xfrm>
          <a:prstGeom prst="line">
            <a:avLst/>
          </a:prstGeom>
          <a:noFill/>
          <a:ln w="12700">
            <a:solidFill>
              <a:srgbClr val="E9DFC4"/>
            </a:solidFill>
            <a:prstDash val="solid"/>
          </a:ln>
        </p:spPr>
      </p:sp>
      <p:sp>
        <p:nvSpPr>
          <p:cNvPr id="8" name="Shape 6"/>
          <p:cNvSpPr/>
          <p:nvPr/>
        </p:nvSpPr>
        <p:spPr>
          <a:xfrm>
            <a:off x="1234440" y="3721608"/>
            <a:ext cx="10607040" cy="0"/>
          </a:xfrm>
          <a:prstGeom prst="line">
            <a:avLst/>
          </a:prstGeom>
          <a:noFill/>
          <a:ln w="12700">
            <a:solidFill>
              <a:srgbClr val="E9DFC4"/>
            </a:solidFill>
            <a:prstDash val="solid"/>
          </a:ln>
        </p:spPr>
      </p:sp>
      <p:sp>
        <p:nvSpPr>
          <p:cNvPr id="9" name="Shape 7"/>
          <p:cNvSpPr/>
          <p:nvPr/>
        </p:nvSpPr>
        <p:spPr>
          <a:xfrm>
            <a:off x="1234440" y="4105656"/>
            <a:ext cx="10607040" cy="0"/>
          </a:xfrm>
          <a:prstGeom prst="line">
            <a:avLst/>
          </a:prstGeom>
          <a:noFill/>
          <a:ln w="12700">
            <a:solidFill>
              <a:srgbClr val="E9DFC4"/>
            </a:solidFill>
            <a:prstDash val="solid"/>
          </a:ln>
        </p:spPr>
      </p:sp>
      <p:sp>
        <p:nvSpPr>
          <p:cNvPr id="10" name="Shape 8"/>
          <p:cNvSpPr/>
          <p:nvPr/>
        </p:nvSpPr>
        <p:spPr>
          <a:xfrm>
            <a:off x="1234440" y="4489704"/>
            <a:ext cx="10607040" cy="0"/>
          </a:xfrm>
          <a:prstGeom prst="line">
            <a:avLst/>
          </a:prstGeom>
          <a:noFill/>
          <a:ln w="12700">
            <a:solidFill>
              <a:srgbClr val="E9DFC4"/>
            </a:solidFill>
            <a:prstDash val="solid"/>
          </a:ln>
        </p:spPr>
      </p:sp>
      <p:sp>
        <p:nvSpPr>
          <p:cNvPr id="11" name="Shape 9"/>
          <p:cNvSpPr/>
          <p:nvPr/>
        </p:nvSpPr>
        <p:spPr>
          <a:xfrm>
            <a:off x="1234440" y="4873752"/>
            <a:ext cx="10607040" cy="0"/>
          </a:xfrm>
          <a:prstGeom prst="line">
            <a:avLst/>
          </a:prstGeom>
          <a:noFill/>
          <a:ln w="12700">
            <a:solidFill>
              <a:srgbClr val="E9DFC4"/>
            </a:solidFill>
            <a:prstDash val="solid"/>
          </a:ln>
        </p:spPr>
      </p:sp>
      <p:sp>
        <p:nvSpPr>
          <p:cNvPr id="12" name="Shape 10"/>
          <p:cNvSpPr/>
          <p:nvPr/>
        </p:nvSpPr>
        <p:spPr>
          <a:xfrm>
            <a:off x="1234440" y="5257800"/>
            <a:ext cx="10607040" cy="0"/>
          </a:xfrm>
          <a:prstGeom prst="line">
            <a:avLst/>
          </a:prstGeom>
          <a:noFill/>
          <a:ln w="12700">
            <a:solidFill>
              <a:srgbClr val="E9DFC4"/>
            </a:solidFill>
            <a:prstDash val="solid"/>
          </a:ln>
        </p:spPr>
      </p:sp>
      <p:sp>
        <p:nvSpPr>
          <p:cNvPr id="13" name="Shape 11"/>
          <p:cNvSpPr/>
          <p:nvPr/>
        </p:nvSpPr>
        <p:spPr>
          <a:xfrm>
            <a:off x="1234440" y="5641848"/>
            <a:ext cx="10607040" cy="0"/>
          </a:xfrm>
          <a:prstGeom prst="line">
            <a:avLst/>
          </a:prstGeom>
          <a:noFill/>
          <a:ln w="12700">
            <a:solidFill>
              <a:srgbClr val="E9DFC4"/>
            </a:solidFill>
            <a:prstDash val="solid"/>
          </a:ln>
        </p:spPr>
      </p:sp>
      <p:sp>
        <p:nvSpPr>
          <p:cNvPr id="14" name="Shape 12"/>
          <p:cNvSpPr/>
          <p:nvPr/>
        </p:nvSpPr>
        <p:spPr>
          <a:xfrm>
            <a:off x="1234440" y="6025896"/>
            <a:ext cx="10607040" cy="0"/>
          </a:xfrm>
          <a:prstGeom prst="line">
            <a:avLst/>
          </a:prstGeom>
          <a:noFill/>
          <a:ln w="12700">
            <a:solidFill>
              <a:srgbClr val="E9DFC4"/>
            </a:solidFill>
            <a:prstDash val="solid"/>
          </a:ln>
        </p:spPr>
      </p:sp>
      <p:sp>
        <p:nvSpPr>
          <p:cNvPr id="15" name="Shape 13"/>
          <p:cNvSpPr/>
          <p:nvPr/>
        </p:nvSpPr>
        <p:spPr>
          <a:xfrm>
            <a:off x="1234440" y="6409944"/>
            <a:ext cx="10607040" cy="0"/>
          </a:xfrm>
          <a:prstGeom prst="line">
            <a:avLst/>
          </a:prstGeom>
          <a:noFill/>
          <a:ln w="12700">
            <a:solidFill>
              <a:srgbClr val="E9DFC4"/>
            </a:solidFill>
            <a:prstDash val="solid"/>
          </a:ln>
        </p:spPr>
      </p:sp>
      <p:sp>
        <p:nvSpPr>
          <p:cNvPr id="16" name="Shape 14"/>
          <p:cNvSpPr/>
          <p:nvPr/>
        </p:nvSpPr>
        <p:spPr>
          <a:xfrm>
            <a:off x="1051560" y="320040"/>
            <a:ext cx="0" cy="6309360"/>
          </a:xfrm>
          <a:prstGeom prst="line">
            <a:avLst/>
          </a:prstGeom>
          <a:noFill/>
          <a:ln w="15875">
            <a:solidFill>
              <a:srgbClr val="C0392B"/>
            </a:solidFill>
            <a:prstDash val="solid"/>
          </a:ln>
        </p:spPr>
      </p:sp>
      <p:sp>
        <p:nvSpPr>
          <p:cNvPr id="17" name="Text 15"/>
          <p:cNvSpPr/>
          <p:nvPr/>
        </p:nvSpPr>
        <p:spPr>
          <a:xfrm>
            <a:off x="1280160" y="310896"/>
            <a:ext cx="2743200" cy="320040"/>
          </a:xfrm>
          <a:prstGeom prst="rect">
            <a:avLst/>
          </a:prstGeom>
          <a:noFill/>
          <a:ln/>
        </p:spPr>
        <p:txBody>
          <a:bodyPr wrap="square" lIns="0" tIns="0" rIns="0" bIns="0" rtlCol="0" anchor="ctr"/>
          <a:lstStyle/>
          <a:p>
            <a:pPr marL="0" indent="0">
              <a:buNone/>
            </a:pPr>
            <a:r>
              <a:rPr lang="en-US" sz="1300" b="1" dirty="0">
                <a:solidFill>
                  <a:srgbClr val="C0392B"/>
                </a:solidFill>
                <a:latin typeface="Calibri" pitchFamily="34" charset="0"/>
                <a:ea typeface="Calibri" pitchFamily="34" charset="-122"/>
                <a:cs typeface="Calibri" pitchFamily="34" charset="-120"/>
              </a:rPr>
              <a:t>Topic 1.1</a:t>
            </a:r>
            <a:endParaRPr lang="en-US" sz="1300" dirty="0"/>
          </a:p>
        </p:txBody>
      </p:sp>
      <p:sp>
        <p:nvSpPr>
          <p:cNvPr id="18" name="Text 16"/>
          <p:cNvSpPr/>
          <p:nvPr/>
        </p:nvSpPr>
        <p:spPr>
          <a:xfrm>
            <a:off x="1234440" y="566928"/>
            <a:ext cx="8138160" cy="777240"/>
          </a:xfrm>
          <a:prstGeom prst="rect">
            <a:avLst/>
          </a:prstGeom>
          <a:noFill/>
          <a:ln/>
        </p:spPr>
        <p:txBody>
          <a:bodyPr wrap="square" lIns="0" tIns="0" rIns="0" bIns="0" rtlCol="0" anchor="t"/>
          <a:lstStyle/>
          <a:p>
            <a:pPr marL="0" indent="0">
              <a:buNone/>
            </a:pPr>
            <a:r>
              <a:rPr lang="en-US" sz="3000" b="1" dirty="0">
                <a:solidFill>
                  <a:srgbClr val="1B3A6B"/>
                </a:solidFill>
                <a:latin typeface="Comic Sans MS" pitchFamily="34" charset="0"/>
                <a:ea typeface="Comic Sans MS" pitchFamily="34" charset="-122"/>
                <a:cs typeface="Comic Sans MS" pitchFamily="34" charset="-120"/>
              </a:rPr>
              <a:t>External Devices</a:t>
            </a:r>
            <a:endParaRPr lang="en-US" sz="3000" dirty="0"/>
          </a:p>
        </p:txBody>
      </p:sp>
      <p:sp>
        <p:nvSpPr>
          <p:cNvPr id="19" name="Shape 17"/>
          <p:cNvSpPr/>
          <p:nvPr/>
        </p:nvSpPr>
        <p:spPr>
          <a:xfrm>
            <a:off x="9646920" y="384048"/>
            <a:ext cx="1965960" cy="384048"/>
          </a:xfrm>
          <a:prstGeom prst="roundRect">
            <a:avLst>
              <a:gd name="adj" fmla="val 19048"/>
            </a:avLst>
          </a:prstGeom>
          <a:solidFill>
            <a:srgbClr val="C0392B"/>
          </a:solidFill>
          <a:ln/>
        </p:spPr>
      </p:sp>
      <p:sp>
        <p:nvSpPr>
          <p:cNvPr id="20" name="Text 18"/>
          <p:cNvSpPr/>
          <p:nvPr/>
        </p:nvSpPr>
        <p:spPr>
          <a:xfrm>
            <a:off x="9646920" y="384048"/>
            <a:ext cx="196596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EXAMPLE</a:t>
            </a:r>
            <a:endParaRPr lang="en-US" sz="1200" dirty="0"/>
          </a:p>
        </p:txBody>
      </p:sp>
      <p:sp>
        <p:nvSpPr>
          <p:cNvPr id="21" name="Shape 19"/>
          <p:cNvSpPr/>
          <p:nvPr/>
        </p:nvSpPr>
        <p:spPr>
          <a:xfrm>
            <a:off x="8732520" y="502920"/>
            <a:ext cx="1051560" cy="1051560"/>
          </a:xfrm>
          <a:prstGeom prst="ellipse">
            <a:avLst/>
          </a:prstGeom>
          <a:solidFill>
            <a:srgbClr val="DCE6F5"/>
          </a:solidFill>
          <a:ln/>
          <a:effectLst>
            <a:outerShdw blurRad="50800" dist="25400" dir="5400000" algn="bl" rotWithShape="0">
              <a:srgbClr val="999999">
                <a:alpha val="25000"/>
              </a:srgbClr>
            </a:outerShdw>
          </a:effectLst>
        </p:spPr>
      </p:sp>
      <p:pic>
        <p:nvPicPr>
          <p:cNvPr id="22" name="Image 0" descr="/home/claude/iobook/icons/keyboard.png"/>
          <p:cNvPicPr>
            <a:picLocks noChangeAspect="1"/>
          </p:cNvPicPr>
          <p:nvPr/>
        </p:nvPicPr>
        <p:blipFill>
          <a:blip r:embed="rId3"/>
          <a:stretch>
            <a:fillRect/>
          </a:stretch>
        </p:blipFill>
        <p:spPr>
          <a:xfrm>
            <a:off x="8963863" y="734263"/>
            <a:ext cx="588874" cy="588874"/>
          </a:xfrm>
          <a:prstGeom prst="rect">
            <a:avLst/>
          </a:prstGeom>
        </p:spPr>
      </p:pic>
      <p:sp>
        <p:nvSpPr>
          <p:cNvPr id="23" name="Shape 20"/>
          <p:cNvSpPr/>
          <p:nvPr/>
        </p:nvSpPr>
        <p:spPr>
          <a:xfrm>
            <a:off x="1280160" y="1691640"/>
            <a:ext cx="6126480" cy="2834640"/>
          </a:xfrm>
          <a:prstGeom prst="roundRect">
            <a:avLst>
              <a:gd name="adj" fmla="val 3226"/>
            </a:avLst>
          </a:prstGeom>
          <a:solidFill>
            <a:srgbClr val="FFFFFF"/>
          </a:solidFill>
          <a:ln w="12700">
            <a:solidFill>
              <a:srgbClr val="1B3A6B"/>
            </a:solidFill>
            <a:prstDash val="solid"/>
          </a:ln>
          <a:effectLst>
            <a:outerShdw blurRad="38100" dist="25400" dir="5400000" algn="bl" rotWithShape="0">
              <a:srgbClr val="999999">
                <a:alpha val="20000"/>
              </a:srgbClr>
            </a:outerShdw>
          </a:effectLst>
        </p:spPr>
      </p:sp>
      <p:sp>
        <p:nvSpPr>
          <p:cNvPr id="24" name="Text 21"/>
          <p:cNvSpPr/>
          <p:nvPr/>
        </p:nvSpPr>
        <p:spPr>
          <a:xfrm>
            <a:off x="1508760" y="1828800"/>
            <a:ext cx="5669280" cy="320040"/>
          </a:xfrm>
          <a:prstGeom prst="rect">
            <a:avLst/>
          </a:prstGeom>
          <a:noFill/>
          <a:ln/>
        </p:spPr>
        <p:txBody>
          <a:bodyPr wrap="square" lIns="0" tIns="0" rIns="0" bIns="0" rtlCol="0" anchor="ctr"/>
          <a:lstStyle/>
          <a:p>
            <a:pPr marL="0" indent="0">
              <a:buNone/>
            </a:pPr>
            <a:r>
              <a:rPr lang="en-US" sz="1300" b="1" dirty="0">
                <a:solidFill>
                  <a:srgbClr val="C0392B"/>
                </a:solidFill>
                <a:latin typeface="Calibri" pitchFamily="34" charset="0"/>
                <a:ea typeface="Calibri" pitchFamily="34" charset="-122"/>
                <a:cs typeface="Calibri" pitchFamily="34" charset="-120"/>
              </a:rPr>
              <a:t>REAL-LIFE EXAMPLE</a:t>
            </a:r>
            <a:endParaRPr lang="en-US" sz="1300" dirty="0"/>
          </a:p>
        </p:txBody>
      </p:sp>
      <p:sp>
        <p:nvSpPr>
          <p:cNvPr id="25" name="Text 22"/>
          <p:cNvSpPr/>
          <p:nvPr/>
        </p:nvSpPr>
        <p:spPr>
          <a:xfrm>
            <a:off x="1508760" y="2194560"/>
            <a:ext cx="5669280" cy="2194560"/>
          </a:xfrm>
          <a:prstGeom prst="rect">
            <a:avLst/>
          </a:prstGeom>
          <a:noFill/>
          <a:ln/>
        </p:spPr>
        <p:txBody>
          <a:bodyPr wrap="square" lIns="0" tIns="0" rIns="0" bIns="0" rtlCol="0" anchor="t"/>
          <a:lstStyle/>
          <a:p>
            <a:pPr marL="0" indent="0">
              <a:buNone/>
            </a:pPr>
            <a:r>
              <a:rPr lang="en-US" sz="1450" dirty="0">
                <a:solidFill>
                  <a:srgbClr val="1B3A6B"/>
                </a:solidFill>
                <a:latin typeface="Calibri" pitchFamily="34" charset="0"/>
                <a:ea typeface="Calibri" pitchFamily="34" charset="-122"/>
                <a:cs typeface="Calibri" pitchFamily="34" charset="-120"/>
              </a:rPr>
              <a:t>Your USB mouse is an external device. When you move it, it sends tiny electrical signals to the computer telling it how far, and in which direction, to move the cursor on screen.</a:t>
            </a:r>
            <a:endParaRPr lang="en-US" sz="1450" dirty="0"/>
          </a:p>
        </p:txBody>
      </p:sp>
      <p:sp>
        <p:nvSpPr>
          <p:cNvPr id="26" name="Shape 23"/>
          <p:cNvSpPr/>
          <p:nvPr/>
        </p:nvSpPr>
        <p:spPr>
          <a:xfrm>
            <a:off x="7635240" y="1691640"/>
            <a:ext cx="3383280" cy="2834640"/>
          </a:xfrm>
          <a:prstGeom prst="roundRect">
            <a:avLst>
              <a:gd name="adj" fmla="val 3226"/>
            </a:avLst>
          </a:prstGeom>
          <a:solidFill>
            <a:srgbClr val="C0392B"/>
          </a:solidFill>
          <a:ln/>
          <a:effectLst>
            <a:outerShdw blurRad="50800" dist="25400" dir="5400000" algn="bl" rotWithShape="0">
              <a:srgbClr val="000000">
                <a:alpha val="25000"/>
              </a:srgbClr>
            </a:outerShdw>
          </a:effectLst>
        </p:spPr>
      </p:sp>
      <p:pic>
        <p:nvPicPr>
          <p:cNvPr id="27" name="Image 1" descr="/home/claude/iobook/icons/check.png"/>
          <p:cNvPicPr>
            <a:picLocks noChangeAspect="1"/>
          </p:cNvPicPr>
          <p:nvPr/>
        </p:nvPicPr>
        <p:blipFill>
          <a:blip r:embed="rId4"/>
          <a:stretch>
            <a:fillRect/>
          </a:stretch>
        </p:blipFill>
        <p:spPr>
          <a:xfrm>
            <a:off x="7863840" y="1874520"/>
            <a:ext cx="457200" cy="457200"/>
          </a:xfrm>
          <a:prstGeom prst="rect">
            <a:avLst/>
          </a:prstGeom>
        </p:spPr>
      </p:pic>
      <p:sp>
        <p:nvSpPr>
          <p:cNvPr id="28" name="Text 24"/>
          <p:cNvSpPr/>
          <p:nvPr/>
        </p:nvSpPr>
        <p:spPr>
          <a:xfrm>
            <a:off x="8412480" y="1920240"/>
            <a:ext cx="2514600" cy="32004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KEY TAKEAWAY</a:t>
            </a:r>
            <a:endParaRPr lang="en-US" sz="1250" dirty="0"/>
          </a:p>
        </p:txBody>
      </p:sp>
      <p:sp>
        <p:nvSpPr>
          <p:cNvPr id="29" name="Text 25"/>
          <p:cNvSpPr/>
          <p:nvPr/>
        </p:nvSpPr>
        <p:spPr>
          <a:xfrm>
            <a:off x="7863840" y="2423160"/>
            <a:ext cx="3017520" cy="1965960"/>
          </a:xfrm>
          <a:prstGeom prst="rect">
            <a:avLst/>
          </a:prstGeom>
          <a:noFill/>
          <a:ln/>
        </p:spPr>
        <p:txBody>
          <a:bodyPr wrap="square" lIns="0" tIns="0" rIns="0" bIns="0" rtlCol="0" anchor="t"/>
          <a:lstStyle/>
          <a:p>
            <a:pPr marL="0" indent="0">
              <a:buNone/>
            </a:pPr>
            <a:r>
              <a:rPr lang="en-US" sz="1300" dirty="0">
                <a:solidFill>
                  <a:srgbClr val="FFFFFF"/>
                </a:solidFill>
                <a:latin typeface="Calibri" pitchFamily="34" charset="0"/>
                <a:ea typeface="Calibri" pitchFamily="34" charset="-122"/>
                <a:cs typeface="Calibri" pitchFamily="34" charset="-120"/>
              </a:rPr>
              <a:t>External devices are the computer's eyes, ears, hands, and voice — its only way to sense and affect the real world.</a:t>
            </a:r>
            <a:endParaRPr lang="en-US" sz="1300" dirty="0"/>
          </a:p>
        </p:txBody>
      </p:sp>
      <p:sp>
        <p:nvSpPr>
          <p:cNvPr id="30" name="Shape 26"/>
          <p:cNvSpPr/>
          <p:nvPr/>
        </p:nvSpPr>
        <p:spPr>
          <a:xfrm>
            <a:off x="1280160" y="4709160"/>
            <a:ext cx="9738360" cy="685800"/>
          </a:xfrm>
          <a:prstGeom prst="roundRect">
            <a:avLst>
              <a:gd name="adj" fmla="val 10667"/>
            </a:avLst>
          </a:prstGeom>
          <a:solidFill>
            <a:srgbClr val="FFE082">
              <a:alpha val="60000"/>
            </a:srgbClr>
          </a:solidFill>
          <a:ln w="9525">
            <a:solidFill>
              <a:srgbClr val="1B3A6B"/>
            </a:solidFill>
            <a:prstDash val="dash"/>
          </a:ln>
        </p:spPr>
      </p:sp>
      <p:sp>
        <p:nvSpPr>
          <p:cNvPr id="31" name="Text 27"/>
          <p:cNvSpPr/>
          <p:nvPr/>
        </p:nvSpPr>
        <p:spPr>
          <a:xfrm>
            <a:off x="1463040" y="4709160"/>
            <a:ext cx="9372600" cy="685800"/>
          </a:xfrm>
          <a:prstGeom prst="rect">
            <a:avLst/>
          </a:prstGeom>
          <a:noFill/>
          <a:ln/>
        </p:spPr>
        <p:txBody>
          <a:bodyPr wrap="square" lIns="0" tIns="0" rIns="0" bIns="0" rtlCol="0" anchor="ctr"/>
          <a:lstStyle/>
          <a:p>
            <a:pPr marL="0" indent="0">
              <a:buNone/>
            </a:pPr>
            <a:r>
              <a:rPr lang="en-US" sz="1300" b="1" dirty="0">
                <a:solidFill>
                  <a:srgbClr val="C0392B"/>
                </a:solidFill>
                <a:latin typeface="Calibri" pitchFamily="34" charset="0"/>
                <a:ea typeface="Calibri" pitchFamily="34" charset="-122"/>
                <a:cs typeface="Calibri" pitchFamily="34" charset="-120"/>
              </a:rPr>
              <a:t>Remember: </a:t>
            </a:r>
            <a:r>
              <a:rPr lang="en-US" sz="1300" dirty="0">
                <a:solidFill>
                  <a:srgbClr val="1B3A6B"/>
                </a:solidFill>
                <a:latin typeface="Calibri" pitchFamily="34" charset="0"/>
                <a:ea typeface="Calibri" pitchFamily="34" charset="-122"/>
                <a:cs typeface="Calibri" pitchFamily="34" charset="-120"/>
              </a:rPr>
              <a:t>external devices = hardware outside CPU/memory used for input and/or output.</a:t>
            </a:r>
            <a:endParaRPr lang="en-US" sz="1300" dirty="0"/>
          </a:p>
        </p:txBody>
      </p:sp>
      <p:sp>
        <p:nvSpPr>
          <p:cNvPr id="32" name="Text 28"/>
          <p:cNvSpPr/>
          <p:nvPr/>
        </p:nvSpPr>
        <p:spPr>
          <a:xfrm>
            <a:off x="320040" y="6510528"/>
            <a:ext cx="5486400" cy="274320"/>
          </a:xfrm>
          <a:prstGeom prst="rect">
            <a:avLst/>
          </a:prstGeom>
          <a:noFill/>
          <a:ln/>
        </p:spPr>
        <p:txBody>
          <a:bodyPr wrap="square" lIns="0" tIns="0" rIns="0" bIns="0" rtlCol="0" anchor="ctr"/>
          <a:lstStyle/>
          <a:p>
            <a:pPr marL="0" indent="0">
              <a:buNone/>
            </a:pPr>
            <a:r>
              <a:rPr lang="en-US" sz="1000" i="1" dirty="0">
                <a:solidFill>
                  <a:srgbClr val="4A4A4A"/>
                </a:solidFill>
                <a:latin typeface="Calibri" pitchFamily="34" charset="0"/>
                <a:ea typeface="Calibri" pitchFamily="34" charset="-122"/>
                <a:cs typeface="Calibri" pitchFamily="34" charset="-120"/>
              </a:rPr>
              <a:t>External Devices</a:t>
            </a:r>
            <a:endParaRPr lang="en-US" sz="1000" dirty="0"/>
          </a:p>
        </p:txBody>
      </p:sp>
      <p:sp>
        <p:nvSpPr>
          <p:cNvPr id="33" name="Text 29"/>
          <p:cNvSpPr/>
          <p:nvPr/>
        </p:nvSpPr>
        <p:spPr>
          <a:xfrm>
            <a:off x="5029200" y="6510528"/>
            <a:ext cx="5029200" cy="274320"/>
          </a:xfrm>
          <a:prstGeom prst="rect">
            <a:avLst/>
          </a:prstGeom>
          <a:noFill/>
          <a:ln/>
        </p:spPr>
        <p:txBody>
          <a:bodyPr wrap="square" lIns="0" tIns="0" rIns="0" bIns="0" rtlCol="0" anchor="ctr"/>
          <a:lstStyle/>
          <a:p>
            <a:pPr marL="0" indent="0" algn="r">
              <a:buNone/>
            </a:pPr>
            <a:r>
              <a:rPr lang="en-US" sz="900" dirty="0">
                <a:solidFill>
                  <a:srgbClr val="4A4A4A"/>
                </a:solidFill>
                <a:latin typeface="Calibri" pitchFamily="34" charset="0"/>
                <a:ea typeface="Calibri" pitchFamily="34" charset="-122"/>
                <a:cs typeface="Calibri" pitchFamily="34" charset="-120"/>
              </a:rPr>
              <a:t>Ch.7 • Stallings, Computer Organization &amp; Architecture</a:t>
            </a:r>
            <a:endParaRPr lang="en-US" sz="900" dirty="0"/>
          </a:p>
        </p:txBody>
      </p:sp>
      <p:sp>
        <p:nvSpPr>
          <p:cNvPr id="34" name="Text 30"/>
          <p:cNvSpPr/>
          <p:nvPr/>
        </p:nvSpPr>
        <p:spPr>
          <a:xfrm>
            <a:off x="11475720" y="6510528"/>
            <a:ext cx="548640" cy="274320"/>
          </a:xfrm>
          <a:prstGeom prst="rect">
            <a:avLst/>
          </a:prstGeom>
          <a:noFill/>
          <a:ln/>
        </p:spPr>
        <p:txBody>
          <a:bodyPr wrap="square" lIns="0" tIns="0" rIns="0" bIns="0" rtlCol="0" anchor="ctr"/>
          <a:lstStyle/>
          <a:p>
            <a:pPr marL="0" indent="0" algn="r">
              <a:buNone/>
            </a:pPr>
            <a:r>
              <a:rPr lang="en-US" sz="1000" dirty="0">
                <a:solidFill>
                  <a:srgbClr val="4A4A4A"/>
                </a:solidFill>
                <a:latin typeface="Calibri" pitchFamily="34" charset="0"/>
                <a:ea typeface="Calibri" pitchFamily="34" charset="-122"/>
                <a:cs typeface="Calibri" pitchFamily="34" charset="-120"/>
              </a:rPr>
              <a:t>4/30</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8E1"/>
        </a:solidFill>
        <a:effectLst/>
      </p:bgPr>
    </p:bg>
    <p:spTree>
      <p:nvGrpSpPr>
        <p:cNvPr id="1" name=""/>
        <p:cNvGrpSpPr/>
        <p:nvPr/>
      </p:nvGrpSpPr>
      <p:grpSpPr>
        <a:xfrm>
          <a:off x="0" y="0"/>
          <a:ext cx="0" cy="0"/>
          <a:chOff x="0" y="0"/>
          <a:chExt cx="0" cy="0"/>
        </a:xfrm>
      </p:grpSpPr>
      <p:sp>
        <p:nvSpPr>
          <p:cNvPr id="2" name="Shape 0"/>
          <p:cNvSpPr/>
          <p:nvPr/>
        </p:nvSpPr>
        <p:spPr>
          <a:xfrm>
            <a:off x="1234440" y="1417320"/>
            <a:ext cx="10607040" cy="0"/>
          </a:xfrm>
          <a:prstGeom prst="line">
            <a:avLst/>
          </a:prstGeom>
          <a:noFill/>
          <a:ln w="12700">
            <a:solidFill>
              <a:srgbClr val="E9DFC4"/>
            </a:solidFill>
            <a:prstDash val="solid"/>
          </a:ln>
        </p:spPr>
      </p:sp>
      <p:sp>
        <p:nvSpPr>
          <p:cNvPr id="3" name="Shape 1"/>
          <p:cNvSpPr/>
          <p:nvPr/>
        </p:nvSpPr>
        <p:spPr>
          <a:xfrm>
            <a:off x="1234440" y="1801368"/>
            <a:ext cx="10607040" cy="0"/>
          </a:xfrm>
          <a:prstGeom prst="line">
            <a:avLst/>
          </a:prstGeom>
          <a:noFill/>
          <a:ln w="12700">
            <a:solidFill>
              <a:srgbClr val="E9DFC4"/>
            </a:solidFill>
            <a:prstDash val="solid"/>
          </a:ln>
        </p:spPr>
      </p:sp>
      <p:sp>
        <p:nvSpPr>
          <p:cNvPr id="4" name="Shape 2"/>
          <p:cNvSpPr/>
          <p:nvPr/>
        </p:nvSpPr>
        <p:spPr>
          <a:xfrm>
            <a:off x="1234440" y="2185416"/>
            <a:ext cx="10607040" cy="0"/>
          </a:xfrm>
          <a:prstGeom prst="line">
            <a:avLst/>
          </a:prstGeom>
          <a:noFill/>
          <a:ln w="12700">
            <a:solidFill>
              <a:srgbClr val="E9DFC4"/>
            </a:solidFill>
            <a:prstDash val="solid"/>
          </a:ln>
        </p:spPr>
      </p:sp>
      <p:sp>
        <p:nvSpPr>
          <p:cNvPr id="5" name="Shape 3"/>
          <p:cNvSpPr/>
          <p:nvPr/>
        </p:nvSpPr>
        <p:spPr>
          <a:xfrm>
            <a:off x="1234440" y="2569464"/>
            <a:ext cx="10607040" cy="0"/>
          </a:xfrm>
          <a:prstGeom prst="line">
            <a:avLst/>
          </a:prstGeom>
          <a:noFill/>
          <a:ln w="12700">
            <a:solidFill>
              <a:srgbClr val="E9DFC4"/>
            </a:solidFill>
            <a:prstDash val="solid"/>
          </a:ln>
        </p:spPr>
      </p:sp>
      <p:sp>
        <p:nvSpPr>
          <p:cNvPr id="6" name="Shape 4"/>
          <p:cNvSpPr/>
          <p:nvPr/>
        </p:nvSpPr>
        <p:spPr>
          <a:xfrm>
            <a:off x="1234440" y="2953512"/>
            <a:ext cx="10607040" cy="0"/>
          </a:xfrm>
          <a:prstGeom prst="line">
            <a:avLst/>
          </a:prstGeom>
          <a:noFill/>
          <a:ln w="12700">
            <a:solidFill>
              <a:srgbClr val="E9DFC4"/>
            </a:solidFill>
            <a:prstDash val="solid"/>
          </a:ln>
        </p:spPr>
      </p:sp>
      <p:sp>
        <p:nvSpPr>
          <p:cNvPr id="7" name="Shape 5"/>
          <p:cNvSpPr/>
          <p:nvPr/>
        </p:nvSpPr>
        <p:spPr>
          <a:xfrm>
            <a:off x="1234440" y="3337560"/>
            <a:ext cx="10607040" cy="0"/>
          </a:xfrm>
          <a:prstGeom prst="line">
            <a:avLst/>
          </a:prstGeom>
          <a:noFill/>
          <a:ln w="12700">
            <a:solidFill>
              <a:srgbClr val="E9DFC4"/>
            </a:solidFill>
            <a:prstDash val="solid"/>
          </a:ln>
        </p:spPr>
      </p:sp>
      <p:sp>
        <p:nvSpPr>
          <p:cNvPr id="8" name="Shape 6"/>
          <p:cNvSpPr/>
          <p:nvPr/>
        </p:nvSpPr>
        <p:spPr>
          <a:xfrm>
            <a:off x="1234440" y="3721608"/>
            <a:ext cx="10607040" cy="0"/>
          </a:xfrm>
          <a:prstGeom prst="line">
            <a:avLst/>
          </a:prstGeom>
          <a:noFill/>
          <a:ln w="12700">
            <a:solidFill>
              <a:srgbClr val="E9DFC4"/>
            </a:solidFill>
            <a:prstDash val="solid"/>
          </a:ln>
        </p:spPr>
      </p:sp>
      <p:sp>
        <p:nvSpPr>
          <p:cNvPr id="9" name="Shape 7"/>
          <p:cNvSpPr/>
          <p:nvPr/>
        </p:nvSpPr>
        <p:spPr>
          <a:xfrm>
            <a:off x="1234440" y="4105656"/>
            <a:ext cx="10607040" cy="0"/>
          </a:xfrm>
          <a:prstGeom prst="line">
            <a:avLst/>
          </a:prstGeom>
          <a:noFill/>
          <a:ln w="12700">
            <a:solidFill>
              <a:srgbClr val="E9DFC4"/>
            </a:solidFill>
            <a:prstDash val="solid"/>
          </a:ln>
        </p:spPr>
      </p:sp>
      <p:sp>
        <p:nvSpPr>
          <p:cNvPr id="10" name="Shape 8"/>
          <p:cNvSpPr/>
          <p:nvPr/>
        </p:nvSpPr>
        <p:spPr>
          <a:xfrm>
            <a:off x="1234440" y="4489704"/>
            <a:ext cx="10607040" cy="0"/>
          </a:xfrm>
          <a:prstGeom prst="line">
            <a:avLst/>
          </a:prstGeom>
          <a:noFill/>
          <a:ln w="12700">
            <a:solidFill>
              <a:srgbClr val="E9DFC4"/>
            </a:solidFill>
            <a:prstDash val="solid"/>
          </a:ln>
        </p:spPr>
      </p:sp>
      <p:sp>
        <p:nvSpPr>
          <p:cNvPr id="11" name="Shape 9"/>
          <p:cNvSpPr/>
          <p:nvPr/>
        </p:nvSpPr>
        <p:spPr>
          <a:xfrm>
            <a:off x="1234440" y="4873752"/>
            <a:ext cx="10607040" cy="0"/>
          </a:xfrm>
          <a:prstGeom prst="line">
            <a:avLst/>
          </a:prstGeom>
          <a:noFill/>
          <a:ln w="12700">
            <a:solidFill>
              <a:srgbClr val="E9DFC4"/>
            </a:solidFill>
            <a:prstDash val="solid"/>
          </a:ln>
        </p:spPr>
      </p:sp>
      <p:sp>
        <p:nvSpPr>
          <p:cNvPr id="12" name="Shape 10"/>
          <p:cNvSpPr/>
          <p:nvPr/>
        </p:nvSpPr>
        <p:spPr>
          <a:xfrm>
            <a:off x="1234440" y="5257800"/>
            <a:ext cx="10607040" cy="0"/>
          </a:xfrm>
          <a:prstGeom prst="line">
            <a:avLst/>
          </a:prstGeom>
          <a:noFill/>
          <a:ln w="12700">
            <a:solidFill>
              <a:srgbClr val="E9DFC4"/>
            </a:solidFill>
            <a:prstDash val="solid"/>
          </a:ln>
        </p:spPr>
      </p:sp>
      <p:sp>
        <p:nvSpPr>
          <p:cNvPr id="13" name="Shape 11"/>
          <p:cNvSpPr/>
          <p:nvPr/>
        </p:nvSpPr>
        <p:spPr>
          <a:xfrm>
            <a:off x="1234440" y="5641848"/>
            <a:ext cx="10607040" cy="0"/>
          </a:xfrm>
          <a:prstGeom prst="line">
            <a:avLst/>
          </a:prstGeom>
          <a:noFill/>
          <a:ln w="12700">
            <a:solidFill>
              <a:srgbClr val="E9DFC4"/>
            </a:solidFill>
            <a:prstDash val="solid"/>
          </a:ln>
        </p:spPr>
      </p:sp>
      <p:sp>
        <p:nvSpPr>
          <p:cNvPr id="14" name="Shape 12"/>
          <p:cNvSpPr/>
          <p:nvPr/>
        </p:nvSpPr>
        <p:spPr>
          <a:xfrm>
            <a:off x="1234440" y="6025896"/>
            <a:ext cx="10607040" cy="0"/>
          </a:xfrm>
          <a:prstGeom prst="line">
            <a:avLst/>
          </a:prstGeom>
          <a:noFill/>
          <a:ln w="12700">
            <a:solidFill>
              <a:srgbClr val="E9DFC4"/>
            </a:solidFill>
            <a:prstDash val="solid"/>
          </a:ln>
        </p:spPr>
      </p:sp>
      <p:sp>
        <p:nvSpPr>
          <p:cNvPr id="15" name="Shape 13"/>
          <p:cNvSpPr/>
          <p:nvPr/>
        </p:nvSpPr>
        <p:spPr>
          <a:xfrm>
            <a:off x="1234440" y="6409944"/>
            <a:ext cx="10607040" cy="0"/>
          </a:xfrm>
          <a:prstGeom prst="line">
            <a:avLst/>
          </a:prstGeom>
          <a:noFill/>
          <a:ln w="12700">
            <a:solidFill>
              <a:srgbClr val="E9DFC4"/>
            </a:solidFill>
            <a:prstDash val="solid"/>
          </a:ln>
        </p:spPr>
      </p:sp>
      <p:sp>
        <p:nvSpPr>
          <p:cNvPr id="16" name="Shape 14"/>
          <p:cNvSpPr/>
          <p:nvPr/>
        </p:nvSpPr>
        <p:spPr>
          <a:xfrm>
            <a:off x="1051560" y="320040"/>
            <a:ext cx="0" cy="6309360"/>
          </a:xfrm>
          <a:prstGeom prst="line">
            <a:avLst/>
          </a:prstGeom>
          <a:noFill/>
          <a:ln w="15875">
            <a:solidFill>
              <a:srgbClr val="C0392B"/>
            </a:solidFill>
            <a:prstDash val="solid"/>
          </a:ln>
        </p:spPr>
      </p:sp>
      <p:sp>
        <p:nvSpPr>
          <p:cNvPr id="17" name="Text 15"/>
          <p:cNvSpPr/>
          <p:nvPr/>
        </p:nvSpPr>
        <p:spPr>
          <a:xfrm>
            <a:off x="1280160" y="310896"/>
            <a:ext cx="2743200" cy="320040"/>
          </a:xfrm>
          <a:prstGeom prst="rect">
            <a:avLst/>
          </a:prstGeom>
          <a:noFill/>
          <a:ln/>
        </p:spPr>
        <p:txBody>
          <a:bodyPr wrap="square" lIns="0" tIns="0" rIns="0" bIns="0" rtlCol="0" anchor="ctr"/>
          <a:lstStyle/>
          <a:p>
            <a:pPr marL="0" indent="0">
              <a:buNone/>
            </a:pPr>
            <a:r>
              <a:rPr lang="en-US" sz="1300" b="1" dirty="0">
                <a:solidFill>
                  <a:srgbClr val="C0392B"/>
                </a:solidFill>
                <a:latin typeface="Calibri" pitchFamily="34" charset="0"/>
                <a:ea typeface="Calibri" pitchFamily="34" charset="-122"/>
                <a:cs typeface="Calibri" pitchFamily="34" charset="-120"/>
              </a:rPr>
              <a:t>Topic 1.2</a:t>
            </a:r>
            <a:endParaRPr lang="en-US" sz="1300" dirty="0"/>
          </a:p>
        </p:txBody>
      </p:sp>
      <p:sp>
        <p:nvSpPr>
          <p:cNvPr id="18" name="Text 16"/>
          <p:cNvSpPr/>
          <p:nvPr/>
        </p:nvSpPr>
        <p:spPr>
          <a:xfrm>
            <a:off x="1234440" y="566928"/>
            <a:ext cx="8138160" cy="777240"/>
          </a:xfrm>
          <a:prstGeom prst="rect">
            <a:avLst/>
          </a:prstGeom>
          <a:noFill/>
          <a:ln/>
        </p:spPr>
        <p:txBody>
          <a:bodyPr wrap="square" lIns="0" tIns="0" rIns="0" bIns="0" rtlCol="0" anchor="t"/>
          <a:lstStyle/>
          <a:p>
            <a:pPr marL="0" indent="0">
              <a:buNone/>
            </a:pPr>
            <a:r>
              <a:rPr lang="en-US" sz="3000" b="1" dirty="0">
                <a:solidFill>
                  <a:srgbClr val="1B3A6B"/>
                </a:solidFill>
                <a:latin typeface="Comic Sans MS" pitchFamily="34" charset="0"/>
                <a:ea typeface="Comic Sans MS" pitchFamily="34" charset="-122"/>
                <a:cs typeface="Comic Sans MS" pitchFamily="34" charset="-120"/>
              </a:rPr>
              <a:t>I/O Modules</a:t>
            </a:r>
            <a:endParaRPr lang="en-US" sz="3000" dirty="0"/>
          </a:p>
        </p:txBody>
      </p:sp>
      <p:sp>
        <p:nvSpPr>
          <p:cNvPr id="19" name="Shape 17"/>
          <p:cNvSpPr/>
          <p:nvPr/>
        </p:nvSpPr>
        <p:spPr>
          <a:xfrm>
            <a:off x="9646920" y="384048"/>
            <a:ext cx="1965960" cy="384048"/>
          </a:xfrm>
          <a:prstGeom prst="roundRect">
            <a:avLst>
              <a:gd name="adj" fmla="val 19048"/>
            </a:avLst>
          </a:prstGeom>
          <a:solidFill>
            <a:srgbClr val="C0392B"/>
          </a:solidFill>
          <a:ln/>
        </p:spPr>
      </p:sp>
      <p:sp>
        <p:nvSpPr>
          <p:cNvPr id="20" name="Text 18"/>
          <p:cNvSpPr/>
          <p:nvPr/>
        </p:nvSpPr>
        <p:spPr>
          <a:xfrm>
            <a:off x="9646920" y="384048"/>
            <a:ext cx="196596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DEFINITION</a:t>
            </a:r>
            <a:endParaRPr lang="en-US" sz="1200" dirty="0"/>
          </a:p>
        </p:txBody>
      </p:sp>
      <p:sp>
        <p:nvSpPr>
          <p:cNvPr id="21" name="Shape 19"/>
          <p:cNvSpPr/>
          <p:nvPr/>
        </p:nvSpPr>
        <p:spPr>
          <a:xfrm>
            <a:off x="8732520" y="502920"/>
            <a:ext cx="1051560" cy="1051560"/>
          </a:xfrm>
          <a:prstGeom prst="ellipse">
            <a:avLst/>
          </a:prstGeom>
          <a:solidFill>
            <a:srgbClr val="DCE6F5"/>
          </a:solidFill>
          <a:ln/>
          <a:effectLst>
            <a:outerShdw blurRad="50800" dist="25400" dir="5400000" algn="bl" rotWithShape="0">
              <a:srgbClr val="999999">
                <a:alpha val="25000"/>
              </a:srgbClr>
            </a:outerShdw>
          </a:effectLst>
        </p:spPr>
      </p:sp>
      <p:pic>
        <p:nvPicPr>
          <p:cNvPr id="22" name="Image 0" descr="/home/claude/iobook/icons/plug.png"/>
          <p:cNvPicPr>
            <a:picLocks noChangeAspect="1"/>
          </p:cNvPicPr>
          <p:nvPr/>
        </p:nvPicPr>
        <p:blipFill>
          <a:blip r:embed="rId3"/>
          <a:stretch>
            <a:fillRect/>
          </a:stretch>
        </p:blipFill>
        <p:spPr>
          <a:xfrm>
            <a:off x="8963863" y="734263"/>
            <a:ext cx="588874" cy="588874"/>
          </a:xfrm>
          <a:prstGeom prst="rect">
            <a:avLst/>
          </a:prstGeom>
        </p:spPr>
      </p:pic>
      <p:sp>
        <p:nvSpPr>
          <p:cNvPr id="23" name="Shape 20"/>
          <p:cNvSpPr/>
          <p:nvPr/>
        </p:nvSpPr>
        <p:spPr>
          <a:xfrm>
            <a:off x="1280160" y="1600200"/>
            <a:ext cx="7360920" cy="1554480"/>
          </a:xfrm>
          <a:prstGeom prst="roundRect">
            <a:avLst>
              <a:gd name="adj" fmla="val 5882"/>
            </a:avLst>
          </a:prstGeom>
          <a:solidFill>
            <a:srgbClr val="FFE082">
              <a:alpha val="65000"/>
            </a:srgbClr>
          </a:solidFill>
          <a:ln w="12700">
            <a:solidFill>
              <a:srgbClr val="1B3A6B"/>
            </a:solidFill>
            <a:prstDash val="dash"/>
          </a:ln>
        </p:spPr>
      </p:sp>
      <p:sp>
        <p:nvSpPr>
          <p:cNvPr id="24" name="Text 21"/>
          <p:cNvSpPr/>
          <p:nvPr/>
        </p:nvSpPr>
        <p:spPr>
          <a:xfrm>
            <a:off x="1463040" y="1691640"/>
            <a:ext cx="6949440" cy="274320"/>
          </a:xfrm>
          <a:prstGeom prst="rect">
            <a:avLst/>
          </a:prstGeom>
          <a:noFill/>
          <a:ln/>
        </p:spPr>
        <p:txBody>
          <a:bodyPr wrap="square" lIns="0" tIns="0" rIns="0" bIns="0" rtlCol="0" anchor="ctr"/>
          <a:lstStyle/>
          <a:p>
            <a:pPr marL="0" indent="0">
              <a:buNone/>
            </a:pPr>
            <a:r>
              <a:rPr lang="en-US" sz="1200" b="1" dirty="0">
                <a:solidFill>
                  <a:srgbClr val="C0392B"/>
                </a:solidFill>
                <a:latin typeface="Calibri" pitchFamily="34" charset="0"/>
                <a:ea typeface="Calibri" pitchFamily="34" charset="-122"/>
                <a:cs typeface="Calibri" pitchFamily="34" charset="-120"/>
              </a:rPr>
              <a:t>IN SIMPLE WORDS:</a:t>
            </a:r>
            <a:endParaRPr lang="en-US" sz="1200" dirty="0"/>
          </a:p>
        </p:txBody>
      </p:sp>
      <p:sp>
        <p:nvSpPr>
          <p:cNvPr id="25" name="Text 22"/>
          <p:cNvSpPr/>
          <p:nvPr/>
        </p:nvSpPr>
        <p:spPr>
          <a:xfrm>
            <a:off x="1463040" y="1965960"/>
            <a:ext cx="6949440" cy="1097280"/>
          </a:xfrm>
          <a:prstGeom prst="rect">
            <a:avLst/>
          </a:prstGeom>
          <a:noFill/>
          <a:ln/>
        </p:spPr>
        <p:txBody>
          <a:bodyPr wrap="square" lIns="0" tIns="0" rIns="0" bIns="0" rtlCol="0" anchor="t"/>
          <a:lstStyle/>
          <a:p>
            <a:pPr marL="0" indent="0">
              <a:buNone/>
            </a:pPr>
            <a:r>
              <a:rPr lang="en-US" sz="1500" dirty="0">
                <a:solidFill>
                  <a:srgbClr val="1B3A6B"/>
                </a:solidFill>
                <a:latin typeface="Calibri" pitchFamily="34" charset="0"/>
                <a:ea typeface="Calibri" pitchFamily="34" charset="-122"/>
                <a:cs typeface="Calibri" pitchFamily="34" charset="-120"/>
              </a:rPr>
              <a:t>A hardware unit that sits between the CPU/memory (system bus) and an external device, translating and managing the data flow between them.</a:t>
            </a:r>
            <a:endParaRPr lang="en-US" sz="1500" dirty="0"/>
          </a:p>
        </p:txBody>
      </p:sp>
      <p:sp>
        <p:nvSpPr>
          <p:cNvPr id="26" name="Text 23"/>
          <p:cNvSpPr/>
          <p:nvPr/>
        </p:nvSpPr>
        <p:spPr>
          <a:xfrm>
            <a:off x="1280160" y="3429000"/>
            <a:ext cx="7315200" cy="320040"/>
          </a:xfrm>
          <a:prstGeom prst="rect">
            <a:avLst/>
          </a:prstGeom>
          <a:noFill/>
          <a:ln/>
        </p:spPr>
        <p:txBody>
          <a:bodyPr wrap="square" lIns="0" tIns="0" rIns="0" bIns="0" rtlCol="0" anchor="ctr"/>
          <a:lstStyle/>
          <a:p>
            <a:pPr marL="0" indent="0">
              <a:buNone/>
            </a:pPr>
            <a:r>
              <a:rPr lang="en-US" sz="1300" b="1" dirty="0">
                <a:solidFill>
                  <a:srgbClr val="1B3A6B"/>
                </a:solidFill>
                <a:latin typeface="Calibri" pitchFamily="34" charset="0"/>
                <a:ea typeface="Calibri" pitchFamily="34" charset="-122"/>
                <a:cs typeface="Calibri" pitchFamily="34" charset="-120"/>
              </a:rPr>
              <a:t>KEY POINTS TO REMEMBER</a:t>
            </a:r>
            <a:endParaRPr lang="en-US" sz="1300" dirty="0"/>
          </a:p>
        </p:txBody>
      </p:sp>
      <p:sp>
        <p:nvSpPr>
          <p:cNvPr id="27" name="Text 24"/>
          <p:cNvSpPr/>
          <p:nvPr/>
        </p:nvSpPr>
        <p:spPr>
          <a:xfrm>
            <a:off x="1463040" y="3794760"/>
            <a:ext cx="6949440" cy="2286000"/>
          </a:xfrm>
          <a:prstGeom prst="rect">
            <a:avLst/>
          </a:prstGeom>
          <a:noFill/>
          <a:ln/>
        </p:spPr>
        <p:txBody>
          <a:bodyPr wrap="square" lIns="0" tIns="0" rIns="0" bIns="0" rtlCol="0" anchor="t"/>
          <a:lstStyle/>
          <a:p>
            <a:pPr marL="254000" indent="-254000">
              <a:spcAft>
                <a:spcPts val="1000"/>
              </a:spcAft>
              <a:buSzPct val="100000"/>
              <a:buChar char="✓"/>
            </a:pPr>
            <a:r>
              <a:rPr lang="en-US" sz="1400" dirty="0">
                <a:solidFill>
                  <a:srgbClr val="4A4A4A"/>
                </a:solidFill>
                <a:latin typeface="Calibri" pitchFamily="34" charset="0"/>
                <a:ea typeface="Calibri" pitchFamily="34" charset="-122"/>
                <a:cs typeface="Calibri" pitchFamily="34" charset="-120"/>
              </a:rPr>
              <a:t>Acts like a translator between the CPU and a device</a:t>
            </a:r>
            <a:endParaRPr lang="en-US" sz="1400" dirty="0"/>
          </a:p>
          <a:p>
            <a:pPr marL="254000" indent="-254000">
              <a:spcAft>
                <a:spcPts val="1000"/>
              </a:spcAft>
              <a:buSzPct val="100000"/>
              <a:buChar char="✓"/>
            </a:pPr>
            <a:r>
              <a:rPr lang="en-US" sz="1400" dirty="0">
                <a:solidFill>
                  <a:srgbClr val="4A4A4A"/>
                </a:solidFill>
                <a:latin typeface="Calibri" pitchFamily="34" charset="0"/>
                <a:ea typeface="Calibri" pitchFamily="34" charset="-122"/>
                <a:cs typeface="Calibri" pitchFamily="34" charset="-120"/>
              </a:rPr>
              <a:t>Buffers data — holds it temporarily</a:t>
            </a:r>
            <a:endParaRPr lang="en-US" sz="1400" dirty="0"/>
          </a:p>
          <a:p>
            <a:pPr marL="254000" indent="-254000">
              <a:spcAft>
                <a:spcPts val="1000"/>
              </a:spcAft>
              <a:buSzPct val="100000"/>
              <a:buChar char="✓"/>
            </a:pPr>
            <a:r>
              <a:rPr lang="en-US" sz="1400" dirty="0">
                <a:solidFill>
                  <a:srgbClr val="4A4A4A"/>
                </a:solidFill>
                <a:latin typeface="Calibri" pitchFamily="34" charset="0"/>
                <a:ea typeface="Calibri" pitchFamily="34" charset="-122"/>
                <a:cs typeface="Calibri" pitchFamily="34" charset="-120"/>
              </a:rPr>
              <a:t>Checks for transmission errors</a:t>
            </a:r>
            <a:endParaRPr lang="en-US" sz="1400" dirty="0"/>
          </a:p>
        </p:txBody>
      </p:sp>
      <p:sp>
        <p:nvSpPr>
          <p:cNvPr id="28" name="Text 25"/>
          <p:cNvSpPr/>
          <p:nvPr/>
        </p:nvSpPr>
        <p:spPr>
          <a:xfrm>
            <a:off x="320040" y="6510528"/>
            <a:ext cx="5486400" cy="274320"/>
          </a:xfrm>
          <a:prstGeom prst="rect">
            <a:avLst/>
          </a:prstGeom>
          <a:noFill/>
          <a:ln/>
        </p:spPr>
        <p:txBody>
          <a:bodyPr wrap="square" lIns="0" tIns="0" rIns="0" bIns="0" rtlCol="0" anchor="ctr"/>
          <a:lstStyle/>
          <a:p>
            <a:pPr marL="0" indent="0">
              <a:buNone/>
            </a:pPr>
            <a:r>
              <a:rPr lang="en-US" sz="1000" i="1" dirty="0">
                <a:solidFill>
                  <a:srgbClr val="4A4A4A"/>
                </a:solidFill>
                <a:latin typeface="Calibri" pitchFamily="34" charset="0"/>
                <a:ea typeface="Calibri" pitchFamily="34" charset="-122"/>
                <a:cs typeface="Calibri" pitchFamily="34" charset="-120"/>
              </a:rPr>
              <a:t>I/O Modules</a:t>
            </a:r>
            <a:endParaRPr lang="en-US" sz="1000" dirty="0"/>
          </a:p>
        </p:txBody>
      </p:sp>
      <p:sp>
        <p:nvSpPr>
          <p:cNvPr id="29" name="Text 26"/>
          <p:cNvSpPr/>
          <p:nvPr/>
        </p:nvSpPr>
        <p:spPr>
          <a:xfrm>
            <a:off x="5029200" y="6510528"/>
            <a:ext cx="5029200" cy="274320"/>
          </a:xfrm>
          <a:prstGeom prst="rect">
            <a:avLst/>
          </a:prstGeom>
          <a:noFill/>
          <a:ln/>
        </p:spPr>
        <p:txBody>
          <a:bodyPr wrap="square" lIns="0" tIns="0" rIns="0" bIns="0" rtlCol="0" anchor="ctr"/>
          <a:lstStyle/>
          <a:p>
            <a:pPr marL="0" indent="0" algn="r">
              <a:buNone/>
            </a:pPr>
            <a:r>
              <a:rPr lang="en-US" sz="900" dirty="0">
                <a:solidFill>
                  <a:srgbClr val="4A4A4A"/>
                </a:solidFill>
                <a:latin typeface="Calibri" pitchFamily="34" charset="0"/>
                <a:ea typeface="Calibri" pitchFamily="34" charset="-122"/>
                <a:cs typeface="Calibri" pitchFamily="34" charset="-120"/>
              </a:rPr>
              <a:t>Ch.7 • Stallings, Computer Organization &amp; Architecture</a:t>
            </a:r>
            <a:endParaRPr lang="en-US" sz="900" dirty="0"/>
          </a:p>
        </p:txBody>
      </p:sp>
      <p:sp>
        <p:nvSpPr>
          <p:cNvPr id="30" name="Text 27"/>
          <p:cNvSpPr/>
          <p:nvPr/>
        </p:nvSpPr>
        <p:spPr>
          <a:xfrm>
            <a:off x="11475720" y="6510528"/>
            <a:ext cx="548640" cy="274320"/>
          </a:xfrm>
          <a:prstGeom prst="rect">
            <a:avLst/>
          </a:prstGeom>
          <a:noFill/>
          <a:ln/>
        </p:spPr>
        <p:txBody>
          <a:bodyPr wrap="square" lIns="0" tIns="0" rIns="0" bIns="0" rtlCol="0" anchor="ctr"/>
          <a:lstStyle/>
          <a:p>
            <a:pPr marL="0" indent="0" algn="r">
              <a:buNone/>
            </a:pPr>
            <a:r>
              <a:rPr lang="en-US" sz="1000" dirty="0">
                <a:solidFill>
                  <a:srgbClr val="4A4A4A"/>
                </a:solidFill>
                <a:latin typeface="Calibri" pitchFamily="34" charset="0"/>
                <a:ea typeface="Calibri" pitchFamily="34" charset="-122"/>
                <a:cs typeface="Calibri" pitchFamily="34" charset="-120"/>
              </a:rPr>
              <a:t>5/30</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8E1"/>
        </a:solidFill>
        <a:effectLst/>
      </p:bgPr>
    </p:bg>
    <p:spTree>
      <p:nvGrpSpPr>
        <p:cNvPr id="1" name=""/>
        <p:cNvGrpSpPr/>
        <p:nvPr/>
      </p:nvGrpSpPr>
      <p:grpSpPr>
        <a:xfrm>
          <a:off x="0" y="0"/>
          <a:ext cx="0" cy="0"/>
          <a:chOff x="0" y="0"/>
          <a:chExt cx="0" cy="0"/>
        </a:xfrm>
      </p:grpSpPr>
      <p:sp>
        <p:nvSpPr>
          <p:cNvPr id="2" name="Shape 0"/>
          <p:cNvSpPr/>
          <p:nvPr/>
        </p:nvSpPr>
        <p:spPr>
          <a:xfrm>
            <a:off x="1234440" y="1417320"/>
            <a:ext cx="10607040" cy="0"/>
          </a:xfrm>
          <a:prstGeom prst="line">
            <a:avLst/>
          </a:prstGeom>
          <a:noFill/>
          <a:ln w="12700">
            <a:solidFill>
              <a:srgbClr val="E9DFC4"/>
            </a:solidFill>
            <a:prstDash val="solid"/>
          </a:ln>
        </p:spPr>
      </p:sp>
      <p:sp>
        <p:nvSpPr>
          <p:cNvPr id="3" name="Shape 1"/>
          <p:cNvSpPr/>
          <p:nvPr/>
        </p:nvSpPr>
        <p:spPr>
          <a:xfrm>
            <a:off x="1234440" y="1801368"/>
            <a:ext cx="10607040" cy="0"/>
          </a:xfrm>
          <a:prstGeom prst="line">
            <a:avLst/>
          </a:prstGeom>
          <a:noFill/>
          <a:ln w="12700">
            <a:solidFill>
              <a:srgbClr val="E9DFC4"/>
            </a:solidFill>
            <a:prstDash val="solid"/>
          </a:ln>
        </p:spPr>
      </p:sp>
      <p:sp>
        <p:nvSpPr>
          <p:cNvPr id="4" name="Shape 2"/>
          <p:cNvSpPr/>
          <p:nvPr/>
        </p:nvSpPr>
        <p:spPr>
          <a:xfrm>
            <a:off x="1234440" y="2185416"/>
            <a:ext cx="10607040" cy="0"/>
          </a:xfrm>
          <a:prstGeom prst="line">
            <a:avLst/>
          </a:prstGeom>
          <a:noFill/>
          <a:ln w="12700">
            <a:solidFill>
              <a:srgbClr val="E9DFC4"/>
            </a:solidFill>
            <a:prstDash val="solid"/>
          </a:ln>
        </p:spPr>
      </p:sp>
      <p:sp>
        <p:nvSpPr>
          <p:cNvPr id="5" name="Shape 3"/>
          <p:cNvSpPr/>
          <p:nvPr/>
        </p:nvSpPr>
        <p:spPr>
          <a:xfrm>
            <a:off x="1234440" y="2569464"/>
            <a:ext cx="10607040" cy="0"/>
          </a:xfrm>
          <a:prstGeom prst="line">
            <a:avLst/>
          </a:prstGeom>
          <a:noFill/>
          <a:ln w="12700">
            <a:solidFill>
              <a:srgbClr val="E9DFC4"/>
            </a:solidFill>
            <a:prstDash val="solid"/>
          </a:ln>
        </p:spPr>
      </p:sp>
      <p:sp>
        <p:nvSpPr>
          <p:cNvPr id="6" name="Shape 4"/>
          <p:cNvSpPr/>
          <p:nvPr/>
        </p:nvSpPr>
        <p:spPr>
          <a:xfrm>
            <a:off x="1234440" y="2953512"/>
            <a:ext cx="10607040" cy="0"/>
          </a:xfrm>
          <a:prstGeom prst="line">
            <a:avLst/>
          </a:prstGeom>
          <a:noFill/>
          <a:ln w="12700">
            <a:solidFill>
              <a:srgbClr val="E9DFC4"/>
            </a:solidFill>
            <a:prstDash val="solid"/>
          </a:ln>
        </p:spPr>
      </p:sp>
      <p:sp>
        <p:nvSpPr>
          <p:cNvPr id="7" name="Shape 5"/>
          <p:cNvSpPr/>
          <p:nvPr/>
        </p:nvSpPr>
        <p:spPr>
          <a:xfrm>
            <a:off x="1234440" y="3337560"/>
            <a:ext cx="10607040" cy="0"/>
          </a:xfrm>
          <a:prstGeom prst="line">
            <a:avLst/>
          </a:prstGeom>
          <a:noFill/>
          <a:ln w="12700">
            <a:solidFill>
              <a:srgbClr val="E9DFC4"/>
            </a:solidFill>
            <a:prstDash val="solid"/>
          </a:ln>
        </p:spPr>
      </p:sp>
      <p:sp>
        <p:nvSpPr>
          <p:cNvPr id="8" name="Shape 6"/>
          <p:cNvSpPr/>
          <p:nvPr/>
        </p:nvSpPr>
        <p:spPr>
          <a:xfrm>
            <a:off x="1234440" y="3721608"/>
            <a:ext cx="10607040" cy="0"/>
          </a:xfrm>
          <a:prstGeom prst="line">
            <a:avLst/>
          </a:prstGeom>
          <a:noFill/>
          <a:ln w="12700">
            <a:solidFill>
              <a:srgbClr val="E9DFC4"/>
            </a:solidFill>
            <a:prstDash val="solid"/>
          </a:ln>
        </p:spPr>
      </p:sp>
      <p:sp>
        <p:nvSpPr>
          <p:cNvPr id="9" name="Shape 7"/>
          <p:cNvSpPr/>
          <p:nvPr/>
        </p:nvSpPr>
        <p:spPr>
          <a:xfrm>
            <a:off x="1234440" y="4105656"/>
            <a:ext cx="10607040" cy="0"/>
          </a:xfrm>
          <a:prstGeom prst="line">
            <a:avLst/>
          </a:prstGeom>
          <a:noFill/>
          <a:ln w="12700">
            <a:solidFill>
              <a:srgbClr val="E9DFC4"/>
            </a:solidFill>
            <a:prstDash val="solid"/>
          </a:ln>
        </p:spPr>
      </p:sp>
      <p:sp>
        <p:nvSpPr>
          <p:cNvPr id="10" name="Shape 8"/>
          <p:cNvSpPr/>
          <p:nvPr/>
        </p:nvSpPr>
        <p:spPr>
          <a:xfrm>
            <a:off x="1234440" y="4489704"/>
            <a:ext cx="10607040" cy="0"/>
          </a:xfrm>
          <a:prstGeom prst="line">
            <a:avLst/>
          </a:prstGeom>
          <a:noFill/>
          <a:ln w="12700">
            <a:solidFill>
              <a:srgbClr val="E9DFC4"/>
            </a:solidFill>
            <a:prstDash val="solid"/>
          </a:ln>
        </p:spPr>
      </p:sp>
      <p:sp>
        <p:nvSpPr>
          <p:cNvPr id="11" name="Shape 9"/>
          <p:cNvSpPr/>
          <p:nvPr/>
        </p:nvSpPr>
        <p:spPr>
          <a:xfrm>
            <a:off x="1234440" y="4873752"/>
            <a:ext cx="10607040" cy="0"/>
          </a:xfrm>
          <a:prstGeom prst="line">
            <a:avLst/>
          </a:prstGeom>
          <a:noFill/>
          <a:ln w="12700">
            <a:solidFill>
              <a:srgbClr val="E9DFC4"/>
            </a:solidFill>
            <a:prstDash val="solid"/>
          </a:ln>
        </p:spPr>
      </p:sp>
      <p:sp>
        <p:nvSpPr>
          <p:cNvPr id="12" name="Shape 10"/>
          <p:cNvSpPr/>
          <p:nvPr/>
        </p:nvSpPr>
        <p:spPr>
          <a:xfrm>
            <a:off x="1234440" y="5257800"/>
            <a:ext cx="10607040" cy="0"/>
          </a:xfrm>
          <a:prstGeom prst="line">
            <a:avLst/>
          </a:prstGeom>
          <a:noFill/>
          <a:ln w="12700">
            <a:solidFill>
              <a:srgbClr val="E9DFC4"/>
            </a:solidFill>
            <a:prstDash val="solid"/>
          </a:ln>
        </p:spPr>
      </p:sp>
      <p:sp>
        <p:nvSpPr>
          <p:cNvPr id="13" name="Shape 11"/>
          <p:cNvSpPr/>
          <p:nvPr/>
        </p:nvSpPr>
        <p:spPr>
          <a:xfrm>
            <a:off x="1234440" y="5641848"/>
            <a:ext cx="10607040" cy="0"/>
          </a:xfrm>
          <a:prstGeom prst="line">
            <a:avLst/>
          </a:prstGeom>
          <a:noFill/>
          <a:ln w="12700">
            <a:solidFill>
              <a:srgbClr val="E9DFC4"/>
            </a:solidFill>
            <a:prstDash val="solid"/>
          </a:ln>
        </p:spPr>
      </p:sp>
      <p:sp>
        <p:nvSpPr>
          <p:cNvPr id="14" name="Shape 12"/>
          <p:cNvSpPr/>
          <p:nvPr/>
        </p:nvSpPr>
        <p:spPr>
          <a:xfrm>
            <a:off x="1234440" y="6025896"/>
            <a:ext cx="10607040" cy="0"/>
          </a:xfrm>
          <a:prstGeom prst="line">
            <a:avLst/>
          </a:prstGeom>
          <a:noFill/>
          <a:ln w="12700">
            <a:solidFill>
              <a:srgbClr val="E9DFC4"/>
            </a:solidFill>
            <a:prstDash val="solid"/>
          </a:ln>
        </p:spPr>
      </p:sp>
      <p:sp>
        <p:nvSpPr>
          <p:cNvPr id="15" name="Shape 13"/>
          <p:cNvSpPr/>
          <p:nvPr/>
        </p:nvSpPr>
        <p:spPr>
          <a:xfrm>
            <a:off x="1234440" y="6409944"/>
            <a:ext cx="10607040" cy="0"/>
          </a:xfrm>
          <a:prstGeom prst="line">
            <a:avLst/>
          </a:prstGeom>
          <a:noFill/>
          <a:ln w="12700">
            <a:solidFill>
              <a:srgbClr val="E9DFC4"/>
            </a:solidFill>
            <a:prstDash val="solid"/>
          </a:ln>
        </p:spPr>
      </p:sp>
      <p:sp>
        <p:nvSpPr>
          <p:cNvPr id="16" name="Shape 14"/>
          <p:cNvSpPr/>
          <p:nvPr/>
        </p:nvSpPr>
        <p:spPr>
          <a:xfrm>
            <a:off x="1051560" y="320040"/>
            <a:ext cx="0" cy="6309360"/>
          </a:xfrm>
          <a:prstGeom prst="line">
            <a:avLst/>
          </a:prstGeom>
          <a:noFill/>
          <a:ln w="15875">
            <a:solidFill>
              <a:srgbClr val="C0392B"/>
            </a:solidFill>
            <a:prstDash val="solid"/>
          </a:ln>
        </p:spPr>
      </p:sp>
      <p:sp>
        <p:nvSpPr>
          <p:cNvPr id="17" name="Text 15"/>
          <p:cNvSpPr/>
          <p:nvPr/>
        </p:nvSpPr>
        <p:spPr>
          <a:xfrm>
            <a:off x="1280160" y="310896"/>
            <a:ext cx="2743200" cy="320040"/>
          </a:xfrm>
          <a:prstGeom prst="rect">
            <a:avLst/>
          </a:prstGeom>
          <a:noFill/>
          <a:ln/>
        </p:spPr>
        <p:txBody>
          <a:bodyPr wrap="square" lIns="0" tIns="0" rIns="0" bIns="0" rtlCol="0" anchor="ctr"/>
          <a:lstStyle/>
          <a:p>
            <a:pPr marL="0" indent="0">
              <a:buNone/>
            </a:pPr>
            <a:r>
              <a:rPr lang="en-US" sz="1300" b="1" dirty="0">
                <a:solidFill>
                  <a:srgbClr val="C0392B"/>
                </a:solidFill>
                <a:latin typeface="Calibri" pitchFamily="34" charset="0"/>
                <a:ea typeface="Calibri" pitchFamily="34" charset="-122"/>
                <a:cs typeface="Calibri" pitchFamily="34" charset="-120"/>
              </a:rPr>
              <a:t>Topic 1.2</a:t>
            </a:r>
            <a:endParaRPr lang="en-US" sz="1300" dirty="0"/>
          </a:p>
        </p:txBody>
      </p:sp>
      <p:sp>
        <p:nvSpPr>
          <p:cNvPr id="18" name="Text 16"/>
          <p:cNvSpPr/>
          <p:nvPr/>
        </p:nvSpPr>
        <p:spPr>
          <a:xfrm>
            <a:off x="1234440" y="566928"/>
            <a:ext cx="8138160" cy="777240"/>
          </a:xfrm>
          <a:prstGeom prst="rect">
            <a:avLst/>
          </a:prstGeom>
          <a:noFill/>
          <a:ln/>
        </p:spPr>
        <p:txBody>
          <a:bodyPr wrap="square" lIns="0" tIns="0" rIns="0" bIns="0" rtlCol="0" anchor="t"/>
          <a:lstStyle/>
          <a:p>
            <a:pPr marL="0" indent="0">
              <a:buNone/>
            </a:pPr>
            <a:r>
              <a:rPr lang="en-US" sz="3000" b="1" dirty="0">
                <a:solidFill>
                  <a:srgbClr val="1B3A6B"/>
                </a:solidFill>
                <a:latin typeface="Comic Sans MS" pitchFamily="34" charset="0"/>
                <a:ea typeface="Comic Sans MS" pitchFamily="34" charset="-122"/>
                <a:cs typeface="Comic Sans MS" pitchFamily="34" charset="-120"/>
              </a:rPr>
              <a:t>I/O Modules</a:t>
            </a:r>
            <a:endParaRPr lang="en-US" sz="3000" dirty="0"/>
          </a:p>
        </p:txBody>
      </p:sp>
      <p:sp>
        <p:nvSpPr>
          <p:cNvPr id="19" name="Shape 17"/>
          <p:cNvSpPr/>
          <p:nvPr/>
        </p:nvSpPr>
        <p:spPr>
          <a:xfrm>
            <a:off x="9646920" y="384048"/>
            <a:ext cx="1965960" cy="384048"/>
          </a:xfrm>
          <a:prstGeom prst="roundRect">
            <a:avLst>
              <a:gd name="adj" fmla="val 19048"/>
            </a:avLst>
          </a:prstGeom>
          <a:solidFill>
            <a:srgbClr val="C0392B"/>
          </a:solidFill>
          <a:ln/>
        </p:spPr>
      </p:sp>
      <p:sp>
        <p:nvSpPr>
          <p:cNvPr id="20" name="Text 18"/>
          <p:cNvSpPr/>
          <p:nvPr/>
        </p:nvSpPr>
        <p:spPr>
          <a:xfrm>
            <a:off x="9646920" y="384048"/>
            <a:ext cx="196596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HOW IT WORKS</a:t>
            </a:r>
            <a:endParaRPr lang="en-US" sz="1200" dirty="0"/>
          </a:p>
        </p:txBody>
      </p:sp>
      <p:sp>
        <p:nvSpPr>
          <p:cNvPr id="21" name="Shape 19"/>
          <p:cNvSpPr/>
          <p:nvPr/>
        </p:nvSpPr>
        <p:spPr>
          <a:xfrm>
            <a:off x="8732520" y="502920"/>
            <a:ext cx="1051560" cy="1051560"/>
          </a:xfrm>
          <a:prstGeom prst="ellipse">
            <a:avLst/>
          </a:prstGeom>
          <a:solidFill>
            <a:srgbClr val="DCE6F5"/>
          </a:solidFill>
          <a:ln/>
          <a:effectLst>
            <a:outerShdw blurRad="50800" dist="25400" dir="5400000" algn="bl" rotWithShape="0">
              <a:srgbClr val="999999">
                <a:alpha val="25000"/>
              </a:srgbClr>
            </a:outerShdw>
          </a:effectLst>
        </p:spPr>
      </p:sp>
      <p:pic>
        <p:nvPicPr>
          <p:cNvPr id="22" name="Image 0" descr="/home/claude/iobook/icons/plug.png"/>
          <p:cNvPicPr>
            <a:picLocks noChangeAspect="1"/>
          </p:cNvPicPr>
          <p:nvPr/>
        </p:nvPicPr>
        <p:blipFill>
          <a:blip r:embed="rId3"/>
          <a:stretch>
            <a:fillRect/>
          </a:stretch>
        </p:blipFill>
        <p:spPr>
          <a:xfrm>
            <a:off x="8963863" y="734263"/>
            <a:ext cx="588874" cy="588874"/>
          </a:xfrm>
          <a:prstGeom prst="rect">
            <a:avLst/>
          </a:prstGeom>
        </p:spPr>
      </p:pic>
      <p:sp>
        <p:nvSpPr>
          <p:cNvPr id="23" name="Shape 20"/>
          <p:cNvSpPr/>
          <p:nvPr/>
        </p:nvSpPr>
        <p:spPr>
          <a:xfrm>
            <a:off x="1280160" y="1965960"/>
            <a:ext cx="2331720" cy="1600200"/>
          </a:xfrm>
          <a:prstGeom prst="roundRect">
            <a:avLst>
              <a:gd name="adj" fmla="val 4571"/>
            </a:avLst>
          </a:prstGeom>
          <a:solidFill>
            <a:srgbClr val="FFFFFF"/>
          </a:solidFill>
          <a:ln w="12700">
            <a:solidFill>
              <a:srgbClr val="1B3A6B"/>
            </a:solidFill>
            <a:prstDash val="solid"/>
          </a:ln>
          <a:effectLst>
            <a:outerShdw blurRad="38100" dist="25400" dir="5400000" algn="bl" rotWithShape="0">
              <a:srgbClr val="999999">
                <a:alpha val="20000"/>
              </a:srgbClr>
            </a:outerShdw>
          </a:effectLst>
        </p:spPr>
      </p:sp>
      <p:sp>
        <p:nvSpPr>
          <p:cNvPr id="24" name="Shape 21"/>
          <p:cNvSpPr/>
          <p:nvPr/>
        </p:nvSpPr>
        <p:spPr>
          <a:xfrm>
            <a:off x="2244852" y="1764792"/>
            <a:ext cx="402336" cy="402336"/>
          </a:xfrm>
          <a:prstGeom prst="ellipse">
            <a:avLst/>
          </a:prstGeom>
          <a:solidFill>
            <a:srgbClr val="C0392B"/>
          </a:solidFill>
          <a:ln w="25400">
            <a:solidFill>
              <a:srgbClr val="FFF8E1"/>
            </a:solidFill>
            <a:prstDash val="solid"/>
          </a:ln>
        </p:spPr>
      </p:sp>
      <p:sp>
        <p:nvSpPr>
          <p:cNvPr id="25" name="Text 22"/>
          <p:cNvSpPr/>
          <p:nvPr/>
        </p:nvSpPr>
        <p:spPr>
          <a:xfrm>
            <a:off x="2244852" y="1764792"/>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26" name="Text 23"/>
          <p:cNvSpPr/>
          <p:nvPr/>
        </p:nvSpPr>
        <p:spPr>
          <a:xfrm>
            <a:off x="1389888" y="2221992"/>
            <a:ext cx="2112264" cy="502920"/>
          </a:xfrm>
          <a:prstGeom prst="rect">
            <a:avLst/>
          </a:prstGeom>
          <a:noFill/>
          <a:ln/>
        </p:spPr>
        <p:txBody>
          <a:bodyPr wrap="square" lIns="0" tIns="0" rIns="0" bIns="0" rtlCol="0" anchor="t"/>
          <a:lstStyle/>
          <a:p>
            <a:pPr marL="0" indent="0">
              <a:buNone/>
            </a:pPr>
            <a:r>
              <a:rPr lang="en-US" sz="1350" b="1" dirty="0">
                <a:solidFill>
                  <a:srgbClr val="1B3A6B"/>
                </a:solidFill>
                <a:latin typeface="Calibri" pitchFamily="34" charset="0"/>
                <a:ea typeface="Calibri" pitchFamily="34" charset="-122"/>
                <a:cs typeface="Calibri" pitchFamily="34" charset="-120"/>
              </a:rPr>
              <a:t>1. Control &amp; Timing</a:t>
            </a:r>
            <a:endParaRPr lang="en-US" sz="1350" dirty="0"/>
          </a:p>
        </p:txBody>
      </p:sp>
      <p:sp>
        <p:nvSpPr>
          <p:cNvPr id="27" name="Text 24"/>
          <p:cNvSpPr/>
          <p:nvPr/>
        </p:nvSpPr>
        <p:spPr>
          <a:xfrm>
            <a:off x="1389888" y="2715768"/>
            <a:ext cx="2112264" cy="777240"/>
          </a:xfrm>
          <a:prstGeom prst="rect">
            <a:avLst/>
          </a:prstGeom>
          <a:noFill/>
          <a:ln/>
        </p:spPr>
        <p:txBody>
          <a:bodyPr wrap="square" lIns="0" tIns="0" rIns="0" bIns="0" rtlCol="0" anchor="t"/>
          <a:lstStyle/>
          <a:p>
            <a:pPr marL="0" indent="0">
              <a:buNone/>
            </a:pPr>
            <a:r>
              <a:rPr lang="en-US" sz="1100" dirty="0">
                <a:solidFill>
                  <a:srgbClr val="4A4A4A"/>
                </a:solidFill>
                <a:latin typeface="Calibri" pitchFamily="34" charset="0"/>
                <a:ea typeface="Calibri" pitchFamily="34" charset="-122"/>
                <a:cs typeface="Calibri" pitchFamily="34" charset="-120"/>
              </a:rPr>
              <a:t>Coordinates data flow with correct timing</a:t>
            </a:r>
            <a:endParaRPr lang="en-US" sz="1100" dirty="0"/>
          </a:p>
        </p:txBody>
      </p:sp>
      <p:pic>
        <p:nvPicPr>
          <p:cNvPr id="28" name="Image 1" descr="/home/claude/iobook/icons/arrowRight.png"/>
          <p:cNvPicPr>
            <a:picLocks noChangeAspect="1"/>
          </p:cNvPicPr>
          <p:nvPr/>
        </p:nvPicPr>
        <p:blipFill>
          <a:blip r:embed="rId4"/>
          <a:stretch>
            <a:fillRect/>
          </a:stretch>
        </p:blipFill>
        <p:spPr>
          <a:xfrm>
            <a:off x="3639312" y="2628900"/>
            <a:ext cx="274320" cy="274320"/>
          </a:xfrm>
          <a:prstGeom prst="rect">
            <a:avLst/>
          </a:prstGeom>
        </p:spPr>
      </p:pic>
      <p:sp>
        <p:nvSpPr>
          <p:cNvPr id="29" name="Shape 25"/>
          <p:cNvSpPr/>
          <p:nvPr/>
        </p:nvSpPr>
        <p:spPr>
          <a:xfrm>
            <a:off x="3931920" y="1965960"/>
            <a:ext cx="2331720" cy="1600200"/>
          </a:xfrm>
          <a:prstGeom prst="roundRect">
            <a:avLst>
              <a:gd name="adj" fmla="val 4571"/>
            </a:avLst>
          </a:prstGeom>
          <a:solidFill>
            <a:srgbClr val="FFFFFF"/>
          </a:solidFill>
          <a:ln w="12700">
            <a:solidFill>
              <a:srgbClr val="1B3A6B"/>
            </a:solidFill>
            <a:prstDash val="solid"/>
          </a:ln>
          <a:effectLst>
            <a:outerShdw blurRad="38100" dist="25400" dir="5400000" algn="bl" rotWithShape="0">
              <a:srgbClr val="999999">
                <a:alpha val="20000"/>
              </a:srgbClr>
            </a:outerShdw>
          </a:effectLst>
        </p:spPr>
      </p:sp>
      <p:sp>
        <p:nvSpPr>
          <p:cNvPr id="30" name="Shape 26"/>
          <p:cNvSpPr/>
          <p:nvPr/>
        </p:nvSpPr>
        <p:spPr>
          <a:xfrm>
            <a:off x="4896612" y="1764792"/>
            <a:ext cx="402336" cy="402336"/>
          </a:xfrm>
          <a:prstGeom prst="ellipse">
            <a:avLst/>
          </a:prstGeom>
          <a:solidFill>
            <a:srgbClr val="C0392B"/>
          </a:solidFill>
          <a:ln w="25400">
            <a:solidFill>
              <a:srgbClr val="FFF8E1"/>
            </a:solidFill>
            <a:prstDash val="solid"/>
          </a:ln>
        </p:spPr>
      </p:sp>
      <p:sp>
        <p:nvSpPr>
          <p:cNvPr id="31" name="Text 27"/>
          <p:cNvSpPr/>
          <p:nvPr/>
        </p:nvSpPr>
        <p:spPr>
          <a:xfrm>
            <a:off x="4896612" y="1764792"/>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32" name="Text 28"/>
          <p:cNvSpPr/>
          <p:nvPr/>
        </p:nvSpPr>
        <p:spPr>
          <a:xfrm>
            <a:off x="4041648" y="2221992"/>
            <a:ext cx="2112264" cy="502920"/>
          </a:xfrm>
          <a:prstGeom prst="rect">
            <a:avLst/>
          </a:prstGeom>
          <a:noFill/>
          <a:ln/>
        </p:spPr>
        <p:txBody>
          <a:bodyPr wrap="square" lIns="0" tIns="0" rIns="0" bIns="0" rtlCol="0" anchor="t"/>
          <a:lstStyle/>
          <a:p>
            <a:pPr marL="0" indent="0">
              <a:buNone/>
            </a:pPr>
            <a:r>
              <a:rPr lang="en-US" sz="1350" b="1" dirty="0">
                <a:solidFill>
                  <a:srgbClr val="1B3A6B"/>
                </a:solidFill>
                <a:latin typeface="Calibri" pitchFamily="34" charset="0"/>
                <a:ea typeface="Calibri" pitchFamily="34" charset="-122"/>
                <a:cs typeface="Calibri" pitchFamily="34" charset="-120"/>
              </a:rPr>
              <a:t>2. CPU Link</a:t>
            </a:r>
            <a:endParaRPr lang="en-US" sz="1350" dirty="0"/>
          </a:p>
        </p:txBody>
      </p:sp>
      <p:sp>
        <p:nvSpPr>
          <p:cNvPr id="33" name="Text 29"/>
          <p:cNvSpPr/>
          <p:nvPr/>
        </p:nvSpPr>
        <p:spPr>
          <a:xfrm>
            <a:off x="4041648" y="2715768"/>
            <a:ext cx="2112264" cy="777240"/>
          </a:xfrm>
          <a:prstGeom prst="rect">
            <a:avLst/>
          </a:prstGeom>
          <a:noFill/>
          <a:ln/>
        </p:spPr>
        <p:txBody>
          <a:bodyPr wrap="square" lIns="0" tIns="0" rIns="0" bIns="0" rtlCol="0" anchor="t"/>
          <a:lstStyle/>
          <a:p>
            <a:pPr marL="0" indent="0">
              <a:buNone/>
            </a:pPr>
            <a:r>
              <a:rPr lang="en-US" sz="1100" dirty="0">
                <a:solidFill>
                  <a:srgbClr val="4A4A4A"/>
                </a:solidFill>
                <a:latin typeface="Calibri" pitchFamily="34" charset="0"/>
                <a:ea typeface="Calibri" pitchFamily="34" charset="-122"/>
                <a:cs typeface="Calibri" pitchFamily="34" charset="-120"/>
              </a:rPr>
              <a:t>Understands CPU commands: read, write, status</a:t>
            </a:r>
            <a:endParaRPr lang="en-US" sz="1100" dirty="0"/>
          </a:p>
        </p:txBody>
      </p:sp>
      <p:pic>
        <p:nvPicPr>
          <p:cNvPr id="34" name="Image 2" descr="/home/claude/iobook/icons/arrowRight.png"/>
          <p:cNvPicPr>
            <a:picLocks noChangeAspect="1"/>
          </p:cNvPicPr>
          <p:nvPr/>
        </p:nvPicPr>
        <p:blipFill>
          <a:blip r:embed="rId4"/>
          <a:stretch>
            <a:fillRect/>
          </a:stretch>
        </p:blipFill>
        <p:spPr>
          <a:xfrm>
            <a:off x="6291072" y="2628900"/>
            <a:ext cx="274320" cy="274320"/>
          </a:xfrm>
          <a:prstGeom prst="rect">
            <a:avLst/>
          </a:prstGeom>
        </p:spPr>
      </p:pic>
      <p:sp>
        <p:nvSpPr>
          <p:cNvPr id="35" name="Shape 30"/>
          <p:cNvSpPr/>
          <p:nvPr/>
        </p:nvSpPr>
        <p:spPr>
          <a:xfrm>
            <a:off x="6583680" y="1965960"/>
            <a:ext cx="2331720" cy="1600200"/>
          </a:xfrm>
          <a:prstGeom prst="roundRect">
            <a:avLst>
              <a:gd name="adj" fmla="val 4571"/>
            </a:avLst>
          </a:prstGeom>
          <a:solidFill>
            <a:srgbClr val="FFFFFF"/>
          </a:solidFill>
          <a:ln w="12700">
            <a:solidFill>
              <a:srgbClr val="1B3A6B"/>
            </a:solidFill>
            <a:prstDash val="solid"/>
          </a:ln>
          <a:effectLst>
            <a:outerShdw blurRad="38100" dist="25400" dir="5400000" algn="bl" rotWithShape="0">
              <a:srgbClr val="999999">
                <a:alpha val="20000"/>
              </a:srgbClr>
            </a:outerShdw>
          </a:effectLst>
        </p:spPr>
      </p:sp>
      <p:sp>
        <p:nvSpPr>
          <p:cNvPr id="36" name="Shape 31"/>
          <p:cNvSpPr/>
          <p:nvPr/>
        </p:nvSpPr>
        <p:spPr>
          <a:xfrm>
            <a:off x="7548372" y="1764792"/>
            <a:ext cx="402336" cy="402336"/>
          </a:xfrm>
          <a:prstGeom prst="ellipse">
            <a:avLst/>
          </a:prstGeom>
          <a:solidFill>
            <a:srgbClr val="C0392B"/>
          </a:solidFill>
          <a:ln w="25400">
            <a:solidFill>
              <a:srgbClr val="FFF8E1"/>
            </a:solidFill>
            <a:prstDash val="solid"/>
          </a:ln>
        </p:spPr>
      </p:sp>
      <p:sp>
        <p:nvSpPr>
          <p:cNvPr id="37" name="Text 32"/>
          <p:cNvSpPr/>
          <p:nvPr/>
        </p:nvSpPr>
        <p:spPr>
          <a:xfrm>
            <a:off x="7548372" y="1764792"/>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38" name="Text 33"/>
          <p:cNvSpPr/>
          <p:nvPr/>
        </p:nvSpPr>
        <p:spPr>
          <a:xfrm>
            <a:off x="6693408" y="2221992"/>
            <a:ext cx="2112264" cy="502920"/>
          </a:xfrm>
          <a:prstGeom prst="rect">
            <a:avLst/>
          </a:prstGeom>
          <a:noFill/>
          <a:ln/>
        </p:spPr>
        <p:txBody>
          <a:bodyPr wrap="square" lIns="0" tIns="0" rIns="0" bIns="0" rtlCol="0" anchor="t"/>
          <a:lstStyle/>
          <a:p>
            <a:pPr marL="0" indent="0">
              <a:buNone/>
            </a:pPr>
            <a:r>
              <a:rPr lang="en-US" sz="1350" b="1" dirty="0">
                <a:solidFill>
                  <a:srgbClr val="1B3A6B"/>
                </a:solidFill>
                <a:latin typeface="Calibri" pitchFamily="34" charset="0"/>
                <a:ea typeface="Calibri" pitchFamily="34" charset="-122"/>
                <a:cs typeface="Calibri" pitchFamily="34" charset="-120"/>
              </a:rPr>
              <a:t>3. Device Link</a:t>
            </a:r>
            <a:endParaRPr lang="en-US" sz="1350" dirty="0"/>
          </a:p>
        </p:txBody>
      </p:sp>
      <p:sp>
        <p:nvSpPr>
          <p:cNvPr id="39" name="Text 34"/>
          <p:cNvSpPr/>
          <p:nvPr/>
        </p:nvSpPr>
        <p:spPr>
          <a:xfrm>
            <a:off x="6693408" y="2715768"/>
            <a:ext cx="2112264" cy="777240"/>
          </a:xfrm>
          <a:prstGeom prst="rect">
            <a:avLst/>
          </a:prstGeom>
          <a:noFill/>
          <a:ln/>
        </p:spPr>
        <p:txBody>
          <a:bodyPr wrap="square" lIns="0" tIns="0" rIns="0" bIns="0" rtlCol="0" anchor="t"/>
          <a:lstStyle/>
          <a:p>
            <a:pPr marL="0" indent="0">
              <a:buNone/>
            </a:pPr>
            <a:r>
              <a:rPr lang="en-US" sz="1100" dirty="0">
                <a:solidFill>
                  <a:srgbClr val="4A4A4A"/>
                </a:solidFill>
                <a:latin typeface="Calibri" pitchFamily="34" charset="0"/>
                <a:ea typeface="Calibri" pitchFamily="34" charset="-122"/>
                <a:cs typeface="Calibri" pitchFamily="34" charset="-120"/>
              </a:rPr>
              <a:t>Talks to the device in its own native language</a:t>
            </a:r>
            <a:endParaRPr lang="en-US" sz="1100" dirty="0"/>
          </a:p>
        </p:txBody>
      </p:sp>
      <p:pic>
        <p:nvPicPr>
          <p:cNvPr id="40" name="Image 3" descr="/home/claude/iobook/icons/arrowRight.png"/>
          <p:cNvPicPr>
            <a:picLocks noChangeAspect="1"/>
          </p:cNvPicPr>
          <p:nvPr/>
        </p:nvPicPr>
        <p:blipFill>
          <a:blip r:embed="rId4"/>
          <a:stretch>
            <a:fillRect/>
          </a:stretch>
        </p:blipFill>
        <p:spPr>
          <a:xfrm>
            <a:off x="8942832" y="2628900"/>
            <a:ext cx="274320" cy="274320"/>
          </a:xfrm>
          <a:prstGeom prst="rect">
            <a:avLst/>
          </a:prstGeom>
        </p:spPr>
      </p:pic>
      <p:sp>
        <p:nvSpPr>
          <p:cNvPr id="41" name="Shape 35"/>
          <p:cNvSpPr/>
          <p:nvPr/>
        </p:nvSpPr>
        <p:spPr>
          <a:xfrm>
            <a:off x="9235440" y="1965960"/>
            <a:ext cx="2331720" cy="1600200"/>
          </a:xfrm>
          <a:prstGeom prst="roundRect">
            <a:avLst>
              <a:gd name="adj" fmla="val 4571"/>
            </a:avLst>
          </a:prstGeom>
          <a:solidFill>
            <a:srgbClr val="FFFFFF"/>
          </a:solidFill>
          <a:ln w="12700">
            <a:solidFill>
              <a:srgbClr val="1B3A6B"/>
            </a:solidFill>
            <a:prstDash val="solid"/>
          </a:ln>
          <a:effectLst>
            <a:outerShdw blurRad="38100" dist="25400" dir="5400000" algn="bl" rotWithShape="0">
              <a:srgbClr val="999999">
                <a:alpha val="20000"/>
              </a:srgbClr>
            </a:outerShdw>
          </a:effectLst>
        </p:spPr>
      </p:sp>
      <p:sp>
        <p:nvSpPr>
          <p:cNvPr id="42" name="Shape 36"/>
          <p:cNvSpPr/>
          <p:nvPr/>
        </p:nvSpPr>
        <p:spPr>
          <a:xfrm>
            <a:off x="10200132" y="1764792"/>
            <a:ext cx="402336" cy="402336"/>
          </a:xfrm>
          <a:prstGeom prst="ellipse">
            <a:avLst/>
          </a:prstGeom>
          <a:solidFill>
            <a:srgbClr val="C0392B"/>
          </a:solidFill>
          <a:ln w="25400">
            <a:solidFill>
              <a:srgbClr val="FFF8E1"/>
            </a:solidFill>
            <a:prstDash val="solid"/>
          </a:ln>
        </p:spPr>
      </p:sp>
      <p:sp>
        <p:nvSpPr>
          <p:cNvPr id="43" name="Text 37"/>
          <p:cNvSpPr/>
          <p:nvPr/>
        </p:nvSpPr>
        <p:spPr>
          <a:xfrm>
            <a:off x="10200132" y="1764792"/>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44" name="Text 38"/>
          <p:cNvSpPr/>
          <p:nvPr/>
        </p:nvSpPr>
        <p:spPr>
          <a:xfrm>
            <a:off x="9345168" y="2221992"/>
            <a:ext cx="2112264" cy="502920"/>
          </a:xfrm>
          <a:prstGeom prst="rect">
            <a:avLst/>
          </a:prstGeom>
          <a:noFill/>
          <a:ln/>
        </p:spPr>
        <p:txBody>
          <a:bodyPr wrap="square" lIns="0" tIns="0" rIns="0" bIns="0" rtlCol="0" anchor="t"/>
          <a:lstStyle/>
          <a:p>
            <a:pPr marL="0" indent="0">
              <a:buNone/>
            </a:pPr>
            <a:r>
              <a:rPr lang="en-US" sz="1350" b="1" dirty="0">
                <a:solidFill>
                  <a:srgbClr val="1B3A6B"/>
                </a:solidFill>
                <a:latin typeface="Calibri" pitchFamily="34" charset="0"/>
                <a:ea typeface="Calibri" pitchFamily="34" charset="-122"/>
                <a:cs typeface="Calibri" pitchFamily="34" charset="-120"/>
              </a:rPr>
              <a:t>4. Buffering</a:t>
            </a:r>
            <a:endParaRPr lang="en-US" sz="1350" dirty="0"/>
          </a:p>
        </p:txBody>
      </p:sp>
      <p:sp>
        <p:nvSpPr>
          <p:cNvPr id="45" name="Text 39"/>
          <p:cNvSpPr/>
          <p:nvPr/>
        </p:nvSpPr>
        <p:spPr>
          <a:xfrm>
            <a:off x="9345168" y="2715768"/>
            <a:ext cx="2112264" cy="777240"/>
          </a:xfrm>
          <a:prstGeom prst="rect">
            <a:avLst/>
          </a:prstGeom>
          <a:noFill/>
          <a:ln/>
        </p:spPr>
        <p:txBody>
          <a:bodyPr wrap="square" lIns="0" tIns="0" rIns="0" bIns="0" rtlCol="0" anchor="t"/>
          <a:lstStyle/>
          <a:p>
            <a:pPr marL="0" indent="0">
              <a:buNone/>
            </a:pPr>
            <a:r>
              <a:rPr lang="en-US" sz="1100" dirty="0">
                <a:solidFill>
                  <a:srgbClr val="4A4A4A"/>
                </a:solidFill>
                <a:latin typeface="Calibri" pitchFamily="34" charset="0"/>
                <a:ea typeface="Calibri" pitchFamily="34" charset="-122"/>
                <a:cs typeface="Calibri" pitchFamily="34" charset="-120"/>
              </a:rPr>
              <a:t>Stores data temporarily since devices are slower</a:t>
            </a:r>
            <a:endParaRPr lang="en-US" sz="1100" dirty="0"/>
          </a:p>
        </p:txBody>
      </p:sp>
      <p:sp>
        <p:nvSpPr>
          <p:cNvPr id="46" name="Shape 40"/>
          <p:cNvSpPr/>
          <p:nvPr/>
        </p:nvSpPr>
        <p:spPr>
          <a:xfrm>
            <a:off x="1280160" y="3977640"/>
            <a:ext cx="8778240" cy="1234440"/>
          </a:xfrm>
          <a:prstGeom prst="roundRect">
            <a:avLst>
              <a:gd name="adj" fmla="val 7407"/>
            </a:avLst>
          </a:prstGeom>
          <a:solidFill>
            <a:srgbClr val="DCE6F5">
              <a:alpha val="70000"/>
            </a:srgbClr>
          </a:solidFill>
          <a:ln w="9525">
            <a:solidFill>
              <a:srgbClr val="1B3A6B"/>
            </a:solidFill>
            <a:prstDash val="sysDot"/>
          </a:ln>
        </p:spPr>
      </p:sp>
      <p:pic>
        <p:nvPicPr>
          <p:cNvPr id="47" name="Image 4" descr="/home/claude/iobook/icons/lightbulb.png"/>
          <p:cNvPicPr>
            <a:picLocks noChangeAspect="1"/>
          </p:cNvPicPr>
          <p:nvPr/>
        </p:nvPicPr>
        <p:blipFill>
          <a:blip r:embed="rId5"/>
          <a:stretch>
            <a:fillRect/>
          </a:stretch>
        </p:blipFill>
        <p:spPr>
          <a:xfrm>
            <a:off x="1463040" y="4160520"/>
            <a:ext cx="502920" cy="502920"/>
          </a:xfrm>
          <a:prstGeom prst="rect">
            <a:avLst/>
          </a:prstGeom>
        </p:spPr>
      </p:pic>
      <p:sp>
        <p:nvSpPr>
          <p:cNvPr id="48" name="Text 41"/>
          <p:cNvSpPr/>
          <p:nvPr/>
        </p:nvSpPr>
        <p:spPr>
          <a:xfrm>
            <a:off x="2103120" y="4114800"/>
            <a:ext cx="7772400" cy="1005840"/>
          </a:xfrm>
          <a:prstGeom prst="rect">
            <a:avLst/>
          </a:prstGeom>
          <a:noFill/>
          <a:ln/>
        </p:spPr>
        <p:txBody>
          <a:bodyPr wrap="square" lIns="0" tIns="0" rIns="0" bIns="0" rtlCol="0" anchor="ctr"/>
          <a:lstStyle/>
          <a:p>
            <a:pPr marL="0" indent="0">
              <a:buNone/>
            </a:pPr>
            <a:r>
              <a:rPr lang="en-US" sz="1350" i="1" dirty="0">
                <a:solidFill>
                  <a:srgbClr val="1B3A6B"/>
                </a:solidFill>
                <a:latin typeface="Calibri" pitchFamily="34" charset="0"/>
                <a:ea typeface="Calibri" pitchFamily="34" charset="-122"/>
                <a:cs typeface="Calibri" pitchFamily="34" charset="-120"/>
              </a:rPr>
              <a:t>Without an I/O module, the CPU would need to know the tiny electrical details of every single device — that's impossible to manage!</a:t>
            </a:r>
            <a:endParaRPr lang="en-US" sz="1350" dirty="0"/>
          </a:p>
        </p:txBody>
      </p:sp>
      <p:sp>
        <p:nvSpPr>
          <p:cNvPr id="49" name="Text 42"/>
          <p:cNvSpPr/>
          <p:nvPr/>
        </p:nvSpPr>
        <p:spPr>
          <a:xfrm>
            <a:off x="320040" y="6510528"/>
            <a:ext cx="5486400" cy="274320"/>
          </a:xfrm>
          <a:prstGeom prst="rect">
            <a:avLst/>
          </a:prstGeom>
          <a:noFill/>
          <a:ln/>
        </p:spPr>
        <p:txBody>
          <a:bodyPr wrap="square" lIns="0" tIns="0" rIns="0" bIns="0" rtlCol="0" anchor="ctr"/>
          <a:lstStyle/>
          <a:p>
            <a:pPr marL="0" indent="0">
              <a:buNone/>
            </a:pPr>
            <a:r>
              <a:rPr lang="en-US" sz="1000" i="1" dirty="0">
                <a:solidFill>
                  <a:srgbClr val="4A4A4A"/>
                </a:solidFill>
                <a:latin typeface="Calibri" pitchFamily="34" charset="0"/>
                <a:ea typeface="Calibri" pitchFamily="34" charset="-122"/>
                <a:cs typeface="Calibri" pitchFamily="34" charset="-120"/>
              </a:rPr>
              <a:t>I/O Modules</a:t>
            </a:r>
            <a:endParaRPr lang="en-US" sz="1000" dirty="0"/>
          </a:p>
        </p:txBody>
      </p:sp>
      <p:sp>
        <p:nvSpPr>
          <p:cNvPr id="50" name="Text 43"/>
          <p:cNvSpPr/>
          <p:nvPr/>
        </p:nvSpPr>
        <p:spPr>
          <a:xfrm>
            <a:off x="5029200" y="6510528"/>
            <a:ext cx="5029200" cy="274320"/>
          </a:xfrm>
          <a:prstGeom prst="rect">
            <a:avLst/>
          </a:prstGeom>
          <a:noFill/>
          <a:ln/>
        </p:spPr>
        <p:txBody>
          <a:bodyPr wrap="square" lIns="0" tIns="0" rIns="0" bIns="0" rtlCol="0" anchor="ctr"/>
          <a:lstStyle/>
          <a:p>
            <a:pPr marL="0" indent="0" algn="r">
              <a:buNone/>
            </a:pPr>
            <a:r>
              <a:rPr lang="en-US" sz="900" dirty="0">
                <a:solidFill>
                  <a:srgbClr val="4A4A4A"/>
                </a:solidFill>
                <a:latin typeface="Calibri" pitchFamily="34" charset="0"/>
                <a:ea typeface="Calibri" pitchFamily="34" charset="-122"/>
                <a:cs typeface="Calibri" pitchFamily="34" charset="-120"/>
              </a:rPr>
              <a:t>Ch.7 • Stallings, Computer Organization &amp; Architecture</a:t>
            </a:r>
            <a:endParaRPr lang="en-US" sz="900" dirty="0"/>
          </a:p>
        </p:txBody>
      </p:sp>
      <p:sp>
        <p:nvSpPr>
          <p:cNvPr id="51" name="Text 44"/>
          <p:cNvSpPr/>
          <p:nvPr/>
        </p:nvSpPr>
        <p:spPr>
          <a:xfrm>
            <a:off x="11475720" y="6510528"/>
            <a:ext cx="548640" cy="274320"/>
          </a:xfrm>
          <a:prstGeom prst="rect">
            <a:avLst/>
          </a:prstGeom>
          <a:noFill/>
          <a:ln/>
        </p:spPr>
        <p:txBody>
          <a:bodyPr wrap="square" lIns="0" tIns="0" rIns="0" bIns="0" rtlCol="0" anchor="ctr"/>
          <a:lstStyle/>
          <a:p>
            <a:pPr marL="0" indent="0" algn="r">
              <a:buNone/>
            </a:pPr>
            <a:r>
              <a:rPr lang="en-US" sz="1000" dirty="0">
                <a:solidFill>
                  <a:srgbClr val="4A4A4A"/>
                </a:solidFill>
                <a:latin typeface="Calibri" pitchFamily="34" charset="0"/>
                <a:ea typeface="Calibri" pitchFamily="34" charset="-122"/>
                <a:cs typeface="Calibri" pitchFamily="34" charset="-120"/>
              </a:rPr>
              <a:t>6/30</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8E1"/>
        </a:solidFill>
        <a:effectLst/>
      </p:bgPr>
    </p:bg>
    <p:spTree>
      <p:nvGrpSpPr>
        <p:cNvPr id="1" name=""/>
        <p:cNvGrpSpPr/>
        <p:nvPr/>
      </p:nvGrpSpPr>
      <p:grpSpPr>
        <a:xfrm>
          <a:off x="0" y="0"/>
          <a:ext cx="0" cy="0"/>
          <a:chOff x="0" y="0"/>
          <a:chExt cx="0" cy="0"/>
        </a:xfrm>
      </p:grpSpPr>
      <p:sp>
        <p:nvSpPr>
          <p:cNvPr id="2" name="Shape 0"/>
          <p:cNvSpPr/>
          <p:nvPr/>
        </p:nvSpPr>
        <p:spPr>
          <a:xfrm>
            <a:off x="1234440" y="1417320"/>
            <a:ext cx="10607040" cy="0"/>
          </a:xfrm>
          <a:prstGeom prst="line">
            <a:avLst/>
          </a:prstGeom>
          <a:noFill/>
          <a:ln w="12700">
            <a:solidFill>
              <a:srgbClr val="E9DFC4"/>
            </a:solidFill>
            <a:prstDash val="solid"/>
          </a:ln>
        </p:spPr>
      </p:sp>
      <p:sp>
        <p:nvSpPr>
          <p:cNvPr id="3" name="Shape 1"/>
          <p:cNvSpPr/>
          <p:nvPr/>
        </p:nvSpPr>
        <p:spPr>
          <a:xfrm>
            <a:off x="1234440" y="1801368"/>
            <a:ext cx="10607040" cy="0"/>
          </a:xfrm>
          <a:prstGeom prst="line">
            <a:avLst/>
          </a:prstGeom>
          <a:noFill/>
          <a:ln w="12700">
            <a:solidFill>
              <a:srgbClr val="E9DFC4"/>
            </a:solidFill>
            <a:prstDash val="solid"/>
          </a:ln>
        </p:spPr>
      </p:sp>
      <p:sp>
        <p:nvSpPr>
          <p:cNvPr id="4" name="Shape 2"/>
          <p:cNvSpPr/>
          <p:nvPr/>
        </p:nvSpPr>
        <p:spPr>
          <a:xfrm>
            <a:off x="1234440" y="2185416"/>
            <a:ext cx="10607040" cy="0"/>
          </a:xfrm>
          <a:prstGeom prst="line">
            <a:avLst/>
          </a:prstGeom>
          <a:noFill/>
          <a:ln w="12700">
            <a:solidFill>
              <a:srgbClr val="E9DFC4"/>
            </a:solidFill>
            <a:prstDash val="solid"/>
          </a:ln>
        </p:spPr>
      </p:sp>
      <p:sp>
        <p:nvSpPr>
          <p:cNvPr id="5" name="Shape 3"/>
          <p:cNvSpPr/>
          <p:nvPr/>
        </p:nvSpPr>
        <p:spPr>
          <a:xfrm>
            <a:off x="1234440" y="2569464"/>
            <a:ext cx="10607040" cy="0"/>
          </a:xfrm>
          <a:prstGeom prst="line">
            <a:avLst/>
          </a:prstGeom>
          <a:noFill/>
          <a:ln w="12700">
            <a:solidFill>
              <a:srgbClr val="E9DFC4"/>
            </a:solidFill>
            <a:prstDash val="solid"/>
          </a:ln>
        </p:spPr>
      </p:sp>
      <p:sp>
        <p:nvSpPr>
          <p:cNvPr id="6" name="Shape 4"/>
          <p:cNvSpPr/>
          <p:nvPr/>
        </p:nvSpPr>
        <p:spPr>
          <a:xfrm>
            <a:off x="1234440" y="2953512"/>
            <a:ext cx="10607040" cy="0"/>
          </a:xfrm>
          <a:prstGeom prst="line">
            <a:avLst/>
          </a:prstGeom>
          <a:noFill/>
          <a:ln w="12700">
            <a:solidFill>
              <a:srgbClr val="E9DFC4"/>
            </a:solidFill>
            <a:prstDash val="solid"/>
          </a:ln>
        </p:spPr>
      </p:sp>
      <p:sp>
        <p:nvSpPr>
          <p:cNvPr id="7" name="Shape 5"/>
          <p:cNvSpPr/>
          <p:nvPr/>
        </p:nvSpPr>
        <p:spPr>
          <a:xfrm>
            <a:off x="1234440" y="3337560"/>
            <a:ext cx="10607040" cy="0"/>
          </a:xfrm>
          <a:prstGeom prst="line">
            <a:avLst/>
          </a:prstGeom>
          <a:noFill/>
          <a:ln w="12700">
            <a:solidFill>
              <a:srgbClr val="E9DFC4"/>
            </a:solidFill>
            <a:prstDash val="solid"/>
          </a:ln>
        </p:spPr>
      </p:sp>
      <p:sp>
        <p:nvSpPr>
          <p:cNvPr id="8" name="Shape 6"/>
          <p:cNvSpPr/>
          <p:nvPr/>
        </p:nvSpPr>
        <p:spPr>
          <a:xfrm>
            <a:off x="1234440" y="3721608"/>
            <a:ext cx="10607040" cy="0"/>
          </a:xfrm>
          <a:prstGeom prst="line">
            <a:avLst/>
          </a:prstGeom>
          <a:noFill/>
          <a:ln w="12700">
            <a:solidFill>
              <a:srgbClr val="E9DFC4"/>
            </a:solidFill>
            <a:prstDash val="solid"/>
          </a:ln>
        </p:spPr>
      </p:sp>
      <p:sp>
        <p:nvSpPr>
          <p:cNvPr id="9" name="Shape 7"/>
          <p:cNvSpPr/>
          <p:nvPr/>
        </p:nvSpPr>
        <p:spPr>
          <a:xfrm>
            <a:off x="1234440" y="4105656"/>
            <a:ext cx="10607040" cy="0"/>
          </a:xfrm>
          <a:prstGeom prst="line">
            <a:avLst/>
          </a:prstGeom>
          <a:noFill/>
          <a:ln w="12700">
            <a:solidFill>
              <a:srgbClr val="E9DFC4"/>
            </a:solidFill>
            <a:prstDash val="solid"/>
          </a:ln>
        </p:spPr>
      </p:sp>
      <p:sp>
        <p:nvSpPr>
          <p:cNvPr id="10" name="Shape 8"/>
          <p:cNvSpPr/>
          <p:nvPr/>
        </p:nvSpPr>
        <p:spPr>
          <a:xfrm>
            <a:off x="1234440" y="4489704"/>
            <a:ext cx="10607040" cy="0"/>
          </a:xfrm>
          <a:prstGeom prst="line">
            <a:avLst/>
          </a:prstGeom>
          <a:noFill/>
          <a:ln w="12700">
            <a:solidFill>
              <a:srgbClr val="E9DFC4"/>
            </a:solidFill>
            <a:prstDash val="solid"/>
          </a:ln>
        </p:spPr>
      </p:sp>
      <p:sp>
        <p:nvSpPr>
          <p:cNvPr id="11" name="Shape 9"/>
          <p:cNvSpPr/>
          <p:nvPr/>
        </p:nvSpPr>
        <p:spPr>
          <a:xfrm>
            <a:off x="1234440" y="4873752"/>
            <a:ext cx="10607040" cy="0"/>
          </a:xfrm>
          <a:prstGeom prst="line">
            <a:avLst/>
          </a:prstGeom>
          <a:noFill/>
          <a:ln w="12700">
            <a:solidFill>
              <a:srgbClr val="E9DFC4"/>
            </a:solidFill>
            <a:prstDash val="solid"/>
          </a:ln>
        </p:spPr>
      </p:sp>
      <p:sp>
        <p:nvSpPr>
          <p:cNvPr id="12" name="Shape 10"/>
          <p:cNvSpPr/>
          <p:nvPr/>
        </p:nvSpPr>
        <p:spPr>
          <a:xfrm>
            <a:off x="1234440" y="5257800"/>
            <a:ext cx="10607040" cy="0"/>
          </a:xfrm>
          <a:prstGeom prst="line">
            <a:avLst/>
          </a:prstGeom>
          <a:noFill/>
          <a:ln w="12700">
            <a:solidFill>
              <a:srgbClr val="E9DFC4"/>
            </a:solidFill>
            <a:prstDash val="solid"/>
          </a:ln>
        </p:spPr>
      </p:sp>
      <p:sp>
        <p:nvSpPr>
          <p:cNvPr id="13" name="Shape 11"/>
          <p:cNvSpPr/>
          <p:nvPr/>
        </p:nvSpPr>
        <p:spPr>
          <a:xfrm>
            <a:off x="1234440" y="5641848"/>
            <a:ext cx="10607040" cy="0"/>
          </a:xfrm>
          <a:prstGeom prst="line">
            <a:avLst/>
          </a:prstGeom>
          <a:noFill/>
          <a:ln w="12700">
            <a:solidFill>
              <a:srgbClr val="E9DFC4"/>
            </a:solidFill>
            <a:prstDash val="solid"/>
          </a:ln>
        </p:spPr>
      </p:sp>
      <p:sp>
        <p:nvSpPr>
          <p:cNvPr id="14" name="Shape 12"/>
          <p:cNvSpPr/>
          <p:nvPr/>
        </p:nvSpPr>
        <p:spPr>
          <a:xfrm>
            <a:off x="1234440" y="6025896"/>
            <a:ext cx="10607040" cy="0"/>
          </a:xfrm>
          <a:prstGeom prst="line">
            <a:avLst/>
          </a:prstGeom>
          <a:noFill/>
          <a:ln w="12700">
            <a:solidFill>
              <a:srgbClr val="E9DFC4"/>
            </a:solidFill>
            <a:prstDash val="solid"/>
          </a:ln>
        </p:spPr>
      </p:sp>
      <p:sp>
        <p:nvSpPr>
          <p:cNvPr id="15" name="Shape 13"/>
          <p:cNvSpPr/>
          <p:nvPr/>
        </p:nvSpPr>
        <p:spPr>
          <a:xfrm>
            <a:off x="1234440" y="6409944"/>
            <a:ext cx="10607040" cy="0"/>
          </a:xfrm>
          <a:prstGeom prst="line">
            <a:avLst/>
          </a:prstGeom>
          <a:noFill/>
          <a:ln w="12700">
            <a:solidFill>
              <a:srgbClr val="E9DFC4"/>
            </a:solidFill>
            <a:prstDash val="solid"/>
          </a:ln>
        </p:spPr>
      </p:sp>
      <p:sp>
        <p:nvSpPr>
          <p:cNvPr id="16" name="Shape 14"/>
          <p:cNvSpPr/>
          <p:nvPr/>
        </p:nvSpPr>
        <p:spPr>
          <a:xfrm>
            <a:off x="1051560" y="320040"/>
            <a:ext cx="0" cy="6309360"/>
          </a:xfrm>
          <a:prstGeom prst="line">
            <a:avLst/>
          </a:prstGeom>
          <a:noFill/>
          <a:ln w="15875">
            <a:solidFill>
              <a:srgbClr val="C0392B"/>
            </a:solidFill>
            <a:prstDash val="solid"/>
          </a:ln>
        </p:spPr>
      </p:sp>
      <p:sp>
        <p:nvSpPr>
          <p:cNvPr id="17" name="Text 15"/>
          <p:cNvSpPr/>
          <p:nvPr/>
        </p:nvSpPr>
        <p:spPr>
          <a:xfrm>
            <a:off x="1280160" y="310896"/>
            <a:ext cx="2743200" cy="320040"/>
          </a:xfrm>
          <a:prstGeom prst="rect">
            <a:avLst/>
          </a:prstGeom>
          <a:noFill/>
          <a:ln/>
        </p:spPr>
        <p:txBody>
          <a:bodyPr wrap="square" lIns="0" tIns="0" rIns="0" bIns="0" rtlCol="0" anchor="ctr"/>
          <a:lstStyle/>
          <a:p>
            <a:pPr marL="0" indent="0">
              <a:buNone/>
            </a:pPr>
            <a:r>
              <a:rPr lang="en-US" sz="1300" b="1" dirty="0">
                <a:solidFill>
                  <a:srgbClr val="C0392B"/>
                </a:solidFill>
                <a:latin typeface="Calibri" pitchFamily="34" charset="0"/>
                <a:ea typeface="Calibri" pitchFamily="34" charset="-122"/>
                <a:cs typeface="Calibri" pitchFamily="34" charset="-120"/>
              </a:rPr>
              <a:t>Topic 1.2</a:t>
            </a:r>
            <a:endParaRPr lang="en-US" sz="1300" dirty="0"/>
          </a:p>
        </p:txBody>
      </p:sp>
      <p:sp>
        <p:nvSpPr>
          <p:cNvPr id="18" name="Text 16"/>
          <p:cNvSpPr/>
          <p:nvPr/>
        </p:nvSpPr>
        <p:spPr>
          <a:xfrm>
            <a:off x="1234440" y="566928"/>
            <a:ext cx="8138160" cy="777240"/>
          </a:xfrm>
          <a:prstGeom prst="rect">
            <a:avLst/>
          </a:prstGeom>
          <a:noFill/>
          <a:ln/>
        </p:spPr>
        <p:txBody>
          <a:bodyPr wrap="square" lIns="0" tIns="0" rIns="0" bIns="0" rtlCol="0" anchor="t"/>
          <a:lstStyle/>
          <a:p>
            <a:pPr marL="0" indent="0">
              <a:buNone/>
            </a:pPr>
            <a:r>
              <a:rPr lang="en-US" sz="3000" b="1" dirty="0">
                <a:solidFill>
                  <a:srgbClr val="1B3A6B"/>
                </a:solidFill>
                <a:latin typeface="Comic Sans MS" pitchFamily="34" charset="0"/>
                <a:ea typeface="Comic Sans MS" pitchFamily="34" charset="-122"/>
                <a:cs typeface="Comic Sans MS" pitchFamily="34" charset="-120"/>
              </a:rPr>
              <a:t>I/O Modules</a:t>
            </a:r>
            <a:endParaRPr lang="en-US" sz="3000" dirty="0"/>
          </a:p>
        </p:txBody>
      </p:sp>
      <p:sp>
        <p:nvSpPr>
          <p:cNvPr id="19" name="Shape 17"/>
          <p:cNvSpPr/>
          <p:nvPr/>
        </p:nvSpPr>
        <p:spPr>
          <a:xfrm>
            <a:off x="9646920" y="384048"/>
            <a:ext cx="1965960" cy="384048"/>
          </a:xfrm>
          <a:prstGeom prst="roundRect">
            <a:avLst>
              <a:gd name="adj" fmla="val 19048"/>
            </a:avLst>
          </a:prstGeom>
          <a:solidFill>
            <a:srgbClr val="C0392B"/>
          </a:solidFill>
          <a:ln/>
        </p:spPr>
      </p:sp>
      <p:sp>
        <p:nvSpPr>
          <p:cNvPr id="20" name="Text 18"/>
          <p:cNvSpPr/>
          <p:nvPr/>
        </p:nvSpPr>
        <p:spPr>
          <a:xfrm>
            <a:off x="9646920" y="384048"/>
            <a:ext cx="196596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EXAMPLE</a:t>
            </a:r>
            <a:endParaRPr lang="en-US" sz="1200" dirty="0"/>
          </a:p>
        </p:txBody>
      </p:sp>
      <p:sp>
        <p:nvSpPr>
          <p:cNvPr id="21" name="Shape 19"/>
          <p:cNvSpPr/>
          <p:nvPr/>
        </p:nvSpPr>
        <p:spPr>
          <a:xfrm>
            <a:off x="8732520" y="502920"/>
            <a:ext cx="1051560" cy="1051560"/>
          </a:xfrm>
          <a:prstGeom prst="ellipse">
            <a:avLst/>
          </a:prstGeom>
          <a:solidFill>
            <a:srgbClr val="DCE6F5"/>
          </a:solidFill>
          <a:ln/>
          <a:effectLst>
            <a:outerShdw blurRad="50800" dist="25400" dir="5400000" algn="bl" rotWithShape="0">
              <a:srgbClr val="999999">
                <a:alpha val="25000"/>
              </a:srgbClr>
            </a:outerShdw>
          </a:effectLst>
        </p:spPr>
      </p:sp>
      <p:pic>
        <p:nvPicPr>
          <p:cNvPr id="22" name="Image 0" descr="/home/claude/iobook/icons/plug.png"/>
          <p:cNvPicPr>
            <a:picLocks noChangeAspect="1"/>
          </p:cNvPicPr>
          <p:nvPr/>
        </p:nvPicPr>
        <p:blipFill>
          <a:blip r:embed="rId3"/>
          <a:stretch>
            <a:fillRect/>
          </a:stretch>
        </p:blipFill>
        <p:spPr>
          <a:xfrm>
            <a:off x="8963863" y="734263"/>
            <a:ext cx="588874" cy="588874"/>
          </a:xfrm>
          <a:prstGeom prst="rect">
            <a:avLst/>
          </a:prstGeom>
        </p:spPr>
      </p:pic>
      <p:sp>
        <p:nvSpPr>
          <p:cNvPr id="23" name="Shape 20"/>
          <p:cNvSpPr/>
          <p:nvPr/>
        </p:nvSpPr>
        <p:spPr>
          <a:xfrm>
            <a:off x="1280160" y="1691640"/>
            <a:ext cx="6126480" cy="2834640"/>
          </a:xfrm>
          <a:prstGeom prst="roundRect">
            <a:avLst>
              <a:gd name="adj" fmla="val 3226"/>
            </a:avLst>
          </a:prstGeom>
          <a:solidFill>
            <a:srgbClr val="FFFFFF"/>
          </a:solidFill>
          <a:ln w="12700">
            <a:solidFill>
              <a:srgbClr val="1B3A6B"/>
            </a:solidFill>
            <a:prstDash val="solid"/>
          </a:ln>
          <a:effectLst>
            <a:outerShdw blurRad="38100" dist="25400" dir="5400000" algn="bl" rotWithShape="0">
              <a:srgbClr val="999999">
                <a:alpha val="20000"/>
              </a:srgbClr>
            </a:outerShdw>
          </a:effectLst>
        </p:spPr>
      </p:sp>
      <p:sp>
        <p:nvSpPr>
          <p:cNvPr id="24" name="Text 21"/>
          <p:cNvSpPr/>
          <p:nvPr/>
        </p:nvSpPr>
        <p:spPr>
          <a:xfrm>
            <a:off x="1508760" y="1828800"/>
            <a:ext cx="5669280" cy="320040"/>
          </a:xfrm>
          <a:prstGeom prst="rect">
            <a:avLst/>
          </a:prstGeom>
          <a:noFill/>
          <a:ln/>
        </p:spPr>
        <p:txBody>
          <a:bodyPr wrap="square" lIns="0" tIns="0" rIns="0" bIns="0" rtlCol="0" anchor="ctr"/>
          <a:lstStyle/>
          <a:p>
            <a:pPr marL="0" indent="0">
              <a:buNone/>
            </a:pPr>
            <a:r>
              <a:rPr lang="en-US" sz="1300" b="1" dirty="0">
                <a:solidFill>
                  <a:srgbClr val="C0392B"/>
                </a:solidFill>
                <a:latin typeface="Calibri" pitchFamily="34" charset="0"/>
                <a:ea typeface="Calibri" pitchFamily="34" charset="-122"/>
                <a:cs typeface="Calibri" pitchFamily="34" charset="-120"/>
              </a:rPr>
              <a:t>REAL-LIFE EXAMPLE</a:t>
            </a:r>
            <a:endParaRPr lang="en-US" sz="1300" dirty="0"/>
          </a:p>
        </p:txBody>
      </p:sp>
      <p:sp>
        <p:nvSpPr>
          <p:cNvPr id="25" name="Text 22"/>
          <p:cNvSpPr/>
          <p:nvPr/>
        </p:nvSpPr>
        <p:spPr>
          <a:xfrm>
            <a:off x="1508760" y="2194560"/>
            <a:ext cx="5669280" cy="2194560"/>
          </a:xfrm>
          <a:prstGeom prst="rect">
            <a:avLst/>
          </a:prstGeom>
          <a:noFill/>
          <a:ln/>
        </p:spPr>
        <p:txBody>
          <a:bodyPr wrap="square" lIns="0" tIns="0" rIns="0" bIns="0" rtlCol="0" anchor="t"/>
          <a:lstStyle/>
          <a:p>
            <a:pPr marL="0" indent="0">
              <a:buNone/>
            </a:pPr>
            <a:r>
              <a:rPr lang="en-US" sz="1450" dirty="0">
                <a:solidFill>
                  <a:srgbClr val="1B3A6B"/>
                </a:solidFill>
                <a:latin typeface="Calibri" pitchFamily="34" charset="0"/>
                <a:ea typeface="Calibri" pitchFamily="34" charset="-122"/>
                <a:cs typeface="Calibri" pitchFamily="34" charset="-120"/>
              </a:rPr>
              <a:t>A disk controller card is an I/O module. It takes the CPU's simple request — 'save this file' — and manages exactly how the bits are written onto the spinning disk.</a:t>
            </a:r>
            <a:endParaRPr lang="en-US" sz="1450" dirty="0"/>
          </a:p>
        </p:txBody>
      </p:sp>
      <p:sp>
        <p:nvSpPr>
          <p:cNvPr id="26" name="Shape 23"/>
          <p:cNvSpPr/>
          <p:nvPr/>
        </p:nvSpPr>
        <p:spPr>
          <a:xfrm>
            <a:off x="7635240" y="1691640"/>
            <a:ext cx="3383280" cy="2834640"/>
          </a:xfrm>
          <a:prstGeom prst="roundRect">
            <a:avLst>
              <a:gd name="adj" fmla="val 3226"/>
            </a:avLst>
          </a:prstGeom>
          <a:solidFill>
            <a:srgbClr val="C0392B"/>
          </a:solidFill>
          <a:ln/>
          <a:effectLst>
            <a:outerShdw blurRad="50800" dist="25400" dir="5400000" algn="bl" rotWithShape="0">
              <a:srgbClr val="000000">
                <a:alpha val="25000"/>
              </a:srgbClr>
            </a:outerShdw>
          </a:effectLst>
        </p:spPr>
      </p:sp>
      <p:pic>
        <p:nvPicPr>
          <p:cNvPr id="27" name="Image 1" descr="/home/claude/iobook/icons/check.png"/>
          <p:cNvPicPr>
            <a:picLocks noChangeAspect="1"/>
          </p:cNvPicPr>
          <p:nvPr/>
        </p:nvPicPr>
        <p:blipFill>
          <a:blip r:embed="rId4"/>
          <a:stretch>
            <a:fillRect/>
          </a:stretch>
        </p:blipFill>
        <p:spPr>
          <a:xfrm>
            <a:off x="7863840" y="1874520"/>
            <a:ext cx="457200" cy="457200"/>
          </a:xfrm>
          <a:prstGeom prst="rect">
            <a:avLst/>
          </a:prstGeom>
        </p:spPr>
      </p:pic>
      <p:sp>
        <p:nvSpPr>
          <p:cNvPr id="28" name="Text 24"/>
          <p:cNvSpPr/>
          <p:nvPr/>
        </p:nvSpPr>
        <p:spPr>
          <a:xfrm>
            <a:off x="8412480" y="1920240"/>
            <a:ext cx="2514600" cy="32004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KEY TAKEAWAY</a:t>
            </a:r>
            <a:endParaRPr lang="en-US" sz="1250" dirty="0"/>
          </a:p>
        </p:txBody>
      </p:sp>
      <p:sp>
        <p:nvSpPr>
          <p:cNvPr id="29" name="Text 25"/>
          <p:cNvSpPr/>
          <p:nvPr/>
        </p:nvSpPr>
        <p:spPr>
          <a:xfrm>
            <a:off x="7863840" y="2423160"/>
            <a:ext cx="3017520" cy="1965960"/>
          </a:xfrm>
          <a:prstGeom prst="rect">
            <a:avLst/>
          </a:prstGeom>
          <a:noFill/>
          <a:ln/>
        </p:spPr>
        <p:txBody>
          <a:bodyPr wrap="square" lIns="0" tIns="0" rIns="0" bIns="0" rtlCol="0" anchor="t"/>
          <a:lstStyle/>
          <a:p>
            <a:pPr marL="0" indent="0">
              <a:buNone/>
            </a:pPr>
            <a:r>
              <a:rPr lang="en-US" sz="1300" dirty="0">
                <a:solidFill>
                  <a:srgbClr val="FFFFFF"/>
                </a:solidFill>
                <a:latin typeface="Calibri" pitchFamily="34" charset="0"/>
                <a:ea typeface="Calibri" pitchFamily="34" charset="-122"/>
                <a:cs typeface="Calibri" pitchFamily="34" charset="-120"/>
              </a:rPr>
              <a:t>I/O modules hide device complexity from the CPU, so the CPU only deals with simple, standard commands.</a:t>
            </a:r>
            <a:endParaRPr lang="en-US" sz="1300" dirty="0"/>
          </a:p>
        </p:txBody>
      </p:sp>
      <p:sp>
        <p:nvSpPr>
          <p:cNvPr id="30" name="Shape 26"/>
          <p:cNvSpPr/>
          <p:nvPr/>
        </p:nvSpPr>
        <p:spPr>
          <a:xfrm>
            <a:off x="1280160" y="4709160"/>
            <a:ext cx="9738360" cy="685800"/>
          </a:xfrm>
          <a:prstGeom prst="roundRect">
            <a:avLst>
              <a:gd name="adj" fmla="val 10667"/>
            </a:avLst>
          </a:prstGeom>
          <a:solidFill>
            <a:srgbClr val="FFE082">
              <a:alpha val="60000"/>
            </a:srgbClr>
          </a:solidFill>
          <a:ln w="9525">
            <a:solidFill>
              <a:srgbClr val="1B3A6B"/>
            </a:solidFill>
            <a:prstDash val="dash"/>
          </a:ln>
        </p:spPr>
      </p:sp>
      <p:sp>
        <p:nvSpPr>
          <p:cNvPr id="31" name="Text 27"/>
          <p:cNvSpPr/>
          <p:nvPr/>
        </p:nvSpPr>
        <p:spPr>
          <a:xfrm>
            <a:off x="1463040" y="4709160"/>
            <a:ext cx="9372600" cy="685800"/>
          </a:xfrm>
          <a:prstGeom prst="rect">
            <a:avLst/>
          </a:prstGeom>
          <a:noFill/>
          <a:ln/>
        </p:spPr>
        <p:txBody>
          <a:bodyPr wrap="square" lIns="0" tIns="0" rIns="0" bIns="0" rtlCol="0" anchor="ctr"/>
          <a:lstStyle/>
          <a:p>
            <a:pPr marL="0" indent="0">
              <a:buNone/>
            </a:pPr>
            <a:r>
              <a:rPr lang="en-US" sz="1300" b="1" dirty="0">
                <a:solidFill>
                  <a:srgbClr val="C0392B"/>
                </a:solidFill>
                <a:latin typeface="Calibri" pitchFamily="34" charset="0"/>
                <a:ea typeface="Calibri" pitchFamily="34" charset="-122"/>
                <a:cs typeface="Calibri" pitchFamily="34" charset="-120"/>
              </a:rPr>
              <a:t>Remember: </a:t>
            </a:r>
            <a:r>
              <a:rPr lang="en-US" sz="1300" dirty="0">
                <a:solidFill>
                  <a:srgbClr val="1B3A6B"/>
                </a:solidFill>
                <a:latin typeface="Calibri" pitchFamily="34" charset="0"/>
                <a:ea typeface="Calibri" pitchFamily="34" charset="-122"/>
                <a:cs typeface="Calibri" pitchFamily="34" charset="-120"/>
              </a:rPr>
              <a:t>I/O module = the 'middleman' hardware between the CPU/bus and an external device.</a:t>
            </a:r>
            <a:endParaRPr lang="en-US" sz="1300" dirty="0"/>
          </a:p>
        </p:txBody>
      </p:sp>
      <p:sp>
        <p:nvSpPr>
          <p:cNvPr id="32" name="Text 28"/>
          <p:cNvSpPr/>
          <p:nvPr/>
        </p:nvSpPr>
        <p:spPr>
          <a:xfrm>
            <a:off x="320040" y="6510528"/>
            <a:ext cx="5486400" cy="274320"/>
          </a:xfrm>
          <a:prstGeom prst="rect">
            <a:avLst/>
          </a:prstGeom>
          <a:noFill/>
          <a:ln/>
        </p:spPr>
        <p:txBody>
          <a:bodyPr wrap="square" lIns="0" tIns="0" rIns="0" bIns="0" rtlCol="0" anchor="ctr"/>
          <a:lstStyle/>
          <a:p>
            <a:pPr marL="0" indent="0">
              <a:buNone/>
            </a:pPr>
            <a:r>
              <a:rPr lang="en-US" sz="1000" i="1" dirty="0">
                <a:solidFill>
                  <a:srgbClr val="4A4A4A"/>
                </a:solidFill>
                <a:latin typeface="Calibri" pitchFamily="34" charset="0"/>
                <a:ea typeface="Calibri" pitchFamily="34" charset="-122"/>
                <a:cs typeface="Calibri" pitchFamily="34" charset="-120"/>
              </a:rPr>
              <a:t>I/O Modules</a:t>
            </a:r>
            <a:endParaRPr lang="en-US" sz="1000" dirty="0"/>
          </a:p>
        </p:txBody>
      </p:sp>
      <p:sp>
        <p:nvSpPr>
          <p:cNvPr id="33" name="Text 29"/>
          <p:cNvSpPr/>
          <p:nvPr/>
        </p:nvSpPr>
        <p:spPr>
          <a:xfrm>
            <a:off x="5029200" y="6510528"/>
            <a:ext cx="5029200" cy="274320"/>
          </a:xfrm>
          <a:prstGeom prst="rect">
            <a:avLst/>
          </a:prstGeom>
          <a:noFill/>
          <a:ln/>
        </p:spPr>
        <p:txBody>
          <a:bodyPr wrap="square" lIns="0" tIns="0" rIns="0" bIns="0" rtlCol="0" anchor="ctr"/>
          <a:lstStyle/>
          <a:p>
            <a:pPr marL="0" indent="0" algn="r">
              <a:buNone/>
            </a:pPr>
            <a:r>
              <a:rPr lang="en-US" sz="900" dirty="0">
                <a:solidFill>
                  <a:srgbClr val="4A4A4A"/>
                </a:solidFill>
                <a:latin typeface="Calibri" pitchFamily="34" charset="0"/>
                <a:ea typeface="Calibri" pitchFamily="34" charset="-122"/>
                <a:cs typeface="Calibri" pitchFamily="34" charset="-120"/>
              </a:rPr>
              <a:t>Ch.7 • Stallings, Computer Organization &amp; Architecture</a:t>
            </a:r>
            <a:endParaRPr lang="en-US" sz="900" dirty="0"/>
          </a:p>
        </p:txBody>
      </p:sp>
      <p:sp>
        <p:nvSpPr>
          <p:cNvPr id="34" name="Text 30"/>
          <p:cNvSpPr/>
          <p:nvPr/>
        </p:nvSpPr>
        <p:spPr>
          <a:xfrm>
            <a:off x="11475720" y="6510528"/>
            <a:ext cx="548640" cy="274320"/>
          </a:xfrm>
          <a:prstGeom prst="rect">
            <a:avLst/>
          </a:prstGeom>
          <a:noFill/>
          <a:ln/>
        </p:spPr>
        <p:txBody>
          <a:bodyPr wrap="square" lIns="0" tIns="0" rIns="0" bIns="0" rtlCol="0" anchor="ctr"/>
          <a:lstStyle/>
          <a:p>
            <a:pPr marL="0" indent="0" algn="r">
              <a:buNone/>
            </a:pPr>
            <a:r>
              <a:rPr lang="en-US" sz="1000" dirty="0">
                <a:solidFill>
                  <a:srgbClr val="4A4A4A"/>
                </a:solidFill>
                <a:latin typeface="Calibri" pitchFamily="34" charset="0"/>
                <a:ea typeface="Calibri" pitchFamily="34" charset="-122"/>
                <a:cs typeface="Calibri" pitchFamily="34" charset="-120"/>
              </a:rPr>
              <a:t>7/30</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8E1"/>
        </a:solidFill>
        <a:effectLst/>
      </p:bgPr>
    </p:bg>
    <p:spTree>
      <p:nvGrpSpPr>
        <p:cNvPr id="1" name=""/>
        <p:cNvGrpSpPr/>
        <p:nvPr/>
      </p:nvGrpSpPr>
      <p:grpSpPr>
        <a:xfrm>
          <a:off x="0" y="0"/>
          <a:ext cx="0" cy="0"/>
          <a:chOff x="0" y="0"/>
          <a:chExt cx="0" cy="0"/>
        </a:xfrm>
      </p:grpSpPr>
      <p:sp>
        <p:nvSpPr>
          <p:cNvPr id="2" name="Shape 0"/>
          <p:cNvSpPr/>
          <p:nvPr/>
        </p:nvSpPr>
        <p:spPr>
          <a:xfrm>
            <a:off x="1234440" y="1417320"/>
            <a:ext cx="10607040" cy="0"/>
          </a:xfrm>
          <a:prstGeom prst="line">
            <a:avLst/>
          </a:prstGeom>
          <a:noFill/>
          <a:ln w="12700">
            <a:solidFill>
              <a:srgbClr val="E9DFC4"/>
            </a:solidFill>
            <a:prstDash val="solid"/>
          </a:ln>
        </p:spPr>
      </p:sp>
      <p:sp>
        <p:nvSpPr>
          <p:cNvPr id="3" name="Shape 1"/>
          <p:cNvSpPr/>
          <p:nvPr/>
        </p:nvSpPr>
        <p:spPr>
          <a:xfrm>
            <a:off x="1234440" y="1801368"/>
            <a:ext cx="10607040" cy="0"/>
          </a:xfrm>
          <a:prstGeom prst="line">
            <a:avLst/>
          </a:prstGeom>
          <a:noFill/>
          <a:ln w="12700">
            <a:solidFill>
              <a:srgbClr val="E9DFC4"/>
            </a:solidFill>
            <a:prstDash val="solid"/>
          </a:ln>
        </p:spPr>
      </p:sp>
      <p:sp>
        <p:nvSpPr>
          <p:cNvPr id="4" name="Shape 2"/>
          <p:cNvSpPr/>
          <p:nvPr/>
        </p:nvSpPr>
        <p:spPr>
          <a:xfrm>
            <a:off x="1234440" y="2185416"/>
            <a:ext cx="10607040" cy="0"/>
          </a:xfrm>
          <a:prstGeom prst="line">
            <a:avLst/>
          </a:prstGeom>
          <a:noFill/>
          <a:ln w="12700">
            <a:solidFill>
              <a:srgbClr val="E9DFC4"/>
            </a:solidFill>
            <a:prstDash val="solid"/>
          </a:ln>
        </p:spPr>
      </p:sp>
      <p:sp>
        <p:nvSpPr>
          <p:cNvPr id="5" name="Shape 3"/>
          <p:cNvSpPr/>
          <p:nvPr/>
        </p:nvSpPr>
        <p:spPr>
          <a:xfrm>
            <a:off x="1234440" y="2569464"/>
            <a:ext cx="10607040" cy="0"/>
          </a:xfrm>
          <a:prstGeom prst="line">
            <a:avLst/>
          </a:prstGeom>
          <a:noFill/>
          <a:ln w="12700">
            <a:solidFill>
              <a:srgbClr val="E9DFC4"/>
            </a:solidFill>
            <a:prstDash val="solid"/>
          </a:ln>
        </p:spPr>
      </p:sp>
      <p:sp>
        <p:nvSpPr>
          <p:cNvPr id="6" name="Shape 4"/>
          <p:cNvSpPr/>
          <p:nvPr/>
        </p:nvSpPr>
        <p:spPr>
          <a:xfrm>
            <a:off x="1234440" y="2953512"/>
            <a:ext cx="10607040" cy="0"/>
          </a:xfrm>
          <a:prstGeom prst="line">
            <a:avLst/>
          </a:prstGeom>
          <a:noFill/>
          <a:ln w="12700">
            <a:solidFill>
              <a:srgbClr val="E9DFC4"/>
            </a:solidFill>
            <a:prstDash val="solid"/>
          </a:ln>
        </p:spPr>
      </p:sp>
      <p:sp>
        <p:nvSpPr>
          <p:cNvPr id="7" name="Shape 5"/>
          <p:cNvSpPr/>
          <p:nvPr/>
        </p:nvSpPr>
        <p:spPr>
          <a:xfrm>
            <a:off x="1234440" y="3337560"/>
            <a:ext cx="10607040" cy="0"/>
          </a:xfrm>
          <a:prstGeom prst="line">
            <a:avLst/>
          </a:prstGeom>
          <a:noFill/>
          <a:ln w="12700">
            <a:solidFill>
              <a:srgbClr val="E9DFC4"/>
            </a:solidFill>
            <a:prstDash val="solid"/>
          </a:ln>
        </p:spPr>
      </p:sp>
      <p:sp>
        <p:nvSpPr>
          <p:cNvPr id="8" name="Shape 6"/>
          <p:cNvSpPr/>
          <p:nvPr/>
        </p:nvSpPr>
        <p:spPr>
          <a:xfrm>
            <a:off x="1234440" y="3721608"/>
            <a:ext cx="10607040" cy="0"/>
          </a:xfrm>
          <a:prstGeom prst="line">
            <a:avLst/>
          </a:prstGeom>
          <a:noFill/>
          <a:ln w="12700">
            <a:solidFill>
              <a:srgbClr val="E9DFC4"/>
            </a:solidFill>
            <a:prstDash val="solid"/>
          </a:ln>
        </p:spPr>
      </p:sp>
      <p:sp>
        <p:nvSpPr>
          <p:cNvPr id="9" name="Shape 7"/>
          <p:cNvSpPr/>
          <p:nvPr/>
        </p:nvSpPr>
        <p:spPr>
          <a:xfrm>
            <a:off x="1234440" y="4105656"/>
            <a:ext cx="10607040" cy="0"/>
          </a:xfrm>
          <a:prstGeom prst="line">
            <a:avLst/>
          </a:prstGeom>
          <a:noFill/>
          <a:ln w="12700">
            <a:solidFill>
              <a:srgbClr val="E9DFC4"/>
            </a:solidFill>
            <a:prstDash val="solid"/>
          </a:ln>
        </p:spPr>
      </p:sp>
      <p:sp>
        <p:nvSpPr>
          <p:cNvPr id="10" name="Shape 8"/>
          <p:cNvSpPr/>
          <p:nvPr/>
        </p:nvSpPr>
        <p:spPr>
          <a:xfrm>
            <a:off x="1234440" y="4489704"/>
            <a:ext cx="10607040" cy="0"/>
          </a:xfrm>
          <a:prstGeom prst="line">
            <a:avLst/>
          </a:prstGeom>
          <a:noFill/>
          <a:ln w="12700">
            <a:solidFill>
              <a:srgbClr val="E9DFC4"/>
            </a:solidFill>
            <a:prstDash val="solid"/>
          </a:ln>
        </p:spPr>
      </p:sp>
      <p:sp>
        <p:nvSpPr>
          <p:cNvPr id="11" name="Shape 9"/>
          <p:cNvSpPr/>
          <p:nvPr/>
        </p:nvSpPr>
        <p:spPr>
          <a:xfrm>
            <a:off x="1234440" y="4873752"/>
            <a:ext cx="10607040" cy="0"/>
          </a:xfrm>
          <a:prstGeom prst="line">
            <a:avLst/>
          </a:prstGeom>
          <a:noFill/>
          <a:ln w="12700">
            <a:solidFill>
              <a:srgbClr val="E9DFC4"/>
            </a:solidFill>
            <a:prstDash val="solid"/>
          </a:ln>
        </p:spPr>
      </p:sp>
      <p:sp>
        <p:nvSpPr>
          <p:cNvPr id="12" name="Shape 10"/>
          <p:cNvSpPr/>
          <p:nvPr/>
        </p:nvSpPr>
        <p:spPr>
          <a:xfrm>
            <a:off x="1234440" y="5257800"/>
            <a:ext cx="10607040" cy="0"/>
          </a:xfrm>
          <a:prstGeom prst="line">
            <a:avLst/>
          </a:prstGeom>
          <a:noFill/>
          <a:ln w="12700">
            <a:solidFill>
              <a:srgbClr val="E9DFC4"/>
            </a:solidFill>
            <a:prstDash val="solid"/>
          </a:ln>
        </p:spPr>
      </p:sp>
      <p:sp>
        <p:nvSpPr>
          <p:cNvPr id="13" name="Shape 11"/>
          <p:cNvSpPr/>
          <p:nvPr/>
        </p:nvSpPr>
        <p:spPr>
          <a:xfrm>
            <a:off x="1234440" y="5641848"/>
            <a:ext cx="10607040" cy="0"/>
          </a:xfrm>
          <a:prstGeom prst="line">
            <a:avLst/>
          </a:prstGeom>
          <a:noFill/>
          <a:ln w="12700">
            <a:solidFill>
              <a:srgbClr val="E9DFC4"/>
            </a:solidFill>
            <a:prstDash val="solid"/>
          </a:ln>
        </p:spPr>
      </p:sp>
      <p:sp>
        <p:nvSpPr>
          <p:cNvPr id="14" name="Shape 12"/>
          <p:cNvSpPr/>
          <p:nvPr/>
        </p:nvSpPr>
        <p:spPr>
          <a:xfrm>
            <a:off x="1234440" y="6025896"/>
            <a:ext cx="10607040" cy="0"/>
          </a:xfrm>
          <a:prstGeom prst="line">
            <a:avLst/>
          </a:prstGeom>
          <a:noFill/>
          <a:ln w="12700">
            <a:solidFill>
              <a:srgbClr val="E9DFC4"/>
            </a:solidFill>
            <a:prstDash val="solid"/>
          </a:ln>
        </p:spPr>
      </p:sp>
      <p:sp>
        <p:nvSpPr>
          <p:cNvPr id="15" name="Shape 13"/>
          <p:cNvSpPr/>
          <p:nvPr/>
        </p:nvSpPr>
        <p:spPr>
          <a:xfrm>
            <a:off x="1234440" y="6409944"/>
            <a:ext cx="10607040" cy="0"/>
          </a:xfrm>
          <a:prstGeom prst="line">
            <a:avLst/>
          </a:prstGeom>
          <a:noFill/>
          <a:ln w="12700">
            <a:solidFill>
              <a:srgbClr val="E9DFC4"/>
            </a:solidFill>
            <a:prstDash val="solid"/>
          </a:ln>
        </p:spPr>
      </p:sp>
      <p:sp>
        <p:nvSpPr>
          <p:cNvPr id="16" name="Shape 14"/>
          <p:cNvSpPr/>
          <p:nvPr/>
        </p:nvSpPr>
        <p:spPr>
          <a:xfrm>
            <a:off x="1051560" y="320040"/>
            <a:ext cx="0" cy="6309360"/>
          </a:xfrm>
          <a:prstGeom prst="line">
            <a:avLst/>
          </a:prstGeom>
          <a:noFill/>
          <a:ln w="15875">
            <a:solidFill>
              <a:srgbClr val="C0392B"/>
            </a:solidFill>
            <a:prstDash val="solid"/>
          </a:ln>
        </p:spPr>
      </p:sp>
      <p:sp>
        <p:nvSpPr>
          <p:cNvPr id="17" name="Text 15"/>
          <p:cNvSpPr/>
          <p:nvPr/>
        </p:nvSpPr>
        <p:spPr>
          <a:xfrm>
            <a:off x="1280160" y="310896"/>
            <a:ext cx="2743200" cy="320040"/>
          </a:xfrm>
          <a:prstGeom prst="rect">
            <a:avLst/>
          </a:prstGeom>
          <a:noFill/>
          <a:ln/>
        </p:spPr>
        <p:txBody>
          <a:bodyPr wrap="square" lIns="0" tIns="0" rIns="0" bIns="0" rtlCol="0" anchor="ctr"/>
          <a:lstStyle/>
          <a:p>
            <a:pPr marL="0" indent="0">
              <a:buNone/>
            </a:pPr>
            <a:r>
              <a:rPr lang="en-US" sz="1300" b="1" dirty="0">
                <a:solidFill>
                  <a:srgbClr val="C0392B"/>
                </a:solidFill>
                <a:latin typeface="Calibri" pitchFamily="34" charset="0"/>
                <a:ea typeface="Calibri" pitchFamily="34" charset="-122"/>
                <a:cs typeface="Calibri" pitchFamily="34" charset="-120"/>
              </a:rPr>
              <a:t>Topic 1.3</a:t>
            </a:r>
            <a:endParaRPr lang="en-US" sz="1300" dirty="0"/>
          </a:p>
        </p:txBody>
      </p:sp>
      <p:sp>
        <p:nvSpPr>
          <p:cNvPr id="18" name="Text 16"/>
          <p:cNvSpPr/>
          <p:nvPr/>
        </p:nvSpPr>
        <p:spPr>
          <a:xfrm>
            <a:off x="1234440" y="566928"/>
            <a:ext cx="8138160" cy="777240"/>
          </a:xfrm>
          <a:prstGeom prst="rect">
            <a:avLst/>
          </a:prstGeom>
          <a:noFill/>
          <a:ln/>
        </p:spPr>
        <p:txBody>
          <a:bodyPr wrap="square" lIns="0" tIns="0" rIns="0" bIns="0" rtlCol="0" anchor="t"/>
          <a:lstStyle/>
          <a:p>
            <a:pPr marL="0" indent="0">
              <a:buNone/>
            </a:pPr>
            <a:r>
              <a:rPr lang="en-US" sz="3000" b="1" dirty="0">
                <a:solidFill>
                  <a:srgbClr val="1B3A6B"/>
                </a:solidFill>
                <a:latin typeface="Comic Sans MS" pitchFamily="34" charset="0"/>
                <a:ea typeface="Comic Sans MS" pitchFamily="34" charset="-122"/>
                <a:cs typeface="Comic Sans MS" pitchFamily="34" charset="-120"/>
              </a:rPr>
              <a:t>Programmed I/O</a:t>
            </a:r>
            <a:endParaRPr lang="en-US" sz="3000" dirty="0"/>
          </a:p>
        </p:txBody>
      </p:sp>
      <p:sp>
        <p:nvSpPr>
          <p:cNvPr id="19" name="Shape 17"/>
          <p:cNvSpPr/>
          <p:nvPr/>
        </p:nvSpPr>
        <p:spPr>
          <a:xfrm>
            <a:off x="9646920" y="384048"/>
            <a:ext cx="1965960" cy="384048"/>
          </a:xfrm>
          <a:prstGeom prst="roundRect">
            <a:avLst>
              <a:gd name="adj" fmla="val 19048"/>
            </a:avLst>
          </a:prstGeom>
          <a:solidFill>
            <a:srgbClr val="C0392B"/>
          </a:solidFill>
          <a:ln/>
        </p:spPr>
      </p:sp>
      <p:sp>
        <p:nvSpPr>
          <p:cNvPr id="20" name="Text 18"/>
          <p:cNvSpPr/>
          <p:nvPr/>
        </p:nvSpPr>
        <p:spPr>
          <a:xfrm>
            <a:off x="9646920" y="384048"/>
            <a:ext cx="196596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DEFINITION</a:t>
            </a:r>
            <a:endParaRPr lang="en-US" sz="1200" dirty="0"/>
          </a:p>
        </p:txBody>
      </p:sp>
      <p:sp>
        <p:nvSpPr>
          <p:cNvPr id="21" name="Shape 19"/>
          <p:cNvSpPr/>
          <p:nvPr/>
        </p:nvSpPr>
        <p:spPr>
          <a:xfrm>
            <a:off x="8732520" y="502920"/>
            <a:ext cx="1051560" cy="1051560"/>
          </a:xfrm>
          <a:prstGeom prst="ellipse">
            <a:avLst/>
          </a:prstGeom>
          <a:solidFill>
            <a:srgbClr val="DCE6F5"/>
          </a:solidFill>
          <a:ln/>
          <a:effectLst>
            <a:outerShdw blurRad="50800" dist="25400" dir="5400000" algn="bl" rotWithShape="0">
              <a:srgbClr val="999999">
                <a:alpha val="25000"/>
              </a:srgbClr>
            </a:outerShdw>
          </a:effectLst>
        </p:spPr>
      </p:sp>
      <p:pic>
        <p:nvPicPr>
          <p:cNvPr id="22" name="Image 0" descr="/home/claude/iobook/icons/hourglass.png"/>
          <p:cNvPicPr>
            <a:picLocks noChangeAspect="1"/>
          </p:cNvPicPr>
          <p:nvPr/>
        </p:nvPicPr>
        <p:blipFill>
          <a:blip r:embed="rId3"/>
          <a:stretch>
            <a:fillRect/>
          </a:stretch>
        </p:blipFill>
        <p:spPr>
          <a:xfrm>
            <a:off x="8963863" y="734263"/>
            <a:ext cx="588874" cy="588874"/>
          </a:xfrm>
          <a:prstGeom prst="rect">
            <a:avLst/>
          </a:prstGeom>
        </p:spPr>
      </p:pic>
      <p:sp>
        <p:nvSpPr>
          <p:cNvPr id="23" name="Shape 20"/>
          <p:cNvSpPr/>
          <p:nvPr/>
        </p:nvSpPr>
        <p:spPr>
          <a:xfrm>
            <a:off x="1280160" y="1600200"/>
            <a:ext cx="7360920" cy="1554480"/>
          </a:xfrm>
          <a:prstGeom prst="roundRect">
            <a:avLst>
              <a:gd name="adj" fmla="val 5882"/>
            </a:avLst>
          </a:prstGeom>
          <a:solidFill>
            <a:srgbClr val="FFE082">
              <a:alpha val="65000"/>
            </a:srgbClr>
          </a:solidFill>
          <a:ln w="12700">
            <a:solidFill>
              <a:srgbClr val="1B3A6B"/>
            </a:solidFill>
            <a:prstDash val="dash"/>
          </a:ln>
        </p:spPr>
      </p:sp>
      <p:sp>
        <p:nvSpPr>
          <p:cNvPr id="24" name="Text 21"/>
          <p:cNvSpPr/>
          <p:nvPr/>
        </p:nvSpPr>
        <p:spPr>
          <a:xfrm>
            <a:off x="1463040" y="1691640"/>
            <a:ext cx="6949440" cy="274320"/>
          </a:xfrm>
          <a:prstGeom prst="rect">
            <a:avLst/>
          </a:prstGeom>
          <a:noFill/>
          <a:ln/>
        </p:spPr>
        <p:txBody>
          <a:bodyPr wrap="square" lIns="0" tIns="0" rIns="0" bIns="0" rtlCol="0" anchor="ctr"/>
          <a:lstStyle/>
          <a:p>
            <a:pPr marL="0" indent="0">
              <a:buNone/>
            </a:pPr>
            <a:r>
              <a:rPr lang="en-US" sz="1200" b="1" dirty="0">
                <a:solidFill>
                  <a:srgbClr val="C0392B"/>
                </a:solidFill>
                <a:latin typeface="Calibri" pitchFamily="34" charset="0"/>
                <a:ea typeface="Calibri" pitchFamily="34" charset="-122"/>
                <a:cs typeface="Calibri" pitchFamily="34" charset="-120"/>
              </a:rPr>
              <a:t>IN SIMPLE WORDS:</a:t>
            </a:r>
            <a:endParaRPr lang="en-US" sz="1200" dirty="0"/>
          </a:p>
        </p:txBody>
      </p:sp>
      <p:sp>
        <p:nvSpPr>
          <p:cNvPr id="25" name="Text 22"/>
          <p:cNvSpPr/>
          <p:nvPr/>
        </p:nvSpPr>
        <p:spPr>
          <a:xfrm>
            <a:off x="1463040" y="1965960"/>
            <a:ext cx="6949440" cy="1097280"/>
          </a:xfrm>
          <a:prstGeom prst="rect">
            <a:avLst/>
          </a:prstGeom>
          <a:noFill/>
          <a:ln/>
        </p:spPr>
        <p:txBody>
          <a:bodyPr wrap="square" lIns="0" tIns="0" rIns="0" bIns="0" rtlCol="0" anchor="t"/>
          <a:lstStyle/>
          <a:p>
            <a:pPr marL="0" indent="0">
              <a:buNone/>
            </a:pPr>
            <a:r>
              <a:rPr lang="en-US" sz="1500" dirty="0">
                <a:solidFill>
                  <a:srgbClr val="1B3A6B"/>
                </a:solidFill>
                <a:latin typeface="Calibri" pitchFamily="34" charset="0"/>
                <a:ea typeface="Calibri" pitchFamily="34" charset="-122"/>
                <a:cs typeface="Calibri" pitchFamily="34" charset="-120"/>
              </a:rPr>
              <a:t>The CPU directly controls the I/O operation: it sends the command and then keeps checking (polling) the device's status until the job is finished.</a:t>
            </a:r>
            <a:endParaRPr lang="en-US" sz="1500" dirty="0"/>
          </a:p>
        </p:txBody>
      </p:sp>
      <p:sp>
        <p:nvSpPr>
          <p:cNvPr id="26" name="Text 23"/>
          <p:cNvSpPr/>
          <p:nvPr/>
        </p:nvSpPr>
        <p:spPr>
          <a:xfrm>
            <a:off x="1280160" y="3429000"/>
            <a:ext cx="7315200" cy="320040"/>
          </a:xfrm>
          <a:prstGeom prst="rect">
            <a:avLst/>
          </a:prstGeom>
          <a:noFill/>
          <a:ln/>
        </p:spPr>
        <p:txBody>
          <a:bodyPr wrap="square" lIns="0" tIns="0" rIns="0" bIns="0" rtlCol="0" anchor="ctr"/>
          <a:lstStyle/>
          <a:p>
            <a:pPr marL="0" indent="0">
              <a:buNone/>
            </a:pPr>
            <a:r>
              <a:rPr lang="en-US" sz="1300" b="1" dirty="0">
                <a:solidFill>
                  <a:srgbClr val="1B3A6B"/>
                </a:solidFill>
                <a:latin typeface="Calibri" pitchFamily="34" charset="0"/>
                <a:ea typeface="Calibri" pitchFamily="34" charset="-122"/>
                <a:cs typeface="Calibri" pitchFamily="34" charset="-120"/>
              </a:rPr>
              <a:t>KEY POINTS TO REMEMBER</a:t>
            </a:r>
            <a:endParaRPr lang="en-US" sz="1300" dirty="0"/>
          </a:p>
        </p:txBody>
      </p:sp>
      <p:sp>
        <p:nvSpPr>
          <p:cNvPr id="27" name="Text 24"/>
          <p:cNvSpPr/>
          <p:nvPr/>
        </p:nvSpPr>
        <p:spPr>
          <a:xfrm>
            <a:off x="1463040" y="3794760"/>
            <a:ext cx="6949440" cy="2286000"/>
          </a:xfrm>
          <a:prstGeom prst="rect">
            <a:avLst/>
          </a:prstGeom>
          <a:noFill/>
          <a:ln/>
        </p:spPr>
        <p:txBody>
          <a:bodyPr wrap="square" lIns="0" tIns="0" rIns="0" bIns="0" rtlCol="0" anchor="t"/>
          <a:lstStyle/>
          <a:p>
            <a:pPr marL="254000" indent="-254000">
              <a:spcAft>
                <a:spcPts val="1000"/>
              </a:spcAft>
              <a:buSzPct val="100000"/>
              <a:buChar char="✓"/>
            </a:pPr>
            <a:r>
              <a:rPr lang="en-US" sz="1400" dirty="0">
                <a:solidFill>
                  <a:srgbClr val="4A4A4A"/>
                </a:solidFill>
                <a:latin typeface="Calibri" pitchFamily="34" charset="0"/>
                <a:ea typeface="Calibri" pitchFamily="34" charset="-122"/>
                <a:cs typeface="Calibri" pitchFamily="34" charset="-120"/>
              </a:rPr>
              <a:t>CPU issues the command itself</a:t>
            </a:r>
            <a:endParaRPr lang="en-US" sz="1400" dirty="0"/>
          </a:p>
          <a:p>
            <a:pPr marL="254000" indent="-254000">
              <a:spcAft>
                <a:spcPts val="1000"/>
              </a:spcAft>
              <a:buSzPct val="100000"/>
              <a:buChar char="✓"/>
            </a:pPr>
            <a:r>
              <a:rPr lang="en-US" sz="1400" dirty="0">
                <a:solidFill>
                  <a:srgbClr val="4A4A4A"/>
                </a:solidFill>
                <a:latin typeface="Calibri" pitchFamily="34" charset="0"/>
                <a:ea typeface="Calibri" pitchFamily="34" charset="-122"/>
                <a:cs typeface="Calibri" pitchFamily="34" charset="-120"/>
              </a:rPr>
              <a:t>CPU repeatedly asks: 'are you done yet?'</a:t>
            </a:r>
            <a:endParaRPr lang="en-US" sz="1400" dirty="0"/>
          </a:p>
          <a:p>
            <a:pPr marL="254000" indent="-254000">
              <a:spcAft>
                <a:spcPts val="1000"/>
              </a:spcAft>
              <a:buSzPct val="100000"/>
              <a:buChar char="✓"/>
            </a:pPr>
            <a:r>
              <a:rPr lang="en-US" sz="1400" dirty="0">
                <a:solidFill>
                  <a:srgbClr val="4A4A4A"/>
                </a:solidFill>
                <a:latin typeface="Calibri" pitchFamily="34" charset="0"/>
                <a:ea typeface="Calibri" pitchFamily="34" charset="-122"/>
                <a:cs typeface="Calibri" pitchFamily="34" charset="-120"/>
              </a:rPr>
              <a:t>This constant checking is called BUSY-WAITING</a:t>
            </a:r>
            <a:endParaRPr lang="en-US" sz="1400" dirty="0"/>
          </a:p>
        </p:txBody>
      </p:sp>
      <p:sp>
        <p:nvSpPr>
          <p:cNvPr id="28" name="Text 25"/>
          <p:cNvSpPr/>
          <p:nvPr/>
        </p:nvSpPr>
        <p:spPr>
          <a:xfrm>
            <a:off x="320040" y="6510528"/>
            <a:ext cx="5486400" cy="274320"/>
          </a:xfrm>
          <a:prstGeom prst="rect">
            <a:avLst/>
          </a:prstGeom>
          <a:noFill/>
          <a:ln/>
        </p:spPr>
        <p:txBody>
          <a:bodyPr wrap="square" lIns="0" tIns="0" rIns="0" bIns="0" rtlCol="0" anchor="ctr"/>
          <a:lstStyle/>
          <a:p>
            <a:pPr marL="0" indent="0">
              <a:buNone/>
            </a:pPr>
            <a:r>
              <a:rPr lang="en-US" sz="1000" i="1" dirty="0">
                <a:solidFill>
                  <a:srgbClr val="4A4A4A"/>
                </a:solidFill>
                <a:latin typeface="Calibri" pitchFamily="34" charset="0"/>
                <a:ea typeface="Calibri" pitchFamily="34" charset="-122"/>
                <a:cs typeface="Calibri" pitchFamily="34" charset="-120"/>
              </a:rPr>
              <a:t>Programmed I/O</a:t>
            </a:r>
            <a:endParaRPr lang="en-US" sz="1000" dirty="0"/>
          </a:p>
        </p:txBody>
      </p:sp>
      <p:sp>
        <p:nvSpPr>
          <p:cNvPr id="29" name="Text 26"/>
          <p:cNvSpPr/>
          <p:nvPr/>
        </p:nvSpPr>
        <p:spPr>
          <a:xfrm>
            <a:off x="5029200" y="6510528"/>
            <a:ext cx="5029200" cy="274320"/>
          </a:xfrm>
          <a:prstGeom prst="rect">
            <a:avLst/>
          </a:prstGeom>
          <a:noFill/>
          <a:ln/>
        </p:spPr>
        <p:txBody>
          <a:bodyPr wrap="square" lIns="0" tIns="0" rIns="0" bIns="0" rtlCol="0" anchor="ctr"/>
          <a:lstStyle/>
          <a:p>
            <a:pPr marL="0" indent="0" algn="r">
              <a:buNone/>
            </a:pPr>
            <a:r>
              <a:rPr lang="en-US" sz="900" dirty="0">
                <a:solidFill>
                  <a:srgbClr val="4A4A4A"/>
                </a:solidFill>
                <a:latin typeface="Calibri" pitchFamily="34" charset="0"/>
                <a:ea typeface="Calibri" pitchFamily="34" charset="-122"/>
                <a:cs typeface="Calibri" pitchFamily="34" charset="-120"/>
              </a:rPr>
              <a:t>Ch.7 • Stallings, Computer Organization &amp; Architecture</a:t>
            </a:r>
            <a:endParaRPr lang="en-US" sz="900" dirty="0"/>
          </a:p>
        </p:txBody>
      </p:sp>
      <p:sp>
        <p:nvSpPr>
          <p:cNvPr id="30" name="Text 27"/>
          <p:cNvSpPr/>
          <p:nvPr/>
        </p:nvSpPr>
        <p:spPr>
          <a:xfrm>
            <a:off x="11475720" y="6510528"/>
            <a:ext cx="548640" cy="274320"/>
          </a:xfrm>
          <a:prstGeom prst="rect">
            <a:avLst/>
          </a:prstGeom>
          <a:noFill/>
          <a:ln/>
        </p:spPr>
        <p:txBody>
          <a:bodyPr wrap="square" lIns="0" tIns="0" rIns="0" bIns="0" rtlCol="0" anchor="ctr"/>
          <a:lstStyle/>
          <a:p>
            <a:pPr marL="0" indent="0" algn="r">
              <a:buNone/>
            </a:pPr>
            <a:r>
              <a:rPr lang="en-US" sz="1000" dirty="0">
                <a:solidFill>
                  <a:srgbClr val="4A4A4A"/>
                </a:solidFill>
                <a:latin typeface="Calibri" pitchFamily="34" charset="0"/>
                <a:ea typeface="Calibri" pitchFamily="34" charset="-122"/>
                <a:cs typeface="Calibri" pitchFamily="34" charset="-120"/>
              </a:rPr>
              <a:t>8/30</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8E1"/>
        </a:solidFill>
        <a:effectLst/>
      </p:bgPr>
    </p:bg>
    <p:spTree>
      <p:nvGrpSpPr>
        <p:cNvPr id="1" name=""/>
        <p:cNvGrpSpPr/>
        <p:nvPr/>
      </p:nvGrpSpPr>
      <p:grpSpPr>
        <a:xfrm>
          <a:off x="0" y="0"/>
          <a:ext cx="0" cy="0"/>
          <a:chOff x="0" y="0"/>
          <a:chExt cx="0" cy="0"/>
        </a:xfrm>
      </p:grpSpPr>
      <p:sp>
        <p:nvSpPr>
          <p:cNvPr id="2" name="Shape 0"/>
          <p:cNvSpPr/>
          <p:nvPr/>
        </p:nvSpPr>
        <p:spPr>
          <a:xfrm>
            <a:off x="1234440" y="1417320"/>
            <a:ext cx="10607040" cy="0"/>
          </a:xfrm>
          <a:prstGeom prst="line">
            <a:avLst/>
          </a:prstGeom>
          <a:noFill/>
          <a:ln w="12700">
            <a:solidFill>
              <a:srgbClr val="E9DFC4"/>
            </a:solidFill>
            <a:prstDash val="solid"/>
          </a:ln>
        </p:spPr>
      </p:sp>
      <p:sp>
        <p:nvSpPr>
          <p:cNvPr id="3" name="Shape 1"/>
          <p:cNvSpPr/>
          <p:nvPr/>
        </p:nvSpPr>
        <p:spPr>
          <a:xfrm>
            <a:off x="1234440" y="1801368"/>
            <a:ext cx="10607040" cy="0"/>
          </a:xfrm>
          <a:prstGeom prst="line">
            <a:avLst/>
          </a:prstGeom>
          <a:noFill/>
          <a:ln w="12700">
            <a:solidFill>
              <a:srgbClr val="E9DFC4"/>
            </a:solidFill>
            <a:prstDash val="solid"/>
          </a:ln>
        </p:spPr>
      </p:sp>
      <p:sp>
        <p:nvSpPr>
          <p:cNvPr id="4" name="Shape 2"/>
          <p:cNvSpPr/>
          <p:nvPr/>
        </p:nvSpPr>
        <p:spPr>
          <a:xfrm>
            <a:off x="1234440" y="2185416"/>
            <a:ext cx="10607040" cy="0"/>
          </a:xfrm>
          <a:prstGeom prst="line">
            <a:avLst/>
          </a:prstGeom>
          <a:noFill/>
          <a:ln w="12700">
            <a:solidFill>
              <a:srgbClr val="E9DFC4"/>
            </a:solidFill>
            <a:prstDash val="solid"/>
          </a:ln>
        </p:spPr>
      </p:sp>
      <p:sp>
        <p:nvSpPr>
          <p:cNvPr id="5" name="Shape 3"/>
          <p:cNvSpPr/>
          <p:nvPr/>
        </p:nvSpPr>
        <p:spPr>
          <a:xfrm>
            <a:off x="1234440" y="2569464"/>
            <a:ext cx="10607040" cy="0"/>
          </a:xfrm>
          <a:prstGeom prst="line">
            <a:avLst/>
          </a:prstGeom>
          <a:noFill/>
          <a:ln w="12700">
            <a:solidFill>
              <a:srgbClr val="E9DFC4"/>
            </a:solidFill>
            <a:prstDash val="solid"/>
          </a:ln>
        </p:spPr>
      </p:sp>
      <p:sp>
        <p:nvSpPr>
          <p:cNvPr id="6" name="Shape 4"/>
          <p:cNvSpPr/>
          <p:nvPr/>
        </p:nvSpPr>
        <p:spPr>
          <a:xfrm>
            <a:off x="1234440" y="2953512"/>
            <a:ext cx="10607040" cy="0"/>
          </a:xfrm>
          <a:prstGeom prst="line">
            <a:avLst/>
          </a:prstGeom>
          <a:noFill/>
          <a:ln w="12700">
            <a:solidFill>
              <a:srgbClr val="E9DFC4"/>
            </a:solidFill>
            <a:prstDash val="solid"/>
          </a:ln>
        </p:spPr>
      </p:sp>
      <p:sp>
        <p:nvSpPr>
          <p:cNvPr id="7" name="Shape 5"/>
          <p:cNvSpPr/>
          <p:nvPr/>
        </p:nvSpPr>
        <p:spPr>
          <a:xfrm>
            <a:off x="1234440" y="3337560"/>
            <a:ext cx="10607040" cy="0"/>
          </a:xfrm>
          <a:prstGeom prst="line">
            <a:avLst/>
          </a:prstGeom>
          <a:noFill/>
          <a:ln w="12700">
            <a:solidFill>
              <a:srgbClr val="E9DFC4"/>
            </a:solidFill>
            <a:prstDash val="solid"/>
          </a:ln>
        </p:spPr>
      </p:sp>
      <p:sp>
        <p:nvSpPr>
          <p:cNvPr id="8" name="Shape 6"/>
          <p:cNvSpPr/>
          <p:nvPr/>
        </p:nvSpPr>
        <p:spPr>
          <a:xfrm>
            <a:off x="1234440" y="3721608"/>
            <a:ext cx="10607040" cy="0"/>
          </a:xfrm>
          <a:prstGeom prst="line">
            <a:avLst/>
          </a:prstGeom>
          <a:noFill/>
          <a:ln w="12700">
            <a:solidFill>
              <a:srgbClr val="E9DFC4"/>
            </a:solidFill>
            <a:prstDash val="solid"/>
          </a:ln>
        </p:spPr>
      </p:sp>
      <p:sp>
        <p:nvSpPr>
          <p:cNvPr id="9" name="Shape 7"/>
          <p:cNvSpPr/>
          <p:nvPr/>
        </p:nvSpPr>
        <p:spPr>
          <a:xfrm>
            <a:off x="1234440" y="4105656"/>
            <a:ext cx="10607040" cy="0"/>
          </a:xfrm>
          <a:prstGeom prst="line">
            <a:avLst/>
          </a:prstGeom>
          <a:noFill/>
          <a:ln w="12700">
            <a:solidFill>
              <a:srgbClr val="E9DFC4"/>
            </a:solidFill>
            <a:prstDash val="solid"/>
          </a:ln>
        </p:spPr>
      </p:sp>
      <p:sp>
        <p:nvSpPr>
          <p:cNvPr id="10" name="Shape 8"/>
          <p:cNvSpPr/>
          <p:nvPr/>
        </p:nvSpPr>
        <p:spPr>
          <a:xfrm>
            <a:off x="1234440" y="4489704"/>
            <a:ext cx="10607040" cy="0"/>
          </a:xfrm>
          <a:prstGeom prst="line">
            <a:avLst/>
          </a:prstGeom>
          <a:noFill/>
          <a:ln w="12700">
            <a:solidFill>
              <a:srgbClr val="E9DFC4"/>
            </a:solidFill>
            <a:prstDash val="solid"/>
          </a:ln>
        </p:spPr>
      </p:sp>
      <p:sp>
        <p:nvSpPr>
          <p:cNvPr id="11" name="Shape 9"/>
          <p:cNvSpPr/>
          <p:nvPr/>
        </p:nvSpPr>
        <p:spPr>
          <a:xfrm>
            <a:off x="1234440" y="4873752"/>
            <a:ext cx="10607040" cy="0"/>
          </a:xfrm>
          <a:prstGeom prst="line">
            <a:avLst/>
          </a:prstGeom>
          <a:noFill/>
          <a:ln w="12700">
            <a:solidFill>
              <a:srgbClr val="E9DFC4"/>
            </a:solidFill>
            <a:prstDash val="solid"/>
          </a:ln>
        </p:spPr>
      </p:sp>
      <p:sp>
        <p:nvSpPr>
          <p:cNvPr id="12" name="Shape 10"/>
          <p:cNvSpPr/>
          <p:nvPr/>
        </p:nvSpPr>
        <p:spPr>
          <a:xfrm>
            <a:off x="1234440" y="5257800"/>
            <a:ext cx="10607040" cy="0"/>
          </a:xfrm>
          <a:prstGeom prst="line">
            <a:avLst/>
          </a:prstGeom>
          <a:noFill/>
          <a:ln w="12700">
            <a:solidFill>
              <a:srgbClr val="E9DFC4"/>
            </a:solidFill>
            <a:prstDash val="solid"/>
          </a:ln>
        </p:spPr>
      </p:sp>
      <p:sp>
        <p:nvSpPr>
          <p:cNvPr id="13" name="Shape 11"/>
          <p:cNvSpPr/>
          <p:nvPr/>
        </p:nvSpPr>
        <p:spPr>
          <a:xfrm>
            <a:off x="1234440" y="5641848"/>
            <a:ext cx="10607040" cy="0"/>
          </a:xfrm>
          <a:prstGeom prst="line">
            <a:avLst/>
          </a:prstGeom>
          <a:noFill/>
          <a:ln w="12700">
            <a:solidFill>
              <a:srgbClr val="E9DFC4"/>
            </a:solidFill>
            <a:prstDash val="solid"/>
          </a:ln>
        </p:spPr>
      </p:sp>
      <p:sp>
        <p:nvSpPr>
          <p:cNvPr id="14" name="Shape 12"/>
          <p:cNvSpPr/>
          <p:nvPr/>
        </p:nvSpPr>
        <p:spPr>
          <a:xfrm>
            <a:off x="1234440" y="6025896"/>
            <a:ext cx="10607040" cy="0"/>
          </a:xfrm>
          <a:prstGeom prst="line">
            <a:avLst/>
          </a:prstGeom>
          <a:noFill/>
          <a:ln w="12700">
            <a:solidFill>
              <a:srgbClr val="E9DFC4"/>
            </a:solidFill>
            <a:prstDash val="solid"/>
          </a:ln>
        </p:spPr>
      </p:sp>
      <p:sp>
        <p:nvSpPr>
          <p:cNvPr id="15" name="Shape 13"/>
          <p:cNvSpPr/>
          <p:nvPr/>
        </p:nvSpPr>
        <p:spPr>
          <a:xfrm>
            <a:off x="1234440" y="6409944"/>
            <a:ext cx="10607040" cy="0"/>
          </a:xfrm>
          <a:prstGeom prst="line">
            <a:avLst/>
          </a:prstGeom>
          <a:noFill/>
          <a:ln w="12700">
            <a:solidFill>
              <a:srgbClr val="E9DFC4"/>
            </a:solidFill>
            <a:prstDash val="solid"/>
          </a:ln>
        </p:spPr>
      </p:sp>
      <p:sp>
        <p:nvSpPr>
          <p:cNvPr id="16" name="Shape 14"/>
          <p:cNvSpPr/>
          <p:nvPr/>
        </p:nvSpPr>
        <p:spPr>
          <a:xfrm>
            <a:off x="1051560" y="320040"/>
            <a:ext cx="0" cy="6309360"/>
          </a:xfrm>
          <a:prstGeom prst="line">
            <a:avLst/>
          </a:prstGeom>
          <a:noFill/>
          <a:ln w="15875">
            <a:solidFill>
              <a:srgbClr val="C0392B"/>
            </a:solidFill>
            <a:prstDash val="solid"/>
          </a:ln>
        </p:spPr>
      </p:sp>
      <p:sp>
        <p:nvSpPr>
          <p:cNvPr id="17" name="Text 15"/>
          <p:cNvSpPr/>
          <p:nvPr/>
        </p:nvSpPr>
        <p:spPr>
          <a:xfrm>
            <a:off x="1280160" y="310896"/>
            <a:ext cx="2743200" cy="320040"/>
          </a:xfrm>
          <a:prstGeom prst="rect">
            <a:avLst/>
          </a:prstGeom>
          <a:noFill/>
          <a:ln/>
        </p:spPr>
        <p:txBody>
          <a:bodyPr wrap="square" lIns="0" tIns="0" rIns="0" bIns="0" rtlCol="0" anchor="ctr"/>
          <a:lstStyle/>
          <a:p>
            <a:pPr marL="0" indent="0">
              <a:buNone/>
            </a:pPr>
            <a:r>
              <a:rPr lang="en-US" sz="1300" b="1" dirty="0">
                <a:solidFill>
                  <a:srgbClr val="C0392B"/>
                </a:solidFill>
                <a:latin typeface="Calibri" pitchFamily="34" charset="0"/>
                <a:ea typeface="Calibri" pitchFamily="34" charset="-122"/>
                <a:cs typeface="Calibri" pitchFamily="34" charset="-120"/>
              </a:rPr>
              <a:t>Topic 1.3</a:t>
            </a:r>
            <a:endParaRPr lang="en-US" sz="1300" dirty="0"/>
          </a:p>
        </p:txBody>
      </p:sp>
      <p:sp>
        <p:nvSpPr>
          <p:cNvPr id="18" name="Text 16"/>
          <p:cNvSpPr/>
          <p:nvPr/>
        </p:nvSpPr>
        <p:spPr>
          <a:xfrm>
            <a:off x="1234440" y="566928"/>
            <a:ext cx="8138160" cy="777240"/>
          </a:xfrm>
          <a:prstGeom prst="rect">
            <a:avLst/>
          </a:prstGeom>
          <a:noFill/>
          <a:ln/>
        </p:spPr>
        <p:txBody>
          <a:bodyPr wrap="square" lIns="0" tIns="0" rIns="0" bIns="0" rtlCol="0" anchor="t"/>
          <a:lstStyle/>
          <a:p>
            <a:pPr marL="0" indent="0">
              <a:buNone/>
            </a:pPr>
            <a:r>
              <a:rPr lang="en-US" sz="3000" b="1" dirty="0">
                <a:solidFill>
                  <a:srgbClr val="1B3A6B"/>
                </a:solidFill>
                <a:latin typeface="Comic Sans MS" pitchFamily="34" charset="0"/>
                <a:ea typeface="Comic Sans MS" pitchFamily="34" charset="-122"/>
                <a:cs typeface="Comic Sans MS" pitchFamily="34" charset="-120"/>
              </a:rPr>
              <a:t>Programmed I/O</a:t>
            </a:r>
            <a:endParaRPr lang="en-US" sz="3000" dirty="0"/>
          </a:p>
        </p:txBody>
      </p:sp>
      <p:sp>
        <p:nvSpPr>
          <p:cNvPr id="19" name="Shape 17"/>
          <p:cNvSpPr/>
          <p:nvPr/>
        </p:nvSpPr>
        <p:spPr>
          <a:xfrm>
            <a:off x="9646920" y="384048"/>
            <a:ext cx="1965960" cy="384048"/>
          </a:xfrm>
          <a:prstGeom prst="roundRect">
            <a:avLst>
              <a:gd name="adj" fmla="val 19048"/>
            </a:avLst>
          </a:prstGeom>
          <a:solidFill>
            <a:srgbClr val="C0392B"/>
          </a:solidFill>
          <a:ln/>
        </p:spPr>
      </p:sp>
      <p:sp>
        <p:nvSpPr>
          <p:cNvPr id="20" name="Text 18"/>
          <p:cNvSpPr/>
          <p:nvPr/>
        </p:nvSpPr>
        <p:spPr>
          <a:xfrm>
            <a:off x="9646920" y="384048"/>
            <a:ext cx="196596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HOW IT WORKS</a:t>
            </a:r>
            <a:endParaRPr lang="en-US" sz="1200" dirty="0"/>
          </a:p>
        </p:txBody>
      </p:sp>
      <p:sp>
        <p:nvSpPr>
          <p:cNvPr id="21" name="Shape 19"/>
          <p:cNvSpPr/>
          <p:nvPr/>
        </p:nvSpPr>
        <p:spPr>
          <a:xfrm>
            <a:off x="8732520" y="502920"/>
            <a:ext cx="1051560" cy="1051560"/>
          </a:xfrm>
          <a:prstGeom prst="ellipse">
            <a:avLst/>
          </a:prstGeom>
          <a:solidFill>
            <a:srgbClr val="DCE6F5"/>
          </a:solidFill>
          <a:ln/>
          <a:effectLst>
            <a:outerShdw blurRad="50800" dist="25400" dir="5400000" algn="bl" rotWithShape="0">
              <a:srgbClr val="999999">
                <a:alpha val="25000"/>
              </a:srgbClr>
            </a:outerShdw>
          </a:effectLst>
        </p:spPr>
      </p:sp>
      <p:pic>
        <p:nvPicPr>
          <p:cNvPr id="22" name="Image 0" descr="/home/claude/iobook/icons/hourglass.png"/>
          <p:cNvPicPr>
            <a:picLocks noChangeAspect="1"/>
          </p:cNvPicPr>
          <p:nvPr/>
        </p:nvPicPr>
        <p:blipFill>
          <a:blip r:embed="rId3"/>
          <a:stretch>
            <a:fillRect/>
          </a:stretch>
        </p:blipFill>
        <p:spPr>
          <a:xfrm>
            <a:off x="8963863" y="734263"/>
            <a:ext cx="588874" cy="588874"/>
          </a:xfrm>
          <a:prstGeom prst="rect">
            <a:avLst/>
          </a:prstGeom>
        </p:spPr>
      </p:pic>
      <p:sp>
        <p:nvSpPr>
          <p:cNvPr id="23" name="Shape 20"/>
          <p:cNvSpPr/>
          <p:nvPr/>
        </p:nvSpPr>
        <p:spPr>
          <a:xfrm>
            <a:off x="1280160" y="1965960"/>
            <a:ext cx="2331720" cy="1600200"/>
          </a:xfrm>
          <a:prstGeom prst="roundRect">
            <a:avLst>
              <a:gd name="adj" fmla="val 4571"/>
            </a:avLst>
          </a:prstGeom>
          <a:solidFill>
            <a:srgbClr val="FFFFFF"/>
          </a:solidFill>
          <a:ln w="12700">
            <a:solidFill>
              <a:srgbClr val="1B3A6B"/>
            </a:solidFill>
            <a:prstDash val="solid"/>
          </a:ln>
          <a:effectLst>
            <a:outerShdw blurRad="38100" dist="25400" dir="5400000" algn="bl" rotWithShape="0">
              <a:srgbClr val="999999">
                <a:alpha val="20000"/>
              </a:srgbClr>
            </a:outerShdw>
          </a:effectLst>
        </p:spPr>
      </p:sp>
      <p:sp>
        <p:nvSpPr>
          <p:cNvPr id="24" name="Shape 21"/>
          <p:cNvSpPr/>
          <p:nvPr/>
        </p:nvSpPr>
        <p:spPr>
          <a:xfrm>
            <a:off x="2244852" y="1764792"/>
            <a:ext cx="402336" cy="402336"/>
          </a:xfrm>
          <a:prstGeom prst="ellipse">
            <a:avLst/>
          </a:prstGeom>
          <a:solidFill>
            <a:srgbClr val="C0392B"/>
          </a:solidFill>
          <a:ln w="25400">
            <a:solidFill>
              <a:srgbClr val="FFF8E1"/>
            </a:solidFill>
            <a:prstDash val="solid"/>
          </a:ln>
        </p:spPr>
      </p:sp>
      <p:sp>
        <p:nvSpPr>
          <p:cNvPr id="25" name="Text 22"/>
          <p:cNvSpPr/>
          <p:nvPr/>
        </p:nvSpPr>
        <p:spPr>
          <a:xfrm>
            <a:off x="2244852" y="1764792"/>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26" name="Text 23"/>
          <p:cNvSpPr/>
          <p:nvPr/>
        </p:nvSpPr>
        <p:spPr>
          <a:xfrm>
            <a:off x="1389888" y="2221992"/>
            <a:ext cx="2112264" cy="502920"/>
          </a:xfrm>
          <a:prstGeom prst="rect">
            <a:avLst/>
          </a:prstGeom>
          <a:noFill/>
          <a:ln/>
        </p:spPr>
        <p:txBody>
          <a:bodyPr wrap="square" lIns="0" tIns="0" rIns="0" bIns="0" rtlCol="0" anchor="t"/>
          <a:lstStyle/>
          <a:p>
            <a:pPr marL="0" indent="0">
              <a:buNone/>
            </a:pPr>
            <a:r>
              <a:rPr lang="en-US" sz="1350" b="1" dirty="0">
                <a:solidFill>
                  <a:srgbClr val="1B3A6B"/>
                </a:solidFill>
                <a:latin typeface="Calibri" pitchFamily="34" charset="0"/>
                <a:ea typeface="Calibri" pitchFamily="34" charset="-122"/>
                <a:cs typeface="Calibri" pitchFamily="34" charset="-120"/>
              </a:rPr>
              <a:t>1. Send Command</a:t>
            </a:r>
            <a:endParaRPr lang="en-US" sz="1350" dirty="0"/>
          </a:p>
        </p:txBody>
      </p:sp>
      <p:sp>
        <p:nvSpPr>
          <p:cNvPr id="27" name="Text 24"/>
          <p:cNvSpPr/>
          <p:nvPr/>
        </p:nvSpPr>
        <p:spPr>
          <a:xfrm>
            <a:off x="1389888" y="2715768"/>
            <a:ext cx="2112264" cy="777240"/>
          </a:xfrm>
          <a:prstGeom prst="rect">
            <a:avLst/>
          </a:prstGeom>
          <a:noFill/>
          <a:ln/>
        </p:spPr>
        <p:txBody>
          <a:bodyPr wrap="square" lIns="0" tIns="0" rIns="0" bIns="0" rtlCol="0" anchor="t"/>
          <a:lstStyle/>
          <a:p>
            <a:pPr marL="0" indent="0">
              <a:buNone/>
            </a:pPr>
            <a:r>
              <a:rPr lang="en-US" sz="1100" dirty="0">
                <a:solidFill>
                  <a:srgbClr val="4A4A4A"/>
                </a:solidFill>
                <a:latin typeface="Calibri" pitchFamily="34" charset="0"/>
                <a:ea typeface="Calibri" pitchFamily="34" charset="-122"/>
                <a:cs typeface="Calibri" pitchFamily="34" charset="-120"/>
              </a:rPr>
              <a:t>e.g., 'print this character'</a:t>
            </a:r>
            <a:endParaRPr lang="en-US" sz="1100" dirty="0"/>
          </a:p>
        </p:txBody>
      </p:sp>
      <p:pic>
        <p:nvPicPr>
          <p:cNvPr id="28" name="Image 1" descr="/home/claude/iobook/icons/arrowRight.png"/>
          <p:cNvPicPr>
            <a:picLocks noChangeAspect="1"/>
          </p:cNvPicPr>
          <p:nvPr/>
        </p:nvPicPr>
        <p:blipFill>
          <a:blip r:embed="rId4"/>
          <a:stretch>
            <a:fillRect/>
          </a:stretch>
        </p:blipFill>
        <p:spPr>
          <a:xfrm>
            <a:off x="3639312" y="2628900"/>
            <a:ext cx="274320" cy="274320"/>
          </a:xfrm>
          <a:prstGeom prst="rect">
            <a:avLst/>
          </a:prstGeom>
        </p:spPr>
      </p:pic>
      <p:sp>
        <p:nvSpPr>
          <p:cNvPr id="29" name="Shape 25"/>
          <p:cNvSpPr/>
          <p:nvPr/>
        </p:nvSpPr>
        <p:spPr>
          <a:xfrm>
            <a:off x="3931920" y="1965960"/>
            <a:ext cx="2331720" cy="1600200"/>
          </a:xfrm>
          <a:prstGeom prst="roundRect">
            <a:avLst>
              <a:gd name="adj" fmla="val 4571"/>
            </a:avLst>
          </a:prstGeom>
          <a:solidFill>
            <a:srgbClr val="FFFFFF"/>
          </a:solidFill>
          <a:ln w="12700">
            <a:solidFill>
              <a:srgbClr val="1B3A6B"/>
            </a:solidFill>
            <a:prstDash val="solid"/>
          </a:ln>
          <a:effectLst>
            <a:outerShdw blurRad="38100" dist="25400" dir="5400000" algn="bl" rotWithShape="0">
              <a:srgbClr val="999999">
                <a:alpha val="20000"/>
              </a:srgbClr>
            </a:outerShdw>
          </a:effectLst>
        </p:spPr>
      </p:sp>
      <p:sp>
        <p:nvSpPr>
          <p:cNvPr id="30" name="Shape 26"/>
          <p:cNvSpPr/>
          <p:nvPr/>
        </p:nvSpPr>
        <p:spPr>
          <a:xfrm>
            <a:off x="4896612" y="1764792"/>
            <a:ext cx="402336" cy="402336"/>
          </a:xfrm>
          <a:prstGeom prst="ellipse">
            <a:avLst/>
          </a:prstGeom>
          <a:solidFill>
            <a:srgbClr val="C0392B"/>
          </a:solidFill>
          <a:ln w="25400">
            <a:solidFill>
              <a:srgbClr val="FFF8E1"/>
            </a:solidFill>
            <a:prstDash val="solid"/>
          </a:ln>
        </p:spPr>
      </p:sp>
      <p:sp>
        <p:nvSpPr>
          <p:cNvPr id="31" name="Text 27"/>
          <p:cNvSpPr/>
          <p:nvPr/>
        </p:nvSpPr>
        <p:spPr>
          <a:xfrm>
            <a:off x="4896612" y="1764792"/>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32" name="Text 28"/>
          <p:cNvSpPr/>
          <p:nvPr/>
        </p:nvSpPr>
        <p:spPr>
          <a:xfrm>
            <a:off x="4041648" y="2221992"/>
            <a:ext cx="2112264" cy="502920"/>
          </a:xfrm>
          <a:prstGeom prst="rect">
            <a:avLst/>
          </a:prstGeom>
          <a:noFill/>
          <a:ln/>
        </p:spPr>
        <p:txBody>
          <a:bodyPr wrap="square" lIns="0" tIns="0" rIns="0" bIns="0" rtlCol="0" anchor="t"/>
          <a:lstStyle/>
          <a:p>
            <a:pPr marL="0" indent="0">
              <a:buNone/>
            </a:pPr>
            <a:r>
              <a:rPr lang="en-US" sz="1350" b="1" dirty="0">
                <a:solidFill>
                  <a:srgbClr val="1B3A6B"/>
                </a:solidFill>
                <a:latin typeface="Calibri" pitchFamily="34" charset="0"/>
                <a:ea typeface="Calibri" pitchFamily="34" charset="-122"/>
                <a:cs typeface="Calibri" pitchFamily="34" charset="-120"/>
              </a:rPr>
              <a:t>2. Device Starts</a:t>
            </a:r>
            <a:endParaRPr lang="en-US" sz="1350" dirty="0"/>
          </a:p>
        </p:txBody>
      </p:sp>
      <p:sp>
        <p:nvSpPr>
          <p:cNvPr id="33" name="Text 29"/>
          <p:cNvSpPr/>
          <p:nvPr/>
        </p:nvSpPr>
        <p:spPr>
          <a:xfrm>
            <a:off x="4041648" y="2715768"/>
            <a:ext cx="2112264" cy="777240"/>
          </a:xfrm>
          <a:prstGeom prst="rect">
            <a:avLst/>
          </a:prstGeom>
          <a:noFill/>
          <a:ln/>
        </p:spPr>
        <p:txBody>
          <a:bodyPr wrap="square" lIns="0" tIns="0" rIns="0" bIns="0" rtlCol="0" anchor="t"/>
          <a:lstStyle/>
          <a:p>
            <a:pPr marL="0" indent="0">
              <a:buNone/>
            </a:pPr>
            <a:r>
              <a:rPr lang="en-US" sz="1100" dirty="0">
                <a:solidFill>
                  <a:srgbClr val="4A4A4A"/>
                </a:solidFill>
                <a:latin typeface="Calibri" pitchFamily="34" charset="0"/>
                <a:ea typeface="Calibri" pitchFamily="34" charset="-122"/>
                <a:cs typeface="Calibri" pitchFamily="34" charset="-120"/>
              </a:rPr>
              <a:t>Device begins working (often slowly)</a:t>
            </a:r>
            <a:endParaRPr lang="en-US" sz="1100" dirty="0"/>
          </a:p>
        </p:txBody>
      </p:sp>
      <p:pic>
        <p:nvPicPr>
          <p:cNvPr id="34" name="Image 2" descr="/home/claude/iobook/icons/arrowRight.png"/>
          <p:cNvPicPr>
            <a:picLocks noChangeAspect="1"/>
          </p:cNvPicPr>
          <p:nvPr/>
        </p:nvPicPr>
        <p:blipFill>
          <a:blip r:embed="rId4"/>
          <a:stretch>
            <a:fillRect/>
          </a:stretch>
        </p:blipFill>
        <p:spPr>
          <a:xfrm>
            <a:off x="6291072" y="2628900"/>
            <a:ext cx="274320" cy="274320"/>
          </a:xfrm>
          <a:prstGeom prst="rect">
            <a:avLst/>
          </a:prstGeom>
        </p:spPr>
      </p:pic>
      <p:sp>
        <p:nvSpPr>
          <p:cNvPr id="35" name="Shape 30"/>
          <p:cNvSpPr/>
          <p:nvPr/>
        </p:nvSpPr>
        <p:spPr>
          <a:xfrm>
            <a:off x="6583680" y="1965960"/>
            <a:ext cx="2331720" cy="1600200"/>
          </a:xfrm>
          <a:prstGeom prst="roundRect">
            <a:avLst>
              <a:gd name="adj" fmla="val 4571"/>
            </a:avLst>
          </a:prstGeom>
          <a:solidFill>
            <a:srgbClr val="FFFFFF"/>
          </a:solidFill>
          <a:ln w="12700">
            <a:solidFill>
              <a:srgbClr val="1B3A6B"/>
            </a:solidFill>
            <a:prstDash val="solid"/>
          </a:ln>
          <a:effectLst>
            <a:outerShdw blurRad="38100" dist="25400" dir="5400000" algn="bl" rotWithShape="0">
              <a:srgbClr val="999999">
                <a:alpha val="20000"/>
              </a:srgbClr>
            </a:outerShdw>
          </a:effectLst>
        </p:spPr>
      </p:sp>
      <p:sp>
        <p:nvSpPr>
          <p:cNvPr id="36" name="Shape 31"/>
          <p:cNvSpPr/>
          <p:nvPr/>
        </p:nvSpPr>
        <p:spPr>
          <a:xfrm>
            <a:off x="7548372" y="1764792"/>
            <a:ext cx="402336" cy="402336"/>
          </a:xfrm>
          <a:prstGeom prst="ellipse">
            <a:avLst/>
          </a:prstGeom>
          <a:solidFill>
            <a:srgbClr val="C0392B"/>
          </a:solidFill>
          <a:ln w="25400">
            <a:solidFill>
              <a:srgbClr val="FFF8E1"/>
            </a:solidFill>
            <a:prstDash val="solid"/>
          </a:ln>
        </p:spPr>
      </p:sp>
      <p:sp>
        <p:nvSpPr>
          <p:cNvPr id="37" name="Text 32"/>
          <p:cNvSpPr/>
          <p:nvPr/>
        </p:nvSpPr>
        <p:spPr>
          <a:xfrm>
            <a:off x="7548372" y="1764792"/>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38" name="Text 33"/>
          <p:cNvSpPr/>
          <p:nvPr/>
        </p:nvSpPr>
        <p:spPr>
          <a:xfrm>
            <a:off x="6693408" y="2221992"/>
            <a:ext cx="2112264" cy="502920"/>
          </a:xfrm>
          <a:prstGeom prst="rect">
            <a:avLst/>
          </a:prstGeom>
          <a:noFill/>
          <a:ln/>
        </p:spPr>
        <p:txBody>
          <a:bodyPr wrap="square" lIns="0" tIns="0" rIns="0" bIns="0" rtlCol="0" anchor="t"/>
          <a:lstStyle/>
          <a:p>
            <a:pPr marL="0" indent="0">
              <a:buNone/>
            </a:pPr>
            <a:r>
              <a:rPr lang="en-US" sz="1350" b="1" dirty="0">
                <a:solidFill>
                  <a:srgbClr val="1B3A6B"/>
                </a:solidFill>
                <a:latin typeface="Calibri" pitchFamily="34" charset="0"/>
                <a:ea typeface="Calibri" pitchFamily="34" charset="-122"/>
                <a:cs typeface="Calibri" pitchFamily="34" charset="-120"/>
              </a:rPr>
              <a:t>3. CPU Polls</a:t>
            </a:r>
            <a:endParaRPr lang="en-US" sz="1350" dirty="0"/>
          </a:p>
        </p:txBody>
      </p:sp>
      <p:sp>
        <p:nvSpPr>
          <p:cNvPr id="39" name="Text 34"/>
          <p:cNvSpPr/>
          <p:nvPr/>
        </p:nvSpPr>
        <p:spPr>
          <a:xfrm>
            <a:off x="6693408" y="2715768"/>
            <a:ext cx="2112264" cy="777240"/>
          </a:xfrm>
          <a:prstGeom prst="rect">
            <a:avLst/>
          </a:prstGeom>
          <a:noFill/>
          <a:ln/>
        </p:spPr>
        <p:txBody>
          <a:bodyPr wrap="square" lIns="0" tIns="0" rIns="0" bIns="0" rtlCol="0" anchor="t"/>
          <a:lstStyle/>
          <a:p>
            <a:pPr marL="0" indent="0">
              <a:buNone/>
            </a:pPr>
            <a:r>
              <a:rPr lang="en-US" sz="1100" dirty="0">
                <a:solidFill>
                  <a:srgbClr val="4A4A4A"/>
                </a:solidFill>
                <a:latin typeface="Calibri" pitchFamily="34" charset="0"/>
                <a:ea typeface="Calibri" pitchFamily="34" charset="-122"/>
                <a:cs typeface="Calibri" pitchFamily="34" charset="-120"/>
              </a:rPr>
              <a:t>CPU keeps asking: ready? ready? ready?</a:t>
            </a:r>
            <a:endParaRPr lang="en-US" sz="1100" dirty="0"/>
          </a:p>
        </p:txBody>
      </p:sp>
      <p:pic>
        <p:nvPicPr>
          <p:cNvPr id="40" name="Image 3" descr="/home/claude/iobook/icons/arrowRight.png"/>
          <p:cNvPicPr>
            <a:picLocks noChangeAspect="1"/>
          </p:cNvPicPr>
          <p:nvPr/>
        </p:nvPicPr>
        <p:blipFill>
          <a:blip r:embed="rId4"/>
          <a:stretch>
            <a:fillRect/>
          </a:stretch>
        </p:blipFill>
        <p:spPr>
          <a:xfrm>
            <a:off x="8942832" y="2628900"/>
            <a:ext cx="274320" cy="274320"/>
          </a:xfrm>
          <a:prstGeom prst="rect">
            <a:avLst/>
          </a:prstGeom>
        </p:spPr>
      </p:pic>
      <p:sp>
        <p:nvSpPr>
          <p:cNvPr id="41" name="Shape 35"/>
          <p:cNvSpPr/>
          <p:nvPr/>
        </p:nvSpPr>
        <p:spPr>
          <a:xfrm>
            <a:off x="9235440" y="1965960"/>
            <a:ext cx="2331720" cy="1600200"/>
          </a:xfrm>
          <a:prstGeom prst="roundRect">
            <a:avLst>
              <a:gd name="adj" fmla="val 4571"/>
            </a:avLst>
          </a:prstGeom>
          <a:solidFill>
            <a:srgbClr val="FFFFFF"/>
          </a:solidFill>
          <a:ln w="12700">
            <a:solidFill>
              <a:srgbClr val="1B3A6B"/>
            </a:solidFill>
            <a:prstDash val="solid"/>
          </a:ln>
          <a:effectLst>
            <a:outerShdw blurRad="38100" dist="25400" dir="5400000" algn="bl" rotWithShape="0">
              <a:srgbClr val="999999">
                <a:alpha val="20000"/>
              </a:srgbClr>
            </a:outerShdw>
          </a:effectLst>
        </p:spPr>
      </p:sp>
      <p:sp>
        <p:nvSpPr>
          <p:cNvPr id="42" name="Shape 36"/>
          <p:cNvSpPr/>
          <p:nvPr/>
        </p:nvSpPr>
        <p:spPr>
          <a:xfrm>
            <a:off x="10200132" y="1764792"/>
            <a:ext cx="402336" cy="402336"/>
          </a:xfrm>
          <a:prstGeom prst="ellipse">
            <a:avLst/>
          </a:prstGeom>
          <a:solidFill>
            <a:srgbClr val="C0392B"/>
          </a:solidFill>
          <a:ln w="25400">
            <a:solidFill>
              <a:srgbClr val="FFF8E1"/>
            </a:solidFill>
            <a:prstDash val="solid"/>
          </a:ln>
        </p:spPr>
      </p:sp>
      <p:sp>
        <p:nvSpPr>
          <p:cNvPr id="43" name="Text 37"/>
          <p:cNvSpPr/>
          <p:nvPr/>
        </p:nvSpPr>
        <p:spPr>
          <a:xfrm>
            <a:off x="10200132" y="1764792"/>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44" name="Text 38"/>
          <p:cNvSpPr/>
          <p:nvPr/>
        </p:nvSpPr>
        <p:spPr>
          <a:xfrm>
            <a:off x="9345168" y="2221992"/>
            <a:ext cx="2112264" cy="502920"/>
          </a:xfrm>
          <a:prstGeom prst="rect">
            <a:avLst/>
          </a:prstGeom>
          <a:noFill/>
          <a:ln/>
        </p:spPr>
        <p:txBody>
          <a:bodyPr wrap="square" lIns="0" tIns="0" rIns="0" bIns="0" rtlCol="0" anchor="t"/>
          <a:lstStyle/>
          <a:p>
            <a:pPr marL="0" indent="0">
              <a:buNone/>
            </a:pPr>
            <a:r>
              <a:rPr lang="en-US" sz="1350" b="1" dirty="0">
                <a:solidFill>
                  <a:srgbClr val="1B3A6B"/>
                </a:solidFill>
                <a:latin typeface="Calibri" pitchFamily="34" charset="0"/>
                <a:ea typeface="Calibri" pitchFamily="34" charset="-122"/>
                <a:cs typeface="Calibri" pitchFamily="34" charset="-120"/>
              </a:rPr>
              <a:t>4. Transfer Data</a:t>
            </a:r>
            <a:endParaRPr lang="en-US" sz="1350" dirty="0"/>
          </a:p>
        </p:txBody>
      </p:sp>
      <p:sp>
        <p:nvSpPr>
          <p:cNvPr id="45" name="Text 39"/>
          <p:cNvSpPr/>
          <p:nvPr/>
        </p:nvSpPr>
        <p:spPr>
          <a:xfrm>
            <a:off x="9345168" y="2715768"/>
            <a:ext cx="2112264" cy="777240"/>
          </a:xfrm>
          <a:prstGeom prst="rect">
            <a:avLst/>
          </a:prstGeom>
          <a:noFill/>
          <a:ln/>
        </p:spPr>
        <p:txBody>
          <a:bodyPr wrap="square" lIns="0" tIns="0" rIns="0" bIns="0" rtlCol="0" anchor="t"/>
          <a:lstStyle/>
          <a:p>
            <a:pPr marL="0" indent="0">
              <a:buNone/>
            </a:pPr>
            <a:r>
              <a:rPr lang="en-US" sz="1100" dirty="0">
                <a:solidFill>
                  <a:srgbClr val="4A4A4A"/>
                </a:solidFill>
                <a:latin typeface="Calibri" pitchFamily="34" charset="0"/>
                <a:ea typeface="Calibri" pitchFamily="34" charset="-122"/>
                <a:cs typeface="Calibri" pitchFamily="34" charset="-120"/>
              </a:rPr>
              <a:t>Once ready, CPU itself moves the data</a:t>
            </a:r>
            <a:endParaRPr lang="en-US" sz="1100" dirty="0"/>
          </a:p>
        </p:txBody>
      </p:sp>
      <p:sp>
        <p:nvSpPr>
          <p:cNvPr id="46" name="Shape 40"/>
          <p:cNvSpPr/>
          <p:nvPr/>
        </p:nvSpPr>
        <p:spPr>
          <a:xfrm>
            <a:off x="1280160" y="3977640"/>
            <a:ext cx="8778240" cy="1234440"/>
          </a:xfrm>
          <a:prstGeom prst="roundRect">
            <a:avLst>
              <a:gd name="adj" fmla="val 7407"/>
            </a:avLst>
          </a:prstGeom>
          <a:solidFill>
            <a:srgbClr val="DCE6F5">
              <a:alpha val="70000"/>
            </a:srgbClr>
          </a:solidFill>
          <a:ln w="9525">
            <a:solidFill>
              <a:srgbClr val="1B3A6B"/>
            </a:solidFill>
            <a:prstDash val="sysDot"/>
          </a:ln>
        </p:spPr>
      </p:sp>
      <p:pic>
        <p:nvPicPr>
          <p:cNvPr id="47" name="Image 4" descr="/home/claude/iobook/icons/lightbulb.png"/>
          <p:cNvPicPr>
            <a:picLocks noChangeAspect="1"/>
          </p:cNvPicPr>
          <p:nvPr/>
        </p:nvPicPr>
        <p:blipFill>
          <a:blip r:embed="rId5"/>
          <a:stretch>
            <a:fillRect/>
          </a:stretch>
        </p:blipFill>
        <p:spPr>
          <a:xfrm>
            <a:off x="1463040" y="4160520"/>
            <a:ext cx="502920" cy="502920"/>
          </a:xfrm>
          <a:prstGeom prst="rect">
            <a:avLst/>
          </a:prstGeom>
        </p:spPr>
      </p:pic>
      <p:sp>
        <p:nvSpPr>
          <p:cNvPr id="48" name="Text 41"/>
          <p:cNvSpPr/>
          <p:nvPr/>
        </p:nvSpPr>
        <p:spPr>
          <a:xfrm>
            <a:off x="2103120" y="4114800"/>
            <a:ext cx="7772400" cy="1005840"/>
          </a:xfrm>
          <a:prstGeom prst="rect">
            <a:avLst/>
          </a:prstGeom>
          <a:noFill/>
          <a:ln/>
        </p:spPr>
        <p:txBody>
          <a:bodyPr wrap="square" lIns="0" tIns="0" rIns="0" bIns="0" rtlCol="0" anchor="ctr"/>
          <a:lstStyle/>
          <a:p>
            <a:pPr marL="0" indent="0">
              <a:buNone/>
            </a:pPr>
            <a:r>
              <a:rPr lang="en-US" sz="1350" i="1" dirty="0">
                <a:solidFill>
                  <a:srgbClr val="1B3A6B"/>
                </a:solidFill>
                <a:latin typeface="Calibri" pitchFamily="34" charset="0"/>
                <a:ea typeface="Calibri" pitchFamily="34" charset="-122"/>
                <a:cs typeface="Calibri" pitchFamily="34" charset="-120"/>
              </a:rPr>
              <a:t>Simple to build, but very wasteful — a fast CPU sits idle, doing nothing useful, while a slow device finishes its work.</a:t>
            </a:r>
            <a:endParaRPr lang="en-US" sz="1350" dirty="0"/>
          </a:p>
        </p:txBody>
      </p:sp>
      <p:sp>
        <p:nvSpPr>
          <p:cNvPr id="49" name="Text 42"/>
          <p:cNvSpPr/>
          <p:nvPr/>
        </p:nvSpPr>
        <p:spPr>
          <a:xfrm>
            <a:off x="320040" y="6510528"/>
            <a:ext cx="5486400" cy="274320"/>
          </a:xfrm>
          <a:prstGeom prst="rect">
            <a:avLst/>
          </a:prstGeom>
          <a:noFill/>
          <a:ln/>
        </p:spPr>
        <p:txBody>
          <a:bodyPr wrap="square" lIns="0" tIns="0" rIns="0" bIns="0" rtlCol="0" anchor="ctr"/>
          <a:lstStyle/>
          <a:p>
            <a:pPr marL="0" indent="0">
              <a:buNone/>
            </a:pPr>
            <a:r>
              <a:rPr lang="en-US" sz="1000" i="1" dirty="0">
                <a:solidFill>
                  <a:srgbClr val="4A4A4A"/>
                </a:solidFill>
                <a:latin typeface="Calibri" pitchFamily="34" charset="0"/>
                <a:ea typeface="Calibri" pitchFamily="34" charset="-122"/>
                <a:cs typeface="Calibri" pitchFamily="34" charset="-120"/>
              </a:rPr>
              <a:t>Programmed I/O</a:t>
            </a:r>
            <a:endParaRPr lang="en-US" sz="1000" dirty="0"/>
          </a:p>
        </p:txBody>
      </p:sp>
      <p:sp>
        <p:nvSpPr>
          <p:cNvPr id="50" name="Text 43"/>
          <p:cNvSpPr/>
          <p:nvPr/>
        </p:nvSpPr>
        <p:spPr>
          <a:xfrm>
            <a:off x="5029200" y="6510528"/>
            <a:ext cx="5029200" cy="274320"/>
          </a:xfrm>
          <a:prstGeom prst="rect">
            <a:avLst/>
          </a:prstGeom>
          <a:noFill/>
          <a:ln/>
        </p:spPr>
        <p:txBody>
          <a:bodyPr wrap="square" lIns="0" tIns="0" rIns="0" bIns="0" rtlCol="0" anchor="ctr"/>
          <a:lstStyle/>
          <a:p>
            <a:pPr marL="0" indent="0" algn="r">
              <a:buNone/>
            </a:pPr>
            <a:r>
              <a:rPr lang="en-US" sz="900" dirty="0">
                <a:solidFill>
                  <a:srgbClr val="4A4A4A"/>
                </a:solidFill>
                <a:latin typeface="Calibri" pitchFamily="34" charset="0"/>
                <a:ea typeface="Calibri" pitchFamily="34" charset="-122"/>
                <a:cs typeface="Calibri" pitchFamily="34" charset="-120"/>
              </a:rPr>
              <a:t>Ch.7 • Stallings, Computer Organization &amp; Architecture</a:t>
            </a:r>
            <a:endParaRPr lang="en-US" sz="900" dirty="0"/>
          </a:p>
        </p:txBody>
      </p:sp>
      <p:sp>
        <p:nvSpPr>
          <p:cNvPr id="51" name="Text 44"/>
          <p:cNvSpPr/>
          <p:nvPr/>
        </p:nvSpPr>
        <p:spPr>
          <a:xfrm>
            <a:off x="11475720" y="6510528"/>
            <a:ext cx="548640" cy="274320"/>
          </a:xfrm>
          <a:prstGeom prst="rect">
            <a:avLst/>
          </a:prstGeom>
          <a:noFill/>
          <a:ln/>
        </p:spPr>
        <p:txBody>
          <a:bodyPr wrap="square" lIns="0" tIns="0" rIns="0" bIns="0" rtlCol="0" anchor="ctr"/>
          <a:lstStyle/>
          <a:p>
            <a:pPr marL="0" indent="0" algn="r">
              <a:buNone/>
            </a:pPr>
            <a:r>
              <a:rPr lang="en-US" sz="1000" dirty="0">
                <a:solidFill>
                  <a:srgbClr val="4A4A4A"/>
                </a:solidFill>
                <a:latin typeface="Calibri" pitchFamily="34" charset="0"/>
                <a:ea typeface="Calibri" pitchFamily="34" charset="-122"/>
                <a:cs typeface="Calibri" pitchFamily="34" charset="-120"/>
              </a:rPr>
              <a:t>9/30</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8E1"/>
        </a:solidFill>
        <a:effectLst/>
      </p:bgPr>
    </p:bg>
    <p:spTree>
      <p:nvGrpSpPr>
        <p:cNvPr id="1" name=""/>
        <p:cNvGrpSpPr/>
        <p:nvPr/>
      </p:nvGrpSpPr>
      <p:grpSpPr>
        <a:xfrm>
          <a:off x="0" y="0"/>
          <a:ext cx="0" cy="0"/>
          <a:chOff x="0" y="0"/>
          <a:chExt cx="0" cy="0"/>
        </a:xfrm>
      </p:grpSpPr>
      <p:sp>
        <p:nvSpPr>
          <p:cNvPr id="2" name="Shape 0"/>
          <p:cNvSpPr/>
          <p:nvPr/>
        </p:nvSpPr>
        <p:spPr>
          <a:xfrm>
            <a:off x="1234440" y="1417320"/>
            <a:ext cx="10607040" cy="0"/>
          </a:xfrm>
          <a:prstGeom prst="line">
            <a:avLst/>
          </a:prstGeom>
          <a:noFill/>
          <a:ln w="12700">
            <a:solidFill>
              <a:srgbClr val="E9DFC4"/>
            </a:solidFill>
            <a:prstDash val="solid"/>
          </a:ln>
        </p:spPr>
      </p:sp>
      <p:sp>
        <p:nvSpPr>
          <p:cNvPr id="3" name="Shape 1"/>
          <p:cNvSpPr/>
          <p:nvPr/>
        </p:nvSpPr>
        <p:spPr>
          <a:xfrm>
            <a:off x="1234440" y="1801368"/>
            <a:ext cx="10607040" cy="0"/>
          </a:xfrm>
          <a:prstGeom prst="line">
            <a:avLst/>
          </a:prstGeom>
          <a:noFill/>
          <a:ln w="12700">
            <a:solidFill>
              <a:srgbClr val="E9DFC4"/>
            </a:solidFill>
            <a:prstDash val="solid"/>
          </a:ln>
        </p:spPr>
      </p:sp>
      <p:sp>
        <p:nvSpPr>
          <p:cNvPr id="4" name="Shape 2"/>
          <p:cNvSpPr/>
          <p:nvPr/>
        </p:nvSpPr>
        <p:spPr>
          <a:xfrm>
            <a:off x="1234440" y="2185416"/>
            <a:ext cx="10607040" cy="0"/>
          </a:xfrm>
          <a:prstGeom prst="line">
            <a:avLst/>
          </a:prstGeom>
          <a:noFill/>
          <a:ln w="12700">
            <a:solidFill>
              <a:srgbClr val="E9DFC4"/>
            </a:solidFill>
            <a:prstDash val="solid"/>
          </a:ln>
        </p:spPr>
      </p:sp>
      <p:sp>
        <p:nvSpPr>
          <p:cNvPr id="5" name="Shape 3"/>
          <p:cNvSpPr/>
          <p:nvPr/>
        </p:nvSpPr>
        <p:spPr>
          <a:xfrm>
            <a:off x="1234440" y="2569464"/>
            <a:ext cx="10607040" cy="0"/>
          </a:xfrm>
          <a:prstGeom prst="line">
            <a:avLst/>
          </a:prstGeom>
          <a:noFill/>
          <a:ln w="12700">
            <a:solidFill>
              <a:srgbClr val="E9DFC4"/>
            </a:solidFill>
            <a:prstDash val="solid"/>
          </a:ln>
        </p:spPr>
      </p:sp>
      <p:sp>
        <p:nvSpPr>
          <p:cNvPr id="6" name="Shape 4"/>
          <p:cNvSpPr/>
          <p:nvPr/>
        </p:nvSpPr>
        <p:spPr>
          <a:xfrm>
            <a:off x="1234440" y="2953512"/>
            <a:ext cx="10607040" cy="0"/>
          </a:xfrm>
          <a:prstGeom prst="line">
            <a:avLst/>
          </a:prstGeom>
          <a:noFill/>
          <a:ln w="12700">
            <a:solidFill>
              <a:srgbClr val="E9DFC4"/>
            </a:solidFill>
            <a:prstDash val="solid"/>
          </a:ln>
        </p:spPr>
      </p:sp>
      <p:sp>
        <p:nvSpPr>
          <p:cNvPr id="7" name="Shape 5"/>
          <p:cNvSpPr/>
          <p:nvPr/>
        </p:nvSpPr>
        <p:spPr>
          <a:xfrm>
            <a:off x="1234440" y="3337560"/>
            <a:ext cx="10607040" cy="0"/>
          </a:xfrm>
          <a:prstGeom prst="line">
            <a:avLst/>
          </a:prstGeom>
          <a:noFill/>
          <a:ln w="12700">
            <a:solidFill>
              <a:srgbClr val="E9DFC4"/>
            </a:solidFill>
            <a:prstDash val="solid"/>
          </a:ln>
        </p:spPr>
      </p:sp>
      <p:sp>
        <p:nvSpPr>
          <p:cNvPr id="8" name="Shape 6"/>
          <p:cNvSpPr/>
          <p:nvPr/>
        </p:nvSpPr>
        <p:spPr>
          <a:xfrm>
            <a:off x="1234440" y="3721608"/>
            <a:ext cx="10607040" cy="0"/>
          </a:xfrm>
          <a:prstGeom prst="line">
            <a:avLst/>
          </a:prstGeom>
          <a:noFill/>
          <a:ln w="12700">
            <a:solidFill>
              <a:srgbClr val="E9DFC4"/>
            </a:solidFill>
            <a:prstDash val="solid"/>
          </a:ln>
        </p:spPr>
      </p:sp>
      <p:sp>
        <p:nvSpPr>
          <p:cNvPr id="9" name="Shape 7"/>
          <p:cNvSpPr/>
          <p:nvPr/>
        </p:nvSpPr>
        <p:spPr>
          <a:xfrm>
            <a:off x="1234440" y="4105656"/>
            <a:ext cx="10607040" cy="0"/>
          </a:xfrm>
          <a:prstGeom prst="line">
            <a:avLst/>
          </a:prstGeom>
          <a:noFill/>
          <a:ln w="12700">
            <a:solidFill>
              <a:srgbClr val="E9DFC4"/>
            </a:solidFill>
            <a:prstDash val="solid"/>
          </a:ln>
        </p:spPr>
      </p:sp>
      <p:sp>
        <p:nvSpPr>
          <p:cNvPr id="10" name="Shape 8"/>
          <p:cNvSpPr/>
          <p:nvPr/>
        </p:nvSpPr>
        <p:spPr>
          <a:xfrm>
            <a:off x="1234440" y="4489704"/>
            <a:ext cx="10607040" cy="0"/>
          </a:xfrm>
          <a:prstGeom prst="line">
            <a:avLst/>
          </a:prstGeom>
          <a:noFill/>
          <a:ln w="12700">
            <a:solidFill>
              <a:srgbClr val="E9DFC4"/>
            </a:solidFill>
            <a:prstDash val="solid"/>
          </a:ln>
        </p:spPr>
      </p:sp>
      <p:sp>
        <p:nvSpPr>
          <p:cNvPr id="11" name="Shape 9"/>
          <p:cNvSpPr/>
          <p:nvPr/>
        </p:nvSpPr>
        <p:spPr>
          <a:xfrm>
            <a:off x="1234440" y="4873752"/>
            <a:ext cx="10607040" cy="0"/>
          </a:xfrm>
          <a:prstGeom prst="line">
            <a:avLst/>
          </a:prstGeom>
          <a:noFill/>
          <a:ln w="12700">
            <a:solidFill>
              <a:srgbClr val="E9DFC4"/>
            </a:solidFill>
            <a:prstDash val="solid"/>
          </a:ln>
        </p:spPr>
      </p:sp>
      <p:sp>
        <p:nvSpPr>
          <p:cNvPr id="12" name="Shape 10"/>
          <p:cNvSpPr/>
          <p:nvPr/>
        </p:nvSpPr>
        <p:spPr>
          <a:xfrm>
            <a:off x="1234440" y="5257800"/>
            <a:ext cx="10607040" cy="0"/>
          </a:xfrm>
          <a:prstGeom prst="line">
            <a:avLst/>
          </a:prstGeom>
          <a:noFill/>
          <a:ln w="12700">
            <a:solidFill>
              <a:srgbClr val="E9DFC4"/>
            </a:solidFill>
            <a:prstDash val="solid"/>
          </a:ln>
        </p:spPr>
      </p:sp>
      <p:sp>
        <p:nvSpPr>
          <p:cNvPr id="13" name="Shape 11"/>
          <p:cNvSpPr/>
          <p:nvPr/>
        </p:nvSpPr>
        <p:spPr>
          <a:xfrm>
            <a:off x="1234440" y="5641848"/>
            <a:ext cx="10607040" cy="0"/>
          </a:xfrm>
          <a:prstGeom prst="line">
            <a:avLst/>
          </a:prstGeom>
          <a:noFill/>
          <a:ln w="12700">
            <a:solidFill>
              <a:srgbClr val="E9DFC4"/>
            </a:solidFill>
            <a:prstDash val="solid"/>
          </a:ln>
        </p:spPr>
      </p:sp>
      <p:sp>
        <p:nvSpPr>
          <p:cNvPr id="14" name="Shape 12"/>
          <p:cNvSpPr/>
          <p:nvPr/>
        </p:nvSpPr>
        <p:spPr>
          <a:xfrm>
            <a:off x="1234440" y="6025896"/>
            <a:ext cx="10607040" cy="0"/>
          </a:xfrm>
          <a:prstGeom prst="line">
            <a:avLst/>
          </a:prstGeom>
          <a:noFill/>
          <a:ln w="12700">
            <a:solidFill>
              <a:srgbClr val="E9DFC4"/>
            </a:solidFill>
            <a:prstDash val="solid"/>
          </a:ln>
        </p:spPr>
      </p:sp>
      <p:sp>
        <p:nvSpPr>
          <p:cNvPr id="15" name="Shape 13"/>
          <p:cNvSpPr/>
          <p:nvPr/>
        </p:nvSpPr>
        <p:spPr>
          <a:xfrm>
            <a:off x="1234440" y="6409944"/>
            <a:ext cx="10607040" cy="0"/>
          </a:xfrm>
          <a:prstGeom prst="line">
            <a:avLst/>
          </a:prstGeom>
          <a:noFill/>
          <a:ln w="12700">
            <a:solidFill>
              <a:srgbClr val="E9DFC4"/>
            </a:solidFill>
            <a:prstDash val="solid"/>
          </a:ln>
        </p:spPr>
      </p:sp>
      <p:sp>
        <p:nvSpPr>
          <p:cNvPr id="16" name="Shape 14"/>
          <p:cNvSpPr/>
          <p:nvPr/>
        </p:nvSpPr>
        <p:spPr>
          <a:xfrm>
            <a:off x="1051560" y="320040"/>
            <a:ext cx="0" cy="6309360"/>
          </a:xfrm>
          <a:prstGeom prst="line">
            <a:avLst/>
          </a:prstGeom>
          <a:noFill/>
          <a:ln w="15875">
            <a:solidFill>
              <a:srgbClr val="C0392B"/>
            </a:solidFill>
            <a:prstDash val="solid"/>
          </a:ln>
        </p:spPr>
      </p:sp>
      <p:sp>
        <p:nvSpPr>
          <p:cNvPr id="17" name="Text 15"/>
          <p:cNvSpPr/>
          <p:nvPr/>
        </p:nvSpPr>
        <p:spPr>
          <a:xfrm>
            <a:off x="1280160" y="310896"/>
            <a:ext cx="2743200" cy="320040"/>
          </a:xfrm>
          <a:prstGeom prst="rect">
            <a:avLst/>
          </a:prstGeom>
          <a:noFill/>
          <a:ln/>
        </p:spPr>
        <p:txBody>
          <a:bodyPr wrap="square" lIns="0" tIns="0" rIns="0" bIns="0" rtlCol="0" anchor="ctr"/>
          <a:lstStyle/>
          <a:p>
            <a:pPr marL="0" indent="0">
              <a:buNone/>
            </a:pPr>
            <a:r>
              <a:rPr lang="en-US" sz="1300" b="1" dirty="0">
                <a:solidFill>
                  <a:srgbClr val="C0392B"/>
                </a:solidFill>
                <a:latin typeface="Calibri" pitchFamily="34" charset="0"/>
                <a:ea typeface="Calibri" pitchFamily="34" charset="-122"/>
                <a:cs typeface="Calibri" pitchFamily="34" charset="-120"/>
              </a:rPr>
              <a:t>Topic 1.3</a:t>
            </a:r>
            <a:endParaRPr lang="en-US" sz="1300" dirty="0"/>
          </a:p>
        </p:txBody>
      </p:sp>
      <p:sp>
        <p:nvSpPr>
          <p:cNvPr id="18" name="Text 16"/>
          <p:cNvSpPr/>
          <p:nvPr/>
        </p:nvSpPr>
        <p:spPr>
          <a:xfrm>
            <a:off x="1234440" y="566928"/>
            <a:ext cx="8138160" cy="777240"/>
          </a:xfrm>
          <a:prstGeom prst="rect">
            <a:avLst/>
          </a:prstGeom>
          <a:noFill/>
          <a:ln/>
        </p:spPr>
        <p:txBody>
          <a:bodyPr wrap="square" lIns="0" tIns="0" rIns="0" bIns="0" rtlCol="0" anchor="t"/>
          <a:lstStyle/>
          <a:p>
            <a:pPr marL="0" indent="0">
              <a:buNone/>
            </a:pPr>
            <a:r>
              <a:rPr lang="en-US" sz="3000" b="1" dirty="0">
                <a:solidFill>
                  <a:srgbClr val="1B3A6B"/>
                </a:solidFill>
                <a:latin typeface="Comic Sans MS" pitchFamily="34" charset="0"/>
                <a:ea typeface="Comic Sans MS" pitchFamily="34" charset="-122"/>
                <a:cs typeface="Comic Sans MS" pitchFamily="34" charset="-120"/>
              </a:rPr>
              <a:t>Programmed I/O</a:t>
            </a:r>
            <a:endParaRPr lang="en-US" sz="3000" dirty="0"/>
          </a:p>
        </p:txBody>
      </p:sp>
      <p:sp>
        <p:nvSpPr>
          <p:cNvPr id="19" name="Shape 17"/>
          <p:cNvSpPr/>
          <p:nvPr/>
        </p:nvSpPr>
        <p:spPr>
          <a:xfrm>
            <a:off x="9646920" y="384048"/>
            <a:ext cx="1965960" cy="384048"/>
          </a:xfrm>
          <a:prstGeom prst="roundRect">
            <a:avLst>
              <a:gd name="adj" fmla="val 19048"/>
            </a:avLst>
          </a:prstGeom>
          <a:solidFill>
            <a:srgbClr val="C0392B"/>
          </a:solidFill>
          <a:ln/>
        </p:spPr>
      </p:sp>
      <p:sp>
        <p:nvSpPr>
          <p:cNvPr id="20" name="Text 18"/>
          <p:cNvSpPr/>
          <p:nvPr/>
        </p:nvSpPr>
        <p:spPr>
          <a:xfrm>
            <a:off x="9646920" y="384048"/>
            <a:ext cx="196596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EXAMPLE</a:t>
            </a:r>
            <a:endParaRPr lang="en-US" sz="1200" dirty="0"/>
          </a:p>
        </p:txBody>
      </p:sp>
      <p:sp>
        <p:nvSpPr>
          <p:cNvPr id="21" name="Shape 19"/>
          <p:cNvSpPr/>
          <p:nvPr/>
        </p:nvSpPr>
        <p:spPr>
          <a:xfrm>
            <a:off x="8732520" y="502920"/>
            <a:ext cx="1051560" cy="1051560"/>
          </a:xfrm>
          <a:prstGeom prst="ellipse">
            <a:avLst/>
          </a:prstGeom>
          <a:solidFill>
            <a:srgbClr val="DCE6F5"/>
          </a:solidFill>
          <a:ln/>
          <a:effectLst>
            <a:outerShdw blurRad="50800" dist="25400" dir="5400000" algn="bl" rotWithShape="0">
              <a:srgbClr val="999999">
                <a:alpha val="25000"/>
              </a:srgbClr>
            </a:outerShdw>
          </a:effectLst>
        </p:spPr>
      </p:sp>
      <p:pic>
        <p:nvPicPr>
          <p:cNvPr id="22" name="Image 0" descr="/home/claude/iobook/icons/hourglass.png"/>
          <p:cNvPicPr>
            <a:picLocks noChangeAspect="1"/>
          </p:cNvPicPr>
          <p:nvPr/>
        </p:nvPicPr>
        <p:blipFill>
          <a:blip r:embed="rId3"/>
          <a:stretch>
            <a:fillRect/>
          </a:stretch>
        </p:blipFill>
        <p:spPr>
          <a:xfrm>
            <a:off x="8963863" y="734263"/>
            <a:ext cx="588874" cy="588874"/>
          </a:xfrm>
          <a:prstGeom prst="rect">
            <a:avLst/>
          </a:prstGeom>
        </p:spPr>
      </p:pic>
      <p:sp>
        <p:nvSpPr>
          <p:cNvPr id="23" name="Shape 20"/>
          <p:cNvSpPr/>
          <p:nvPr/>
        </p:nvSpPr>
        <p:spPr>
          <a:xfrm>
            <a:off x="1280160" y="1691640"/>
            <a:ext cx="6126480" cy="2834640"/>
          </a:xfrm>
          <a:prstGeom prst="roundRect">
            <a:avLst>
              <a:gd name="adj" fmla="val 3226"/>
            </a:avLst>
          </a:prstGeom>
          <a:solidFill>
            <a:srgbClr val="FFFFFF"/>
          </a:solidFill>
          <a:ln w="12700">
            <a:solidFill>
              <a:srgbClr val="1B3A6B"/>
            </a:solidFill>
            <a:prstDash val="solid"/>
          </a:ln>
          <a:effectLst>
            <a:outerShdw blurRad="38100" dist="25400" dir="5400000" algn="bl" rotWithShape="0">
              <a:srgbClr val="999999">
                <a:alpha val="20000"/>
              </a:srgbClr>
            </a:outerShdw>
          </a:effectLst>
        </p:spPr>
      </p:sp>
      <p:sp>
        <p:nvSpPr>
          <p:cNvPr id="24" name="Text 21"/>
          <p:cNvSpPr/>
          <p:nvPr/>
        </p:nvSpPr>
        <p:spPr>
          <a:xfrm>
            <a:off x="1508760" y="1828800"/>
            <a:ext cx="5669280" cy="320040"/>
          </a:xfrm>
          <a:prstGeom prst="rect">
            <a:avLst/>
          </a:prstGeom>
          <a:noFill/>
          <a:ln/>
        </p:spPr>
        <p:txBody>
          <a:bodyPr wrap="square" lIns="0" tIns="0" rIns="0" bIns="0" rtlCol="0" anchor="ctr"/>
          <a:lstStyle/>
          <a:p>
            <a:pPr marL="0" indent="0">
              <a:buNone/>
            </a:pPr>
            <a:r>
              <a:rPr lang="en-US" sz="1300" b="1" dirty="0">
                <a:solidFill>
                  <a:srgbClr val="C0392B"/>
                </a:solidFill>
                <a:latin typeface="Calibri" pitchFamily="34" charset="0"/>
                <a:ea typeface="Calibri" pitchFamily="34" charset="-122"/>
                <a:cs typeface="Calibri" pitchFamily="34" charset="-120"/>
              </a:rPr>
              <a:t>REAL-LIFE EXAMPLE</a:t>
            </a:r>
            <a:endParaRPr lang="en-US" sz="1300" dirty="0"/>
          </a:p>
        </p:txBody>
      </p:sp>
      <p:sp>
        <p:nvSpPr>
          <p:cNvPr id="25" name="Text 22"/>
          <p:cNvSpPr/>
          <p:nvPr/>
        </p:nvSpPr>
        <p:spPr>
          <a:xfrm>
            <a:off x="1508760" y="2194560"/>
            <a:ext cx="5669280" cy="2194560"/>
          </a:xfrm>
          <a:prstGeom prst="rect">
            <a:avLst/>
          </a:prstGeom>
          <a:noFill/>
          <a:ln/>
        </p:spPr>
        <p:txBody>
          <a:bodyPr wrap="square" lIns="0" tIns="0" rIns="0" bIns="0" rtlCol="0" anchor="t"/>
          <a:lstStyle/>
          <a:p>
            <a:pPr marL="0" indent="0">
              <a:buNone/>
            </a:pPr>
            <a:r>
              <a:rPr lang="en-US" sz="1450" dirty="0">
                <a:solidFill>
                  <a:srgbClr val="1B3A6B"/>
                </a:solidFill>
                <a:latin typeface="Calibri" pitchFamily="34" charset="0"/>
                <a:ea typeface="Calibri" pitchFamily="34" charset="-122"/>
                <a:cs typeface="Calibri" pitchFamily="34" charset="-120"/>
              </a:rPr>
              <a:t>Imagine calling a friend and, instead of hanging up, repeating 'are you there yet? are you there yet?' every second until they answer — that wastes your time just like busy-waiting wastes CPU time.</a:t>
            </a:r>
            <a:endParaRPr lang="en-US" sz="1450" dirty="0"/>
          </a:p>
        </p:txBody>
      </p:sp>
      <p:sp>
        <p:nvSpPr>
          <p:cNvPr id="26" name="Shape 23"/>
          <p:cNvSpPr/>
          <p:nvPr/>
        </p:nvSpPr>
        <p:spPr>
          <a:xfrm>
            <a:off x="7635240" y="1691640"/>
            <a:ext cx="3383280" cy="2834640"/>
          </a:xfrm>
          <a:prstGeom prst="roundRect">
            <a:avLst>
              <a:gd name="adj" fmla="val 3226"/>
            </a:avLst>
          </a:prstGeom>
          <a:solidFill>
            <a:srgbClr val="C0392B"/>
          </a:solidFill>
          <a:ln/>
          <a:effectLst>
            <a:outerShdw blurRad="50800" dist="25400" dir="5400000" algn="bl" rotWithShape="0">
              <a:srgbClr val="000000">
                <a:alpha val="25000"/>
              </a:srgbClr>
            </a:outerShdw>
          </a:effectLst>
        </p:spPr>
      </p:sp>
      <p:pic>
        <p:nvPicPr>
          <p:cNvPr id="27" name="Image 1" descr="/home/claude/iobook/icons/check.png"/>
          <p:cNvPicPr>
            <a:picLocks noChangeAspect="1"/>
          </p:cNvPicPr>
          <p:nvPr/>
        </p:nvPicPr>
        <p:blipFill>
          <a:blip r:embed="rId4"/>
          <a:stretch>
            <a:fillRect/>
          </a:stretch>
        </p:blipFill>
        <p:spPr>
          <a:xfrm>
            <a:off x="7863840" y="1874520"/>
            <a:ext cx="457200" cy="457200"/>
          </a:xfrm>
          <a:prstGeom prst="rect">
            <a:avLst/>
          </a:prstGeom>
        </p:spPr>
      </p:pic>
      <p:sp>
        <p:nvSpPr>
          <p:cNvPr id="28" name="Text 24"/>
          <p:cNvSpPr/>
          <p:nvPr/>
        </p:nvSpPr>
        <p:spPr>
          <a:xfrm>
            <a:off x="8412480" y="1920240"/>
            <a:ext cx="2514600" cy="32004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KEY TAKEAWAY</a:t>
            </a:r>
            <a:endParaRPr lang="en-US" sz="1250" dirty="0"/>
          </a:p>
        </p:txBody>
      </p:sp>
      <p:sp>
        <p:nvSpPr>
          <p:cNvPr id="29" name="Text 25"/>
          <p:cNvSpPr/>
          <p:nvPr/>
        </p:nvSpPr>
        <p:spPr>
          <a:xfrm>
            <a:off x="7863840" y="2423160"/>
            <a:ext cx="3017520" cy="1965960"/>
          </a:xfrm>
          <a:prstGeom prst="rect">
            <a:avLst/>
          </a:prstGeom>
          <a:noFill/>
          <a:ln/>
        </p:spPr>
        <p:txBody>
          <a:bodyPr wrap="square" lIns="0" tIns="0" rIns="0" bIns="0" rtlCol="0" anchor="t"/>
          <a:lstStyle/>
          <a:p>
            <a:pPr marL="0" indent="0">
              <a:buNone/>
            </a:pPr>
            <a:r>
              <a:rPr lang="en-US" sz="1300" dirty="0">
                <a:solidFill>
                  <a:srgbClr val="FFFFFF"/>
                </a:solidFill>
                <a:latin typeface="Calibri" pitchFamily="34" charset="0"/>
                <a:ea typeface="Calibri" pitchFamily="34" charset="-122"/>
                <a:cs typeface="Calibri" pitchFamily="34" charset="-120"/>
              </a:rPr>
              <a:t>Programmed I/O is the simplest method — but the biggest waste of precious CPU time.</a:t>
            </a:r>
            <a:endParaRPr lang="en-US" sz="1300" dirty="0"/>
          </a:p>
        </p:txBody>
      </p:sp>
      <p:sp>
        <p:nvSpPr>
          <p:cNvPr id="30" name="Shape 26"/>
          <p:cNvSpPr/>
          <p:nvPr/>
        </p:nvSpPr>
        <p:spPr>
          <a:xfrm>
            <a:off x="1280160" y="4709160"/>
            <a:ext cx="9738360" cy="685800"/>
          </a:xfrm>
          <a:prstGeom prst="roundRect">
            <a:avLst>
              <a:gd name="adj" fmla="val 10667"/>
            </a:avLst>
          </a:prstGeom>
          <a:solidFill>
            <a:srgbClr val="FFE082">
              <a:alpha val="60000"/>
            </a:srgbClr>
          </a:solidFill>
          <a:ln w="9525">
            <a:solidFill>
              <a:srgbClr val="1B3A6B"/>
            </a:solidFill>
            <a:prstDash val="dash"/>
          </a:ln>
        </p:spPr>
      </p:sp>
      <p:sp>
        <p:nvSpPr>
          <p:cNvPr id="31" name="Text 27"/>
          <p:cNvSpPr/>
          <p:nvPr/>
        </p:nvSpPr>
        <p:spPr>
          <a:xfrm>
            <a:off x="1463040" y="4709160"/>
            <a:ext cx="9372600" cy="685800"/>
          </a:xfrm>
          <a:prstGeom prst="rect">
            <a:avLst/>
          </a:prstGeom>
          <a:noFill/>
          <a:ln/>
        </p:spPr>
        <p:txBody>
          <a:bodyPr wrap="square" lIns="0" tIns="0" rIns="0" bIns="0" rtlCol="0" anchor="ctr"/>
          <a:lstStyle/>
          <a:p>
            <a:pPr marL="0" indent="0">
              <a:buNone/>
            </a:pPr>
            <a:r>
              <a:rPr lang="en-US" sz="1300" b="1" dirty="0">
                <a:solidFill>
                  <a:srgbClr val="C0392B"/>
                </a:solidFill>
                <a:latin typeface="Calibri" pitchFamily="34" charset="0"/>
                <a:ea typeface="Calibri" pitchFamily="34" charset="-122"/>
                <a:cs typeface="Calibri" pitchFamily="34" charset="-120"/>
              </a:rPr>
              <a:t>Remember: </a:t>
            </a:r>
            <a:r>
              <a:rPr lang="en-US" sz="1300" dirty="0">
                <a:solidFill>
                  <a:srgbClr val="1B3A6B"/>
                </a:solidFill>
                <a:latin typeface="Calibri" pitchFamily="34" charset="0"/>
                <a:ea typeface="Calibri" pitchFamily="34" charset="-122"/>
                <a:cs typeface="Calibri" pitchFamily="34" charset="-120"/>
              </a:rPr>
              <a:t>programmed I/O = CPU sends command, then busy-waits, polling until the device is ready.</a:t>
            </a:r>
            <a:endParaRPr lang="en-US" sz="1300" dirty="0"/>
          </a:p>
        </p:txBody>
      </p:sp>
      <p:sp>
        <p:nvSpPr>
          <p:cNvPr id="32" name="Text 28"/>
          <p:cNvSpPr/>
          <p:nvPr/>
        </p:nvSpPr>
        <p:spPr>
          <a:xfrm>
            <a:off x="320040" y="6510528"/>
            <a:ext cx="5486400" cy="274320"/>
          </a:xfrm>
          <a:prstGeom prst="rect">
            <a:avLst/>
          </a:prstGeom>
          <a:noFill/>
          <a:ln/>
        </p:spPr>
        <p:txBody>
          <a:bodyPr wrap="square" lIns="0" tIns="0" rIns="0" bIns="0" rtlCol="0" anchor="ctr"/>
          <a:lstStyle/>
          <a:p>
            <a:pPr marL="0" indent="0">
              <a:buNone/>
            </a:pPr>
            <a:r>
              <a:rPr lang="en-US" sz="1000" i="1" dirty="0">
                <a:solidFill>
                  <a:srgbClr val="4A4A4A"/>
                </a:solidFill>
                <a:latin typeface="Calibri" pitchFamily="34" charset="0"/>
                <a:ea typeface="Calibri" pitchFamily="34" charset="-122"/>
                <a:cs typeface="Calibri" pitchFamily="34" charset="-120"/>
              </a:rPr>
              <a:t>Programmed I/O</a:t>
            </a:r>
            <a:endParaRPr lang="en-US" sz="1000" dirty="0"/>
          </a:p>
        </p:txBody>
      </p:sp>
      <p:sp>
        <p:nvSpPr>
          <p:cNvPr id="33" name="Text 29"/>
          <p:cNvSpPr/>
          <p:nvPr/>
        </p:nvSpPr>
        <p:spPr>
          <a:xfrm>
            <a:off x="5029200" y="6510528"/>
            <a:ext cx="5029200" cy="274320"/>
          </a:xfrm>
          <a:prstGeom prst="rect">
            <a:avLst/>
          </a:prstGeom>
          <a:noFill/>
          <a:ln/>
        </p:spPr>
        <p:txBody>
          <a:bodyPr wrap="square" lIns="0" tIns="0" rIns="0" bIns="0" rtlCol="0" anchor="ctr"/>
          <a:lstStyle/>
          <a:p>
            <a:pPr marL="0" indent="0" algn="r">
              <a:buNone/>
            </a:pPr>
            <a:r>
              <a:rPr lang="en-US" sz="900" dirty="0">
                <a:solidFill>
                  <a:srgbClr val="4A4A4A"/>
                </a:solidFill>
                <a:latin typeface="Calibri" pitchFamily="34" charset="0"/>
                <a:ea typeface="Calibri" pitchFamily="34" charset="-122"/>
                <a:cs typeface="Calibri" pitchFamily="34" charset="-120"/>
              </a:rPr>
              <a:t>Ch.7 • Stallings, Computer Organization &amp; Architecture</a:t>
            </a:r>
            <a:endParaRPr lang="en-US" sz="900" dirty="0"/>
          </a:p>
        </p:txBody>
      </p:sp>
      <p:sp>
        <p:nvSpPr>
          <p:cNvPr id="34" name="Text 30"/>
          <p:cNvSpPr/>
          <p:nvPr/>
        </p:nvSpPr>
        <p:spPr>
          <a:xfrm>
            <a:off x="11475720" y="6510528"/>
            <a:ext cx="548640" cy="274320"/>
          </a:xfrm>
          <a:prstGeom prst="rect">
            <a:avLst/>
          </a:prstGeom>
          <a:noFill/>
          <a:ln/>
        </p:spPr>
        <p:txBody>
          <a:bodyPr wrap="square" lIns="0" tIns="0" rIns="0" bIns="0" rtlCol="0" anchor="ctr"/>
          <a:lstStyle/>
          <a:p>
            <a:pPr marL="0" indent="0" algn="r">
              <a:buNone/>
            </a:pPr>
            <a:r>
              <a:rPr lang="en-US" sz="1000" dirty="0">
                <a:solidFill>
                  <a:srgbClr val="4A4A4A"/>
                </a:solidFill>
                <a:latin typeface="Calibri" pitchFamily="34" charset="0"/>
                <a:ea typeface="Calibri" pitchFamily="34" charset="-122"/>
                <a:cs typeface="Calibri" pitchFamily="34" charset="-120"/>
              </a:rPr>
              <a:t>10/30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8E1"/>
        </a:solidFill>
        <a:effectLst/>
      </p:bgPr>
    </p:bg>
    <p:spTree>
      <p:nvGrpSpPr>
        <p:cNvPr id="1" name=""/>
        <p:cNvGrpSpPr/>
        <p:nvPr/>
      </p:nvGrpSpPr>
      <p:grpSpPr>
        <a:xfrm>
          <a:off x="0" y="0"/>
          <a:ext cx="0" cy="0"/>
          <a:chOff x="0" y="0"/>
          <a:chExt cx="0" cy="0"/>
        </a:xfrm>
      </p:grpSpPr>
      <p:sp>
        <p:nvSpPr>
          <p:cNvPr id="2" name="Shape 0"/>
          <p:cNvSpPr/>
          <p:nvPr/>
        </p:nvSpPr>
        <p:spPr>
          <a:xfrm>
            <a:off x="1234440" y="1417320"/>
            <a:ext cx="10607040" cy="0"/>
          </a:xfrm>
          <a:prstGeom prst="line">
            <a:avLst/>
          </a:prstGeom>
          <a:noFill/>
          <a:ln w="12700">
            <a:solidFill>
              <a:srgbClr val="E9DFC4"/>
            </a:solidFill>
            <a:prstDash val="solid"/>
          </a:ln>
        </p:spPr>
      </p:sp>
      <p:sp>
        <p:nvSpPr>
          <p:cNvPr id="3" name="Shape 1"/>
          <p:cNvSpPr/>
          <p:nvPr/>
        </p:nvSpPr>
        <p:spPr>
          <a:xfrm>
            <a:off x="1234440" y="1801368"/>
            <a:ext cx="10607040" cy="0"/>
          </a:xfrm>
          <a:prstGeom prst="line">
            <a:avLst/>
          </a:prstGeom>
          <a:noFill/>
          <a:ln w="12700">
            <a:solidFill>
              <a:srgbClr val="E9DFC4"/>
            </a:solidFill>
            <a:prstDash val="solid"/>
          </a:ln>
        </p:spPr>
      </p:sp>
      <p:sp>
        <p:nvSpPr>
          <p:cNvPr id="4" name="Shape 2"/>
          <p:cNvSpPr/>
          <p:nvPr/>
        </p:nvSpPr>
        <p:spPr>
          <a:xfrm>
            <a:off x="1234440" y="2185416"/>
            <a:ext cx="10607040" cy="0"/>
          </a:xfrm>
          <a:prstGeom prst="line">
            <a:avLst/>
          </a:prstGeom>
          <a:noFill/>
          <a:ln w="12700">
            <a:solidFill>
              <a:srgbClr val="E9DFC4"/>
            </a:solidFill>
            <a:prstDash val="solid"/>
          </a:ln>
        </p:spPr>
      </p:sp>
      <p:sp>
        <p:nvSpPr>
          <p:cNvPr id="5" name="Shape 3"/>
          <p:cNvSpPr/>
          <p:nvPr/>
        </p:nvSpPr>
        <p:spPr>
          <a:xfrm>
            <a:off x="1234440" y="2569464"/>
            <a:ext cx="10607040" cy="0"/>
          </a:xfrm>
          <a:prstGeom prst="line">
            <a:avLst/>
          </a:prstGeom>
          <a:noFill/>
          <a:ln w="12700">
            <a:solidFill>
              <a:srgbClr val="E9DFC4"/>
            </a:solidFill>
            <a:prstDash val="solid"/>
          </a:ln>
        </p:spPr>
      </p:sp>
      <p:sp>
        <p:nvSpPr>
          <p:cNvPr id="6" name="Shape 4"/>
          <p:cNvSpPr/>
          <p:nvPr/>
        </p:nvSpPr>
        <p:spPr>
          <a:xfrm>
            <a:off x="1234440" y="2953512"/>
            <a:ext cx="10607040" cy="0"/>
          </a:xfrm>
          <a:prstGeom prst="line">
            <a:avLst/>
          </a:prstGeom>
          <a:noFill/>
          <a:ln w="12700">
            <a:solidFill>
              <a:srgbClr val="E9DFC4"/>
            </a:solidFill>
            <a:prstDash val="solid"/>
          </a:ln>
        </p:spPr>
      </p:sp>
      <p:sp>
        <p:nvSpPr>
          <p:cNvPr id="7" name="Shape 5"/>
          <p:cNvSpPr/>
          <p:nvPr/>
        </p:nvSpPr>
        <p:spPr>
          <a:xfrm>
            <a:off x="1234440" y="3337560"/>
            <a:ext cx="10607040" cy="0"/>
          </a:xfrm>
          <a:prstGeom prst="line">
            <a:avLst/>
          </a:prstGeom>
          <a:noFill/>
          <a:ln w="12700">
            <a:solidFill>
              <a:srgbClr val="E9DFC4"/>
            </a:solidFill>
            <a:prstDash val="solid"/>
          </a:ln>
        </p:spPr>
      </p:sp>
      <p:sp>
        <p:nvSpPr>
          <p:cNvPr id="8" name="Shape 6"/>
          <p:cNvSpPr/>
          <p:nvPr/>
        </p:nvSpPr>
        <p:spPr>
          <a:xfrm>
            <a:off x="1234440" y="3721608"/>
            <a:ext cx="10607040" cy="0"/>
          </a:xfrm>
          <a:prstGeom prst="line">
            <a:avLst/>
          </a:prstGeom>
          <a:noFill/>
          <a:ln w="12700">
            <a:solidFill>
              <a:srgbClr val="E9DFC4"/>
            </a:solidFill>
            <a:prstDash val="solid"/>
          </a:ln>
        </p:spPr>
      </p:sp>
      <p:sp>
        <p:nvSpPr>
          <p:cNvPr id="9" name="Shape 7"/>
          <p:cNvSpPr/>
          <p:nvPr/>
        </p:nvSpPr>
        <p:spPr>
          <a:xfrm>
            <a:off x="1234440" y="4105656"/>
            <a:ext cx="10607040" cy="0"/>
          </a:xfrm>
          <a:prstGeom prst="line">
            <a:avLst/>
          </a:prstGeom>
          <a:noFill/>
          <a:ln w="12700">
            <a:solidFill>
              <a:srgbClr val="E9DFC4"/>
            </a:solidFill>
            <a:prstDash val="solid"/>
          </a:ln>
        </p:spPr>
      </p:sp>
      <p:sp>
        <p:nvSpPr>
          <p:cNvPr id="10" name="Shape 8"/>
          <p:cNvSpPr/>
          <p:nvPr/>
        </p:nvSpPr>
        <p:spPr>
          <a:xfrm>
            <a:off x="1234440" y="4489704"/>
            <a:ext cx="10607040" cy="0"/>
          </a:xfrm>
          <a:prstGeom prst="line">
            <a:avLst/>
          </a:prstGeom>
          <a:noFill/>
          <a:ln w="12700">
            <a:solidFill>
              <a:srgbClr val="E9DFC4"/>
            </a:solidFill>
            <a:prstDash val="solid"/>
          </a:ln>
        </p:spPr>
      </p:sp>
      <p:sp>
        <p:nvSpPr>
          <p:cNvPr id="11" name="Shape 9"/>
          <p:cNvSpPr/>
          <p:nvPr/>
        </p:nvSpPr>
        <p:spPr>
          <a:xfrm>
            <a:off x="1234440" y="4873752"/>
            <a:ext cx="10607040" cy="0"/>
          </a:xfrm>
          <a:prstGeom prst="line">
            <a:avLst/>
          </a:prstGeom>
          <a:noFill/>
          <a:ln w="12700">
            <a:solidFill>
              <a:srgbClr val="E9DFC4"/>
            </a:solidFill>
            <a:prstDash val="solid"/>
          </a:ln>
        </p:spPr>
      </p:sp>
      <p:sp>
        <p:nvSpPr>
          <p:cNvPr id="12" name="Shape 10"/>
          <p:cNvSpPr/>
          <p:nvPr/>
        </p:nvSpPr>
        <p:spPr>
          <a:xfrm>
            <a:off x="1234440" y="5257800"/>
            <a:ext cx="10607040" cy="0"/>
          </a:xfrm>
          <a:prstGeom prst="line">
            <a:avLst/>
          </a:prstGeom>
          <a:noFill/>
          <a:ln w="12700">
            <a:solidFill>
              <a:srgbClr val="E9DFC4"/>
            </a:solidFill>
            <a:prstDash val="solid"/>
          </a:ln>
        </p:spPr>
      </p:sp>
      <p:sp>
        <p:nvSpPr>
          <p:cNvPr id="13" name="Shape 11"/>
          <p:cNvSpPr/>
          <p:nvPr/>
        </p:nvSpPr>
        <p:spPr>
          <a:xfrm>
            <a:off x="1234440" y="5641848"/>
            <a:ext cx="10607040" cy="0"/>
          </a:xfrm>
          <a:prstGeom prst="line">
            <a:avLst/>
          </a:prstGeom>
          <a:noFill/>
          <a:ln w="12700">
            <a:solidFill>
              <a:srgbClr val="E9DFC4"/>
            </a:solidFill>
            <a:prstDash val="solid"/>
          </a:ln>
        </p:spPr>
      </p:sp>
      <p:sp>
        <p:nvSpPr>
          <p:cNvPr id="14" name="Shape 12"/>
          <p:cNvSpPr/>
          <p:nvPr/>
        </p:nvSpPr>
        <p:spPr>
          <a:xfrm>
            <a:off x="1234440" y="6025896"/>
            <a:ext cx="10607040" cy="0"/>
          </a:xfrm>
          <a:prstGeom prst="line">
            <a:avLst/>
          </a:prstGeom>
          <a:noFill/>
          <a:ln w="12700">
            <a:solidFill>
              <a:srgbClr val="E9DFC4"/>
            </a:solidFill>
            <a:prstDash val="solid"/>
          </a:ln>
        </p:spPr>
      </p:sp>
      <p:sp>
        <p:nvSpPr>
          <p:cNvPr id="15" name="Shape 13"/>
          <p:cNvSpPr/>
          <p:nvPr/>
        </p:nvSpPr>
        <p:spPr>
          <a:xfrm>
            <a:off x="1234440" y="6409944"/>
            <a:ext cx="10607040" cy="0"/>
          </a:xfrm>
          <a:prstGeom prst="line">
            <a:avLst/>
          </a:prstGeom>
          <a:noFill/>
          <a:ln w="12700">
            <a:solidFill>
              <a:srgbClr val="E9DFC4"/>
            </a:solidFill>
            <a:prstDash val="solid"/>
          </a:ln>
        </p:spPr>
      </p:sp>
      <p:sp>
        <p:nvSpPr>
          <p:cNvPr id="16" name="Shape 14"/>
          <p:cNvSpPr/>
          <p:nvPr/>
        </p:nvSpPr>
        <p:spPr>
          <a:xfrm>
            <a:off x="1051560" y="320040"/>
            <a:ext cx="0" cy="6309360"/>
          </a:xfrm>
          <a:prstGeom prst="line">
            <a:avLst/>
          </a:prstGeom>
          <a:noFill/>
          <a:ln w="15875">
            <a:solidFill>
              <a:srgbClr val="C0392B"/>
            </a:solidFill>
            <a:prstDash val="solid"/>
          </a:ln>
        </p:spPr>
      </p:sp>
      <p:sp>
        <p:nvSpPr>
          <p:cNvPr id="17" name="Text 15"/>
          <p:cNvSpPr/>
          <p:nvPr/>
        </p:nvSpPr>
        <p:spPr>
          <a:xfrm>
            <a:off x="1280160" y="310896"/>
            <a:ext cx="2743200" cy="320040"/>
          </a:xfrm>
          <a:prstGeom prst="rect">
            <a:avLst/>
          </a:prstGeom>
          <a:noFill/>
          <a:ln/>
        </p:spPr>
        <p:txBody>
          <a:bodyPr wrap="square" lIns="0" tIns="0" rIns="0" bIns="0" rtlCol="0" anchor="ctr"/>
          <a:lstStyle/>
          <a:p>
            <a:pPr marL="0" indent="0">
              <a:buNone/>
            </a:pPr>
            <a:r>
              <a:rPr lang="en-US" sz="1300" b="1" dirty="0">
                <a:solidFill>
                  <a:srgbClr val="C0392B"/>
                </a:solidFill>
                <a:latin typeface="Calibri" pitchFamily="34" charset="0"/>
                <a:ea typeface="Calibri" pitchFamily="34" charset="-122"/>
                <a:cs typeface="Calibri" pitchFamily="34" charset="-120"/>
              </a:rPr>
              <a:t>Topic 1.4</a:t>
            </a:r>
            <a:endParaRPr lang="en-US" sz="1300" dirty="0"/>
          </a:p>
        </p:txBody>
      </p:sp>
      <p:sp>
        <p:nvSpPr>
          <p:cNvPr id="18" name="Text 16"/>
          <p:cNvSpPr/>
          <p:nvPr/>
        </p:nvSpPr>
        <p:spPr>
          <a:xfrm>
            <a:off x="1234440" y="566928"/>
            <a:ext cx="8138160" cy="777240"/>
          </a:xfrm>
          <a:prstGeom prst="rect">
            <a:avLst/>
          </a:prstGeom>
          <a:noFill/>
          <a:ln/>
        </p:spPr>
        <p:txBody>
          <a:bodyPr wrap="square" lIns="0" tIns="0" rIns="0" bIns="0" rtlCol="0" anchor="t"/>
          <a:lstStyle/>
          <a:p>
            <a:pPr marL="0" indent="0">
              <a:buNone/>
            </a:pPr>
            <a:r>
              <a:rPr lang="en-US" sz="3000" b="1" dirty="0">
                <a:solidFill>
                  <a:srgbClr val="1B3A6B"/>
                </a:solidFill>
                <a:latin typeface="Comic Sans MS" pitchFamily="34" charset="0"/>
                <a:ea typeface="Comic Sans MS" pitchFamily="34" charset="-122"/>
                <a:cs typeface="Comic Sans MS" pitchFamily="34" charset="-120"/>
              </a:rPr>
              <a:t>Interrupt-Driven I/O</a:t>
            </a:r>
            <a:endParaRPr lang="en-US" sz="3000" dirty="0"/>
          </a:p>
        </p:txBody>
      </p:sp>
      <p:sp>
        <p:nvSpPr>
          <p:cNvPr id="19" name="Shape 17"/>
          <p:cNvSpPr/>
          <p:nvPr/>
        </p:nvSpPr>
        <p:spPr>
          <a:xfrm>
            <a:off x="9646920" y="384048"/>
            <a:ext cx="1965960" cy="384048"/>
          </a:xfrm>
          <a:prstGeom prst="roundRect">
            <a:avLst>
              <a:gd name="adj" fmla="val 19048"/>
            </a:avLst>
          </a:prstGeom>
          <a:solidFill>
            <a:srgbClr val="C0392B"/>
          </a:solidFill>
          <a:ln/>
        </p:spPr>
      </p:sp>
      <p:sp>
        <p:nvSpPr>
          <p:cNvPr id="20" name="Text 18"/>
          <p:cNvSpPr/>
          <p:nvPr/>
        </p:nvSpPr>
        <p:spPr>
          <a:xfrm>
            <a:off x="9646920" y="384048"/>
            <a:ext cx="196596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DEFINITION</a:t>
            </a:r>
            <a:endParaRPr lang="en-US" sz="1200" dirty="0"/>
          </a:p>
        </p:txBody>
      </p:sp>
      <p:sp>
        <p:nvSpPr>
          <p:cNvPr id="21" name="Shape 19"/>
          <p:cNvSpPr/>
          <p:nvPr/>
        </p:nvSpPr>
        <p:spPr>
          <a:xfrm>
            <a:off x="8732520" y="502920"/>
            <a:ext cx="1051560" cy="1051560"/>
          </a:xfrm>
          <a:prstGeom prst="ellipse">
            <a:avLst/>
          </a:prstGeom>
          <a:solidFill>
            <a:srgbClr val="DCE6F5"/>
          </a:solidFill>
          <a:ln/>
          <a:effectLst>
            <a:outerShdw blurRad="50800" dist="25400" dir="5400000" algn="bl" rotWithShape="0">
              <a:srgbClr val="999999">
                <a:alpha val="25000"/>
              </a:srgbClr>
            </a:outerShdw>
          </a:effectLst>
        </p:spPr>
      </p:sp>
      <p:pic>
        <p:nvPicPr>
          <p:cNvPr id="22" name="Image 0" descr="/home/claude/iobook/icons/bell.png"/>
          <p:cNvPicPr>
            <a:picLocks noChangeAspect="1"/>
          </p:cNvPicPr>
          <p:nvPr/>
        </p:nvPicPr>
        <p:blipFill>
          <a:blip r:embed="rId3"/>
          <a:stretch>
            <a:fillRect/>
          </a:stretch>
        </p:blipFill>
        <p:spPr>
          <a:xfrm>
            <a:off x="8963863" y="734263"/>
            <a:ext cx="588874" cy="588874"/>
          </a:xfrm>
          <a:prstGeom prst="rect">
            <a:avLst/>
          </a:prstGeom>
        </p:spPr>
      </p:pic>
      <p:sp>
        <p:nvSpPr>
          <p:cNvPr id="23" name="Shape 20"/>
          <p:cNvSpPr/>
          <p:nvPr/>
        </p:nvSpPr>
        <p:spPr>
          <a:xfrm>
            <a:off x="1280160" y="1600200"/>
            <a:ext cx="7360920" cy="1554480"/>
          </a:xfrm>
          <a:prstGeom prst="roundRect">
            <a:avLst>
              <a:gd name="adj" fmla="val 5882"/>
            </a:avLst>
          </a:prstGeom>
          <a:solidFill>
            <a:srgbClr val="FFE082">
              <a:alpha val="65000"/>
            </a:srgbClr>
          </a:solidFill>
          <a:ln w="12700">
            <a:solidFill>
              <a:srgbClr val="1B3A6B"/>
            </a:solidFill>
            <a:prstDash val="dash"/>
          </a:ln>
        </p:spPr>
      </p:sp>
      <p:sp>
        <p:nvSpPr>
          <p:cNvPr id="24" name="Text 21"/>
          <p:cNvSpPr/>
          <p:nvPr/>
        </p:nvSpPr>
        <p:spPr>
          <a:xfrm>
            <a:off x="1463040" y="1691640"/>
            <a:ext cx="6949440" cy="274320"/>
          </a:xfrm>
          <a:prstGeom prst="rect">
            <a:avLst/>
          </a:prstGeom>
          <a:noFill/>
          <a:ln/>
        </p:spPr>
        <p:txBody>
          <a:bodyPr wrap="square" lIns="0" tIns="0" rIns="0" bIns="0" rtlCol="0" anchor="ctr"/>
          <a:lstStyle/>
          <a:p>
            <a:pPr marL="0" indent="0">
              <a:buNone/>
            </a:pPr>
            <a:r>
              <a:rPr lang="en-US" sz="1200" b="1" dirty="0">
                <a:solidFill>
                  <a:srgbClr val="C0392B"/>
                </a:solidFill>
                <a:latin typeface="Calibri" pitchFamily="34" charset="0"/>
                <a:ea typeface="Calibri" pitchFamily="34" charset="-122"/>
                <a:cs typeface="Calibri" pitchFamily="34" charset="-120"/>
              </a:rPr>
              <a:t>IN SIMPLE WORDS:</a:t>
            </a:r>
            <a:endParaRPr lang="en-US" sz="1200" dirty="0"/>
          </a:p>
        </p:txBody>
      </p:sp>
      <p:sp>
        <p:nvSpPr>
          <p:cNvPr id="25" name="Text 22"/>
          <p:cNvSpPr/>
          <p:nvPr/>
        </p:nvSpPr>
        <p:spPr>
          <a:xfrm>
            <a:off x="1463040" y="1965960"/>
            <a:ext cx="6949440" cy="1097280"/>
          </a:xfrm>
          <a:prstGeom prst="rect">
            <a:avLst/>
          </a:prstGeom>
          <a:noFill/>
          <a:ln/>
        </p:spPr>
        <p:txBody>
          <a:bodyPr wrap="square" lIns="0" tIns="0" rIns="0" bIns="0" rtlCol="0" anchor="t"/>
          <a:lstStyle/>
          <a:p>
            <a:pPr marL="0" indent="0">
              <a:buNone/>
            </a:pPr>
            <a:r>
              <a:rPr lang="en-US" sz="1500" dirty="0">
                <a:solidFill>
                  <a:srgbClr val="1B3A6B"/>
                </a:solidFill>
                <a:latin typeface="Calibri" pitchFamily="34" charset="0"/>
                <a:ea typeface="Calibri" pitchFamily="34" charset="-122"/>
                <a:cs typeface="Calibri" pitchFamily="34" charset="-120"/>
              </a:rPr>
              <a:t>The CPU issues a command and then goes back to doing other useful work. The device 'interrupts' the CPU only when it has finished.</a:t>
            </a:r>
            <a:endParaRPr lang="en-US" sz="1500" dirty="0"/>
          </a:p>
        </p:txBody>
      </p:sp>
      <p:sp>
        <p:nvSpPr>
          <p:cNvPr id="26" name="Text 23"/>
          <p:cNvSpPr/>
          <p:nvPr/>
        </p:nvSpPr>
        <p:spPr>
          <a:xfrm>
            <a:off x="1280160" y="3429000"/>
            <a:ext cx="7315200" cy="320040"/>
          </a:xfrm>
          <a:prstGeom prst="rect">
            <a:avLst/>
          </a:prstGeom>
          <a:noFill/>
          <a:ln/>
        </p:spPr>
        <p:txBody>
          <a:bodyPr wrap="square" lIns="0" tIns="0" rIns="0" bIns="0" rtlCol="0" anchor="ctr"/>
          <a:lstStyle/>
          <a:p>
            <a:pPr marL="0" indent="0">
              <a:buNone/>
            </a:pPr>
            <a:r>
              <a:rPr lang="en-US" sz="1300" b="1" dirty="0">
                <a:solidFill>
                  <a:srgbClr val="1B3A6B"/>
                </a:solidFill>
                <a:latin typeface="Calibri" pitchFamily="34" charset="0"/>
                <a:ea typeface="Calibri" pitchFamily="34" charset="-122"/>
                <a:cs typeface="Calibri" pitchFamily="34" charset="-120"/>
              </a:rPr>
              <a:t>KEY POINTS TO REMEMBER</a:t>
            </a:r>
            <a:endParaRPr lang="en-US" sz="1300" dirty="0"/>
          </a:p>
        </p:txBody>
      </p:sp>
      <p:sp>
        <p:nvSpPr>
          <p:cNvPr id="27" name="Text 24"/>
          <p:cNvSpPr/>
          <p:nvPr/>
        </p:nvSpPr>
        <p:spPr>
          <a:xfrm>
            <a:off x="1463040" y="3794760"/>
            <a:ext cx="6949440" cy="2286000"/>
          </a:xfrm>
          <a:prstGeom prst="rect">
            <a:avLst/>
          </a:prstGeom>
          <a:noFill/>
          <a:ln/>
        </p:spPr>
        <p:txBody>
          <a:bodyPr wrap="square" lIns="0" tIns="0" rIns="0" bIns="0" rtlCol="0" anchor="t"/>
          <a:lstStyle/>
          <a:p>
            <a:pPr marL="254000" indent="-254000">
              <a:spcAft>
                <a:spcPts val="1000"/>
              </a:spcAft>
              <a:buSzPct val="100000"/>
              <a:buChar char="✓"/>
            </a:pPr>
            <a:r>
              <a:rPr lang="en-US" sz="1400" dirty="0">
                <a:solidFill>
                  <a:srgbClr val="4A4A4A"/>
                </a:solidFill>
                <a:latin typeface="Calibri" pitchFamily="34" charset="0"/>
                <a:ea typeface="Calibri" pitchFamily="34" charset="-122"/>
                <a:cs typeface="Calibri" pitchFamily="34" charset="-120"/>
              </a:rPr>
              <a:t>No busy-waiting — CPU stays productive</a:t>
            </a:r>
            <a:endParaRPr lang="en-US" sz="1400" dirty="0"/>
          </a:p>
          <a:p>
            <a:pPr marL="254000" indent="-254000">
              <a:spcAft>
                <a:spcPts val="1000"/>
              </a:spcAft>
              <a:buSzPct val="100000"/>
              <a:buChar char="✓"/>
            </a:pPr>
            <a:r>
              <a:rPr lang="en-US" sz="1400" dirty="0">
                <a:solidFill>
                  <a:srgbClr val="4A4A4A"/>
                </a:solidFill>
                <a:latin typeface="Calibri" pitchFamily="34" charset="0"/>
                <a:ea typeface="Calibri" pitchFamily="34" charset="-122"/>
                <a:cs typeface="Calibri" pitchFamily="34" charset="-120"/>
              </a:rPr>
              <a:t>Device raises a signal (interrupt) when ready</a:t>
            </a:r>
            <a:endParaRPr lang="en-US" sz="1400" dirty="0"/>
          </a:p>
          <a:p>
            <a:pPr marL="254000" indent="-254000">
              <a:spcAft>
                <a:spcPts val="1000"/>
              </a:spcAft>
              <a:buSzPct val="100000"/>
              <a:buChar char="✓"/>
            </a:pPr>
            <a:r>
              <a:rPr lang="en-US" sz="1400" dirty="0">
                <a:solidFill>
                  <a:srgbClr val="4A4A4A"/>
                </a:solidFill>
                <a:latin typeface="Calibri" pitchFamily="34" charset="0"/>
                <a:ea typeface="Calibri" pitchFamily="34" charset="-122"/>
                <a:cs typeface="Calibri" pitchFamily="34" charset="-120"/>
              </a:rPr>
              <a:t>CPU pauses its task, handles the I/O, then resumes</a:t>
            </a:r>
            <a:endParaRPr lang="en-US" sz="1400" dirty="0"/>
          </a:p>
        </p:txBody>
      </p:sp>
      <p:sp>
        <p:nvSpPr>
          <p:cNvPr id="28" name="Text 25"/>
          <p:cNvSpPr/>
          <p:nvPr/>
        </p:nvSpPr>
        <p:spPr>
          <a:xfrm>
            <a:off x="320040" y="6510528"/>
            <a:ext cx="5486400" cy="274320"/>
          </a:xfrm>
          <a:prstGeom prst="rect">
            <a:avLst/>
          </a:prstGeom>
          <a:noFill/>
          <a:ln/>
        </p:spPr>
        <p:txBody>
          <a:bodyPr wrap="square" lIns="0" tIns="0" rIns="0" bIns="0" rtlCol="0" anchor="ctr"/>
          <a:lstStyle/>
          <a:p>
            <a:pPr marL="0" indent="0">
              <a:buNone/>
            </a:pPr>
            <a:r>
              <a:rPr lang="en-US" sz="1000" i="1" dirty="0">
                <a:solidFill>
                  <a:srgbClr val="4A4A4A"/>
                </a:solidFill>
                <a:latin typeface="Calibri" pitchFamily="34" charset="0"/>
                <a:ea typeface="Calibri" pitchFamily="34" charset="-122"/>
                <a:cs typeface="Calibri" pitchFamily="34" charset="-120"/>
              </a:rPr>
              <a:t>Interrupt-Driven I/O</a:t>
            </a:r>
            <a:endParaRPr lang="en-US" sz="1000" dirty="0"/>
          </a:p>
        </p:txBody>
      </p:sp>
      <p:sp>
        <p:nvSpPr>
          <p:cNvPr id="29" name="Text 26"/>
          <p:cNvSpPr/>
          <p:nvPr/>
        </p:nvSpPr>
        <p:spPr>
          <a:xfrm>
            <a:off x="5029200" y="6510528"/>
            <a:ext cx="5029200" cy="274320"/>
          </a:xfrm>
          <a:prstGeom prst="rect">
            <a:avLst/>
          </a:prstGeom>
          <a:noFill/>
          <a:ln/>
        </p:spPr>
        <p:txBody>
          <a:bodyPr wrap="square" lIns="0" tIns="0" rIns="0" bIns="0" rtlCol="0" anchor="ctr"/>
          <a:lstStyle/>
          <a:p>
            <a:pPr marL="0" indent="0" algn="r">
              <a:buNone/>
            </a:pPr>
            <a:r>
              <a:rPr lang="en-US" sz="900" dirty="0">
                <a:solidFill>
                  <a:srgbClr val="4A4A4A"/>
                </a:solidFill>
                <a:latin typeface="Calibri" pitchFamily="34" charset="0"/>
                <a:ea typeface="Calibri" pitchFamily="34" charset="-122"/>
                <a:cs typeface="Calibri" pitchFamily="34" charset="-120"/>
              </a:rPr>
              <a:t>Ch.7 • Stallings, Computer Organization &amp; Architecture</a:t>
            </a:r>
            <a:endParaRPr lang="en-US" sz="900" dirty="0"/>
          </a:p>
        </p:txBody>
      </p:sp>
      <p:sp>
        <p:nvSpPr>
          <p:cNvPr id="30" name="Text 27"/>
          <p:cNvSpPr/>
          <p:nvPr/>
        </p:nvSpPr>
        <p:spPr>
          <a:xfrm>
            <a:off x="11475720" y="6510528"/>
            <a:ext cx="548640" cy="274320"/>
          </a:xfrm>
          <a:prstGeom prst="rect">
            <a:avLst/>
          </a:prstGeom>
          <a:noFill/>
          <a:ln/>
        </p:spPr>
        <p:txBody>
          <a:bodyPr wrap="square" lIns="0" tIns="0" rIns="0" bIns="0" rtlCol="0" anchor="ctr"/>
          <a:lstStyle/>
          <a:p>
            <a:pPr marL="0" indent="0" algn="r">
              <a:buNone/>
            </a:pPr>
            <a:r>
              <a:rPr lang="en-US" sz="1000" dirty="0">
                <a:solidFill>
                  <a:srgbClr val="4A4A4A"/>
                </a:solidFill>
                <a:latin typeface="Calibri" pitchFamily="34" charset="0"/>
                <a:ea typeface="Calibri" pitchFamily="34" charset="-122"/>
                <a:cs typeface="Calibri" pitchFamily="34" charset="-120"/>
              </a:rPr>
              <a:t>11/30</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8E1"/>
        </a:solidFill>
        <a:effectLst/>
      </p:bgPr>
    </p:bg>
    <p:spTree>
      <p:nvGrpSpPr>
        <p:cNvPr id="1" name=""/>
        <p:cNvGrpSpPr/>
        <p:nvPr/>
      </p:nvGrpSpPr>
      <p:grpSpPr>
        <a:xfrm>
          <a:off x="0" y="0"/>
          <a:ext cx="0" cy="0"/>
          <a:chOff x="0" y="0"/>
          <a:chExt cx="0" cy="0"/>
        </a:xfrm>
      </p:grpSpPr>
      <p:sp>
        <p:nvSpPr>
          <p:cNvPr id="2" name="Shape 0"/>
          <p:cNvSpPr/>
          <p:nvPr/>
        </p:nvSpPr>
        <p:spPr>
          <a:xfrm>
            <a:off x="1234440" y="1417320"/>
            <a:ext cx="10607040" cy="0"/>
          </a:xfrm>
          <a:prstGeom prst="line">
            <a:avLst/>
          </a:prstGeom>
          <a:noFill/>
          <a:ln w="12700">
            <a:solidFill>
              <a:srgbClr val="E9DFC4"/>
            </a:solidFill>
            <a:prstDash val="solid"/>
          </a:ln>
        </p:spPr>
      </p:sp>
      <p:sp>
        <p:nvSpPr>
          <p:cNvPr id="3" name="Shape 1"/>
          <p:cNvSpPr/>
          <p:nvPr/>
        </p:nvSpPr>
        <p:spPr>
          <a:xfrm>
            <a:off x="1234440" y="1801368"/>
            <a:ext cx="10607040" cy="0"/>
          </a:xfrm>
          <a:prstGeom prst="line">
            <a:avLst/>
          </a:prstGeom>
          <a:noFill/>
          <a:ln w="12700">
            <a:solidFill>
              <a:srgbClr val="E9DFC4"/>
            </a:solidFill>
            <a:prstDash val="solid"/>
          </a:ln>
        </p:spPr>
      </p:sp>
      <p:sp>
        <p:nvSpPr>
          <p:cNvPr id="4" name="Shape 2"/>
          <p:cNvSpPr/>
          <p:nvPr/>
        </p:nvSpPr>
        <p:spPr>
          <a:xfrm>
            <a:off x="1234440" y="2185416"/>
            <a:ext cx="10607040" cy="0"/>
          </a:xfrm>
          <a:prstGeom prst="line">
            <a:avLst/>
          </a:prstGeom>
          <a:noFill/>
          <a:ln w="12700">
            <a:solidFill>
              <a:srgbClr val="E9DFC4"/>
            </a:solidFill>
            <a:prstDash val="solid"/>
          </a:ln>
        </p:spPr>
      </p:sp>
      <p:sp>
        <p:nvSpPr>
          <p:cNvPr id="5" name="Shape 3"/>
          <p:cNvSpPr/>
          <p:nvPr/>
        </p:nvSpPr>
        <p:spPr>
          <a:xfrm>
            <a:off x="1234440" y="2569464"/>
            <a:ext cx="10607040" cy="0"/>
          </a:xfrm>
          <a:prstGeom prst="line">
            <a:avLst/>
          </a:prstGeom>
          <a:noFill/>
          <a:ln w="12700">
            <a:solidFill>
              <a:srgbClr val="E9DFC4"/>
            </a:solidFill>
            <a:prstDash val="solid"/>
          </a:ln>
        </p:spPr>
      </p:sp>
      <p:sp>
        <p:nvSpPr>
          <p:cNvPr id="6" name="Shape 4"/>
          <p:cNvSpPr/>
          <p:nvPr/>
        </p:nvSpPr>
        <p:spPr>
          <a:xfrm>
            <a:off x="1234440" y="2953512"/>
            <a:ext cx="10607040" cy="0"/>
          </a:xfrm>
          <a:prstGeom prst="line">
            <a:avLst/>
          </a:prstGeom>
          <a:noFill/>
          <a:ln w="12700">
            <a:solidFill>
              <a:srgbClr val="E9DFC4"/>
            </a:solidFill>
            <a:prstDash val="solid"/>
          </a:ln>
        </p:spPr>
      </p:sp>
      <p:sp>
        <p:nvSpPr>
          <p:cNvPr id="7" name="Shape 5"/>
          <p:cNvSpPr/>
          <p:nvPr/>
        </p:nvSpPr>
        <p:spPr>
          <a:xfrm>
            <a:off x="1234440" y="3337560"/>
            <a:ext cx="10607040" cy="0"/>
          </a:xfrm>
          <a:prstGeom prst="line">
            <a:avLst/>
          </a:prstGeom>
          <a:noFill/>
          <a:ln w="12700">
            <a:solidFill>
              <a:srgbClr val="E9DFC4"/>
            </a:solidFill>
            <a:prstDash val="solid"/>
          </a:ln>
        </p:spPr>
      </p:sp>
      <p:sp>
        <p:nvSpPr>
          <p:cNvPr id="8" name="Shape 6"/>
          <p:cNvSpPr/>
          <p:nvPr/>
        </p:nvSpPr>
        <p:spPr>
          <a:xfrm>
            <a:off x="1234440" y="3721608"/>
            <a:ext cx="10607040" cy="0"/>
          </a:xfrm>
          <a:prstGeom prst="line">
            <a:avLst/>
          </a:prstGeom>
          <a:noFill/>
          <a:ln w="12700">
            <a:solidFill>
              <a:srgbClr val="E9DFC4"/>
            </a:solidFill>
            <a:prstDash val="solid"/>
          </a:ln>
        </p:spPr>
      </p:sp>
      <p:sp>
        <p:nvSpPr>
          <p:cNvPr id="9" name="Shape 7"/>
          <p:cNvSpPr/>
          <p:nvPr/>
        </p:nvSpPr>
        <p:spPr>
          <a:xfrm>
            <a:off x="1234440" y="4105656"/>
            <a:ext cx="10607040" cy="0"/>
          </a:xfrm>
          <a:prstGeom prst="line">
            <a:avLst/>
          </a:prstGeom>
          <a:noFill/>
          <a:ln w="12700">
            <a:solidFill>
              <a:srgbClr val="E9DFC4"/>
            </a:solidFill>
            <a:prstDash val="solid"/>
          </a:ln>
        </p:spPr>
      </p:sp>
      <p:sp>
        <p:nvSpPr>
          <p:cNvPr id="10" name="Shape 8"/>
          <p:cNvSpPr/>
          <p:nvPr/>
        </p:nvSpPr>
        <p:spPr>
          <a:xfrm>
            <a:off x="1234440" y="4489704"/>
            <a:ext cx="10607040" cy="0"/>
          </a:xfrm>
          <a:prstGeom prst="line">
            <a:avLst/>
          </a:prstGeom>
          <a:noFill/>
          <a:ln w="12700">
            <a:solidFill>
              <a:srgbClr val="E9DFC4"/>
            </a:solidFill>
            <a:prstDash val="solid"/>
          </a:ln>
        </p:spPr>
      </p:sp>
      <p:sp>
        <p:nvSpPr>
          <p:cNvPr id="11" name="Shape 9"/>
          <p:cNvSpPr/>
          <p:nvPr/>
        </p:nvSpPr>
        <p:spPr>
          <a:xfrm>
            <a:off x="1234440" y="4873752"/>
            <a:ext cx="10607040" cy="0"/>
          </a:xfrm>
          <a:prstGeom prst="line">
            <a:avLst/>
          </a:prstGeom>
          <a:noFill/>
          <a:ln w="12700">
            <a:solidFill>
              <a:srgbClr val="E9DFC4"/>
            </a:solidFill>
            <a:prstDash val="solid"/>
          </a:ln>
        </p:spPr>
      </p:sp>
      <p:sp>
        <p:nvSpPr>
          <p:cNvPr id="12" name="Shape 10"/>
          <p:cNvSpPr/>
          <p:nvPr/>
        </p:nvSpPr>
        <p:spPr>
          <a:xfrm>
            <a:off x="1234440" y="5257800"/>
            <a:ext cx="10607040" cy="0"/>
          </a:xfrm>
          <a:prstGeom prst="line">
            <a:avLst/>
          </a:prstGeom>
          <a:noFill/>
          <a:ln w="12700">
            <a:solidFill>
              <a:srgbClr val="E9DFC4"/>
            </a:solidFill>
            <a:prstDash val="solid"/>
          </a:ln>
        </p:spPr>
      </p:sp>
      <p:sp>
        <p:nvSpPr>
          <p:cNvPr id="13" name="Shape 11"/>
          <p:cNvSpPr/>
          <p:nvPr/>
        </p:nvSpPr>
        <p:spPr>
          <a:xfrm>
            <a:off x="1234440" y="5641848"/>
            <a:ext cx="10607040" cy="0"/>
          </a:xfrm>
          <a:prstGeom prst="line">
            <a:avLst/>
          </a:prstGeom>
          <a:noFill/>
          <a:ln w="12700">
            <a:solidFill>
              <a:srgbClr val="E9DFC4"/>
            </a:solidFill>
            <a:prstDash val="solid"/>
          </a:ln>
        </p:spPr>
      </p:sp>
      <p:sp>
        <p:nvSpPr>
          <p:cNvPr id="14" name="Shape 12"/>
          <p:cNvSpPr/>
          <p:nvPr/>
        </p:nvSpPr>
        <p:spPr>
          <a:xfrm>
            <a:off x="1234440" y="6025896"/>
            <a:ext cx="10607040" cy="0"/>
          </a:xfrm>
          <a:prstGeom prst="line">
            <a:avLst/>
          </a:prstGeom>
          <a:noFill/>
          <a:ln w="12700">
            <a:solidFill>
              <a:srgbClr val="E9DFC4"/>
            </a:solidFill>
            <a:prstDash val="solid"/>
          </a:ln>
        </p:spPr>
      </p:sp>
      <p:sp>
        <p:nvSpPr>
          <p:cNvPr id="15" name="Shape 13"/>
          <p:cNvSpPr/>
          <p:nvPr/>
        </p:nvSpPr>
        <p:spPr>
          <a:xfrm>
            <a:off x="1234440" y="6409944"/>
            <a:ext cx="10607040" cy="0"/>
          </a:xfrm>
          <a:prstGeom prst="line">
            <a:avLst/>
          </a:prstGeom>
          <a:noFill/>
          <a:ln w="12700">
            <a:solidFill>
              <a:srgbClr val="E9DFC4"/>
            </a:solidFill>
            <a:prstDash val="solid"/>
          </a:ln>
        </p:spPr>
      </p:sp>
      <p:sp>
        <p:nvSpPr>
          <p:cNvPr id="16" name="Shape 14"/>
          <p:cNvSpPr/>
          <p:nvPr/>
        </p:nvSpPr>
        <p:spPr>
          <a:xfrm>
            <a:off x="1051560" y="320040"/>
            <a:ext cx="0" cy="6309360"/>
          </a:xfrm>
          <a:prstGeom prst="line">
            <a:avLst/>
          </a:prstGeom>
          <a:noFill/>
          <a:ln w="15875">
            <a:solidFill>
              <a:srgbClr val="C0392B"/>
            </a:solidFill>
            <a:prstDash val="solid"/>
          </a:ln>
        </p:spPr>
      </p:sp>
      <p:sp>
        <p:nvSpPr>
          <p:cNvPr id="17" name="Text 15"/>
          <p:cNvSpPr/>
          <p:nvPr/>
        </p:nvSpPr>
        <p:spPr>
          <a:xfrm>
            <a:off x="1280160" y="310896"/>
            <a:ext cx="2743200" cy="320040"/>
          </a:xfrm>
          <a:prstGeom prst="rect">
            <a:avLst/>
          </a:prstGeom>
          <a:noFill/>
          <a:ln/>
        </p:spPr>
        <p:txBody>
          <a:bodyPr wrap="square" lIns="0" tIns="0" rIns="0" bIns="0" rtlCol="0" anchor="ctr"/>
          <a:lstStyle/>
          <a:p>
            <a:pPr marL="0" indent="0">
              <a:buNone/>
            </a:pPr>
            <a:r>
              <a:rPr lang="en-US" sz="1300" b="1" dirty="0">
                <a:solidFill>
                  <a:srgbClr val="C0392B"/>
                </a:solidFill>
                <a:latin typeface="Calibri" pitchFamily="34" charset="0"/>
                <a:ea typeface="Calibri" pitchFamily="34" charset="-122"/>
                <a:cs typeface="Calibri" pitchFamily="34" charset="-120"/>
              </a:rPr>
              <a:t>Topic 1.4</a:t>
            </a:r>
            <a:endParaRPr lang="en-US" sz="1300" dirty="0"/>
          </a:p>
        </p:txBody>
      </p:sp>
      <p:sp>
        <p:nvSpPr>
          <p:cNvPr id="18" name="Text 16"/>
          <p:cNvSpPr/>
          <p:nvPr/>
        </p:nvSpPr>
        <p:spPr>
          <a:xfrm>
            <a:off x="1234440" y="566928"/>
            <a:ext cx="8138160" cy="777240"/>
          </a:xfrm>
          <a:prstGeom prst="rect">
            <a:avLst/>
          </a:prstGeom>
          <a:noFill/>
          <a:ln/>
        </p:spPr>
        <p:txBody>
          <a:bodyPr wrap="square" lIns="0" tIns="0" rIns="0" bIns="0" rtlCol="0" anchor="t"/>
          <a:lstStyle/>
          <a:p>
            <a:pPr marL="0" indent="0">
              <a:buNone/>
            </a:pPr>
            <a:r>
              <a:rPr lang="en-US" sz="3000" b="1" dirty="0">
                <a:solidFill>
                  <a:srgbClr val="1B3A6B"/>
                </a:solidFill>
                <a:latin typeface="Comic Sans MS" pitchFamily="34" charset="0"/>
                <a:ea typeface="Comic Sans MS" pitchFamily="34" charset="-122"/>
                <a:cs typeface="Comic Sans MS" pitchFamily="34" charset="-120"/>
              </a:rPr>
              <a:t>Interrupt-Driven I/O</a:t>
            </a:r>
            <a:endParaRPr lang="en-US" sz="3000" dirty="0"/>
          </a:p>
        </p:txBody>
      </p:sp>
      <p:sp>
        <p:nvSpPr>
          <p:cNvPr id="19" name="Shape 17"/>
          <p:cNvSpPr/>
          <p:nvPr/>
        </p:nvSpPr>
        <p:spPr>
          <a:xfrm>
            <a:off x="9646920" y="384048"/>
            <a:ext cx="1965960" cy="384048"/>
          </a:xfrm>
          <a:prstGeom prst="roundRect">
            <a:avLst>
              <a:gd name="adj" fmla="val 19048"/>
            </a:avLst>
          </a:prstGeom>
          <a:solidFill>
            <a:srgbClr val="C0392B"/>
          </a:solidFill>
          <a:ln/>
        </p:spPr>
      </p:sp>
      <p:sp>
        <p:nvSpPr>
          <p:cNvPr id="20" name="Text 18"/>
          <p:cNvSpPr/>
          <p:nvPr/>
        </p:nvSpPr>
        <p:spPr>
          <a:xfrm>
            <a:off x="9646920" y="384048"/>
            <a:ext cx="196596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HOW IT WORKS</a:t>
            </a:r>
            <a:endParaRPr lang="en-US" sz="1200" dirty="0"/>
          </a:p>
        </p:txBody>
      </p:sp>
      <p:sp>
        <p:nvSpPr>
          <p:cNvPr id="21" name="Shape 19"/>
          <p:cNvSpPr/>
          <p:nvPr/>
        </p:nvSpPr>
        <p:spPr>
          <a:xfrm>
            <a:off x="8732520" y="502920"/>
            <a:ext cx="1051560" cy="1051560"/>
          </a:xfrm>
          <a:prstGeom prst="ellipse">
            <a:avLst/>
          </a:prstGeom>
          <a:solidFill>
            <a:srgbClr val="DCE6F5"/>
          </a:solidFill>
          <a:ln/>
          <a:effectLst>
            <a:outerShdw blurRad="50800" dist="25400" dir="5400000" algn="bl" rotWithShape="0">
              <a:srgbClr val="999999">
                <a:alpha val="25000"/>
              </a:srgbClr>
            </a:outerShdw>
          </a:effectLst>
        </p:spPr>
      </p:sp>
      <p:pic>
        <p:nvPicPr>
          <p:cNvPr id="22" name="Image 0" descr="/home/claude/iobook/icons/bell.png"/>
          <p:cNvPicPr>
            <a:picLocks noChangeAspect="1"/>
          </p:cNvPicPr>
          <p:nvPr/>
        </p:nvPicPr>
        <p:blipFill>
          <a:blip r:embed="rId3"/>
          <a:stretch>
            <a:fillRect/>
          </a:stretch>
        </p:blipFill>
        <p:spPr>
          <a:xfrm>
            <a:off x="8963863" y="734263"/>
            <a:ext cx="588874" cy="588874"/>
          </a:xfrm>
          <a:prstGeom prst="rect">
            <a:avLst/>
          </a:prstGeom>
        </p:spPr>
      </p:pic>
      <p:sp>
        <p:nvSpPr>
          <p:cNvPr id="23" name="Shape 20"/>
          <p:cNvSpPr/>
          <p:nvPr/>
        </p:nvSpPr>
        <p:spPr>
          <a:xfrm>
            <a:off x="1280160" y="1965960"/>
            <a:ext cx="2331720" cy="1600200"/>
          </a:xfrm>
          <a:prstGeom prst="roundRect">
            <a:avLst>
              <a:gd name="adj" fmla="val 4571"/>
            </a:avLst>
          </a:prstGeom>
          <a:solidFill>
            <a:srgbClr val="FFFFFF"/>
          </a:solidFill>
          <a:ln w="12700">
            <a:solidFill>
              <a:srgbClr val="1B3A6B"/>
            </a:solidFill>
            <a:prstDash val="solid"/>
          </a:ln>
          <a:effectLst>
            <a:outerShdw blurRad="38100" dist="25400" dir="5400000" algn="bl" rotWithShape="0">
              <a:srgbClr val="999999">
                <a:alpha val="20000"/>
              </a:srgbClr>
            </a:outerShdw>
          </a:effectLst>
        </p:spPr>
      </p:sp>
      <p:sp>
        <p:nvSpPr>
          <p:cNvPr id="24" name="Shape 21"/>
          <p:cNvSpPr/>
          <p:nvPr/>
        </p:nvSpPr>
        <p:spPr>
          <a:xfrm>
            <a:off x="2244852" y="1764792"/>
            <a:ext cx="402336" cy="402336"/>
          </a:xfrm>
          <a:prstGeom prst="ellipse">
            <a:avLst/>
          </a:prstGeom>
          <a:solidFill>
            <a:srgbClr val="C0392B"/>
          </a:solidFill>
          <a:ln w="25400">
            <a:solidFill>
              <a:srgbClr val="FFF8E1"/>
            </a:solidFill>
            <a:prstDash val="solid"/>
          </a:ln>
        </p:spPr>
      </p:sp>
      <p:sp>
        <p:nvSpPr>
          <p:cNvPr id="25" name="Text 22"/>
          <p:cNvSpPr/>
          <p:nvPr/>
        </p:nvSpPr>
        <p:spPr>
          <a:xfrm>
            <a:off x="2244852" y="1764792"/>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26" name="Text 23"/>
          <p:cNvSpPr/>
          <p:nvPr/>
        </p:nvSpPr>
        <p:spPr>
          <a:xfrm>
            <a:off x="1389888" y="2221992"/>
            <a:ext cx="2112264" cy="502920"/>
          </a:xfrm>
          <a:prstGeom prst="rect">
            <a:avLst/>
          </a:prstGeom>
          <a:noFill/>
          <a:ln/>
        </p:spPr>
        <p:txBody>
          <a:bodyPr wrap="square" lIns="0" tIns="0" rIns="0" bIns="0" rtlCol="0" anchor="t"/>
          <a:lstStyle/>
          <a:p>
            <a:pPr marL="0" indent="0">
              <a:buNone/>
            </a:pPr>
            <a:r>
              <a:rPr lang="en-US" sz="1350" b="1" dirty="0">
                <a:solidFill>
                  <a:srgbClr val="1B3A6B"/>
                </a:solidFill>
                <a:latin typeface="Calibri" pitchFamily="34" charset="0"/>
                <a:ea typeface="Calibri" pitchFamily="34" charset="-122"/>
                <a:cs typeface="Calibri" pitchFamily="34" charset="-120"/>
              </a:rPr>
              <a:t>1. Send Command</a:t>
            </a:r>
            <a:endParaRPr lang="en-US" sz="1350" dirty="0"/>
          </a:p>
        </p:txBody>
      </p:sp>
      <p:sp>
        <p:nvSpPr>
          <p:cNvPr id="27" name="Text 24"/>
          <p:cNvSpPr/>
          <p:nvPr/>
        </p:nvSpPr>
        <p:spPr>
          <a:xfrm>
            <a:off x="1389888" y="2715768"/>
            <a:ext cx="2112264" cy="777240"/>
          </a:xfrm>
          <a:prstGeom prst="rect">
            <a:avLst/>
          </a:prstGeom>
          <a:noFill/>
          <a:ln/>
        </p:spPr>
        <p:txBody>
          <a:bodyPr wrap="square" lIns="0" tIns="0" rIns="0" bIns="0" rtlCol="0" anchor="t"/>
          <a:lstStyle/>
          <a:p>
            <a:pPr marL="0" indent="0">
              <a:buNone/>
            </a:pPr>
            <a:r>
              <a:rPr lang="en-US" sz="1100" dirty="0">
                <a:solidFill>
                  <a:srgbClr val="4A4A4A"/>
                </a:solidFill>
                <a:latin typeface="Calibri" pitchFamily="34" charset="0"/>
                <a:ea typeface="Calibri" pitchFamily="34" charset="-122"/>
                <a:cs typeface="Calibri" pitchFamily="34" charset="-120"/>
              </a:rPr>
              <a:t>CPU issues command, then moves on</a:t>
            </a:r>
            <a:endParaRPr lang="en-US" sz="1100" dirty="0"/>
          </a:p>
        </p:txBody>
      </p:sp>
      <p:pic>
        <p:nvPicPr>
          <p:cNvPr id="28" name="Image 1" descr="/home/claude/iobook/icons/arrowRight.png"/>
          <p:cNvPicPr>
            <a:picLocks noChangeAspect="1"/>
          </p:cNvPicPr>
          <p:nvPr/>
        </p:nvPicPr>
        <p:blipFill>
          <a:blip r:embed="rId4"/>
          <a:stretch>
            <a:fillRect/>
          </a:stretch>
        </p:blipFill>
        <p:spPr>
          <a:xfrm>
            <a:off x="3639312" y="2628900"/>
            <a:ext cx="274320" cy="274320"/>
          </a:xfrm>
          <a:prstGeom prst="rect">
            <a:avLst/>
          </a:prstGeom>
        </p:spPr>
      </p:pic>
      <p:sp>
        <p:nvSpPr>
          <p:cNvPr id="29" name="Shape 25"/>
          <p:cNvSpPr/>
          <p:nvPr/>
        </p:nvSpPr>
        <p:spPr>
          <a:xfrm>
            <a:off x="3931920" y="1965960"/>
            <a:ext cx="2331720" cy="1600200"/>
          </a:xfrm>
          <a:prstGeom prst="roundRect">
            <a:avLst>
              <a:gd name="adj" fmla="val 4571"/>
            </a:avLst>
          </a:prstGeom>
          <a:solidFill>
            <a:srgbClr val="FFFFFF"/>
          </a:solidFill>
          <a:ln w="12700">
            <a:solidFill>
              <a:srgbClr val="1B3A6B"/>
            </a:solidFill>
            <a:prstDash val="solid"/>
          </a:ln>
          <a:effectLst>
            <a:outerShdw blurRad="38100" dist="25400" dir="5400000" algn="bl" rotWithShape="0">
              <a:srgbClr val="999999">
                <a:alpha val="20000"/>
              </a:srgbClr>
            </a:outerShdw>
          </a:effectLst>
        </p:spPr>
      </p:sp>
      <p:sp>
        <p:nvSpPr>
          <p:cNvPr id="30" name="Shape 26"/>
          <p:cNvSpPr/>
          <p:nvPr/>
        </p:nvSpPr>
        <p:spPr>
          <a:xfrm>
            <a:off x="4896612" y="1764792"/>
            <a:ext cx="402336" cy="402336"/>
          </a:xfrm>
          <a:prstGeom prst="ellipse">
            <a:avLst/>
          </a:prstGeom>
          <a:solidFill>
            <a:srgbClr val="C0392B"/>
          </a:solidFill>
          <a:ln w="25400">
            <a:solidFill>
              <a:srgbClr val="FFF8E1"/>
            </a:solidFill>
            <a:prstDash val="solid"/>
          </a:ln>
        </p:spPr>
      </p:sp>
      <p:sp>
        <p:nvSpPr>
          <p:cNvPr id="31" name="Text 27"/>
          <p:cNvSpPr/>
          <p:nvPr/>
        </p:nvSpPr>
        <p:spPr>
          <a:xfrm>
            <a:off x="4896612" y="1764792"/>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32" name="Text 28"/>
          <p:cNvSpPr/>
          <p:nvPr/>
        </p:nvSpPr>
        <p:spPr>
          <a:xfrm>
            <a:off x="4041648" y="2221992"/>
            <a:ext cx="2112264" cy="502920"/>
          </a:xfrm>
          <a:prstGeom prst="rect">
            <a:avLst/>
          </a:prstGeom>
          <a:noFill/>
          <a:ln/>
        </p:spPr>
        <p:txBody>
          <a:bodyPr wrap="square" lIns="0" tIns="0" rIns="0" bIns="0" rtlCol="0" anchor="t"/>
          <a:lstStyle/>
          <a:p>
            <a:pPr marL="0" indent="0">
              <a:buNone/>
            </a:pPr>
            <a:r>
              <a:rPr lang="en-US" sz="1350" b="1" dirty="0">
                <a:solidFill>
                  <a:srgbClr val="1B3A6B"/>
                </a:solidFill>
                <a:latin typeface="Calibri" pitchFamily="34" charset="0"/>
                <a:ea typeface="Calibri" pitchFamily="34" charset="-122"/>
                <a:cs typeface="Calibri" pitchFamily="34" charset="-120"/>
              </a:rPr>
              <a:t>2. Device Works</a:t>
            </a:r>
            <a:endParaRPr lang="en-US" sz="1350" dirty="0"/>
          </a:p>
        </p:txBody>
      </p:sp>
      <p:sp>
        <p:nvSpPr>
          <p:cNvPr id="33" name="Text 29"/>
          <p:cNvSpPr/>
          <p:nvPr/>
        </p:nvSpPr>
        <p:spPr>
          <a:xfrm>
            <a:off x="4041648" y="2715768"/>
            <a:ext cx="2112264" cy="777240"/>
          </a:xfrm>
          <a:prstGeom prst="rect">
            <a:avLst/>
          </a:prstGeom>
          <a:noFill/>
          <a:ln/>
        </p:spPr>
        <p:txBody>
          <a:bodyPr wrap="square" lIns="0" tIns="0" rIns="0" bIns="0" rtlCol="0" anchor="t"/>
          <a:lstStyle/>
          <a:p>
            <a:pPr marL="0" indent="0">
              <a:buNone/>
            </a:pPr>
            <a:r>
              <a:rPr lang="en-US" sz="1100" dirty="0">
                <a:solidFill>
                  <a:srgbClr val="4A4A4A"/>
                </a:solidFill>
                <a:latin typeface="Calibri" pitchFamily="34" charset="0"/>
                <a:ea typeface="Calibri" pitchFamily="34" charset="-122"/>
                <a:cs typeface="Calibri" pitchFamily="34" charset="-120"/>
              </a:rPr>
              <a:t>CPU is free to run other programs</a:t>
            </a:r>
            <a:endParaRPr lang="en-US" sz="1100" dirty="0"/>
          </a:p>
        </p:txBody>
      </p:sp>
      <p:pic>
        <p:nvPicPr>
          <p:cNvPr id="34" name="Image 2" descr="/home/claude/iobook/icons/arrowRight.png"/>
          <p:cNvPicPr>
            <a:picLocks noChangeAspect="1"/>
          </p:cNvPicPr>
          <p:nvPr/>
        </p:nvPicPr>
        <p:blipFill>
          <a:blip r:embed="rId4"/>
          <a:stretch>
            <a:fillRect/>
          </a:stretch>
        </p:blipFill>
        <p:spPr>
          <a:xfrm>
            <a:off x="6291072" y="2628900"/>
            <a:ext cx="274320" cy="274320"/>
          </a:xfrm>
          <a:prstGeom prst="rect">
            <a:avLst/>
          </a:prstGeom>
        </p:spPr>
      </p:pic>
      <p:sp>
        <p:nvSpPr>
          <p:cNvPr id="35" name="Shape 30"/>
          <p:cNvSpPr/>
          <p:nvPr/>
        </p:nvSpPr>
        <p:spPr>
          <a:xfrm>
            <a:off x="6583680" y="1965960"/>
            <a:ext cx="2331720" cy="1600200"/>
          </a:xfrm>
          <a:prstGeom prst="roundRect">
            <a:avLst>
              <a:gd name="adj" fmla="val 4571"/>
            </a:avLst>
          </a:prstGeom>
          <a:solidFill>
            <a:srgbClr val="FFFFFF"/>
          </a:solidFill>
          <a:ln w="12700">
            <a:solidFill>
              <a:srgbClr val="1B3A6B"/>
            </a:solidFill>
            <a:prstDash val="solid"/>
          </a:ln>
          <a:effectLst>
            <a:outerShdw blurRad="38100" dist="25400" dir="5400000" algn="bl" rotWithShape="0">
              <a:srgbClr val="999999">
                <a:alpha val="20000"/>
              </a:srgbClr>
            </a:outerShdw>
          </a:effectLst>
        </p:spPr>
      </p:sp>
      <p:sp>
        <p:nvSpPr>
          <p:cNvPr id="36" name="Shape 31"/>
          <p:cNvSpPr/>
          <p:nvPr/>
        </p:nvSpPr>
        <p:spPr>
          <a:xfrm>
            <a:off x="7548372" y="1764792"/>
            <a:ext cx="402336" cy="402336"/>
          </a:xfrm>
          <a:prstGeom prst="ellipse">
            <a:avLst/>
          </a:prstGeom>
          <a:solidFill>
            <a:srgbClr val="C0392B"/>
          </a:solidFill>
          <a:ln w="25400">
            <a:solidFill>
              <a:srgbClr val="FFF8E1"/>
            </a:solidFill>
            <a:prstDash val="solid"/>
          </a:ln>
        </p:spPr>
      </p:sp>
      <p:sp>
        <p:nvSpPr>
          <p:cNvPr id="37" name="Text 32"/>
          <p:cNvSpPr/>
          <p:nvPr/>
        </p:nvSpPr>
        <p:spPr>
          <a:xfrm>
            <a:off x="7548372" y="1764792"/>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38" name="Text 33"/>
          <p:cNvSpPr/>
          <p:nvPr/>
        </p:nvSpPr>
        <p:spPr>
          <a:xfrm>
            <a:off x="6693408" y="2221992"/>
            <a:ext cx="2112264" cy="502920"/>
          </a:xfrm>
          <a:prstGeom prst="rect">
            <a:avLst/>
          </a:prstGeom>
          <a:noFill/>
          <a:ln/>
        </p:spPr>
        <p:txBody>
          <a:bodyPr wrap="square" lIns="0" tIns="0" rIns="0" bIns="0" rtlCol="0" anchor="t"/>
          <a:lstStyle/>
          <a:p>
            <a:pPr marL="0" indent="0">
              <a:buNone/>
            </a:pPr>
            <a:r>
              <a:rPr lang="en-US" sz="1350" b="1" dirty="0">
                <a:solidFill>
                  <a:srgbClr val="1B3A6B"/>
                </a:solidFill>
                <a:latin typeface="Calibri" pitchFamily="34" charset="0"/>
                <a:ea typeface="Calibri" pitchFamily="34" charset="-122"/>
                <a:cs typeface="Calibri" pitchFamily="34" charset="-120"/>
              </a:rPr>
              <a:t>3. Interrupt!</a:t>
            </a:r>
            <a:endParaRPr lang="en-US" sz="1350" dirty="0"/>
          </a:p>
        </p:txBody>
      </p:sp>
      <p:sp>
        <p:nvSpPr>
          <p:cNvPr id="39" name="Text 34"/>
          <p:cNvSpPr/>
          <p:nvPr/>
        </p:nvSpPr>
        <p:spPr>
          <a:xfrm>
            <a:off x="6693408" y="2715768"/>
            <a:ext cx="2112264" cy="777240"/>
          </a:xfrm>
          <a:prstGeom prst="rect">
            <a:avLst/>
          </a:prstGeom>
          <a:noFill/>
          <a:ln/>
        </p:spPr>
        <p:txBody>
          <a:bodyPr wrap="square" lIns="0" tIns="0" rIns="0" bIns="0" rtlCol="0" anchor="t"/>
          <a:lstStyle/>
          <a:p>
            <a:pPr marL="0" indent="0">
              <a:buNone/>
            </a:pPr>
            <a:r>
              <a:rPr lang="en-US" sz="1100" dirty="0">
                <a:solidFill>
                  <a:srgbClr val="4A4A4A"/>
                </a:solidFill>
                <a:latin typeface="Calibri" pitchFamily="34" charset="0"/>
                <a:ea typeface="Calibri" pitchFamily="34" charset="-122"/>
                <a:cs typeface="Calibri" pitchFamily="34" charset="-120"/>
              </a:rPr>
              <a:t>Device sends an 'I'm done!' signal</a:t>
            </a:r>
            <a:endParaRPr lang="en-US" sz="1100" dirty="0"/>
          </a:p>
        </p:txBody>
      </p:sp>
      <p:pic>
        <p:nvPicPr>
          <p:cNvPr id="40" name="Image 3" descr="/home/claude/iobook/icons/arrowRight.png"/>
          <p:cNvPicPr>
            <a:picLocks noChangeAspect="1"/>
          </p:cNvPicPr>
          <p:nvPr/>
        </p:nvPicPr>
        <p:blipFill>
          <a:blip r:embed="rId4"/>
          <a:stretch>
            <a:fillRect/>
          </a:stretch>
        </p:blipFill>
        <p:spPr>
          <a:xfrm>
            <a:off x="8942832" y="2628900"/>
            <a:ext cx="274320" cy="274320"/>
          </a:xfrm>
          <a:prstGeom prst="rect">
            <a:avLst/>
          </a:prstGeom>
        </p:spPr>
      </p:pic>
      <p:sp>
        <p:nvSpPr>
          <p:cNvPr id="41" name="Shape 35"/>
          <p:cNvSpPr/>
          <p:nvPr/>
        </p:nvSpPr>
        <p:spPr>
          <a:xfrm>
            <a:off x="9235440" y="1965960"/>
            <a:ext cx="2331720" cy="1600200"/>
          </a:xfrm>
          <a:prstGeom prst="roundRect">
            <a:avLst>
              <a:gd name="adj" fmla="val 4571"/>
            </a:avLst>
          </a:prstGeom>
          <a:solidFill>
            <a:srgbClr val="FFFFFF"/>
          </a:solidFill>
          <a:ln w="12700">
            <a:solidFill>
              <a:srgbClr val="1B3A6B"/>
            </a:solidFill>
            <a:prstDash val="solid"/>
          </a:ln>
          <a:effectLst>
            <a:outerShdw blurRad="38100" dist="25400" dir="5400000" algn="bl" rotWithShape="0">
              <a:srgbClr val="999999">
                <a:alpha val="20000"/>
              </a:srgbClr>
            </a:outerShdw>
          </a:effectLst>
        </p:spPr>
      </p:sp>
      <p:sp>
        <p:nvSpPr>
          <p:cNvPr id="42" name="Shape 36"/>
          <p:cNvSpPr/>
          <p:nvPr/>
        </p:nvSpPr>
        <p:spPr>
          <a:xfrm>
            <a:off x="10200132" y="1764792"/>
            <a:ext cx="402336" cy="402336"/>
          </a:xfrm>
          <a:prstGeom prst="ellipse">
            <a:avLst/>
          </a:prstGeom>
          <a:solidFill>
            <a:srgbClr val="C0392B"/>
          </a:solidFill>
          <a:ln w="25400">
            <a:solidFill>
              <a:srgbClr val="FFF8E1"/>
            </a:solidFill>
            <a:prstDash val="solid"/>
          </a:ln>
        </p:spPr>
      </p:sp>
      <p:sp>
        <p:nvSpPr>
          <p:cNvPr id="43" name="Text 37"/>
          <p:cNvSpPr/>
          <p:nvPr/>
        </p:nvSpPr>
        <p:spPr>
          <a:xfrm>
            <a:off x="10200132" y="1764792"/>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44" name="Text 38"/>
          <p:cNvSpPr/>
          <p:nvPr/>
        </p:nvSpPr>
        <p:spPr>
          <a:xfrm>
            <a:off x="9345168" y="2221992"/>
            <a:ext cx="2112264" cy="502920"/>
          </a:xfrm>
          <a:prstGeom prst="rect">
            <a:avLst/>
          </a:prstGeom>
          <a:noFill/>
          <a:ln/>
        </p:spPr>
        <p:txBody>
          <a:bodyPr wrap="square" lIns="0" tIns="0" rIns="0" bIns="0" rtlCol="0" anchor="t"/>
          <a:lstStyle/>
          <a:p>
            <a:pPr marL="0" indent="0">
              <a:buNone/>
            </a:pPr>
            <a:r>
              <a:rPr lang="en-US" sz="1350" b="1" dirty="0">
                <a:solidFill>
                  <a:srgbClr val="1B3A6B"/>
                </a:solidFill>
                <a:latin typeface="Calibri" pitchFamily="34" charset="0"/>
                <a:ea typeface="Calibri" pitchFamily="34" charset="-122"/>
                <a:cs typeface="Calibri" pitchFamily="34" charset="-120"/>
              </a:rPr>
              <a:t>4. Handle &amp; Resume</a:t>
            </a:r>
            <a:endParaRPr lang="en-US" sz="1350" dirty="0"/>
          </a:p>
        </p:txBody>
      </p:sp>
      <p:sp>
        <p:nvSpPr>
          <p:cNvPr id="45" name="Text 39"/>
          <p:cNvSpPr/>
          <p:nvPr/>
        </p:nvSpPr>
        <p:spPr>
          <a:xfrm>
            <a:off x="9345168" y="2715768"/>
            <a:ext cx="2112264" cy="777240"/>
          </a:xfrm>
          <a:prstGeom prst="rect">
            <a:avLst/>
          </a:prstGeom>
          <a:noFill/>
          <a:ln/>
        </p:spPr>
        <p:txBody>
          <a:bodyPr wrap="square" lIns="0" tIns="0" rIns="0" bIns="0" rtlCol="0" anchor="t"/>
          <a:lstStyle/>
          <a:p>
            <a:pPr marL="0" indent="0">
              <a:buNone/>
            </a:pPr>
            <a:r>
              <a:rPr lang="en-US" sz="1100" dirty="0">
                <a:solidFill>
                  <a:srgbClr val="4A4A4A"/>
                </a:solidFill>
                <a:latin typeface="Calibri" pitchFamily="34" charset="0"/>
                <a:ea typeface="Calibri" pitchFamily="34" charset="-122"/>
                <a:cs typeface="Calibri" pitchFamily="34" charset="-120"/>
              </a:rPr>
              <a:t>CPU transfers data, resumes old task</a:t>
            </a:r>
            <a:endParaRPr lang="en-US" sz="1100" dirty="0"/>
          </a:p>
        </p:txBody>
      </p:sp>
      <p:sp>
        <p:nvSpPr>
          <p:cNvPr id="46" name="Shape 40"/>
          <p:cNvSpPr/>
          <p:nvPr/>
        </p:nvSpPr>
        <p:spPr>
          <a:xfrm>
            <a:off x="1280160" y="3977640"/>
            <a:ext cx="8778240" cy="1234440"/>
          </a:xfrm>
          <a:prstGeom prst="roundRect">
            <a:avLst>
              <a:gd name="adj" fmla="val 7407"/>
            </a:avLst>
          </a:prstGeom>
          <a:solidFill>
            <a:srgbClr val="DCE6F5">
              <a:alpha val="70000"/>
            </a:srgbClr>
          </a:solidFill>
          <a:ln w="9525">
            <a:solidFill>
              <a:srgbClr val="1B3A6B"/>
            </a:solidFill>
            <a:prstDash val="sysDot"/>
          </a:ln>
        </p:spPr>
      </p:sp>
      <p:pic>
        <p:nvPicPr>
          <p:cNvPr id="47" name="Image 4" descr="/home/claude/iobook/icons/lightbulb.png"/>
          <p:cNvPicPr>
            <a:picLocks noChangeAspect="1"/>
          </p:cNvPicPr>
          <p:nvPr/>
        </p:nvPicPr>
        <p:blipFill>
          <a:blip r:embed="rId5"/>
          <a:stretch>
            <a:fillRect/>
          </a:stretch>
        </p:blipFill>
        <p:spPr>
          <a:xfrm>
            <a:off x="1463040" y="4160520"/>
            <a:ext cx="502920" cy="502920"/>
          </a:xfrm>
          <a:prstGeom prst="rect">
            <a:avLst/>
          </a:prstGeom>
        </p:spPr>
      </p:pic>
      <p:sp>
        <p:nvSpPr>
          <p:cNvPr id="48" name="Text 41"/>
          <p:cNvSpPr/>
          <p:nvPr/>
        </p:nvSpPr>
        <p:spPr>
          <a:xfrm>
            <a:off x="2103120" y="4114800"/>
            <a:ext cx="7772400" cy="1005840"/>
          </a:xfrm>
          <a:prstGeom prst="rect">
            <a:avLst/>
          </a:prstGeom>
          <a:noFill/>
          <a:ln/>
        </p:spPr>
        <p:txBody>
          <a:bodyPr wrap="square" lIns="0" tIns="0" rIns="0" bIns="0" rtlCol="0" anchor="ctr"/>
          <a:lstStyle/>
          <a:p>
            <a:pPr marL="0" indent="0">
              <a:buNone/>
            </a:pPr>
            <a:r>
              <a:rPr lang="en-US" sz="1350" i="1" dirty="0">
                <a:solidFill>
                  <a:srgbClr val="1B3A6B"/>
                </a:solidFill>
                <a:latin typeface="Calibri" pitchFamily="34" charset="0"/>
                <a:ea typeface="Calibri" pitchFamily="34" charset="-122"/>
                <a:cs typeface="Calibri" pitchFamily="34" charset="-120"/>
              </a:rPr>
              <a:t>It's like leaving your phone on silent while cooking — you don't keep checking it, but it buzzes (interrupts you) only when a message actually arrives.</a:t>
            </a:r>
            <a:endParaRPr lang="en-US" sz="1350" dirty="0"/>
          </a:p>
        </p:txBody>
      </p:sp>
      <p:sp>
        <p:nvSpPr>
          <p:cNvPr id="49" name="Text 42"/>
          <p:cNvSpPr/>
          <p:nvPr/>
        </p:nvSpPr>
        <p:spPr>
          <a:xfrm>
            <a:off x="320040" y="6510528"/>
            <a:ext cx="5486400" cy="274320"/>
          </a:xfrm>
          <a:prstGeom prst="rect">
            <a:avLst/>
          </a:prstGeom>
          <a:noFill/>
          <a:ln/>
        </p:spPr>
        <p:txBody>
          <a:bodyPr wrap="square" lIns="0" tIns="0" rIns="0" bIns="0" rtlCol="0" anchor="ctr"/>
          <a:lstStyle/>
          <a:p>
            <a:pPr marL="0" indent="0">
              <a:buNone/>
            </a:pPr>
            <a:r>
              <a:rPr lang="en-US" sz="1000" i="1" dirty="0">
                <a:solidFill>
                  <a:srgbClr val="4A4A4A"/>
                </a:solidFill>
                <a:latin typeface="Calibri" pitchFamily="34" charset="0"/>
                <a:ea typeface="Calibri" pitchFamily="34" charset="-122"/>
                <a:cs typeface="Calibri" pitchFamily="34" charset="-120"/>
              </a:rPr>
              <a:t>Interrupt-Driven I/O</a:t>
            </a:r>
            <a:endParaRPr lang="en-US" sz="1000" dirty="0"/>
          </a:p>
        </p:txBody>
      </p:sp>
      <p:sp>
        <p:nvSpPr>
          <p:cNvPr id="50" name="Text 43"/>
          <p:cNvSpPr/>
          <p:nvPr/>
        </p:nvSpPr>
        <p:spPr>
          <a:xfrm>
            <a:off x="5029200" y="6510528"/>
            <a:ext cx="5029200" cy="274320"/>
          </a:xfrm>
          <a:prstGeom prst="rect">
            <a:avLst/>
          </a:prstGeom>
          <a:noFill/>
          <a:ln/>
        </p:spPr>
        <p:txBody>
          <a:bodyPr wrap="square" lIns="0" tIns="0" rIns="0" bIns="0" rtlCol="0" anchor="ctr"/>
          <a:lstStyle/>
          <a:p>
            <a:pPr marL="0" indent="0" algn="r">
              <a:buNone/>
            </a:pPr>
            <a:r>
              <a:rPr lang="en-US" sz="900" dirty="0">
                <a:solidFill>
                  <a:srgbClr val="4A4A4A"/>
                </a:solidFill>
                <a:latin typeface="Calibri" pitchFamily="34" charset="0"/>
                <a:ea typeface="Calibri" pitchFamily="34" charset="-122"/>
                <a:cs typeface="Calibri" pitchFamily="34" charset="-120"/>
              </a:rPr>
              <a:t>Ch.7 • Stallings, Computer Organization &amp; Architecture</a:t>
            </a:r>
            <a:endParaRPr lang="en-US" sz="900" dirty="0"/>
          </a:p>
        </p:txBody>
      </p:sp>
      <p:sp>
        <p:nvSpPr>
          <p:cNvPr id="51" name="Text 44"/>
          <p:cNvSpPr/>
          <p:nvPr/>
        </p:nvSpPr>
        <p:spPr>
          <a:xfrm>
            <a:off x="11475720" y="6510528"/>
            <a:ext cx="548640" cy="274320"/>
          </a:xfrm>
          <a:prstGeom prst="rect">
            <a:avLst/>
          </a:prstGeom>
          <a:noFill/>
          <a:ln/>
        </p:spPr>
        <p:txBody>
          <a:bodyPr wrap="square" lIns="0" tIns="0" rIns="0" bIns="0" rtlCol="0" anchor="ctr"/>
          <a:lstStyle/>
          <a:p>
            <a:pPr marL="0" indent="0" algn="r">
              <a:buNone/>
            </a:pPr>
            <a:r>
              <a:rPr lang="en-US" sz="1000" dirty="0">
                <a:solidFill>
                  <a:srgbClr val="4A4A4A"/>
                </a:solidFill>
                <a:latin typeface="Calibri" pitchFamily="34" charset="0"/>
                <a:ea typeface="Calibri" pitchFamily="34" charset="-122"/>
                <a:cs typeface="Calibri" pitchFamily="34" charset="-120"/>
              </a:rPr>
              <a:t>12/30</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8E1"/>
        </a:solidFill>
        <a:effectLst/>
      </p:bgPr>
    </p:bg>
    <p:spTree>
      <p:nvGrpSpPr>
        <p:cNvPr id="1" name=""/>
        <p:cNvGrpSpPr/>
        <p:nvPr/>
      </p:nvGrpSpPr>
      <p:grpSpPr>
        <a:xfrm>
          <a:off x="0" y="0"/>
          <a:ext cx="0" cy="0"/>
          <a:chOff x="0" y="0"/>
          <a:chExt cx="0" cy="0"/>
        </a:xfrm>
      </p:grpSpPr>
      <p:sp>
        <p:nvSpPr>
          <p:cNvPr id="2" name="Shape 0"/>
          <p:cNvSpPr/>
          <p:nvPr/>
        </p:nvSpPr>
        <p:spPr>
          <a:xfrm>
            <a:off x="1234440" y="1417320"/>
            <a:ext cx="10607040" cy="0"/>
          </a:xfrm>
          <a:prstGeom prst="line">
            <a:avLst/>
          </a:prstGeom>
          <a:noFill/>
          <a:ln w="12700">
            <a:solidFill>
              <a:srgbClr val="E9DFC4"/>
            </a:solidFill>
            <a:prstDash val="solid"/>
          </a:ln>
        </p:spPr>
      </p:sp>
      <p:sp>
        <p:nvSpPr>
          <p:cNvPr id="3" name="Shape 1"/>
          <p:cNvSpPr/>
          <p:nvPr/>
        </p:nvSpPr>
        <p:spPr>
          <a:xfrm>
            <a:off x="1234440" y="1801368"/>
            <a:ext cx="10607040" cy="0"/>
          </a:xfrm>
          <a:prstGeom prst="line">
            <a:avLst/>
          </a:prstGeom>
          <a:noFill/>
          <a:ln w="12700">
            <a:solidFill>
              <a:srgbClr val="E9DFC4"/>
            </a:solidFill>
            <a:prstDash val="solid"/>
          </a:ln>
        </p:spPr>
      </p:sp>
      <p:sp>
        <p:nvSpPr>
          <p:cNvPr id="4" name="Shape 2"/>
          <p:cNvSpPr/>
          <p:nvPr/>
        </p:nvSpPr>
        <p:spPr>
          <a:xfrm>
            <a:off x="1234440" y="2185416"/>
            <a:ext cx="10607040" cy="0"/>
          </a:xfrm>
          <a:prstGeom prst="line">
            <a:avLst/>
          </a:prstGeom>
          <a:noFill/>
          <a:ln w="12700">
            <a:solidFill>
              <a:srgbClr val="E9DFC4"/>
            </a:solidFill>
            <a:prstDash val="solid"/>
          </a:ln>
        </p:spPr>
      </p:sp>
      <p:sp>
        <p:nvSpPr>
          <p:cNvPr id="5" name="Shape 3"/>
          <p:cNvSpPr/>
          <p:nvPr/>
        </p:nvSpPr>
        <p:spPr>
          <a:xfrm>
            <a:off x="1234440" y="2569464"/>
            <a:ext cx="10607040" cy="0"/>
          </a:xfrm>
          <a:prstGeom prst="line">
            <a:avLst/>
          </a:prstGeom>
          <a:noFill/>
          <a:ln w="12700">
            <a:solidFill>
              <a:srgbClr val="E9DFC4"/>
            </a:solidFill>
            <a:prstDash val="solid"/>
          </a:ln>
        </p:spPr>
      </p:sp>
      <p:sp>
        <p:nvSpPr>
          <p:cNvPr id="6" name="Shape 4"/>
          <p:cNvSpPr/>
          <p:nvPr/>
        </p:nvSpPr>
        <p:spPr>
          <a:xfrm>
            <a:off x="1234440" y="2953512"/>
            <a:ext cx="10607040" cy="0"/>
          </a:xfrm>
          <a:prstGeom prst="line">
            <a:avLst/>
          </a:prstGeom>
          <a:noFill/>
          <a:ln w="12700">
            <a:solidFill>
              <a:srgbClr val="E9DFC4"/>
            </a:solidFill>
            <a:prstDash val="solid"/>
          </a:ln>
        </p:spPr>
      </p:sp>
      <p:sp>
        <p:nvSpPr>
          <p:cNvPr id="7" name="Shape 5"/>
          <p:cNvSpPr/>
          <p:nvPr/>
        </p:nvSpPr>
        <p:spPr>
          <a:xfrm>
            <a:off x="1234440" y="3337560"/>
            <a:ext cx="10607040" cy="0"/>
          </a:xfrm>
          <a:prstGeom prst="line">
            <a:avLst/>
          </a:prstGeom>
          <a:noFill/>
          <a:ln w="12700">
            <a:solidFill>
              <a:srgbClr val="E9DFC4"/>
            </a:solidFill>
            <a:prstDash val="solid"/>
          </a:ln>
        </p:spPr>
      </p:sp>
      <p:sp>
        <p:nvSpPr>
          <p:cNvPr id="8" name="Shape 6"/>
          <p:cNvSpPr/>
          <p:nvPr/>
        </p:nvSpPr>
        <p:spPr>
          <a:xfrm>
            <a:off x="1234440" y="3721608"/>
            <a:ext cx="10607040" cy="0"/>
          </a:xfrm>
          <a:prstGeom prst="line">
            <a:avLst/>
          </a:prstGeom>
          <a:noFill/>
          <a:ln w="12700">
            <a:solidFill>
              <a:srgbClr val="E9DFC4"/>
            </a:solidFill>
            <a:prstDash val="solid"/>
          </a:ln>
        </p:spPr>
      </p:sp>
      <p:sp>
        <p:nvSpPr>
          <p:cNvPr id="9" name="Shape 7"/>
          <p:cNvSpPr/>
          <p:nvPr/>
        </p:nvSpPr>
        <p:spPr>
          <a:xfrm>
            <a:off x="1234440" y="4105656"/>
            <a:ext cx="10607040" cy="0"/>
          </a:xfrm>
          <a:prstGeom prst="line">
            <a:avLst/>
          </a:prstGeom>
          <a:noFill/>
          <a:ln w="12700">
            <a:solidFill>
              <a:srgbClr val="E9DFC4"/>
            </a:solidFill>
            <a:prstDash val="solid"/>
          </a:ln>
        </p:spPr>
      </p:sp>
      <p:sp>
        <p:nvSpPr>
          <p:cNvPr id="10" name="Shape 8"/>
          <p:cNvSpPr/>
          <p:nvPr/>
        </p:nvSpPr>
        <p:spPr>
          <a:xfrm>
            <a:off x="1234440" y="4489704"/>
            <a:ext cx="10607040" cy="0"/>
          </a:xfrm>
          <a:prstGeom prst="line">
            <a:avLst/>
          </a:prstGeom>
          <a:noFill/>
          <a:ln w="12700">
            <a:solidFill>
              <a:srgbClr val="E9DFC4"/>
            </a:solidFill>
            <a:prstDash val="solid"/>
          </a:ln>
        </p:spPr>
      </p:sp>
      <p:sp>
        <p:nvSpPr>
          <p:cNvPr id="11" name="Shape 9"/>
          <p:cNvSpPr/>
          <p:nvPr/>
        </p:nvSpPr>
        <p:spPr>
          <a:xfrm>
            <a:off x="1234440" y="4873752"/>
            <a:ext cx="10607040" cy="0"/>
          </a:xfrm>
          <a:prstGeom prst="line">
            <a:avLst/>
          </a:prstGeom>
          <a:noFill/>
          <a:ln w="12700">
            <a:solidFill>
              <a:srgbClr val="E9DFC4"/>
            </a:solidFill>
            <a:prstDash val="solid"/>
          </a:ln>
        </p:spPr>
      </p:sp>
      <p:sp>
        <p:nvSpPr>
          <p:cNvPr id="12" name="Shape 10"/>
          <p:cNvSpPr/>
          <p:nvPr/>
        </p:nvSpPr>
        <p:spPr>
          <a:xfrm>
            <a:off x="1234440" y="5257800"/>
            <a:ext cx="10607040" cy="0"/>
          </a:xfrm>
          <a:prstGeom prst="line">
            <a:avLst/>
          </a:prstGeom>
          <a:noFill/>
          <a:ln w="12700">
            <a:solidFill>
              <a:srgbClr val="E9DFC4"/>
            </a:solidFill>
            <a:prstDash val="solid"/>
          </a:ln>
        </p:spPr>
      </p:sp>
      <p:sp>
        <p:nvSpPr>
          <p:cNvPr id="13" name="Shape 11"/>
          <p:cNvSpPr/>
          <p:nvPr/>
        </p:nvSpPr>
        <p:spPr>
          <a:xfrm>
            <a:off x="1234440" y="5641848"/>
            <a:ext cx="10607040" cy="0"/>
          </a:xfrm>
          <a:prstGeom prst="line">
            <a:avLst/>
          </a:prstGeom>
          <a:noFill/>
          <a:ln w="12700">
            <a:solidFill>
              <a:srgbClr val="E9DFC4"/>
            </a:solidFill>
            <a:prstDash val="solid"/>
          </a:ln>
        </p:spPr>
      </p:sp>
      <p:sp>
        <p:nvSpPr>
          <p:cNvPr id="14" name="Shape 12"/>
          <p:cNvSpPr/>
          <p:nvPr/>
        </p:nvSpPr>
        <p:spPr>
          <a:xfrm>
            <a:off x="1234440" y="6025896"/>
            <a:ext cx="10607040" cy="0"/>
          </a:xfrm>
          <a:prstGeom prst="line">
            <a:avLst/>
          </a:prstGeom>
          <a:noFill/>
          <a:ln w="12700">
            <a:solidFill>
              <a:srgbClr val="E9DFC4"/>
            </a:solidFill>
            <a:prstDash val="solid"/>
          </a:ln>
        </p:spPr>
      </p:sp>
      <p:sp>
        <p:nvSpPr>
          <p:cNvPr id="15" name="Shape 13"/>
          <p:cNvSpPr/>
          <p:nvPr/>
        </p:nvSpPr>
        <p:spPr>
          <a:xfrm>
            <a:off x="1234440" y="6409944"/>
            <a:ext cx="10607040" cy="0"/>
          </a:xfrm>
          <a:prstGeom prst="line">
            <a:avLst/>
          </a:prstGeom>
          <a:noFill/>
          <a:ln w="12700">
            <a:solidFill>
              <a:srgbClr val="E9DFC4"/>
            </a:solidFill>
            <a:prstDash val="solid"/>
          </a:ln>
        </p:spPr>
      </p:sp>
      <p:sp>
        <p:nvSpPr>
          <p:cNvPr id="16" name="Shape 14"/>
          <p:cNvSpPr/>
          <p:nvPr/>
        </p:nvSpPr>
        <p:spPr>
          <a:xfrm>
            <a:off x="1051560" y="320040"/>
            <a:ext cx="0" cy="6309360"/>
          </a:xfrm>
          <a:prstGeom prst="line">
            <a:avLst/>
          </a:prstGeom>
          <a:noFill/>
          <a:ln w="15875">
            <a:solidFill>
              <a:srgbClr val="C0392B"/>
            </a:solidFill>
            <a:prstDash val="solid"/>
          </a:ln>
        </p:spPr>
      </p:sp>
      <p:sp>
        <p:nvSpPr>
          <p:cNvPr id="17" name="Text 15"/>
          <p:cNvSpPr/>
          <p:nvPr/>
        </p:nvSpPr>
        <p:spPr>
          <a:xfrm>
            <a:off x="1280160" y="310896"/>
            <a:ext cx="2743200" cy="320040"/>
          </a:xfrm>
          <a:prstGeom prst="rect">
            <a:avLst/>
          </a:prstGeom>
          <a:noFill/>
          <a:ln/>
        </p:spPr>
        <p:txBody>
          <a:bodyPr wrap="square" lIns="0" tIns="0" rIns="0" bIns="0" rtlCol="0" anchor="ctr"/>
          <a:lstStyle/>
          <a:p>
            <a:pPr marL="0" indent="0">
              <a:buNone/>
            </a:pPr>
            <a:r>
              <a:rPr lang="en-US" sz="1300" b="1" dirty="0">
                <a:solidFill>
                  <a:srgbClr val="C0392B"/>
                </a:solidFill>
                <a:latin typeface="Calibri" pitchFamily="34" charset="0"/>
                <a:ea typeface="Calibri" pitchFamily="34" charset="-122"/>
                <a:cs typeface="Calibri" pitchFamily="34" charset="-120"/>
              </a:rPr>
              <a:t>Topic 1.4</a:t>
            </a:r>
            <a:endParaRPr lang="en-US" sz="1300" dirty="0"/>
          </a:p>
        </p:txBody>
      </p:sp>
      <p:sp>
        <p:nvSpPr>
          <p:cNvPr id="18" name="Text 16"/>
          <p:cNvSpPr/>
          <p:nvPr/>
        </p:nvSpPr>
        <p:spPr>
          <a:xfrm>
            <a:off x="1234440" y="566928"/>
            <a:ext cx="8138160" cy="777240"/>
          </a:xfrm>
          <a:prstGeom prst="rect">
            <a:avLst/>
          </a:prstGeom>
          <a:noFill/>
          <a:ln/>
        </p:spPr>
        <p:txBody>
          <a:bodyPr wrap="square" lIns="0" tIns="0" rIns="0" bIns="0" rtlCol="0" anchor="t"/>
          <a:lstStyle/>
          <a:p>
            <a:pPr marL="0" indent="0">
              <a:buNone/>
            </a:pPr>
            <a:r>
              <a:rPr lang="en-US" sz="3000" b="1" dirty="0">
                <a:solidFill>
                  <a:srgbClr val="1B3A6B"/>
                </a:solidFill>
                <a:latin typeface="Comic Sans MS" pitchFamily="34" charset="0"/>
                <a:ea typeface="Comic Sans MS" pitchFamily="34" charset="-122"/>
                <a:cs typeface="Comic Sans MS" pitchFamily="34" charset="-120"/>
              </a:rPr>
              <a:t>Interrupt-Driven I/O</a:t>
            </a:r>
            <a:endParaRPr lang="en-US" sz="3000" dirty="0"/>
          </a:p>
        </p:txBody>
      </p:sp>
      <p:sp>
        <p:nvSpPr>
          <p:cNvPr id="19" name="Shape 17"/>
          <p:cNvSpPr/>
          <p:nvPr/>
        </p:nvSpPr>
        <p:spPr>
          <a:xfrm>
            <a:off x="9646920" y="384048"/>
            <a:ext cx="1965960" cy="384048"/>
          </a:xfrm>
          <a:prstGeom prst="roundRect">
            <a:avLst>
              <a:gd name="adj" fmla="val 19048"/>
            </a:avLst>
          </a:prstGeom>
          <a:solidFill>
            <a:srgbClr val="C0392B"/>
          </a:solidFill>
          <a:ln/>
        </p:spPr>
      </p:sp>
      <p:sp>
        <p:nvSpPr>
          <p:cNvPr id="20" name="Text 18"/>
          <p:cNvSpPr/>
          <p:nvPr/>
        </p:nvSpPr>
        <p:spPr>
          <a:xfrm>
            <a:off x="9646920" y="384048"/>
            <a:ext cx="196596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EXAMPLE</a:t>
            </a:r>
            <a:endParaRPr lang="en-US" sz="1200" dirty="0"/>
          </a:p>
        </p:txBody>
      </p:sp>
      <p:sp>
        <p:nvSpPr>
          <p:cNvPr id="21" name="Shape 19"/>
          <p:cNvSpPr/>
          <p:nvPr/>
        </p:nvSpPr>
        <p:spPr>
          <a:xfrm>
            <a:off x="8732520" y="502920"/>
            <a:ext cx="1051560" cy="1051560"/>
          </a:xfrm>
          <a:prstGeom prst="ellipse">
            <a:avLst/>
          </a:prstGeom>
          <a:solidFill>
            <a:srgbClr val="DCE6F5"/>
          </a:solidFill>
          <a:ln/>
          <a:effectLst>
            <a:outerShdw blurRad="50800" dist="25400" dir="5400000" algn="bl" rotWithShape="0">
              <a:srgbClr val="999999">
                <a:alpha val="25000"/>
              </a:srgbClr>
            </a:outerShdw>
          </a:effectLst>
        </p:spPr>
      </p:sp>
      <p:pic>
        <p:nvPicPr>
          <p:cNvPr id="22" name="Image 0" descr="/home/claude/iobook/icons/bell.png"/>
          <p:cNvPicPr>
            <a:picLocks noChangeAspect="1"/>
          </p:cNvPicPr>
          <p:nvPr/>
        </p:nvPicPr>
        <p:blipFill>
          <a:blip r:embed="rId3"/>
          <a:stretch>
            <a:fillRect/>
          </a:stretch>
        </p:blipFill>
        <p:spPr>
          <a:xfrm>
            <a:off x="8963863" y="734263"/>
            <a:ext cx="588874" cy="588874"/>
          </a:xfrm>
          <a:prstGeom prst="rect">
            <a:avLst/>
          </a:prstGeom>
        </p:spPr>
      </p:pic>
      <p:sp>
        <p:nvSpPr>
          <p:cNvPr id="23" name="Shape 20"/>
          <p:cNvSpPr/>
          <p:nvPr/>
        </p:nvSpPr>
        <p:spPr>
          <a:xfrm>
            <a:off x="1280160" y="1691640"/>
            <a:ext cx="6126480" cy="2834640"/>
          </a:xfrm>
          <a:prstGeom prst="roundRect">
            <a:avLst>
              <a:gd name="adj" fmla="val 3226"/>
            </a:avLst>
          </a:prstGeom>
          <a:solidFill>
            <a:srgbClr val="FFFFFF"/>
          </a:solidFill>
          <a:ln w="12700">
            <a:solidFill>
              <a:srgbClr val="1B3A6B"/>
            </a:solidFill>
            <a:prstDash val="solid"/>
          </a:ln>
          <a:effectLst>
            <a:outerShdw blurRad="38100" dist="25400" dir="5400000" algn="bl" rotWithShape="0">
              <a:srgbClr val="999999">
                <a:alpha val="20000"/>
              </a:srgbClr>
            </a:outerShdw>
          </a:effectLst>
        </p:spPr>
      </p:sp>
      <p:sp>
        <p:nvSpPr>
          <p:cNvPr id="24" name="Text 21"/>
          <p:cNvSpPr/>
          <p:nvPr/>
        </p:nvSpPr>
        <p:spPr>
          <a:xfrm>
            <a:off x="1508760" y="1828800"/>
            <a:ext cx="5669280" cy="320040"/>
          </a:xfrm>
          <a:prstGeom prst="rect">
            <a:avLst/>
          </a:prstGeom>
          <a:noFill/>
          <a:ln/>
        </p:spPr>
        <p:txBody>
          <a:bodyPr wrap="square" lIns="0" tIns="0" rIns="0" bIns="0" rtlCol="0" anchor="ctr"/>
          <a:lstStyle/>
          <a:p>
            <a:pPr marL="0" indent="0">
              <a:buNone/>
            </a:pPr>
            <a:r>
              <a:rPr lang="en-US" sz="1300" b="1" dirty="0">
                <a:solidFill>
                  <a:srgbClr val="C0392B"/>
                </a:solidFill>
                <a:latin typeface="Calibri" pitchFamily="34" charset="0"/>
                <a:ea typeface="Calibri" pitchFamily="34" charset="-122"/>
                <a:cs typeface="Calibri" pitchFamily="34" charset="-120"/>
              </a:rPr>
              <a:t>REAL-LIFE EXAMPLE</a:t>
            </a:r>
            <a:endParaRPr lang="en-US" sz="1300" dirty="0"/>
          </a:p>
        </p:txBody>
      </p:sp>
      <p:sp>
        <p:nvSpPr>
          <p:cNvPr id="25" name="Text 22"/>
          <p:cNvSpPr/>
          <p:nvPr/>
        </p:nvSpPr>
        <p:spPr>
          <a:xfrm>
            <a:off x="1508760" y="2194560"/>
            <a:ext cx="5669280" cy="2194560"/>
          </a:xfrm>
          <a:prstGeom prst="rect">
            <a:avLst/>
          </a:prstGeom>
          <a:noFill/>
          <a:ln/>
        </p:spPr>
        <p:txBody>
          <a:bodyPr wrap="square" lIns="0" tIns="0" rIns="0" bIns="0" rtlCol="0" anchor="t"/>
          <a:lstStyle/>
          <a:p>
            <a:pPr marL="0" indent="0">
              <a:buNone/>
            </a:pPr>
            <a:r>
              <a:rPr lang="en-US" sz="1450" dirty="0">
                <a:solidFill>
                  <a:srgbClr val="1B3A6B"/>
                </a:solidFill>
                <a:latin typeface="Calibri" pitchFamily="34" charset="0"/>
                <a:ea typeface="Calibri" pitchFamily="34" charset="-122"/>
                <a:cs typeface="Calibri" pitchFamily="34" charset="-120"/>
              </a:rPr>
              <a:t>While you type on a keyboard, the CPU can run a background download. Each keystroke sends a tiny interrupt so the CPU briefly handles it, then returns to the download.</a:t>
            </a:r>
            <a:endParaRPr lang="en-US" sz="1450" dirty="0"/>
          </a:p>
        </p:txBody>
      </p:sp>
      <p:sp>
        <p:nvSpPr>
          <p:cNvPr id="26" name="Shape 23"/>
          <p:cNvSpPr/>
          <p:nvPr/>
        </p:nvSpPr>
        <p:spPr>
          <a:xfrm>
            <a:off x="7635240" y="1691640"/>
            <a:ext cx="3383280" cy="2834640"/>
          </a:xfrm>
          <a:prstGeom prst="roundRect">
            <a:avLst>
              <a:gd name="adj" fmla="val 3226"/>
            </a:avLst>
          </a:prstGeom>
          <a:solidFill>
            <a:srgbClr val="C0392B"/>
          </a:solidFill>
          <a:ln/>
          <a:effectLst>
            <a:outerShdw blurRad="50800" dist="25400" dir="5400000" algn="bl" rotWithShape="0">
              <a:srgbClr val="000000">
                <a:alpha val="25000"/>
              </a:srgbClr>
            </a:outerShdw>
          </a:effectLst>
        </p:spPr>
      </p:sp>
      <p:pic>
        <p:nvPicPr>
          <p:cNvPr id="27" name="Image 1" descr="/home/claude/iobook/icons/check.png"/>
          <p:cNvPicPr>
            <a:picLocks noChangeAspect="1"/>
          </p:cNvPicPr>
          <p:nvPr/>
        </p:nvPicPr>
        <p:blipFill>
          <a:blip r:embed="rId4"/>
          <a:stretch>
            <a:fillRect/>
          </a:stretch>
        </p:blipFill>
        <p:spPr>
          <a:xfrm>
            <a:off x="7863840" y="1874520"/>
            <a:ext cx="457200" cy="457200"/>
          </a:xfrm>
          <a:prstGeom prst="rect">
            <a:avLst/>
          </a:prstGeom>
        </p:spPr>
      </p:pic>
      <p:sp>
        <p:nvSpPr>
          <p:cNvPr id="28" name="Text 24"/>
          <p:cNvSpPr/>
          <p:nvPr/>
        </p:nvSpPr>
        <p:spPr>
          <a:xfrm>
            <a:off x="8412480" y="1920240"/>
            <a:ext cx="2514600" cy="32004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KEY TAKEAWAY</a:t>
            </a:r>
            <a:endParaRPr lang="en-US" sz="1250" dirty="0"/>
          </a:p>
        </p:txBody>
      </p:sp>
      <p:sp>
        <p:nvSpPr>
          <p:cNvPr id="29" name="Text 25"/>
          <p:cNvSpPr/>
          <p:nvPr/>
        </p:nvSpPr>
        <p:spPr>
          <a:xfrm>
            <a:off x="7863840" y="2423160"/>
            <a:ext cx="3017520" cy="1965960"/>
          </a:xfrm>
          <a:prstGeom prst="rect">
            <a:avLst/>
          </a:prstGeom>
          <a:noFill/>
          <a:ln/>
        </p:spPr>
        <p:txBody>
          <a:bodyPr wrap="square" lIns="0" tIns="0" rIns="0" bIns="0" rtlCol="0" anchor="t"/>
          <a:lstStyle/>
          <a:p>
            <a:pPr marL="0" indent="0">
              <a:buNone/>
            </a:pPr>
            <a:r>
              <a:rPr lang="en-US" sz="1300" dirty="0">
                <a:solidFill>
                  <a:srgbClr val="FFFFFF"/>
                </a:solidFill>
                <a:latin typeface="Calibri" pitchFamily="34" charset="0"/>
                <a:ea typeface="Calibri" pitchFamily="34" charset="-122"/>
                <a:cs typeface="Calibri" pitchFamily="34" charset="-120"/>
              </a:rPr>
              <a:t>Interrupt-driven I/O is far more efficient than programmed I/O, since the CPU is never stuck idly waiting.</a:t>
            </a:r>
            <a:endParaRPr lang="en-US" sz="1300" dirty="0"/>
          </a:p>
        </p:txBody>
      </p:sp>
      <p:sp>
        <p:nvSpPr>
          <p:cNvPr id="30" name="Shape 26"/>
          <p:cNvSpPr/>
          <p:nvPr/>
        </p:nvSpPr>
        <p:spPr>
          <a:xfrm>
            <a:off x="1280160" y="4709160"/>
            <a:ext cx="9738360" cy="685800"/>
          </a:xfrm>
          <a:prstGeom prst="roundRect">
            <a:avLst>
              <a:gd name="adj" fmla="val 10667"/>
            </a:avLst>
          </a:prstGeom>
          <a:solidFill>
            <a:srgbClr val="FFE082">
              <a:alpha val="60000"/>
            </a:srgbClr>
          </a:solidFill>
          <a:ln w="9525">
            <a:solidFill>
              <a:srgbClr val="1B3A6B"/>
            </a:solidFill>
            <a:prstDash val="dash"/>
          </a:ln>
        </p:spPr>
      </p:sp>
      <p:sp>
        <p:nvSpPr>
          <p:cNvPr id="31" name="Text 27"/>
          <p:cNvSpPr/>
          <p:nvPr/>
        </p:nvSpPr>
        <p:spPr>
          <a:xfrm>
            <a:off x="1463040" y="4709160"/>
            <a:ext cx="9372600" cy="685800"/>
          </a:xfrm>
          <a:prstGeom prst="rect">
            <a:avLst/>
          </a:prstGeom>
          <a:noFill/>
          <a:ln/>
        </p:spPr>
        <p:txBody>
          <a:bodyPr wrap="square" lIns="0" tIns="0" rIns="0" bIns="0" rtlCol="0" anchor="ctr"/>
          <a:lstStyle/>
          <a:p>
            <a:pPr marL="0" indent="0">
              <a:buNone/>
            </a:pPr>
            <a:r>
              <a:rPr lang="en-US" sz="1300" b="1" dirty="0">
                <a:solidFill>
                  <a:srgbClr val="C0392B"/>
                </a:solidFill>
                <a:latin typeface="Calibri" pitchFamily="34" charset="0"/>
                <a:ea typeface="Calibri" pitchFamily="34" charset="-122"/>
                <a:cs typeface="Calibri" pitchFamily="34" charset="-120"/>
              </a:rPr>
              <a:t>Remember: </a:t>
            </a:r>
            <a:r>
              <a:rPr lang="en-US" sz="1300" dirty="0">
                <a:solidFill>
                  <a:srgbClr val="1B3A6B"/>
                </a:solidFill>
                <a:latin typeface="Calibri" pitchFamily="34" charset="0"/>
                <a:ea typeface="Calibri" pitchFamily="34" charset="-122"/>
                <a:cs typeface="Calibri" pitchFamily="34" charset="-120"/>
              </a:rPr>
              <a:t>interrupt-driven I/O = CPU works freely and is only interrupted when the device is done.</a:t>
            </a:r>
            <a:endParaRPr lang="en-US" sz="1300" dirty="0"/>
          </a:p>
        </p:txBody>
      </p:sp>
      <p:sp>
        <p:nvSpPr>
          <p:cNvPr id="32" name="Text 28"/>
          <p:cNvSpPr/>
          <p:nvPr/>
        </p:nvSpPr>
        <p:spPr>
          <a:xfrm>
            <a:off x="320040" y="6510528"/>
            <a:ext cx="5486400" cy="274320"/>
          </a:xfrm>
          <a:prstGeom prst="rect">
            <a:avLst/>
          </a:prstGeom>
          <a:noFill/>
          <a:ln/>
        </p:spPr>
        <p:txBody>
          <a:bodyPr wrap="square" lIns="0" tIns="0" rIns="0" bIns="0" rtlCol="0" anchor="ctr"/>
          <a:lstStyle/>
          <a:p>
            <a:pPr marL="0" indent="0">
              <a:buNone/>
            </a:pPr>
            <a:r>
              <a:rPr lang="en-US" sz="1000" i="1" dirty="0">
                <a:solidFill>
                  <a:srgbClr val="4A4A4A"/>
                </a:solidFill>
                <a:latin typeface="Calibri" pitchFamily="34" charset="0"/>
                <a:ea typeface="Calibri" pitchFamily="34" charset="-122"/>
                <a:cs typeface="Calibri" pitchFamily="34" charset="-120"/>
              </a:rPr>
              <a:t>Interrupt-Driven I/O</a:t>
            </a:r>
            <a:endParaRPr lang="en-US" sz="1000" dirty="0"/>
          </a:p>
        </p:txBody>
      </p:sp>
      <p:sp>
        <p:nvSpPr>
          <p:cNvPr id="33" name="Text 29"/>
          <p:cNvSpPr/>
          <p:nvPr/>
        </p:nvSpPr>
        <p:spPr>
          <a:xfrm>
            <a:off x="5029200" y="6510528"/>
            <a:ext cx="5029200" cy="274320"/>
          </a:xfrm>
          <a:prstGeom prst="rect">
            <a:avLst/>
          </a:prstGeom>
          <a:noFill/>
          <a:ln/>
        </p:spPr>
        <p:txBody>
          <a:bodyPr wrap="square" lIns="0" tIns="0" rIns="0" bIns="0" rtlCol="0" anchor="ctr"/>
          <a:lstStyle/>
          <a:p>
            <a:pPr marL="0" indent="0" algn="r">
              <a:buNone/>
            </a:pPr>
            <a:r>
              <a:rPr lang="en-US" sz="900" dirty="0">
                <a:solidFill>
                  <a:srgbClr val="4A4A4A"/>
                </a:solidFill>
                <a:latin typeface="Calibri" pitchFamily="34" charset="0"/>
                <a:ea typeface="Calibri" pitchFamily="34" charset="-122"/>
                <a:cs typeface="Calibri" pitchFamily="34" charset="-120"/>
              </a:rPr>
              <a:t>Ch.7 • Stallings, Computer Organization &amp; Architecture</a:t>
            </a:r>
            <a:endParaRPr lang="en-US" sz="900" dirty="0"/>
          </a:p>
        </p:txBody>
      </p:sp>
      <p:sp>
        <p:nvSpPr>
          <p:cNvPr id="34" name="Text 30"/>
          <p:cNvSpPr/>
          <p:nvPr/>
        </p:nvSpPr>
        <p:spPr>
          <a:xfrm>
            <a:off x="11475720" y="6510528"/>
            <a:ext cx="548640" cy="274320"/>
          </a:xfrm>
          <a:prstGeom prst="rect">
            <a:avLst/>
          </a:prstGeom>
          <a:noFill/>
          <a:ln/>
        </p:spPr>
        <p:txBody>
          <a:bodyPr wrap="square" lIns="0" tIns="0" rIns="0" bIns="0" rtlCol="0" anchor="ctr"/>
          <a:lstStyle/>
          <a:p>
            <a:pPr marL="0" indent="0" algn="r">
              <a:buNone/>
            </a:pPr>
            <a:r>
              <a:rPr lang="en-US" sz="1000" dirty="0">
                <a:solidFill>
                  <a:srgbClr val="4A4A4A"/>
                </a:solidFill>
                <a:latin typeface="Calibri" pitchFamily="34" charset="0"/>
                <a:ea typeface="Calibri" pitchFamily="34" charset="-122"/>
                <a:cs typeface="Calibri" pitchFamily="34" charset="-120"/>
              </a:rPr>
              <a:t>13/30</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8E1"/>
        </a:solidFill>
        <a:effectLst/>
      </p:bgPr>
    </p:bg>
    <p:spTree>
      <p:nvGrpSpPr>
        <p:cNvPr id="1" name=""/>
        <p:cNvGrpSpPr/>
        <p:nvPr/>
      </p:nvGrpSpPr>
      <p:grpSpPr>
        <a:xfrm>
          <a:off x="0" y="0"/>
          <a:ext cx="0" cy="0"/>
          <a:chOff x="0" y="0"/>
          <a:chExt cx="0" cy="0"/>
        </a:xfrm>
      </p:grpSpPr>
      <p:sp>
        <p:nvSpPr>
          <p:cNvPr id="2" name="Shape 0"/>
          <p:cNvSpPr/>
          <p:nvPr/>
        </p:nvSpPr>
        <p:spPr>
          <a:xfrm>
            <a:off x="1234440" y="1417320"/>
            <a:ext cx="10607040" cy="0"/>
          </a:xfrm>
          <a:prstGeom prst="line">
            <a:avLst/>
          </a:prstGeom>
          <a:noFill/>
          <a:ln w="12700">
            <a:solidFill>
              <a:srgbClr val="E9DFC4"/>
            </a:solidFill>
            <a:prstDash val="solid"/>
          </a:ln>
        </p:spPr>
      </p:sp>
      <p:sp>
        <p:nvSpPr>
          <p:cNvPr id="3" name="Shape 1"/>
          <p:cNvSpPr/>
          <p:nvPr/>
        </p:nvSpPr>
        <p:spPr>
          <a:xfrm>
            <a:off x="1234440" y="1801368"/>
            <a:ext cx="10607040" cy="0"/>
          </a:xfrm>
          <a:prstGeom prst="line">
            <a:avLst/>
          </a:prstGeom>
          <a:noFill/>
          <a:ln w="12700">
            <a:solidFill>
              <a:srgbClr val="E9DFC4"/>
            </a:solidFill>
            <a:prstDash val="solid"/>
          </a:ln>
        </p:spPr>
      </p:sp>
      <p:sp>
        <p:nvSpPr>
          <p:cNvPr id="4" name="Shape 2"/>
          <p:cNvSpPr/>
          <p:nvPr/>
        </p:nvSpPr>
        <p:spPr>
          <a:xfrm>
            <a:off x="1234440" y="2185416"/>
            <a:ext cx="10607040" cy="0"/>
          </a:xfrm>
          <a:prstGeom prst="line">
            <a:avLst/>
          </a:prstGeom>
          <a:noFill/>
          <a:ln w="12700">
            <a:solidFill>
              <a:srgbClr val="E9DFC4"/>
            </a:solidFill>
            <a:prstDash val="solid"/>
          </a:ln>
        </p:spPr>
      </p:sp>
      <p:sp>
        <p:nvSpPr>
          <p:cNvPr id="5" name="Shape 3"/>
          <p:cNvSpPr/>
          <p:nvPr/>
        </p:nvSpPr>
        <p:spPr>
          <a:xfrm>
            <a:off x="1234440" y="2569464"/>
            <a:ext cx="10607040" cy="0"/>
          </a:xfrm>
          <a:prstGeom prst="line">
            <a:avLst/>
          </a:prstGeom>
          <a:noFill/>
          <a:ln w="12700">
            <a:solidFill>
              <a:srgbClr val="E9DFC4"/>
            </a:solidFill>
            <a:prstDash val="solid"/>
          </a:ln>
        </p:spPr>
      </p:sp>
      <p:sp>
        <p:nvSpPr>
          <p:cNvPr id="6" name="Shape 4"/>
          <p:cNvSpPr/>
          <p:nvPr/>
        </p:nvSpPr>
        <p:spPr>
          <a:xfrm>
            <a:off x="1234440" y="2953512"/>
            <a:ext cx="10607040" cy="0"/>
          </a:xfrm>
          <a:prstGeom prst="line">
            <a:avLst/>
          </a:prstGeom>
          <a:noFill/>
          <a:ln w="12700">
            <a:solidFill>
              <a:srgbClr val="E9DFC4"/>
            </a:solidFill>
            <a:prstDash val="solid"/>
          </a:ln>
        </p:spPr>
      </p:sp>
      <p:sp>
        <p:nvSpPr>
          <p:cNvPr id="7" name="Shape 5"/>
          <p:cNvSpPr/>
          <p:nvPr/>
        </p:nvSpPr>
        <p:spPr>
          <a:xfrm>
            <a:off x="1234440" y="3337560"/>
            <a:ext cx="10607040" cy="0"/>
          </a:xfrm>
          <a:prstGeom prst="line">
            <a:avLst/>
          </a:prstGeom>
          <a:noFill/>
          <a:ln w="12700">
            <a:solidFill>
              <a:srgbClr val="E9DFC4"/>
            </a:solidFill>
            <a:prstDash val="solid"/>
          </a:ln>
        </p:spPr>
      </p:sp>
      <p:sp>
        <p:nvSpPr>
          <p:cNvPr id="8" name="Shape 6"/>
          <p:cNvSpPr/>
          <p:nvPr/>
        </p:nvSpPr>
        <p:spPr>
          <a:xfrm>
            <a:off x="1234440" y="3721608"/>
            <a:ext cx="10607040" cy="0"/>
          </a:xfrm>
          <a:prstGeom prst="line">
            <a:avLst/>
          </a:prstGeom>
          <a:noFill/>
          <a:ln w="12700">
            <a:solidFill>
              <a:srgbClr val="E9DFC4"/>
            </a:solidFill>
            <a:prstDash val="solid"/>
          </a:ln>
        </p:spPr>
      </p:sp>
      <p:sp>
        <p:nvSpPr>
          <p:cNvPr id="9" name="Shape 7"/>
          <p:cNvSpPr/>
          <p:nvPr/>
        </p:nvSpPr>
        <p:spPr>
          <a:xfrm>
            <a:off x="1234440" y="4105656"/>
            <a:ext cx="10607040" cy="0"/>
          </a:xfrm>
          <a:prstGeom prst="line">
            <a:avLst/>
          </a:prstGeom>
          <a:noFill/>
          <a:ln w="12700">
            <a:solidFill>
              <a:srgbClr val="E9DFC4"/>
            </a:solidFill>
            <a:prstDash val="solid"/>
          </a:ln>
        </p:spPr>
      </p:sp>
      <p:sp>
        <p:nvSpPr>
          <p:cNvPr id="10" name="Shape 8"/>
          <p:cNvSpPr/>
          <p:nvPr/>
        </p:nvSpPr>
        <p:spPr>
          <a:xfrm>
            <a:off x="1234440" y="4489704"/>
            <a:ext cx="10607040" cy="0"/>
          </a:xfrm>
          <a:prstGeom prst="line">
            <a:avLst/>
          </a:prstGeom>
          <a:noFill/>
          <a:ln w="12700">
            <a:solidFill>
              <a:srgbClr val="E9DFC4"/>
            </a:solidFill>
            <a:prstDash val="solid"/>
          </a:ln>
        </p:spPr>
      </p:sp>
      <p:sp>
        <p:nvSpPr>
          <p:cNvPr id="11" name="Shape 9"/>
          <p:cNvSpPr/>
          <p:nvPr/>
        </p:nvSpPr>
        <p:spPr>
          <a:xfrm>
            <a:off x="1234440" y="4873752"/>
            <a:ext cx="10607040" cy="0"/>
          </a:xfrm>
          <a:prstGeom prst="line">
            <a:avLst/>
          </a:prstGeom>
          <a:noFill/>
          <a:ln w="12700">
            <a:solidFill>
              <a:srgbClr val="E9DFC4"/>
            </a:solidFill>
            <a:prstDash val="solid"/>
          </a:ln>
        </p:spPr>
      </p:sp>
      <p:sp>
        <p:nvSpPr>
          <p:cNvPr id="12" name="Shape 10"/>
          <p:cNvSpPr/>
          <p:nvPr/>
        </p:nvSpPr>
        <p:spPr>
          <a:xfrm>
            <a:off x="1234440" y="5257800"/>
            <a:ext cx="10607040" cy="0"/>
          </a:xfrm>
          <a:prstGeom prst="line">
            <a:avLst/>
          </a:prstGeom>
          <a:noFill/>
          <a:ln w="12700">
            <a:solidFill>
              <a:srgbClr val="E9DFC4"/>
            </a:solidFill>
            <a:prstDash val="solid"/>
          </a:ln>
        </p:spPr>
      </p:sp>
      <p:sp>
        <p:nvSpPr>
          <p:cNvPr id="13" name="Shape 11"/>
          <p:cNvSpPr/>
          <p:nvPr/>
        </p:nvSpPr>
        <p:spPr>
          <a:xfrm>
            <a:off x="1234440" y="5641848"/>
            <a:ext cx="10607040" cy="0"/>
          </a:xfrm>
          <a:prstGeom prst="line">
            <a:avLst/>
          </a:prstGeom>
          <a:noFill/>
          <a:ln w="12700">
            <a:solidFill>
              <a:srgbClr val="E9DFC4"/>
            </a:solidFill>
            <a:prstDash val="solid"/>
          </a:ln>
        </p:spPr>
      </p:sp>
      <p:sp>
        <p:nvSpPr>
          <p:cNvPr id="14" name="Shape 12"/>
          <p:cNvSpPr/>
          <p:nvPr/>
        </p:nvSpPr>
        <p:spPr>
          <a:xfrm>
            <a:off x="1234440" y="6025896"/>
            <a:ext cx="10607040" cy="0"/>
          </a:xfrm>
          <a:prstGeom prst="line">
            <a:avLst/>
          </a:prstGeom>
          <a:noFill/>
          <a:ln w="12700">
            <a:solidFill>
              <a:srgbClr val="E9DFC4"/>
            </a:solidFill>
            <a:prstDash val="solid"/>
          </a:ln>
        </p:spPr>
      </p:sp>
      <p:sp>
        <p:nvSpPr>
          <p:cNvPr id="15" name="Shape 13"/>
          <p:cNvSpPr/>
          <p:nvPr/>
        </p:nvSpPr>
        <p:spPr>
          <a:xfrm>
            <a:off x="1234440" y="6409944"/>
            <a:ext cx="10607040" cy="0"/>
          </a:xfrm>
          <a:prstGeom prst="line">
            <a:avLst/>
          </a:prstGeom>
          <a:noFill/>
          <a:ln w="12700">
            <a:solidFill>
              <a:srgbClr val="E9DFC4"/>
            </a:solidFill>
            <a:prstDash val="solid"/>
          </a:ln>
        </p:spPr>
      </p:sp>
      <p:sp>
        <p:nvSpPr>
          <p:cNvPr id="16" name="Shape 14"/>
          <p:cNvSpPr/>
          <p:nvPr/>
        </p:nvSpPr>
        <p:spPr>
          <a:xfrm>
            <a:off x="1051560" y="320040"/>
            <a:ext cx="0" cy="6309360"/>
          </a:xfrm>
          <a:prstGeom prst="line">
            <a:avLst/>
          </a:prstGeom>
          <a:noFill/>
          <a:ln w="15875">
            <a:solidFill>
              <a:srgbClr val="C0392B"/>
            </a:solidFill>
            <a:prstDash val="solid"/>
          </a:ln>
        </p:spPr>
      </p:sp>
      <p:sp>
        <p:nvSpPr>
          <p:cNvPr id="17" name="Text 15"/>
          <p:cNvSpPr/>
          <p:nvPr/>
        </p:nvSpPr>
        <p:spPr>
          <a:xfrm>
            <a:off x="1280160" y="310896"/>
            <a:ext cx="2743200" cy="320040"/>
          </a:xfrm>
          <a:prstGeom prst="rect">
            <a:avLst/>
          </a:prstGeom>
          <a:noFill/>
          <a:ln/>
        </p:spPr>
        <p:txBody>
          <a:bodyPr wrap="square" lIns="0" tIns="0" rIns="0" bIns="0" rtlCol="0" anchor="ctr"/>
          <a:lstStyle/>
          <a:p>
            <a:pPr marL="0" indent="0">
              <a:buNone/>
            </a:pPr>
            <a:r>
              <a:rPr lang="en-US" sz="1300" b="1" dirty="0">
                <a:solidFill>
                  <a:srgbClr val="C0392B"/>
                </a:solidFill>
                <a:latin typeface="Calibri" pitchFamily="34" charset="0"/>
                <a:ea typeface="Calibri" pitchFamily="34" charset="-122"/>
                <a:cs typeface="Calibri" pitchFamily="34" charset="-120"/>
              </a:rPr>
              <a:t>Topic 1.5</a:t>
            </a:r>
            <a:endParaRPr lang="en-US" sz="1300" dirty="0"/>
          </a:p>
        </p:txBody>
      </p:sp>
      <p:sp>
        <p:nvSpPr>
          <p:cNvPr id="18" name="Text 16"/>
          <p:cNvSpPr/>
          <p:nvPr/>
        </p:nvSpPr>
        <p:spPr>
          <a:xfrm>
            <a:off x="1234440" y="566928"/>
            <a:ext cx="8138160" cy="777240"/>
          </a:xfrm>
          <a:prstGeom prst="rect">
            <a:avLst/>
          </a:prstGeom>
          <a:noFill/>
          <a:ln/>
        </p:spPr>
        <p:txBody>
          <a:bodyPr wrap="square" lIns="0" tIns="0" rIns="0" bIns="0" rtlCol="0" anchor="t"/>
          <a:lstStyle/>
          <a:p>
            <a:pPr marL="0" indent="0">
              <a:buNone/>
            </a:pPr>
            <a:r>
              <a:rPr lang="en-US" sz="3000" b="1" dirty="0">
                <a:solidFill>
                  <a:srgbClr val="1B3A6B"/>
                </a:solidFill>
                <a:latin typeface="Comic Sans MS" pitchFamily="34" charset="0"/>
                <a:ea typeface="Comic Sans MS" pitchFamily="34" charset="-122"/>
                <a:cs typeface="Comic Sans MS" pitchFamily="34" charset="-120"/>
              </a:rPr>
              <a:t>Direct Memory Access (DMA)</a:t>
            </a:r>
            <a:endParaRPr lang="en-US" sz="3000" dirty="0"/>
          </a:p>
        </p:txBody>
      </p:sp>
      <p:sp>
        <p:nvSpPr>
          <p:cNvPr id="19" name="Shape 17"/>
          <p:cNvSpPr/>
          <p:nvPr/>
        </p:nvSpPr>
        <p:spPr>
          <a:xfrm>
            <a:off x="9646920" y="384048"/>
            <a:ext cx="1965960" cy="384048"/>
          </a:xfrm>
          <a:prstGeom prst="roundRect">
            <a:avLst>
              <a:gd name="adj" fmla="val 19048"/>
            </a:avLst>
          </a:prstGeom>
          <a:solidFill>
            <a:srgbClr val="C0392B"/>
          </a:solidFill>
          <a:ln/>
        </p:spPr>
      </p:sp>
      <p:sp>
        <p:nvSpPr>
          <p:cNvPr id="20" name="Text 18"/>
          <p:cNvSpPr/>
          <p:nvPr/>
        </p:nvSpPr>
        <p:spPr>
          <a:xfrm>
            <a:off x="9646920" y="384048"/>
            <a:ext cx="196596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DEFINITION</a:t>
            </a:r>
            <a:endParaRPr lang="en-US" sz="1200" dirty="0"/>
          </a:p>
        </p:txBody>
      </p:sp>
      <p:sp>
        <p:nvSpPr>
          <p:cNvPr id="21" name="Shape 19"/>
          <p:cNvSpPr/>
          <p:nvPr/>
        </p:nvSpPr>
        <p:spPr>
          <a:xfrm>
            <a:off x="8732520" y="502920"/>
            <a:ext cx="1051560" cy="1051560"/>
          </a:xfrm>
          <a:prstGeom prst="ellipse">
            <a:avLst/>
          </a:prstGeom>
          <a:solidFill>
            <a:srgbClr val="DCE6F5"/>
          </a:solidFill>
          <a:ln/>
          <a:effectLst>
            <a:outerShdw blurRad="50800" dist="25400" dir="5400000" algn="bl" rotWithShape="0">
              <a:srgbClr val="999999">
                <a:alpha val="25000"/>
              </a:srgbClr>
            </a:outerShdw>
          </a:effectLst>
        </p:spPr>
      </p:sp>
      <p:pic>
        <p:nvPicPr>
          <p:cNvPr id="22" name="Image 0" descr="/home/claude/iobook/icons/exchange.png"/>
          <p:cNvPicPr>
            <a:picLocks noChangeAspect="1"/>
          </p:cNvPicPr>
          <p:nvPr/>
        </p:nvPicPr>
        <p:blipFill>
          <a:blip r:embed="rId3"/>
          <a:stretch>
            <a:fillRect/>
          </a:stretch>
        </p:blipFill>
        <p:spPr>
          <a:xfrm>
            <a:off x="8963863" y="734263"/>
            <a:ext cx="588874" cy="588874"/>
          </a:xfrm>
          <a:prstGeom prst="rect">
            <a:avLst/>
          </a:prstGeom>
        </p:spPr>
      </p:pic>
      <p:sp>
        <p:nvSpPr>
          <p:cNvPr id="23" name="Shape 20"/>
          <p:cNvSpPr/>
          <p:nvPr/>
        </p:nvSpPr>
        <p:spPr>
          <a:xfrm>
            <a:off x="1280160" y="1600200"/>
            <a:ext cx="7360920" cy="1554480"/>
          </a:xfrm>
          <a:prstGeom prst="roundRect">
            <a:avLst>
              <a:gd name="adj" fmla="val 5882"/>
            </a:avLst>
          </a:prstGeom>
          <a:solidFill>
            <a:srgbClr val="FFE082">
              <a:alpha val="65000"/>
            </a:srgbClr>
          </a:solidFill>
          <a:ln w="12700">
            <a:solidFill>
              <a:srgbClr val="1B3A6B"/>
            </a:solidFill>
            <a:prstDash val="dash"/>
          </a:ln>
        </p:spPr>
      </p:sp>
      <p:sp>
        <p:nvSpPr>
          <p:cNvPr id="24" name="Text 21"/>
          <p:cNvSpPr/>
          <p:nvPr/>
        </p:nvSpPr>
        <p:spPr>
          <a:xfrm>
            <a:off x="1463040" y="1691640"/>
            <a:ext cx="6949440" cy="274320"/>
          </a:xfrm>
          <a:prstGeom prst="rect">
            <a:avLst/>
          </a:prstGeom>
          <a:noFill/>
          <a:ln/>
        </p:spPr>
        <p:txBody>
          <a:bodyPr wrap="square" lIns="0" tIns="0" rIns="0" bIns="0" rtlCol="0" anchor="ctr"/>
          <a:lstStyle/>
          <a:p>
            <a:pPr marL="0" indent="0">
              <a:buNone/>
            </a:pPr>
            <a:r>
              <a:rPr lang="en-US" sz="1200" b="1" dirty="0">
                <a:solidFill>
                  <a:srgbClr val="C0392B"/>
                </a:solidFill>
                <a:latin typeface="Calibri" pitchFamily="34" charset="0"/>
                <a:ea typeface="Calibri" pitchFamily="34" charset="-122"/>
                <a:cs typeface="Calibri" pitchFamily="34" charset="-120"/>
              </a:rPr>
              <a:t>IN SIMPLE WORDS:</a:t>
            </a:r>
            <a:endParaRPr lang="en-US" sz="1200" dirty="0"/>
          </a:p>
        </p:txBody>
      </p:sp>
      <p:sp>
        <p:nvSpPr>
          <p:cNvPr id="25" name="Text 22"/>
          <p:cNvSpPr/>
          <p:nvPr/>
        </p:nvSpPr>
        <p:spPr>
          <a:xfrm>
            <a:off x="1463040" y="1965960"/>
            <a:ext cx="6949440" cy="1097280"/>
          </a:xfrm>
          <a:prstGeom prst="rect">
            <a:avLst/>
          </a:prstGeom>
          <a:noFill/>
          <a:ln/>
        </p:spPr>
        <p:txBody>
          <a:bodyPr wrap="square" lIns="0" tIns="0" rIns="0" bIns="0" rtlCol="0" anchor="t"/>
          <a:lstStyle/>
          <a:p>
            <a:pPr marL="0" indent="0">
              <a:buNone/>
            </a:pPr>
            <a:r>
              <a:rPr lang="en-US" sz="1500" dirty="0">
                <a:solidFill>
                  <a:srgbClr val="1B3A6B"/>
                </a:solidFill>
                <a:latin typeface="Calibri" pitchFamily="34" charset="0"/>
                <a:ea typeface="Calibri" pitchFamily="34" charset="-122"/>
                <a:cs typeface="Calibri" pitchFamily="34" charset="-120"/>
              </a:rPr>
              <a:t>A special hardware controller (the DMA controller) moves data directly between an I/O device and main memory — without the CPU handling every single byte.</a:t>
            </a:r>
            <a:endParaRPr lang="en-US" sz="1500" dirty="0"/>
          </a:p>
        </p:txBody>
      </p:sp>
      <p:sp>
        <p:nvSpPr>
          <p:cNvPr id="26" name="Text 23"/>
          <p:cNvSpPr/>
          <p:nvPr/>
        </p:nvSpPr>
        <p:spPr>
          <a:xfrm>
            <a:off x="1280160" y="3429000"/>
            <a:ext cx="7315200" cy="320040"/>
          </a:xfrm>
          <a:prstGeom prst="rect">
            <a:avLst/>
          </a:prstGeom>
          <a:noFill/>
          <a:ln/>
        </p:spPr>
        <p:txBody>
          <a:bodyPr wrap="square" lIns="0" tIns="0" rIns="0" bIns="0" rtlCol="0" anchor="ctr"/>
          <a:lstStyle/>
          <a:p>
            <a:pPr marL="0" indent="0">
              <a:buNone/>
            </a:pPr>
            <a:r>
              <a:rPr lang="en-US" sz="1300" b="1" dirty="0">
                <a:solidFill>
                  <a:srgbClr val="1B3A6B"/>
                </a:solidFill>
                <a:latin typeface="Calibri" pitchFamily="34" charset="0"/>
                <a:ea typeface="Calibri" pitchFamily="34" charset="-122"/>
                <a:cs typeface="Calibri" pitchFamily="34" charset="-120"/>
              </a:rPr>
              <a:t>KEY POINTS TO REMEMBER</a:t>
            </a:r>
            <a:endParaRPr lang="en-US" sz="1300" dirty="0"/>
          </a:p>
        </p:txBody>
      </p:sp>
      <p:sp>
        <p:nvSpPr>
          <p:cNvPr id="27" name="Text 24"/>
          <p:cNvSpPr/>
          <p:nvPr/>
        </p:nvSpPr>
        <p:spPr>
          <a:xfrm>
            <a:off x="1463040" y="3794760"/>
            <a:ext cx="6949440" cy="2286000"/>
          </a:xfrm>
          <a:prstGeom prst="rect">
            <a:avLst/>
          </a:prstGeom>
          <a:noFill/>
          <a:ln/>
        </p:spPr>
        <p:txBody>
          <a:bodyPr wrap="square" lIns="0" tIns="0" rIns="0" bIns="0" rtlCol="0" anchor="t"/>
          <a:lstStyle/>
          <a:p>
            <a:pPr marL="254000" indent="-254000">
              <a:spcAft>
                <a:spcPts val="1000"/>
              </a:spcAft>
              <a:buSzPct val="100000"/>
              <a:buChar char="✓"/>
            </a:pPr>
            <a:r>
              <a:rPr lang="en-US" sz="1400" dirty="0">
                <a:solidFill>
                  <a:srgbClr val="4A4A4A"/>
                </a:solidFill>
                <a:latin typeface="Calibri" pitchFamily="34" charset="0"/>
                <a:ea typeface="Calibri" pitchFamily="34" charset="-122"/>
                <a:cs typeface="Calibri" pitchFamily="34" charset="-120"/>
              </a:rPr>
              <a:t>CPU only sets up the transfer (source, destination, count)</a:t>
            </a:r>
            <a:endParaRPr lang="en-US" sz="1400" dirty="0"/>
          </a:p>
          <a:p>
            <a:pPr marL="254000" indent="-254000">
              <a:spcAft>
                <a:spcPts val="1000"/>
              </a:spcAft>
              <a:buSzPct val="100000"/>
              <a:buChar char="✓"/>
            </a:pPr>
            <a:r>
              <a:rPr lang="en-US" sz="1400" dirty="0">
                <a:solidFill>
                  <a:srgbClr val="4A4A4A"/>
                </a:solidFill>
                <a:latin typeface="Calibri" pitchFamily="34" charset="0"/>
                <a:ea typeface="Calibri" pitchFamily="34" charset="-122"/>
                <a:cs typeface="Calibri" pitchFamily="34" charset="-120"/>
              </a:rPr>
              <a:t>The DMA controller performs the actual copying</a:t>
            </a:r>
            <a:endParaRPr lang="en-US" sz="1400" dirty="0"/>
          </a:p>
          <a:p>
            <a:pPr marL="254000" indent="-254000">
              <a:spcAft>
                <a:spcPts val="1000"/>
              </a:spcAft>
              <a:buSzPct val="100000"/>
              <a:buChar char="✓"/>
            </a:pPr>
            <a:r>
              <a:rPr lang="en-US" sz="1400" dirty="0">
                <a:solidFill>
                  <a:srgbClr val="4A4A4A"/>
                </a:solidFill>
                <a:latin typeface="Calibri" pitchFamily="34" charset="0"/>
                <a:ea typeface="Calibri" pitchFamily="34" charset="-122"/>
                <a:cs typeface="Calibri" pitchFamily="34" charset="-120"/>
              </a:rPr>
              <a:t>CPU is interrupted just ONCE, when it's all done</a:t>
            </a:r>
            <a:endParaRPr lang="en-US" sz="1400" dirty="0"/>
          </a:p>
        </p:txBody>
      </p:sp>
      <p:sp>
        <p:nvSpPr>
          <p:cNvPr id="28" name="Text 25"/>
          <p:cNvSpPr/>
          <p:nvPr/>
        </p:nvSpPr>
        <p:spPr>
          <a:xfrm>
            <a:off x="320040" y="6510528"/>
            <a:ext cx="5486400" cy="274320"/>
          </a:xfrm>
          <a:prstGeom prst="rect">
            <a:avLst/>
          </a:prstGeom>
          <a:noFill/>
          <a:ln/>
        </p:spPr>
        <p:txBody>
          <a:bodyPr wrap="square" lIns="0" tIns="0" rIns="0" bIns="0" rtlCol="0" anchor="ctr"/>
          <a:lstStyle/>
          <a:p>
            <a:pPr marL="0" indent="0">
              <a:buNone/>
            </a:pPr>
            <a:r>
              <a:rPr lang="en-US" sz="1000" i="1" dirty="0">
                <a:solidFill>
                  <a:srgbClr val="4A4A4A"/>
                </a:solidFill>
                <a:latin typeface="Calibri" pitchFamily="34" charset="0"/>
                <a:ea typeface="Calibri" pitchFamily="34" charset="-122"/>
                <a:cs typeface="Calibri" pitchFamily="34" charset="-120"/>
              </a:rPr>
              <a:t>Direct Memory Access (DMA)</a:t>
            </a:r>
            <a:endParaRPr lang="en-US" sz="1000" dirty="0"/>
          </a:p>
        </p:txBody>
      </p:sp>
      <p:sp>
        <p:nvSpPr>
          <p:cNvPr id="29" name="Text 26"/>
          <p:cNvSpPr/>
          <p:nvPr/>
        </p:nvSpPr>
        <p:spPr>
          <a:xfrm>
            <a:off x="5029200" y="6510528"/>
            <a:ext cx="5029200" cy="274320"/>
          </a:xfrm>
          <a:prstGeom prst="rect">
            <a:avLst/>
          </a:prstGeom>
          <a:noFill/>
          <a:ln/>
        </p:spPr>
        <p:txBody>
          <a:bodyPr wrap="square" lIns="0" tIns="0" rIns="0" bIns="0" rtlCol="0" anchor="ctr"/>
          <a:lstStyle/>
          <a:p>
            <a:pPr marL="0" indent="0" algn="r">
              <a:buNone/>
            </a:pPr>
            <a:r>
              <a:rPr lang="en-US" sz="900" dirty="0">
                <a:solidFill>
                  <a:srgbClr val="4A4A4A"/>
                </a:solidFill>
                <a:latin typeface="Calibri" pitchFamily="34" charset="0"/>
                <a:ea typeface="Calibri" pitchFamily="34" charset="-122"/>
                <a:cs typeface="Calibri" pitchFamily="34" charset="-120"/>
              </a:rPr>
              <a:t>Ch.7 • Stallings, Computer Organization &amp; Architecture</a:t>
            </a:r>
            <a:endParaRPr lang="en-US" sz="900" dirty="0"/>
          </a:p>
        </p:txBody>
      </p:sp>
      <p:sp>
        <p:nvSpPr>
          <p:cNvPr id="30" name="Text 27"/>
          <p:cNvSpPr/>
          <p:nvPr/>
        </p:nvSpPr>
        <p:spPr>
          <a:xfrm>
            <a:off x="11475720" y="6510528"/>
            <a:ext cx="548640" cy="274320"/>
          </a:xfrm>
          <a:prstGeom prst="rect">
            <a:avLst/>
          </a:prstGeom>
          <a:noFill/>
          <a:ln/>
        </p:spPr>
        <p:txBody>
          <a:bodyPr wrap="square" lIns="0" tIns="0" rIns="0" bIns="0" rtlCol="0" anchor="ctr"/>
          <a:lstStyle/>
          <a:p>
            <a:pPr marL="0" indent="0" algn="r">
              <a:buNone/>
            </a:pPr>
            <a:r>
              <a:rPr lang="en-US" sz="1000" dirty="0">
                <a:solidFill>
                  <a:srgbClr val="4A4A4A"/>
                </a:solidFill>
                <a:latin typeface="Calibri" pitchFamily="34" charset="0"/>
                <a:ea typeface="Calibri" pitchFamily="34" charset="-122"/>
                <a:cs typeface="Calibri" pitchFamily="34" charset="-120"/>
              </a:rPr>
              <a:t>14/30</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8E1"/>
        </a:solidFill>
        <a:effectLst/>
      </p:bgPr>
    </p:bg>
    <p:spTree>
      <p:nvGrpSpPr>
        <p:cNvPr id="1" name=""/>
        <p:cNvGrpSpPr/>
        <p:nvPr/>
      </p:nvGrpSpPr>
      <p:grpSpPr>
        <a:xfrm>
          <a:off x="0" y="0"/>
          <a:ext cx="0" cy="0"/>
          <a:chOff x="0" y="0"/>
          <a:chExt cx="0" cy="0"/>
        </a:xfrm>
      </p:grpSpPr>
      <p:sp>
        <p:nvSpPr>
          <p:cNvPr id="2" name="Shape 0"/>
          <p:cNvSpPr/>
          <p:nvPr/>
        </p:nvSpPr>
        <p:spPr>
          <a:xfrm>
            <a:off x="1234440" y="1417320"/>
            <a:ext cx="10607040" cy="0"/>
          </a:xfrm>
          <a:prstGeom prst="line">
            <a:avLst/>
          </a:prstGeom>
          <a:noFill/>
          <a:ln w="12700">
            <a:solidFill>
              <a:srgbClr val="E9DFC4"/>
            </a:solidFill>
            <a:prstDash val="solid"/>
          </a:ln>
        </p:spPr>
      </p:sp>
      <p:sp>
        <p:nvSpPr>
          <p:cNvPr id="3" name="Shape 1"/>
          <p:cNvSpPr/>
          <p:nvPr/>
        </p:nvSpPr>
        <p:spPr>
          <a:xfrm>
            <a:off x="1234440" y="1801368"/>
            <a:ext cx="10607040" cy="0"/>
          </a:xfrm>
          <a:prstGeom prst="line">
            <a:avLst/>
          </a:prstGeom>
          <a:noFill/>
          <a:ln w="12700">
            <a:solidFill>
              <a:srgbClr val="E9DFC4"/>
            </a:solidFill>
            <a:prstDash val="solid"/>
          </a:ln>
        </p:spPr>
      </p:sp>
      <p:sp>
        <p:nvSpPr>
          <p:cNvPr id="4" name="Shape 2"/>
          <p:cNvSpPr/>
          <p:nvPr/>
        </p:nvSpPr>
        <p:spPr>
          <a:xfrm>
            <a:off x="1234440" y="2185416"/>
            <a:ext cx="10607040" cy="0"/>
          </a:xfrm>
          <a:prstGeom prst="line">
            <a:avLst/>
          </a:prstGeom>
          <a:noFill/>
          <a:ln w="12700">
            <a:solidFill>
              <a:srgbClr val="E9DFC4"/>
            </a:solidFill>
            <a:prstDash val="solid"/>
          </a:ln>
        </p:spPr>
      </p:sp>
      <p:sp>
        <p:nvSpPr>
          <p:cNvPr id="5" name="Shape 3"/>
          <p:cNvSpPr/>
          <p:nvPr/>
        </p:nvSpPr>
        <p:spPr>
          <a:xfrm>
            <a:off x="1234440" y="2569464"/>
            <a:ext cx="10607040" cy="0"/>
          </a:xfrm>
          <a:prstGeom prst="line">
            <a:avLst/>
          </a:prstGeom>
          <a:noFill/>
          <a:ln w="12700">
            <a:solidFill>
              <a:srgbClr val="E9DFC4"/>
            </a:solidFill>
            <a:prstDash val="solid"/>
          </a:ln>
        </p:spPr>
      </p:sp>
      <p:sp>
        <p:nvSpPr>
          <p:cNvPr id="6" name="Shape 4"/>
          <p:cNvSpPr/>
          <p:nvPr/>
        </p:nvSpPr>
        <p:spPr>
          <a:xfrm>
            <a:off x="1234440" y="2953512"/>
            <a:ext cx="10607040" cy="0"/>
          </a:xfrm>
          <a:prstGeom prst="line">
            <a:avLst/>
          </a:prstGeom>
          <a:noFill/>
          <a:ln w="12700">
            <a:solidFill>
              <a:srgbClr val="E9DFC4"/>
            </a:solidFill>
            <a:prstDash val="solid"/>
          </a:ln>
        </p:spPr>
      </p:sp>
      <p:sp>
        <p:nvSpPr>
          <p:cNvPr id="7" name="Shape 5"/>
          <p:cNvSpPr/>
          <p:nvPr/>
        </p:nvSpPr>
        <p:spPr>
          <a:xfrm>
            <a:off x="1234440" y="3337560"/>
            <a:ext cx="10607040" cy="0"/>
          </a:xfrm>
          <a:prstGeom prst="line">
            <a:avLst/>
          </a:prstGeom>
          <a:noFill/>
          <a:ln w="12700">
            <a:solidFill>
              <a:srgbClr val="E9DFC4"/>
            </a:solidFill>
            <a:prstDash val="solid"/>
          </a:ln>
        </p:spPr>
      </p:sp>
      <p:sp>
        <p:nvSpPr>
          <p:cNvPr id="8" name="Shape 6"/>
          <p:cNvSpPr/>
          <p:nvPr/>
        </p:nvSpPr>
        <p:spPr>
          <a:xfrm>
            <a:off x="1234440" y="3721608"/>
            <a:ext cx="10607040" cy="0"/>
          </a:xfrm>
          <a:prstGeom prst="line">
            <a:avLst/>
          </a:prstGeom>
          <a:noFill/>
          <a:ln w="12700">
            <a:solidFill>
              <a:srgbClr val="E9DFC4"/>
            </a:solidFill>
            <a:prstDash val="solid"/>
          </a:ln>
        </p:spPr>
      </p:sp>
      <p:sp>
        <p:nvSpPr>
          <p:cNvPr id="9" name="Shape 7"/>
          <p:cNvSpPr/>
          <p:nvPr/>
        </p:nvSpPr>
        <p:spPr>
          <a:xfrm>
            <a:off x="1234440" y="4105656"/>
            <a:ext cx="10607040" cy="0"/>
          </a:xfrm>
          <a:prstGeom prst="line">
            <a:avLst/>
          </a:prstGeom>
          <a:noFill/>
          <a:ln w="12700">
            <a:solidFill>
              <a:srgbClr val="E9DFC4"/>
            </a:solidFill>
            <a:prstDash val="solid"/>
          </a:ln>
        </p:spPr>
      </p:sp>
      <p:sp>
        <p:nvSpPr>
          <p:cNvPr id="10" name="Shape 8"/>
          <p:cNvSpPr/>
          <p:nvPr/>
        </p:nvSpPr>
        <p:spPr>
          <a:xfrm>
            <a:off x="1234440" y="4489704"/>
            <a:ext cx="10607040" cy="0"/>
          </a:xfrm>
          <a:prstGeom prst="line">
            <a:avLst/>
          </a:prstGeom>
          <a:noFill/>
          <a:ln w="12700">
            <a:solidFill>
              <a:srgbClr val="E9DFC4"/>
            </a:solidFill>
            <a:prstDash val="solid"/>
          </a:ln>
        </p:spPr>
      </p:sp>
      <p:sp>
        <p:nvSpPr>
          <p:cNvPr id="11" name="Shape 9"/>
          <p:cNvSpPr/>
          <p:nvPr/>
        </p:nvSpPr>
        <p:spPr>
          <a:xfrm>
            <a:off x="1234440" y="4873752"/>
            <a:ext cx="10607040" cy="0"/>
          </a:xfrm>
          <a:prstGeom prst="line">
            <a:avLst/>
          </a:prstGeom>
          <a:noFill/>
          <a:ln w="12700">
            <a:solidFill>
              <a:srgbClr val="E9DFC4"/>
            </a:solidFill>
            <a:prstDash val="solid"/>
          </a:ln>
        </p:spPr>
      </p:sp>
      <p:sp>
        <p:nvSpPr>
          <p:cNvPr id="12" name="Shape 10"/>
          <p:cNvSpPr/>
          <p:nvPr/>
        </p:nvSpPr>
        <p:spPr>
          <a:xfrm>
            <a:off x="1234440" y="5257800"/>
            <a:ext cx="10607040" cy="0"/>
          </a:xfrm>
          <a:prstGeom prst="line">
            <a:avLst/>
          </a:prstGeom>
          <a:noFill/>
          <a:ln w="12700">
            <a:solidFill>
              <a:srgbClr val="E9DFC4"/>
            </a:solidFill>
            <a:prstDash val="solid"/>
          </a:ln>
        </p:spPr>
      </p:sp>
      <p:sp>
        <p:nvSpPr>
          <p:cNvPr id="13" name="Shape 11"/>
          <p:cNvSpPr/>
          <p:nvPr/>
        </p:nvSpPr>
        <p:spPr>
          <a:xfrm>
            <a:off x="1234440" y="5641848"/>
            <a:ext cx="10607040" cy="0"/>
          </a:xfrm>
          <a:prstGeom prst="line">
            <a:avLst/>
          </a:prstGeom>
          <a:noFill/>
          <a:ln w="12700">
            <a:solidFill>
              <a:srgbClr val="E9DFC4"/>
            </a:solidFill>
            <a:prstDash val="solid"/>
          </a:ln>
        </p:spPr>
      </p:sp>
      <p:sp>
        <p:nvSpPr>
          <p:cNvPr id="14" name="Shape 12"/>
          <p:cNvSpPr/>
          <p:nvPr/>
        </p:nvSpPr>
        <p:spPr>
          <a:xfrm>
            <a:off x="1234440" y="6025896"/>
            <a:ext cx="10607040" cy="0"/>
          </a:xfrm>
          <a:prstGeom prst="line">
            <a:avLst/>
          </a:prstGeom>
          <a:noFill/>
          <a:ln w="12700">
            <a:solidFill>
              <a:srgbClr val="E9DFC4"/>
            </a:solidFill>
            <a:prstDash val="solid"/>
          </a:ln>
        </p:spPr>
      </p:sp>
      <p:sp>
        <p:nvSpPr>
          <p:cNvPr id="15" name="Shape 13"/>
          <p:cNvSpPr/>
          <p:nvPr/>
        </p:nvSpPr>
        <p:spPr>
          <a:xfrm>
            <a:off x="1234440" y="6409944"/>
            <a:ext cx="10607040" cy="0"/>
          </a:xfrm>
          <a:prstGeom prst="line">
            <a:avLst/>
          </a:prstGeom>
          <a:noFill/>
          <a:ln w="12700">
            <a:solidFill>
              <a:srgbClr val="E9DFC4"/>
            </a:solidFill>
            <a:prstDash val="solid"/>
          </a:ln>
        </p:spPr>
      </p:sp>
      <p:sp>
        <p:nvSpPr>
          <p:cNvPr id="16" name="Shape 14"/>
          <p:cNvSpPr/>
          <p:nvPr/>
        </p:nvSpPr>
        <p:spPr>
          <a:xfrm>
            <a:off x="1051560" y="320040"/>
            <a:ext cx="0" cy="6309360"/>
          </a:xfrm>
          <a:prstGeom prst="line">
            <a:avLst/>
          </a:prstGeom>
          <a:noFill/>
          <a:ln w="15875">
            <a:solidFill>
              <a:srgbClr val="C0392B"/>
            </a:solidFill>
            <a:prstDash val="solid"/>
          </a:ln>
        </p:spPr>
      </p:sp>
      <p:sp>
        <p:nvSpPr>
          <p:cNvPr id="17" name="Text 15"/>
          <p:cNvSpPr/>
          <p:nvPr/>
        </p:nvSpPr>
        <p:spPr>
          <a:xfrm>
            <a:off x="1280160" y="310896"/>
            <a:ext cx="2743200" cy="320040"/>
          </a:xfrm>
          <a:prstGeom prst="rect">
            <a:avLst/>
          </a:prstGeom>
          <a:noFill/>
          <a:ln/>
        </p:spPr>
        <p:txBody>
          <a:bodyPr wrap="square" lIns="0" tIns="0" rIns="0" bIns="0" rtlCol="0" anchor="ctr"/>
          <a:lstStyle/>
          <a:p>
            <a:pPr marL="0" indent="0">
              <a:buNone/>
            </a:pPr>
            <a:r>
              <a:rPr lang="en-US" sz="1300" b="1" dirty="0">
                <a:solidFill>
                  <a:srgbClr val="C0392B"/>
                </a:solidFill>
                <a:latin typeface="Calibri" pitchFamily="34" charset="0"/>
                <a:ea typeface="Calibri" pitchFamily="34" charset="-122"/>
                <a:cs typeface="Calibri" pitchFamily="34" charset="-120"/>
              </a:rPr>
              <a:t>Topic 1.5</a:t>
            </a:r>
            <a:endParaRPr lang="en-US" sz="1300" dirty="0"/>
          </a:p>
        </p:txBody>
      </p:sp>
      <p:sp>
        <p:nvSpPr>
          <p:cNvPr id="18" name="Text 16"/>
          <p:cNvSpPr/>
          <p:nvPr/>
        </p:nvSpPr>
        <p:spPr>
          <a:xfrm>
            <a:off x="1234440" y="566928"/>
            <a:ext cx="8138160" cy="777240"/>
          </a:xfrm>
          <a:prstGeom prst="rect">
            <a:avLst/>
          </a:prstGeom>
          <a:noFill/>
          <a:ln/>
        </p:spPr>
        <p:txBody>
          <a:bodyPr wrap="square" lIns="0" tIns="0" rIns="0" bIns="0" rtlCol="0" anchor="t"/>
          <a:lstStyle/>
          <a:p>
            <a:pPr marL="0" indent="0">
              <a:buNone/>
            </a:pPr>
            <a:r>
              <a:rPr lang="en-US" sz="3000" b="1" dirty="0">
                <a:solidFill>
                  <a:srgbClr val="1B3A6B"/>
                </a:solidFill>
                <a:latin typeface="Comic Sans MS" pitchFamily="34" charset="0"/>
                <a:ea typeface="Comic Sans MS" pitchFamily="34" charset="-122"/>
                <a:cs typeface="Comic Sans MS" pitchFamily="34" charset="-120"/>
              </a:rPr>
              <a:t>Direct Memory Access (DMA)</a:t>
            </a:r>
            <a:endParaRPr lang="en-US" sz="3000" dirty="0"/>
          </a:p>
        </p:txBody>
      </p:sp>
      <p:sp>
        <p:nvSpPr>
          <p:cNvPr id="19" name="Shape 17"/>
          <p:cNvSpPr/>
          <p:nvPr/>
        </p:nvSpPr>
        <p:spPr>
          <a:xfrm>
            <a:off x="9646920" y="384048"/>
            <a:ext cx="1965960" cy="384048"/>
          </a:xfrm>
          <a:prstGeom prst="roundRect">
            <a:avLst>
              <a:gd name="adj" fmla="val 19048"/>
            </a:avLst>
          </a:prstGeom>
          <a:solidFill>
            <a:srgbClr val="C0392B"/>
          </a:solidFill>
          <a:ln/>
        </p:spPr>
      </p:sp>
      <p:sp>
        <p:nvSpPr>
          <p:cNvPr id="20" name="Text 18"/>
          <p:cNvSpPr/>
          <p:nvPr/>
        </p:nvSpPr>
        <p:spPr>
          <a:xfrm>
            <a:off x="9646920" y="384048"/>
            <a:ext cx="196596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HOW IT WORKS</a:t>
            </a:r>
            <a:endParaRPr lang="en-US" sz="1200" dirty="0"/>
          </a:p>
        </p:txBody>
      </p:sp>
      <p:sp>
        <p:nvSpPr>
          <p:cNvPr id="21" name="Shape 19"/>
          <p:cNvSpPr/>
          <p:nvPr/>
        </p:nvSpPr>
        <p:spPr>
          <a:xfrm>
            <a:off x="8732520" y="502920"/>
            <a:ext cx="1051560" cy="1051560"/>
          </a:xfrm>
          <a:prstGeom prst="ellipse">
            <a:avLst/>
          </a:prstGeom>
          <a:solidFill>
            <a:srgbClr val="DCE6F5"/>
          </a:solidFill>
          <a:ln/>
          <a:effectLst>
            <a:outerShdw blurRad="50800" dist="25400" dir="5400000" algn="bl" rotWithShape="0">
              <a:srgbClr val="999999">
                <a:alpha val="25000"/>
              </a:srgbClr>
            </a:outerShdw>
          </a:effectLst>
        </p:spPr>
      </p:sp>
      <p:pic>
        <p:nvPicPr>
          <p:cNvPr id="22" name="Image 0" descr="/home/claude/iobook/icons/exchange.png"/>
          <p:cNvPicPr>
            <a:picLocks noChangeAspect="1"/>
          </p:cNvPicPr>
          <p:nvPr/>
        </p:nvPicPr>
        <p:blipFill>
          <a:blip r:embed="rId3"/>
          <a:stretch>
            <a:fillRect/>
          </a:stretch>
        </p:blipFill>
        <p:spPr>
          <a:xfrm>
            <a:off x="8963863" y="734263"/>
            <a:ext cx="588874" cy="588874"/>
          </a:xfrm>
          <a:prstGeom prst="rect">
            <a:avLst/>
          </a:prstGeom>
        </p:spPr>
      </p:pic>
      <p:sp>
        <p:nvSpPr>
          <p:cNvPr id="23" name="Shape 20"/>
          <p:cNvSpPr/>
          <p:nvPr/>
        </p:nvSpPr>
        <p:spPr>
          <a:xfrm>
            <a:off x="1280160" y="1965960"/>
            <a:ext cx="2331720" cy="1600200"/>
          </a:xfrm>
          <a:prstGeom prst="roundRect">
            <a:avLst>
              <a:gd name="adj" fmla="val 4571"/>
            </a:avLst>
          </a:prstGeom>
          <a:solidFill>
            <a:srgbClr val="FFFFFF"/>
          </a:solidFill>
          <a:ln w="12700">
            <a:solidFill>
              <a:srgbClr val="1B3A6B"/>
            </a:solidFill>
            <a:prstDash val="solid"/>
          </a:ln>
          <a:effectLst>
            <a:outerShdw blurRad="38100" dist="25400" dir="5400000" algn="bl" rotWithShape="0">
              <a:srgbClr val="999999">
                <a:alpha val="20000"/>
              </a:srgbClr>
            </a:outerShdw>
          </a:effectLst>
        </p:spPr>
      </p:sp>
      <p:sp>
        <p:nvSpPr>
          <p:cNvPr id="24" name="Shape 21"/>
          <p:cNvSpPr/>
          <p:nvPr/>
        </p:nvSpPr>
        <p:spPr>
          <a:xfrm>
            <a:off x="2244852" y="1764792"/>
            <a:ext cx="402336" cy="402336"/>
          </a:xfrm>
          <a:prstGeom prst="ellipse">
            <a:avLst/>
          </a:prstGeom>
          <a:solidFill>
            <a:srgbClr val="C0392B"/>
          </a:solidFill>
          <a:ln w="25400">
            <a:solidFill>
              <a:srgbClr val="FFF8E1"/>
            </a:solidFill>
            <a:prstDash val="solid"/>
          </a:ln>
        </p:spPr>
      </p:sp>
      <p:sp>
        <p:nvSpPr>
          <p:cNvPr id="25" name="Text 22"/>
          <p:cNvSpPr/>
          <p:nvPr/>
        </p:nvSpPr>
        <p:spPr>
          <a:xfrm>
            <a:off x="2244852" y="1764792"/>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26" name="Text 23"/>
          <p:cNvSpPr/>
          <p:nvPr/>
        </p:nvSpPr>
        <p:spPr>
          <a:xfrm>
            <a:off x="1389888" y="2221992"/>
            <a:ext cx="2112264" cy="502920"/>
          </a:xfrm>
          <a:prstGeom prst="rect">
            <a:avLst/>
          </a:prstGeom>
          <a:noFill/>
          <a:ln/>
        </p:spPr>
        <p:txBody>
          <a:bodyPr wrap="square" lIns="0" tIns="0" rIns="0" bIns="0" rtlCol="0" anchor="t"/>
          <a:lstStyle/>
          <a:p>
            <a:pPr marL="0" indent="0">
              <a:buNone/>
            </a:pPr>
            <a:r>
              <a:rPr lang="en-US" sz="1350" b="1" dirty="0">
                <a:solidFill>
                  <a:srgbClr val="1B3A6B"/>
                </a:solidFill>
                <a:latin typeface="Calibri" pitchFamily="34" charset="0"/>
                <a:ea typeface="Calibri" pitchFamily="34" charset="-122"/>
                <a:cs typeface="Calibri" pitchFamily="34" charset="-120"/>
              </a:rPr>
              <a:t>1. CPU Configures</a:t>
            </a:r>
            <a:endParaRPr lang="en-US" sz="1350" dirty="0"/>
          </a:p>
        </p:txBody>
      </p:sp>
      <p:sp>
        <p:nvSpPr>
          <p:cNvPr id="27" name="Text 24"/>
          <p:cNvSpPr/>
          <p:nvPr/>
        </p:nvSpPr>
        <p:spPr>
          <a:xfrm>
            <a:off x="1389888" y="2715768"/>
            <a:ext cx="2112264" cy="777240"/>
          </a:xfrm>
          <a:prstGeom prst="rect">
            <a:avLst/>
          </a:prstGeom>
          <a:noFill/>
          <a:ln/>
        </p:spPr>
        <p:txBody>
          <a:bodyPr wrap="square" lIns="0" tIns="0" rIns="0" bIns="0" rtlCol="0" anchor="t"/>
          <a:lstStyle/>
          <a:p>
            <a:pPr marL="0" indent="0">
              <a:buNone/>
            </a:pPr>
            <a:r>
              <a:rPr lang="en-US" sz="1100" dirty="0">
                <a:solidFill>
                  <a:srgbClr val="4A4A4A"/>
                </a:solidFill>
                <a:latin typeface="Calibri" pitchFamily="34" charset="0"/>
                <a:ea typeface="Calibri" pitchFamily="34" charset="-122"/>
                <a:cs typeface="Calibri" pitchFamily="34" charset="-120"/>
              </a:rPr>
              <a:t>Gives source, destination, byte count</a:t>
            </a:r>
            <a:endParaRPr lang="en-US" sz="1100" dirty="0"/>
          </a:p>
        </p:txBody>
      </p:sp>
      <p:pic>
        <p:nvPicPr>
          <p:cNvPr id="28" name="Image 1" descr="/home/claude/iobook/icons/arrowRight.png"/>
          <p:cNvPicPr>
            <a:picLocks noChangeAspect="1"/>
          </p:cNvPicPr>
          <p:nvPr/>
        </p:nvPicPr>
        <p:blipFill>
          <a:blip r:embed="rId4"/>
          <a:stretch>
            <a:fillRect/>
          </a:stretch>
        </p:blipFill>
        <p:spPr>
          <a:xfrm>
            <a:off x="3639312" y="2628900"/>
            <a:ext cx="274320" cy="274320"/>
          </a:xfrm>
          <a:prstGeom prst="rect">
            <a:avLst/>
          </a:prstGeom>
        </p:spPr>
      </p:pic>
      <p:sp>
        <p:nvSpPr>
          <p:cNvPr id="29" name="Shape 25"/>
          <p:cNvSpPr/>
          <p:nvPr/>
        </p:nvSpPr>
        <p:spPr>
          <a:xfrm>
            <a:off x="3931920" y="1965960"/>
            <a:ext cx="2331720" cy="1600200"/>
          </a:xfrm>
          <a:prstGeom prst="roundRect">
            <a:avLst>
              <a:gd name="adj" fmla="val 4571"/>
            </a:avLst>
          </a:prstGeom>
          <a:solidFill>
            <a:srgbClr val="FFFFFF"/>
          </a:solidFill>
          <a:ln w="12700">
            <a:solidFill>
              <a:srgbClr val="1B3A6B"/>
            </a:solidFill>
            <a:prstDash val="solid"/>
          </a:ln>
          <a:effectLst>
            <a:outerShdw blurRad="38100" dist="25400" dir="5400000" algn="bl" rotWithShape="0">
              <a:srgbClr val="999999">
                <a:alpha val="20000"/>
              </a:srgbClr>
            </a:outerShdw>
          </a:effectLst>
        </p:spPr>
      </p:sp>
      <p:sp>
        <p:nvSpPr>
          <p:cNvPr id="30" name="Shape 26"/>
          <p:cNvSpPr/>
          <p:nvPr/>
        </p:nvSpPr>
        <p:spPr>
          <a:xfrm>
            <a:off x="4896612" y="1764792"/>
            <a:ext cx="402336" cy="402336"/>
          </a:xfrm>
          <a:prstGeom prst="ellipse">
            <a:avLst/>
          </a:prstGeom>
          <a:solidFill>
            <a:srgbClr val="C0392B"/>
          </a:solidFill>
          <a:ln w="25400">
            <a:solidFill>
              <a:srgbClr val="FFF8E1"/>
            </a:solidFill>
            <a:prstDash val="solid"/>
          </a:ln>
        </p:spPr>
      </p:sp>
      <p:sp>
        <p:nvSpPr>
          <p:cNvPr id="31" name="Text 27"/>
          <p:cNvSpPr/>
          <p:nvPr/>
        </p:nvSpPr>
        <p:spPr>
          <a:xfrm>
            <a:off x="4896612" y="1764792"/>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32" name="Text 28"/>
          <p:cNvSpPr/>
          <p:nvPr/>
        </p:nvSpPr>
        <p:spPr>
          <a:xfrm>
            <a:off x="4041648" y="2221992"/>
            <a:ext cx="2112264" cy="502920"/>
          </a:xfrm>
          <a:prstGeom prst="rect">
            <a:avLst/>
          </a:prstGeom>
          <a:noFill/>
          <a:ln/>
        </p:spPr>
        <p:txBody>
          <a:bodyPr wrap="square" lIns="0" tIns="0" rIns="0" bIns="0" rtlCol="0" anchor="t"/>
          <a:lstStyle/>
          <a:p>
            <a:pPr marL="0" indent="0">
              <a:buNone/>
            </a:pPr>
            <a:r>
              <a:rPr lang="en-US" sz="1350" b="1" dirty="0">
                <a:solidFill>
                  <a:srgbClr val="1B3A6B"/>
                </a:solidFill>
                <a:latin typeface="Calibri" pitchFamily="34" charset="0"/>
                <a:ea typeface="Calibri" pitchFamily="34" charset="-122"/>
                <a:cs typeface="Calibri" pitchFamily="34" charset="-120"/>
              </a:rPr>
              <a:t>2. CPU is Free</a:t>
            </a:r>
            <a:endParaRPr lang="en-US" sz="1350" dirty="0"/>
          </a:p>
        </p:txBody>
      </p:sp>
      <p:sp>
        <p:nvSpPr>
          <p:cNvPr id="33" name="Text 29"/>
          <p:cNvSpPr/>
          <p:nvPr/>
        </p:nvSpPr>
        <p:spPr>
          <a:xfrm>
            <a:off x="4041648" y="2715768"/>
            <a:ext cx="2112264" cy="777240"/>
          </a:xfrm>
          <a:prstGeom prst="rect">
            <a:avLst/>
          </a:prstGeom>
          <a:noFill/>
          <a:ln/>
        </p:spPr>
        <p:txBody>
          <a:bodyPr wrap="square" lIns="0" tIns="0" rIns="0" bIns="0" rtlCol="0" anchor="t"/>
          <a:lstStyle/>
          <a:p>
            <a:pPr marL="0" indent="0">
              <a:buNone/>
            </a:pPr>
            <a:r>
              <a:rPr lang="en-US" sz="1100" dirty="0">
                <a:solidFill>
                  <a:srgbClr val="4A4A4A"/>
                </a:solidFill>
                <a:latin typeface="Calibri" pitchFamily="34" charset="0"/>
                <a:ea typeface="Calibri" pitchFamily="34" charset="-122"/>
                <a:cs typeface="Calibri" pitchFamily="34" charset="-120"/>
              </a:rPr>
              <a:t>Completely free during the transfer</a:t>
            </a:r>
            <a:endParaRPr lang="en-US" sz="1100" dirty="0"/>
          </a:p>
        </p:txBody>
      </p:sp>
      <p:pic>
        <p:nvPicPr>
          <p:cNvPr id="34" name="Image 2" descr="/home/claude/iobook/icons/arrowRight.png"/>
          <p:cNvPicPr>
            <a:picLocks noChangeAspect="1"/>
          </p:cNvPicPr>
          <p:nvPr/>
        </p:nvPicPr>
        <p:blipFill>
          <a:blip r:embed="rId4"/>
          <a:stretch>
            <a:fillRect/>
          </a:stretch>
        </p:blipFill>
        <p:spPr>
          <a:xfrm>
            <a:off x="6291072" y="2628900"/>
            <a:ext cx="274320" cy="274320"/>
          </a:xfrm>
          <a:prstGeom prst="rect">
            <a:avLst/>
          </a:prstGeom>
        </p:spPr>
      </p:pic>
      <p:sp>
        <p:nvSpPr>
          <p:cNvPr id="35" name="Shape 30"/>
          <p:cNvSpPr/>
          <p:nvPr/>
        </p:nvSpPr>
        <p:spPr>
          <a:xfrm>
            <a:off x="6583680" y="1965960"/>
            <a:ext cx="2331720" cy="1600200"/>
          </a:xfrm>
          <a:prstGeom prst="roundRect">
            <a:avLst>
              <a:gd name="adj" fmla="val 4571"/>
            </a:avLst>
          </a:prstGeom>
          <a:solidFill>
            <a:srgbClr val="FFFFFF"/>
          </a:solidFill>
          <a:ln w="12700">
            <a:solidFill>
              <a:srgbClr val="1B3A6B"/>
            </a:solidFill>
            <a:prstDash val="solid"/>
          </a:ln>
          <a:effectLst>
            <a:outerShdw blurRad="38100" dist="25400" dir="5400000" algn="bl" rotWithShape="0">
              <a:srgbClr val="999999">
                <a:alpha val="20000"/>
              </a:srgbClr>
            </a:outerShdw>
          </a:effectLst>
        </p:spPr>
      </p:sp>
      <p:sp>
        <p:nvSpPr>
          <p:cNvPr id="36" name="Shape 31"/>
          <p:cNvSpPr/>
          <p:nvPr/>
        </p:nvSpPr>
        <p:spPr>
          <a:xfrm>
            <a:off x="7548372" y="1764792"/>
            <a:ext cx="402336" cy="402336"/>
          </a:xfrm>
          <a:prstGeom prst="ellipse">
            <a:avLst/>
          </a:prstGeom>
          <a:solidFill>
            <a:srgbClr val="C0392B"/>
          </a:solidFill>
          <a:ln w="25400">
            <a:solidFill>
              <a:srgbClr val="FFF8E1"/>
            </a:solidFill>
            <a:prstDash val="solid"/>
          </a:ln>
        </p:spPr>
      </p:sp>
      <p:sp>
        <p:nvSpPr>
          <p:cNvPr id="37" name="Text 32"/>
          <p:cNvSpPr/>
          <p:nvPr/>
        </p:nvSpPr>
        <p:spPr>
          <a:xfrm>
            <a:off x="7548372" y="1764792"/>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38" name="Text 33"/>
          <p:cNvSpPr/>
          <p:nvPr/>
        </p:nvSpPr>
        <p:spPr>
          <a:xfrm>
            <a:off x="6693408" y="2221992"/>
            <a:ext cx="2112264" cy="502920"/>
          </a:xfrm>
          <a:prstGeom prst="rect">
            <a:avLst/>
          </a:prstGeom>
          <a:noFill/>
          <a:ln/>
        </p:spPr>
        <p:txBody>
          <a:bodyPr wrap="square" lIns="0" tIns="0" rIns="0" bIns="0" rtlCol="0" anchor="t"/>
          <a:lstStyle/>
          <a:p>
            <a:pPr marL="0" indent="0">
              <a:buNone/>
            </a:pPr>
            <a:r>
              <a:rPr lang="en-US" sz="1350" b="1" dirty="0">
                <a:solidFill>
                  <a:srgbClr val="1B3A6B"/>
                </a:solidFill>
                <a:latin typeface="Calibri" pitchFamily="34" charset="0"/>
                <a:ea typeface="Calibri" pitchFamily="34" charset="-122"/>
                <a:cs typeface="Calibri" pitchFamily="34" charset="-120"/>
              </a:rPr>
              <a:t>3. DMA Transfers</a:t>
            </a:r>
            <a:endParaRPr lang="en-US" sz="1350" dirty="0"/>
          </a:p>
        </p:txBody>
      </p:sp>
      <p:sp>
        <p:nvSpPr>
          <p:cNvPr id="39" name="Text 34"/>
          <p:cNvSpPr/>
          <p:nvPr/>
        </p:nvSpPr>
        <p:spPr>
          <a:xfrm>
            <a:off x="6693408" y="2715768"/>
            <a:ext cx="2112264" cy="777240"/>
          </a:xfrm>
          <a:prstGeom prst="rect">
            <a:avLst/>
          </a:prstGeom>
          <a:noFill/>
          <a:ln/>
        </p:spPr>
        <p:txBody>
          <a:bodyPr wrap="square" lIns="0" tIns="0" rIns="0" bIns="0" rtlCol="0" anchor="t"/>
          <a:lstStyle/>
          <a:p>
            <a:pPr marL="0" indent="0">
              <a:buNone/>
            </a:pPr>
            <a:r>
              <a:rPr lang="en-US" sz="1100" dirty="0">
                <a:solidFill>
                  <a:srgbClr val="4A4A4A"/>
                </a:solidFill>
                <a:latin typeface="Calibri" pitchFamily="34" charset="0"/>
                <a:ea typeface="Calibri" pitchFamily="34" charset="-122"/>
                <a:cs typeface="Calibri" pitchFamily="34" charset="-120"/>
              </a:rPr>
              <a:t>Moves data directly using the bus</a:t>
            </a:r>
            <a:endParaRPr lang="en-US" sz="1100" dirty="0"/>
          </a:p>
        </p:txBody>
      </p:sp>
      <p:pic>
        <p:nvPicPr>
          <p:cNvPr id="40" name="Image 3" descr="/home/claude/iobook/icons/arrowRight.png"/>
          <p:cNvPicPr>
            <a:picLocks noChangeAspect="1"/>
          </p:cNvPicPr>
          <p:nvPr/>
        </p:nvPicPr>
        <p:blipFill>
          <a:blip r:embed="rId4"/>
          <a:stretch>
            <a:fillRect/>
          </a:stretch>
        </p:blipFill>
        <p:spPr>
          <a:xfrm>
            <a:off x="8942832" y="2628900"/>
            <a:ext cx="274320" cy="274320"/>
          </a:xfrm>
          <a:prstGeom prst="rect">
            <a:avLst/>
          </a:prstGeom>
        </p:spPr>
      </p:pic>
      <p:sp>
        <p:nvSpPr>
          <p:cNvPr id="41" name="Shape 35"/>
          <p:cNvSpPr/>
          <p:nvPr/>
        </p:nvSpPr>
        <p:spPr>
          <a:xfrm>
            <a:off x="9235440" y="1965960"/>
            <a:ext cx="2331720" cy="1600200"/>
          </a:xfrm>
          <a:prstGeom prst="roundRect">
            <a:avLst>
              <a:gd name="adj" fmla="val 4571"/>
            </a:avLst>
          </a:prstGeom>
          <a:solidFill>
            <a:srgbClr val="FFFFFF"/>
          </a:solidFill>
          <a:ln w="12700">
            <a:solidFill>
              <a:srgbClr val="1B3A6B"/>
            </a:solidFill>
            <a:prstDash val="solid"/>
          </a:ln>
          <a:effectLst>
            <a:outerShdw blurRad="38100" dist="25400" dir="5400000" algn="bl" rotWithShape="0">
              <a:srgbClr val="999999">
                <a:alpha val="20000"/>
              </a:srgbClr>
            </a:outerShdw>
          </a:effectLst>
        </p:spPr>
      </p:sp>
      <p:sp>
        <p:nvSpPr>
          <p:cNvPr id="42" name="Shape 36"/>
          <p:cNvSpPr/>
          <p:nvPr/>
        </p:nvSpPr>
        <p:spPr>
          <a:xfrm>
            <a:off x="10200132" y="1764792"/>
            <a:ext cx="402336" cy="402336"/>
          </a:xfrm>
          <a:prstGeom prst="ellipse">
            <a:avLst/>
          </a:prstGeom>
          <a:solidFill>
            <a:srgbClr val="C0392B"/>
          </a:solidFill>
          <a:ln w="25400">
            <a:solidFill>
              <a:srgbClr val="FFF8E1"/>
            </a:solidFill>
            <a:prstDash val="solid"/>
          </a:ln>
        </p:spPr>
      </p:sp>
      <p:sp>
        <p:nvSpPr>
          <p:cNvPr id="43" name="Text 37"/>
          <p:cNvSpPr/>
          <p:nvPr/>
        </p:nvSpPr>
        <p:spPr>
          <a:xfrm>
            <a:off x="10200132" y="1764792"/>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44" name="Text 38"/>
          <p:cNvSpPr/>
          <p:nvPr/>
        </p:nvSpPr>
        <p:spPr>
          <a:xfrm>
            <a:off x="9345168" y="2221992"/>
            <a:ext cx="2112264" cy="502920"/>
          </a:xfrm>
          <a:prstGeom prst="rect">
            <a:avLst/>
          </a:prstGeom>
          <a:noFill/>
          <a:ln/>
        </p:spPr>
        <p:txBody>
          <a:bodyPr wrap="square" lIns="0" tIns="0" rIns="0" bIns="0" rtlCol="0" anchor="t"/>
          <a:lstStyle/>
          <a:p>
            <a:pPr marL="0" indent="0">
              <a:buNone/>
            </a:pPr>
            <a:r>
              <a:rPr lang="en-US" sz="1350" b="1" dirty="0">
                <a:solidFill>
                  <a:srgbClr val="1B3A6B"/>
                </a:solidFill>
                <a:latin typeface="Calibri" pitchFamily="34" charset="0"/>
                <a:ea typeface="Calibri" pitchFamily="34" charset="-122"/>
                <a:cs typeface="Calibri" pitchFamily="34" charset="-120"/>
              </a:rPr>
              <a:t>4. Final Interrupt</a:t>
            </a:r>
            <a:endParaRPr lang="en-US" sz="1350" dirty="0"/>
          </a:p>
        </p:txBody>
      </p:sp>
      <p:sp>
        <p:nvSpPr>
          <p:cNvPr id="45" name="Text 39"/>
          <p:cNvSpPr/>
          <p:nvPr/>
        </p:nvSpPr>
        <p:spPr>
          <a:xfrm>
            <a:off x="9345168" y="2715768"/>
            <a:ext cx="2112264" cy="777240"/>
          </a:xfrm>
          <a:prstGeom prst="rect">
            <a:avLst/>
          </a:prstGeom>
          <a:noFill/>
          <a:ln/>
        </p:spPr>
        <p:txBody>
          <a:bodyPr wrap="square" lIns="0" tIns="0" rIns="0" bIns="0" rtlCol="0" anchor="t"/>
          <a:lstStyle/>
          <a:p>
            <a:pPr marL="0" indent="0">
              <a:buNone/>
            </a:pPr>
            <a:r>
              <a:rPr lang="en-US" sz="1100" dirty="0">
                <a:solidFill>
                  <a:srgbClr val="4A4A4A"/>
                </a:solidFill>
                <a:latin typeface="Calibri" pitchFamily="34" charset="0"/>
                <a:ea typeface="Calibri" pitchFamily="34" charset="-122"/>
                <a:cs typeface="Calibri" pitchFamily="34" charset="-120"/>
              </a:rPr>
              <a:t>'All data transferred!' — just once</a:t>
            </a:r>
            <a:endParaRPr lang="en-US" sz="1100" dirty="0"/>
          </a:p>
        </p:txBody>
      </p:sp>
      <p:sp>
        <p:nvSpPr>
          <p:cNvPr id="46" name="Shape 40"/>
          <p:cNvSpPr/>
          <p:nvPr/>
        </p:nvSpPr>
        <p:spPr>
          <a:xfrm>
            <a:off x="1280160" y="3977640"/>
            <a:ext cx="8778240" cy="1234440"/>
          </a:xfrm>
          <a:prstGeom prst="roundRect">
            <a:avLst>
              <a:gd name="adj" fmla="val 7407"/>
            </a:avLst>
          </a:prstGeom>
          <a:solidFill>
            <a:srgbClr val="DCE6F5">
              <a:alpha val="70000"/>
            </a:srgbClr>
          </a:solidFill>
          <a:ln w="9525">
            <a:solidFill>
              <a:srgbClr val="1B3A6B"/>
            </a:solidFill>
            <a:prstDash val="sysDot"/>
          </a:ln>
        </p:spPr>
      </p:sp>
      <p:pic>
        <p:nvPicPr>
          <p:cNvPr id="47" name="Image 4" descr="/home/claude/iobook/icons/lightbulb.png"/>
          <p:cNvPicPr>
            <a:picLocks noChangeAspect="1"/>
          </p:cNvPicPr>
          <p:nvPr/>
        </p:nvPicPr>
        <p:blipFill>
          <a:blip r:embed="rId5"/>
          <a:stretch>
            <a:fillRect/>
          </a:stretch>
        </p:blipFill>
        <p:spPr>
          <a:xfrm>
            <a:off x="1463040" y="4160520"/>
            <a:ext cx="502920" cy="502920"/>
          </a:xfrm>
          <a:prstGeom prst="rect">
            <a:avLst/>
          </a:prstGeom>
        </p:spPr>
      </p:pic>
      <p:sp>
        <p:nvSpPr>
          <p:cNvPr id="48" name="Text 41"/>
          <p:cNvSpPr/>
          <p:nvPr/>
        </p:nvSpPr>
        <p:spPr>
          <a:xfrm>
            <a:off x="2103120" y="4114800"/>
            <a:ext cx="7772400" cy="1005840"/>
          </a:xfrm>
          <a:prstGeom prst="rect">
            <a:avLst/>
          </a:prstGeom>
          <a:noFill/>
          <a:ln/>
        </p:spPr>
        <p:txBody>
          <a:bodyPr wrap="square" lIns="0" tIns="0" rIns="0" bIns="0" rtlCol="0" anchor="ctr"/>
          <a:lstStyle/>
          <a:p>
            <a:pPr marL="0" indent="0">
              <a:buNone/>
            </a:pPr>
            <a:r>
              <a:rPr lang="en-US" sz="1350" i="1" dirty="0">
                <a:solidFill>
                  <a:srgbClr val="1B3A6B"/>
                </a:solidFill>
                <a:latin typeface="Calibri" pitchFamily="34" charset="0"/>
                <a:ea typeface="Calibri" pitchFamily="34" charset="-122"/>
                <a:cs typeface="Calibri" pitchFamily="34" charset="-120"/>
              </a:rPr>
              <a:t>DMA removes the CPU from routine, repetitive data-copying jobs — freeing it up for real computation.</a:t>
            </a:r>
            <a:endParaRPr lang="en-US" sz="1350" dirty="0"/>
          </a:p>
        </p:txBody>
      </p:sp>
      <p:sp>
        <p:nvSpPr>
          <p:cNvPr id="49" name="Text 42"/>
          <p:cNvSpPr/>
          <p:nvPr/>
        </p:nvSpPr>
        <p:spPr>
          <a:xfrm>
            <a:off x="320040" y="6510528"/>
            <a:ext cx="5486400" cy="274320"/>
          </a:xfrm>
          <a:prstGeom prst="rect">
            <a:avLst/>
          </a:prstGeom>
          <a:noFill/>
          <a:ln/>
        </p:spPr>
        <p:txBody>
          <a:bodyPr wrap="square" lIns="0" tIns="0" rIns="0" bIns="0" rtlCol="0" anchor="ctr"/>
          <a:lstStyle/>
          <a:p>
            <a:pPr marL="0" indent="0">
              <a:buNone/>
            </a:pPr>
            <a:r>
              <a:rPr lang="en-US" sz="1000" i="1" dirty="0">
                <a:solidFill>
                  <a:srgbClr val="4A4A4A"/>
                </a:solidFill>
                <a:latin typeface="Calibri" pitchFamily="34" charset="0"/>
                <a:ea typeface="Calibri" pitchFamily="34" charset="-122"/>
                <a:cs typeface="Calibri" pitchFamily="34" charset="-120"/>
              </a:rPr>
              <a:t>Direct Memory Access (DMA)</a:t>
            </a:r>
            <a:endParaRPr lang="en-US" sz="1000" dirty="0"/>
          </a:p>
        </p:txBody>
      </p:sp>
      <p:sp>
        <p:nvSpPr>
          <p:cNvPr id="50" name="Text 43"/>
          <p:cNvSpPr/>
          <p:nvPr/>
        </p:nvSpPr>
        <p:spPr>
          <a:xfrm>
            <a:off x="5029200" y="6510528"/>
            <a:ext cx="5029200" cy="274320"/>
          </a:xfrm>
          <a:prstGeom prst="rect">
            <a:avLst/>
          </a:prstGeom>
          <a:noFill/>
          <a:ln/>
        </p:spPr>
        <p:txBody>
          <a:bodyPr wrap="square" lIns="0" tIns="0" rIns="0" bIns="0" rtlCol="0" anchor="ctr"/>
          <a:lstStyle/>
          <a:p>
            <a:pPr marL="0" indent="0" algn="r">
              <a:buNone/>
            </a:pPr>
            <a:r>
              <a:rPr lang="en-US" sz="900" dirty="0">
                <a:solidFill>
                  <a:srgbClr val="4A4A4A"/>
                </a:solidFill>
                <a:latin typeface="Calibri" pitchFamily="34" charset="0"/>
                <a:ea typeface="Calibri" pitchFamily="34" charset="-122"/>
                <a:cs typeface="Calibri" pitchFamily="34" charset="-120"/>
              </a:rPr>
              <a:t>Ch.7 • Stallings, Computer Organization &amp; Architecture</a:t>
            </a:r>
            <a:endParaRPr lang="en-US" sz="900" dirty="0"/>
          </a:p>
        </p:txBody>
      </p:sp>
      <p:sp>
        <p:nvSpPr>
          <p:cNvPr id="51" name="Text 44"/>
          <p:cNvSpPr/>
          <p:nvPr/>
        </p:nvSpPr>
        <p:spPr>
          <a:xfrm>
            <a:off x="11475720" y="6510528"/>
            <a:ext cx="548640" cy="274320"/>
          </a:xfrm>
          <a:prstGeom prst="rect">
            <a:avLst/>
          </a:prstGeom>
          <a:noFill/>
          <a:ln/>
        </p:spPr>
        <p:txBody>
          <a:bodyPr wrap="square" lIns="0" tIns="0" rIns="0" bIns="0" rtlCol="0" anchor="ctr"/>
          <a:lstStyle/>
          <a:p>
            <a:pPr marL="0" indent="0" algn="r">
              <a:buNone/>
            </a:pPr>
            <a:r>
              <a:rPr lang="en-US" sz="1000" dirty="0">
                <a:solidFill>
                  <a:srgbClr val="4A4A4A"/>
                </a:solidFill>
                <a:latin typeface="Calibri" pitchFamily="34" charset="0"/>
                <a:ea typeface="Calibri" pitchFamily="34" charset="-122"/>
                <a:cs typeface="Calibri" pitchFamily="34" charset="-120"/>
              </a:rPr>
              <a:t>15/30</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8E1"/>
        </a:solidFill>
        <a:effectLst/>
      </p:bgPr>
    </p:bg>
    <p:spTree>
      <p:nvGrpSpPr>
        <p:cNvPr id="1" name=""/>
        <p:cNvGrpSpPr/>
        <p:nvPr/>
      </p:nvGrpSpPr>
      <p:grpSpPr>
        <a:xfrm>
          <a:off x="0" y="0"/>
          <a:ext cx="0" cy="0"/>
          <a:chOff x="0" y="0"/>
          <a:chExt cx="0" cy="0"/>
        </a:xfrm>
      </p:grpSpPr>
      <p:sp>
        <p:nvSpPr>
          <p:cNvPr id="2" name="Shape 0"/>
          <p:cNvSpPr/>
          <p:nvPr/>
        </p:nvSpPr>
        <p:spPr>
          <a:xfrm>
            <a:off x="1234440" y="1417320"/>
            <a:ext cx="10607040" cy="0"/>
          </a:xfrm>
          <a:prstGeom prst="line">
            <a:avLst/>
          </a:prstGeom>
          <a:noFill/>
          <a:ln w="12700">
            <a:solidFill>
              <a:srgbClr val="E9DFC4"/>
            </a:solidFill>
            <a:prstDash val="solid"/>
          </a:ln>
        </p:spPr>
      </p:sp>
      <p:sp>
        <p:nvSpPr>
          <p:cNvPr id="3" name="Shape 1"/>
          <p:cNvSpPr/>
          <p:nvPr/>
        </p:nvSpPr>
        <p:spPr>
          <a:xfrm>
            <a:off x="1234440" y="1801368"/>
            <a:ext cx="10607040" cy="0"/>
          </a:xfrm>
          <a:prstGeom prst="line">
            <a:avLst/>
          </a:prstGeom>
          <a:noFill/>
          <a:ln w="12700">
            <a:solidFill>
              <a:srgbClr val="E9DFC4"/>
            </a:solidFill>
            <a:prstDash val="solid"/>
          </a:ln>
        </p:spPr>
      </p:sp>
      <p:sp>
        <p:nvSpPr>
          <p:cNvPr id="4" name="Shape 2"/>
          <p:cNvSpPr/>
          <p:nvPr/>
        </p:nvSpPr>
        <p:spPr>
          <a:xfrm>
            <a:off x="1234440" y="2185416"/>
            <a:ext cx="10607040" cy="0"/>
          </a:xfrm>
          <a:prstGeom prst="line">
            <a:avLst/>
          </a:prstGeom>
          <a:noFill/>
          <a:ln w="12700">
            <a:solidFill>
              <a:srgbClr val="E9DFC4"/>
            </a:solidFill>
            <a:prstDash val="solid"/>
          </a:ln>
        </p:spPr>
      </p:sp>
      <p:sp>
        <p:nvSpPr>
          <p:cNvPr id="5" name="Shape 3"/>
          <p:cNvSpPr/>
          <p:nvPr/>
        </p:nvSpPr>
        <p:spPr>
          <a:xfrm>
            <a:off x="1234440" y="2569464"/>
            <a:ext cx="10607040" cy="0"/>
          </a:xfrm>
          <a:prstGeom prst="line">
            <a:avLst/>
          </a:prstGeom>
          <a:noFill/>
          <a:ln w="12700">
            <a:solidFill>
              <a:srgbClr val="E9DFC4"/>
            </a:solidFill>
            <a:prstDash val="solid"/>
          </a:ln>
        </p:spPr>
      </p:sp>
      <p:sp>
        <p:nvSpPr>
          <p:cNvPr id="6" name="Shape 4"/>
          <p:cNvSpPr/>
          <p:nvPr/>
        </p:nvSpPr>
        <p:spPr>
          <a:xfrm>
            <a:off x="1234440" y="2953512"/>
            <a:ext cx="10607040" cy="0"/>
          </a:xfrm>
          <a:prstGeom prst="line">
            <a:avLst/>
          </a:prstGeom>
          <a:noFill/>
          <a:ln w="12700">
            <a:solidFill>
              <a:srgbClr val="E9DFC4"/>
            </a:solidFill>
            <a:prstDash val="solid"/>
          </a:ln>
        </p:spPr>
      </p:sp>
      <p:sp>
        <p:nvSpPr>
          <p:cNvPr id="7" name="Shape 5"/>
          <p:cNvSpPr/>
          <p:nvPr/>
        </p:nvSpPr>
        <p:spPr>
          <a:xfrm>
            <a:off x="1234440" y="3337560"/>
            <a:ext cx="10607040" cy="0"/>
          </a:xfrm>
          <a:prstGeom prst="line">
            <a:avLst/>
          </a:prstGeom>
          <a:noFill/>
          <a:ln w="12700">
            <a:solidFill>
              <a:srgbClr val="E9DFC4"/>
            </a:solidFill>
            <a:prstDash val="solid"/>
          </a:ln>
        </p:spPr>
      </p:sp>
      <p:sp>
        <p:nvSpPr>
          <p:cNvPr id="8" name="Shape 6"/>
          <p:cNvSpPr/>
          <p:nvPr/>
        </p:nvSpPr>
        <p:spPr>
          <a:xfrm>
            <a:off x="1234440" y="3721608"/>
            <a:ext cx="10607040" cy="0"/>
          </a:xfrm>
          <a:prstGeom prst="line">
            <a:avLst/>
          </a:prstGeom>
          <a:noFill/>
          <a:ln w="12700">
            <a:solidFill>
              <a:srgbClr val="E9DFC4"/>
            </a:solidFill>
            <a:prstDash val="solid"/>
          </a:ln>
        </p:spPr>
      </p:sp>
      <p:sp>
        <p:nvSpPr>
          <p:cNvPr id="9" name="Shape 7"/>
          <p:cNvSpPr/>
          <p:nvPr/>
        </p:nvSpPr>
        <p:spPr>
          <a:xfrm>
            <a:off x="1234440" y="4105656"/>
            <a:ext cx="10607040" cy="0"/>
          </a:xfrm>
          <a:prstGeom prst="line">
            <a:avLst/>
          </a:prstGeom>
          <a:noFill/>
          <a:ln w="12700">
            <a:solidFill>
              <a:srgbClr val="E9DFC4"/>
            </a:solidFill>
            <a:prstDash val="solid"/>
          </a:ln>
        </p:spPr>
      </p:sp>
      <p:sp>
        <p:nvSpPr>
          <p:cNvPr id="10" name="Shape 8"/>
          <p:cNvSpPr/>
          <p:nvPr/>
        </p:nvSpPr>
        <p:spPr>
          <a:xfrm>
            <a:off x="1234440" y="4489704"/>
            <a:ext cx="10607040" cy="0"/>
          </a:xfrm>
          <a:prstGeom prst="line">
            <a:avLst/>
          </a:prstGeom>
          <a:noFill/>
          <a:ln w="12700">
            <a:solidFill>
              <a:srgbClr val="E9DFC4"/>
            </a:solidFill>
            <a:prstDash val="solid"/>
          </a:ln>
        </p:spPr>
      </p:sp>
      <p:sp>
        <p:nvSpPr>
          <p:cNvPr id="11" name="Shape 9"/>
          <p:cNvSpPr/>
          <p:nvPr/>
        </p:nvSpPr>
        <p:spPr>
          <a:xfrm>
            <a:off x="1234440" y="4873752"/>
            <a:ext cx="10607040" cy="0"/>
          </a:xfrm>
          <a:prstGeom prst="line">
            <a:avLst/>
          </a:prstGeom>
          <a:noFill/>
          <a:ln w="12700">
            <a:solidFill>
              <a:srgbClr val="E9DFC4"/>
            </a:solidFill>
            <a:prstDash val="solid"/>
          </a:ln>
        </p:spPr>
      </p:sp>
      <p:sp>
        <p:nvSpPr>
          <p:cNvPr id="12" name="Shape 10"/>
          <p:cNvSpPr/>
          <p:nvPr/>
        </p:nvSpPr>
        <p:spPr>
          <a:xfrm>
            <a:off x="1234440" y="5257800"/>
            <a:ext cx="10607040" cy="0"/>
          </a:xfrm>
          <a:prstGeom prst="line">
            <a:avLst/>
          </a:prstGeom>
          <a:noFill/>
          <a:ln w="12700">
            <a:solidFill>
              <a:srgbClr val="E9DFC4"/>
            </a:solidFill>
            <a:prstDash val="solid"/>
          </a:ln>
        </p:spPr>
      </p:sp>
      <p:sp>
        <p:nvSpPr>
          <p:cNvPr id="13" name="Shape 11"/>
          <p:cNvSpPr/>
          <p:nvPr/>
        </p:nvSpPr>
        <p:spPr>
          <a:xfrm>
            <a:off x="1234440" y="5641848"/>
            <a:ext cx="10607040" cy="0"/>
          </a:xfrm>
          <a:prstGeom prst="line">
            <a:avLst/>
          </a:prstGeom>
          <a:noFill/>
          <a:ln w="12700">
            <a:solidFill>
              <a:srgbClr val="E9DFC4"/>
            </a:solidFill>
            <a:prstDash val="solid"/>
          </a:ln>
        </p:spPr>
      </p:sp>
      <p:sp>
        <p:nvSpPr>
          <p:cNvPr id="14" name="Shape 12"/>
          <p:cNvSpPr/>
          <p:nvPr/>
        </p:nvSpPr>
        <p:spPr>
          <a:xfrm>
            <a:off x="1234440" y="6025896"/>
            <a:ext cx="10607040" cy="0"/>
          </a:xfrm>
          <a:prstGeom prst="line">
            <a:avLst/>
          </a:prstGeom>
          <a:noFill/>
          <a:ln w="12700">
            <a:solidFill>
              <a:srgbClr val="E9DFC4"/>
            </a:solidFill>
            <a:prstDash val="solid"/>
          </a:ln>
        </p:spPr>
      </p:sp>
      <p:sp>
        <p:nvSpPr>
          <p:cNvPr id="15" name="Shape 13"/>
          <p:cNvSpPr/>
          <p:nvPr/>
        </p:nvSpPr>
        <p:spPr>
          <a:xfrm>
            <a:off x="1234440" y="6409944"/>
            <a:ext cx="10607040" cy="0"/>
          </a:xfrm>
          <a:prstGeom prst="line">
            <a:avLst/>
          </a:prstGeom>
          <a:noFill/>
          <a:ln w="12700">
            <a:solidFill>
              <a:srgbClr val="E9DFC4"/>
            </a:solidFill>
            <a:prstDash val="solid"/>
          </a:ln>
        </p:spPr>
      </p:sp>
      <p:sp>
        <p:nvSpPr>
          <p:cNvPr id="16" name="Shape 14"/>
          <p:cNvSpPr/>
          <p:nvPr/>
        </p:nvSpPr>
        <p:spPr>
          <a:xfrm>
            <a:off x="1051560" y="320040"/>
            <a:ext cx="0" cy="6309360"/>
          </a:xfrm>
          <a:prstGeom prst="line">
            <a:avLst/>
          </a:prstGeom>
          <a:noFill/>
          <a:ln w="15875">
            <a:solidFill>
              <a:srgbClr val="C0392B"/>
            </a:solidFill>
            <a:prstDash val="solid"/>
          </a:ln>
        </p:spPr>
      </p:sp>
      <p:sp>
        <p:nvSpPr>
          <p:cNvPr id="17" name="Text 15"/>
          <p:cNvSpPr/>
          <p:nvPr/>
        </p:nvSpPr>
        <p:spPr>
          <a:xfrm>
            <a:off x="1280160" y="310896"/>
            <a:ext cx="2743200" cy="320040"/>
          </a:xfrm>
          <a:prstGeom prst="rect">
            <a:avLst/>
          </a:prstGeom>
          <a:noFill/>
          <a:ln/>
        </p:spPr>
        <p:txBody>
          <a:bodyPr wrap="square" lIns="0" tIns="0" rIns="0" bIns="0" rtlCol="0" anchor="ctr"/>
          <a:lstStyle/>
          <a:p>
            <a:pPr marL="0" indent="0">
              <a:buNone/>
            </a:pPr>
            <a:r>
              <a:rPr lang="en-US" sz="1300" b="1" dirty="0">
                <a:solidFill>
                  <a:srgbClr val="C0392B"/>
                </a:solidFill>
                <a:latin typeface="Calibri" pitchFamily="34" charset="0"/>
                <a:ea typeface="Calibri" pitchFamily="34" charset="-122"/>
                <a:cs typeface="Calibri" pitchFamily="34" charset="-120"/>
              </a:rPr>
              <a:t>Topic 1.5</a:t>
            </a:r>
            <a:endParaRPr lang="en-US" sz="1300" dirty="0"/>
          </a:p>
        </p:txBody>
      </p:sp>
      <p:sp>
        <p:nvSpPr>
          <p:cNvPr id="18" name="Text 16"/>
          <p:cNvSpPr/>
          <p:nvPr/>
        </p:nvSpPr>
        <p:spPr>
          <a:xfrm>
            <a:off x="1234440" y="566928"/>
            <a:ext cx="8138160" cy="777240"/>
          </a:xfrm>
          <a:prstGeom prst="rect">
            <a:avLst/>
          </a:prstGeom>
          <a:noFill/>
          <a:ln/>
        </p:spPr>
        <p:txBody>
          <a:bodyPr wrap="square" lIns="0" tIns="0" rIns="0" bIns="0" rtlCol="0" anchor="t"/>
          <a:lstStyle/>
          <a:p>
            <a:pPr marL="0" indent="0">
              <a:buNone/>
            </a:pPr>
            <a:r>
              <a:rPr lang="en-US" sz="3000" b="1" dirty="0">
                <a:solidFill>
                  <a:srgbClr val="1B3A6B"/>
                </a:solidFill>
                <a:latin typeface="Comic Sans MS" pitchFamily="34" charset="0"/>
                <a:ea typeface="Comic Sans MS" pitchFamily="34" charset="-122"/>
                <a:cs typeface="Comic Sans MS" pitchFamily="34" charset="-120"/>
              </a:rPr>
              <a:t>Direct Memory Access (DMA)</a:t>
            </a:r>
            <a:endParaRPr lang="en-US" sz="3000" dirty="0"/>
          </a:p>
        </p:txBody>
      </p:sp>
      <p:sp>
        <p:nvSpPr>
          <p:cNvPr id="19" name="Shape 17"/>
          <p:cNvSpPr/>
          <p:nvPr/>
        </p:nvSpPr>
        <p:spPr>
          <a:xfrm>
            <a:off x="9646920" y="384048"/>
            <a:ext cx="1965960" cy="384048"/>
          </a:xfrm>
          <a:prstGeom prst="roundRect">
            <a:avLst>
              <a:gd name="adj" fmla="val 19048"/>
            </a:avLst>
          </a:prstGeom>
          <a:solidFill>
            <a:srgbClr val="C0392B"/>
          </a:solidFill>
          <a:ln/>
        </p:spPr>
      </p:sp>
      <p:sp>
        <p:nvSpPr>
          <p:cNvPr id="20" name="Text 18"/>
          <p:cNvSpPr/>
          <p:nvPr/>
        </p:nvSpPr>
        <p:spPr>
          <a:xfrm>
            <a:off x="9646920" y="384048"/>
            <a:ext cx="196596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EXAMPLE</a:t>
            </a:r>
            <a:endParaRPr lang="en-US" sz="1200" dirty="0"/>
          </a:p>
        </p:txBody>
      </p:sp>
      <p:sp>
        <p:nvSpPr>
          <p:cNvPr id="21" name="Shape 19"/>
          <p:cNvSpPr/>
          <p:nvPr/>
        </p:nvSpPr>
        <p:spPr>
          <a:xfrm>
            <a:off x="8732520" y="502920"/>
            <a:ext cx="1051560" cy="1051560"/>
          </a:xfrm>
          <a:prstGeom prst="ellipse">
            <a:avLst/>
          </a:prstGeom>
          <a:solidFill>
            <a:srgbClr val="DCE6F5"/>
          </a:solidFill>
          <a:ln/>
          <a:effectLst>
            <a:outerShdw blurRad="50800" dist="25400" dir="5400000" algn="bl" rotWithShape="0">
              <a:srgbClr val="999999">
                <a:alpha val="25000"/>
              </a:srgbClr>
            </a:outerShdw>
          </a:effectLst>
        </p:spPr>
      </p:sp>
      <p:pic>
        <p:nvPicPr>
          <p:cNvPr id="22" name="Image 0" descr="/home/claude/iobook/icons/exchange.png"/>
          <p:cNvPicPr>
            <a:picLocks noChangeAspect="1"/>
          </p:cNvPicPr>
          <p:nvPr/>
        </p:nvPicPr>
        <p:blipFill>
          <a:blip r:embed="rId3"/>
          <a:stretch>
            <a:fillRect/>
          </a:stretch>
        </p:blipFill>
        <p:spPr>
          <a:xfrm>
            <a:off x="8963863" y="734263"/>
            <a:ext cx="588874" cy="588874"/>
          </a:xfrm>
          <a:prstGeom prst="rect">
            <a:avLst/>
          </a:prstGeom>
        </p:spPr>
      </p:pic>
      <p:sp>
        <p:nvSpPr>
          <p:cNvPr id="23" name="Shape 20"/>
          <p:cNvSpPr/>
          <p:nvPr/>
        </p:nvSpPr>
        <p:spPr>
          <a:xfrm>
            <a:off x="1280160" y="1691640"/>
            <a:ext cx="6126480" cy="2834640"/>
          </a:xfrm>
          <a:prstGeom prst="roundRect">
            <a:avLst>
              <a:gd name="adj" fmla="val 3226"/>
            </a:avLst>
          </a:prstGeom>
          <a:solidFill>
            <a:srgbClr val="FFFFFF"/>
          </a:solidFill>
          <a:ln w="12700">
            <a:solidFill>
              <a:srgbClr val="1B3A6B"/>
            </a:solidFill>
            <a:prstDash val="solid"/>
          </a:ln>
          <a:effectLst>
            <a:outerShdw blurRad="38100" dist="25400" dir="5400000" algn="bl" rotWithShape="0">
              <a:srgbClr val="999999">
                <a:alpha val="20000"/>
              </a:srgbClr>
            </a:outerShdw>
          </a:effectLst>
        </p:spPr>
      </p:sp>
      <p:sp>
        <p:nvSpPr>
          <p:cNvPr id="24" name="Text 21"/>
          <p:cNvSpPr/>
          <p:nvPr/>
        </p:nvSpPr>
        <p:spPr>
          <a:xfrm>
            <a:off x="1508760" y="1828800"/>
            <a:ext cx="5669280" cy="320040"/>
          </a:xfrm>
          <a:prstGeom prst="rect">
            <a:avLst/>
          </a:prstGeom>
          <a:noFill/>
          <a:ln/>
        </p:spPr>
        <p:txBody>
          <a:bodyPr wrap="square" lIns="0" tIns="0" rIns="0" bIns="0" rtlCol="0" anchor="ctr"/>
          <a:lstStyle/>
          <a:p>
            <a:pPr marL="0" indent="0">
              <a:buNone/>
            </a:pPr>
            <a:r>
              <a:rPr lang="en-US" sz="1300" b="1" dirty="0">
                <a:solidFill>
                  <a:srgbClr val="C0392B"/>
                </a:solidFill>
                <a:latin typeface="Calibri" pitchFamily="34" charset="0"/>
                <a:ea typeface="Calibri" pitchFamily="34" charset="-122"/>
                <a:cs typeface="Calibri" pitchFamily="34" charset="-120"/>
              </a:rPr>
              <a:t>REAL-LIFE EXAMPLE</a:t>
            </a:r>
            <a:endParaRPr lang="en-US" sz="1300" dirty="0"/>
          </a:p>
        </p:txBody>
      </p:sp>
      <p:sp>
        <p:nvSpPr>
          <p:cNvPr id="25" name="Text 22"/>
          <p:cNvSpPr/>
          <p:nvPr/>
        </p:nvSpPr>
        <p:spPr>
          <a:xfrm>
            <a:off x="1508760" y="2194560"/>
            <a:ext cx="5669280" cy="2194560"/>
          </a:xfrm>
          <a:prstGeom prst="rect">
            <a:avLst/>
          </a:prstGeom>
          <a:noFill/>
          <a:ln/>
        </p:spPr>
        <p:txBody>
          <a:bodyPr wrap="square" lIns="0" tIns="0" rIns="0" bIns="0" rtlCol="0" anchor="t"/>
          <a:lstStyle/>
          <a:p>
            <a:pPr marL="0" indent="0">
              <a:buNone/>
            </a:pPr>
            <a:r>
              <a:rPr lang="en-US" sz="1450" dirty="0">
                <a:solidFill>
                  <a:srgbClr val="1B3A6B"/>
                </a:solidFill>
                <a:latin typeface="Calibri" pitchFamily="34" charset="0"/>
                <a:ea typeface="Calibri" pitchFamily="34" charset="-122"/>
                <a:cs typeface="Calibri" pitchFamily="34" charset="-120"/>
              </a:rPr>
              <a:t>Copying a large video file from a USB drive to your laptop doesn't freeze your computer — that's DMA quietly doing the heavy lifting in the background.</a:t>
            </a:r>
            <a:endParaRPr lang="en-US" sz="1450" dirty="0"/>
          </a:p>
        </p:txBody>
      </p:sp>
      <p:sp>
        <p:nvSpPr>
          <p:cNvPr id="26" name="Shape 23"/>
          <p:cNvSpPr/>
          <p:nvPr/>
        </p:nvSpPr>
        <p:spPr>
          <a:xfrm>
            <a:off x="7635240" y="1691640"/>
            <a:ext cx="3383280" cy="2834640"/>
          </a:xfrm>
          <a:prstGeom prst="roundRect">
            <a:avLst>
              <a:gd name="adj" fmla="val 3226"/>
            </a:avLst>
          </a:prstGeom>
          <a:solidFill>
            <a:srgbClr val="C0392B"/>
          </a:solidFill>
          <a:ln/>
          <a:effectLst>
            <a:outerShdw blurRad="50800" dist="25400" dir="5400000" algn="bl" rotWithShape="0">
              <a:srgbClr val="000000">
                <a:alpha val="25000"/>
              </a:srgbClr>
            </a:outerShdw>
          </a:effectLst>
        </p:spPr>
      </p:sp>
      <p:pic>
        <p:nvPicPr>
          <p:cNvPr id="27" name="Image 1" descr="/home/claude/iobook/icons/check.png"/>
          <p:cNvPicPr>
            <a:picLocks noChangeAspect="1"/>
          </p:cNvPicPr>
          <p:nvPr/>
        </p:nvPicPr>
        <p:blipFill>
          <a:blip r:embed="rId4"/>
          <a:stretch>
            <a:fillRect/>
          </a:stretch>
        </p:blipFill>
        <p:spPr>
          <a:xfrm>
            <a:off x="7863840" y="1874520"/>
            <a:ext cx="457200" cy="457200"/>
          </a:xfrm>
          <a:prstGeom prst="rect">
            <a:avLst/>
          </a:prstGeom>
        </p:spPr>
      </p:pic>
      <p:sp>
        <p:nvSpPr>
          <p:cNvPr id="28" name="Text 24"/>
          <p:cNvSpPr/>
          <p:nvPr/>
        </p:nvSpPr>
        <p:spPr>
          <a:xfrm>
            <a:off x="8412480" y="1920240"/>
            <a:ext cx="2514600" cy="32004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KEY TAKEAWAY</a:t>
            </a:r>
            <a:endParaRPr lang="en-US" sz="1250" dirty="0"/>
          </a:p>
        </p:txBody>
      </p:sp>
      <p:sp>
        <p:nvSpPr>
          <p:cNvPr id="29" name="Text 25"/>
          <p:cNvSpPr/>
          <p:nvPr/>
        </p:nvSpPr>
        <p:spPr>
          <a:xfrm>
            <a:off x="7863840" y="2423160"/>
            <a:ext cx="3017520" cy="1965960"/>
          </a:xfrm>
          <a:prstGeom prst="rect">
            <a:avLst/>
          </a:prstGeom>
          <a:noFill/>
          <a:ln/>
        </p:spPr>
        <p:txBody>
          <a:bodyPr wrap="square" lIns="0" tIns="0" rIns="0" bIns="0" rtlCol="0" anchor="t"/>
          <a:lstStyle/>
          <a:p>
            <a:pPr marL="0" indent="0">
              <a:buNone/>
            </a:pPr>
            <a:r>
              <a:rPr lang="en-US" sz="1300" dirty="0">
                <a:solidFill>
                  <a:srgbClr val="FFFFFF"/>
                </a:solidFill>
                <a:latin typeface="Calibri" pitchFamily="34" charset="0"/>
                <a:ea typeface="Calibri" pitchFamily="34" charset="-122"/>
                <a:cs typeface="Calibri" pitchFamily="34" charset="-120"/>
              </a:rPr>
              <a:t>DMA is the go-to method for large, fast data transfers where CPU involvement would be too costly.</a:t>
            </a:r>
            <a:endParaRPr lang="en-US" sz="1300" dirty="0"/>
          </a:p>
        </p:txBody>
      </p:sp>
      <p:sp>
        <p:nvSpPr>
          <p:cNvPr id="30" name="Shape 26"/>
          <p:cNvSpPr/>
          <p:nvPr/>
        </p:nvSpPr>
        <p:spPr>
          <a:xfrm>
            <a:off x="1280160" y="4709160"/>
            <a:ext cx="9738360" cy="685800"/>
          </a:xfrm>
          <a:prstGeom prst="roundRect">
            <a:avLst>
              <a:gd name="adj" fmla="val 10667"/>
            </a:avLst>
          </a:prstGeom>
          <a:solidFill>
            <a:srgbClr val="FFE082">
              <a:alpha val="60000"/>
            </a:srgbClr>
          </a:solidFill>
          <a:ln w="9525">
            <a:solidFill>
              <a:srgbClr val="1B3A6B"/>
            </a:solidFill>
            <a:prstDash val="dash"/>
          </a:ln>
        </p:spPr>
      </p:sp>
      <p:sp>
        <p:nvSpPr>
          <p:cNvPr id="31" name="Text 27"/>
          <p:cNvSpPr/>
          <p:nvPr/>
        </p:nvSpPr>
        <p:spPr>
          <a:xfrm>
            <a:off x="1463040" y="4709160"/>
            <a:ext cx="9372600" cy="685800"/>
          </a:xfrm>
          <a:prstGeom prst="rect">
            <a:avLst/>
          </a:prstGeom>
          <a:noFill/>
          <a:ln/>
        </p:spPr>
        <p:txBody>
          <a:bodyPr wrap="square" lIns="0" tIns="0" rIns="0" bIns="0" rtlCol="0" anchor="ctr"/>
          <a:lstStyle/>
          <a:p>
            <a:pPr marL="0" indent="0">
              <a:buNone/>
            </a:pPr>
            <a:r>
              <a:rPr lang="en-US" sz="1300" b="1" dirty="0">
                <a:solidFill>
                  <a:srgbClr val="C0392B"/>
                </a:solidFill>
                <a:latin typeface="Calibri" pitchFamily="34" charset="0"/>
                <a:ea typeface="Calibri" pitchFamily="34" charset="-122"/>
                <a:cs typeface="Calibri" pitchFamily="34" charset="-120"/>
              </a:rPr>
              <a:t>Remember: </a:t>
            </a:r>
            <a:r>
              <a:rPr lang="en-US" sz="1300" dirty="0">
                <a:solidFill>
                  <a:srgbClr val="1B3A6B"/>
                </a:solidFill>
                <a:latin typeface="Calibri" pitchFamily="34" charset="0"/>
                <a:ea typeface="Calibri" pitchFamily="34" charset="-122"/>
                <a:cs typeface="Calibri" pitchFamily="34" charset="-120"/>
              </a:rPr>
              <a:t>DMA = a dedicated controller copies data directly to/from memory, bypassing the CPU.</a:t>
            </a:r>
            <a:endParaRPr lang="en-US" sz="1300" dirty="0"/>
          </a:p>
        </p:txBody>
      </p:sp>
      <p:sp>
        <p:nvSpPr>
          <p:cNvPr id="32" name="Text 28"/>
          <p:cNvSpPr/>
          <p:nvPr/>
        </p:nvSpPr>
        <p:spPr>
          <a:xfrm>
            <a:off x="320040" y="6510528"/>
            <a:ext cx="5486400" cy="274320"/>
          </a:xfrm>
          <a:prstGeom prst="rect">
            <a:avLst/>
          </a:prstGeom>
          <a:noFill/>
          <a:ln/>
        </p:spPr>
        <p:txBody>
          <a:bodyPr wrap="square" lIns="0" tIns="0" rIns="0" bIns="0" rtlCol="0" anchor="ctr"/>
          <a:lstStyle/>
          <a:p>
            <a:pPr marL="0" indent="0">
              <a:buNone/>
            </a:pPr>
            <a:r>
              <a:rPr lang="en-US" sz="1000" i="1" dirty="0">
                <a:solidFill>
                  <a:srgbClr val="4A4A4A"/>
                </a:solidFill>
                <a:latin typeface="Calibri" pitchFamily="34" charset="0"/>
                <a:ea typeface="Calibri" pitchFamily="34" charset="-122"/>
                <a:cs typeface="Calibri" pitchFamily="34" charset="-120"/>
              </a:rPr>
              <a:t>Direct Memory Access (DMA)</a:t>
            </a:r>
            <a:endParaRPr lang="en-US" sz="1000" dirty="0"/>
          </a:p>
        </p:txBody>
      </p:sp>
      <p:sp>
        <p:nvSpPr>
          <p:cNvPr id="33" name="Text 29"/>
          <p:cNvSpPr/>
          <p:nvPr/>
        </p:nvSpPr>
        <p:spPr>
          <a:xfrm>
            <a:off x="5029200" y="6510528"/>
            <a:ext cx="5029200" cy="274320"/>
          </a:xfrm>
          <a:prstGeom prst="rect">
            <a:avLst/>
          </a:prstGeom>
          <a:noFill/>
          <a:ln/>
        </p:spPr>
        <p:txBody>
          <a:bodyPr wrap="square" lIns="0" tIns="0" rIns="0" bIns="0" rtlCol="0" anchor="ctr"/>
          <a:lstStyle/>
          <a:p>
            <a:pPr marL="0" indent="0" algn="r">
              <a:buNone/>
            </a:pPr>
            <a:r>
              <a:rPr lang="en-US" sz="900" dirty="0">
                <a:solidFill>
                  <a:srgbClr val="4A4A4A"/>
                </a:solidFill>
                <a:latin typeface="Calibri" pitchFamily="34" charset="0"/>
                <a:ea typeface="Calibri" pitchFamily="34" charset="-122"/>
                <a:cs typeface="Calibri" pitchFamily="34" charset="-120"/>
              </a:rPr>
              <a:t>Ch.7 • Stallings, Computer Organization &amp; Architecture</a:t>
            </a:r>
            <a:endParaRPr lang="en-US" sz="900" dirty="0"/>
          </a:p>
        </p:txBody>
      </p:sp>
      <p:sp>
        <p:nvSpPr>
          <p:cNvPr id="34" name="Text 30"/>
          <p:cNvSpPr/>
          <p:nvPr/>
        </p:nvSpPr>
        <p:spPr>
          <a:xfrm>
            <a:off x="11475720" y="6510528"/>
            <a:ext cx="548640" cy="274320"/>
          </a:xfrm>
          <a:prstGeom prst="rect">
            <a:avLst/>
          </a:prstGeom>
          <a:noFill/>
          <a:ln/>
        </p:spPr>
        <p:txBody>
          <a:bodyPr wrap="square" lIns="0" tIns="0" rIns="0" bIns="0" rtlCol="0" anchor="ctr"/>
          <a:lstStyle/>
          <a:p>
            <a:pPr marL="0" indent="0" algn="r">
              <a:buNone/>
            </a:pPr>
            <a:r>
              <a:rPr lang="en-US" sz="1000" dirty="0">
                <a:solidFill>
                  <a:srgbClr val="4A4A4A"/>
                </a:solidFill>
                <a:latin typeface="Calibri" pitchFamily="34" charset="0"/>
                <a:ea typeface="Calibri" pitchFamily="34" charset="-122"/>
                <a:cs typeface="Calibri" pitchFamily="34" charset="-120"/>
              </a:rPr>
              <a:t>16/30</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8E1"/>
        </a:solidFill>
        <a:effectLst/>
      </p:bgPr>
    </p:bg>
    <p:spTree>
      <p:nvGrpSpPr>
        <p:cNvPr id="1" name=""/>
        <p:cNvGrpSpPr/>
        <p:nvPr/>
      </p:nvGrpSpPr>
      <p:grpSpPr>
        <a:xfrm>
          <a:off x="0" y="0"/>
          <a:ext cx="0" cy="0"/>
          <a:chOff x="0" y="0"/>
          <a:chExt cx="0" cy="0"/>
        </a:xfrm>
      </p:grpSpPr>
      <p:sp>
        <p:nvSpPr>
          <p:cNvPr id="2" name="Shape 0"/>
          <p:cNvSpPr/>
          <p:nvPr/>
        </p:nvSpPr>
        <p:spPr>
          <a:xfrm>
            <a:off x="1234440" y="1417320"/>
            <a:ext cx="10607040" cy="0"/>
          </a:xfrm>
          <a:prstGeom prst="line">
            <a:avLst/>
          </a:prstGeom>
          <a:noFill/>
          <a:ln w="12700">
            <a:solidFill>
              <a:srgbClr val="E9DFC4"/>
            </a:solidFill>
            <a:prstDash val="solid"/>
          </a:ln>
        </p:spPr>
      </p:sp>
      <p:sp>
        <p:nvSpPr>
          <p:cNvPr id="3" name="Shape 1"/>
          <p:cNvSpPr/>
          <p:nvPr/>
        </p:nvSpPr>
        <p:spPr>
          <a:xfrm>
            <a:off x="1234440" y="1801368"/>
            <a:ext cx="10607040" cy="0"/>
          </a:xfrm>
          <a:prstGeom prst="line">
            <a:avLst/>
          </a:prstGeom>
          <a:noFill/>
          <a:ln w="12700">
            <a:solidFill>
              <a:srgbClr val="E9DFC4"/>
            </a:solidFill>
            <a:prstDash val="solid"/>
          </a:ln>
        </p:spPr>
      </p:sp>
      <p:sp>
        <p:nvSpPr>
          <p:cNvPr id="4" name="Shape 2"/>
          <p:cNvSpPr/>
          <p:nvPr/>
        </p:nvSpPr>
        <p:spPr>
          <a:xfrm>
            <a:off x="1234440" y="2185416"/>
            <a:ext cx="10607040" cy="0"/>
          </a:xfrm>
          <a:prstGeom prst="line">
            <a:avLst/>
          </a:prstGeom>
          <a:noFill/>
          <a:ln w="12700">
            <a:solidFill>
              <a:srgbClr val="E9DFC4"/>
            </a:solidFill>
            <a:prstDash val="solid"/>
          </a:ln>
        </p:spPr>
      </p:sp>
      <p:sp>
        <p:nvSpPr>
          <p:cNvPr id="5" name="Shape 3"/>
          <p:cNvSpPr/>
          <p:nvPr/>
        </p:nvSpPr>
        <p:spPr>
          <a:xfrm>
            <a:off x="1234440" y="2569464"/>
            <a:ext cx="10607040" cy="0"/>
          </a:xfrm>
          <a:prstGeom prst="line">
            <a:avLst/>
          </a:prstGeom>
          <a:noFill/>
          <a:ln w="12700">
            <a:solidFill>
              <a:srgbClr val="E9DFC4"/>
            </a:solidFill>
            <a:prstDash val="solid"/>
          </a:ln>
        </p:spPr>
      </p:sp>
      <p:sp>
        <p:nvSpPr>
          <p:cNvPr id="6" name="Shape 4"/>
          <p:cNvSpPr/>
          <p:nvPr/>
        </p:nvSpPr>
        <p:spPr>
          <a:xfrm>
            <a:off x="1234440" y="2953512"/>
            <a:ext cx="10607040" cy="0"/>
          </a:xfrm>
          <a:prstGeom prst="line">
            <a:avLst/>
          </a:prstGeom>
          <a:noFill/>
          <a:ln w="12700">
            <a:solidFill>
              <a:srgbClr val="E9DFC4"/>
            </a:solidFill>
            <a:prstDash val="solid"/>
          </a:ln>
        </p:spPr>
      </p:sp>
      <p:sp>
        <p:nvSpPr>
          <p:cNvPr id="7" name="Shape 5"/>
          <p:cNvSpPr/>
          <p:nvPr/>
        </p:nvSpPr>
        <p:spPr>
          <a:xfrm>
            <a:off x="1234440" y="3337560"/>
            <a:ext cx="10607040" cy="0"/>
          </a:xfrm>
          <a:prstGeom prst="line">
            <a:avLst/>
          </a:prstGeom>
          <a:noFill/>
          <a:ln w="12700">
            <a:solidFill>
              <a:srgbClr val="E9DFC4"/>
            </a:solidFill>
            <a:prstDash val="solid"/>
          </a:ln>
        </p:spPr>
      </p:sp>
      <p:sp>
        <p:nvSpPr>
          <p:cNvPr id="8" name="Shape 6"/>
          <p:cNvSpPr/>
          <p:nvPr/>
        </p:nvSpPr>
        <p:spPr>
          <a:xfrm>
            <a:off x="1234440" y="3721608"/>
            <a:ext cx="10607040" cy="0"/>
          </a:xfrm>
          <a:prstGeom prst="line">
            <a:avLst/>
          </a:prstGeom>
          <a:noFill/>
          <a:ln w="12700">
            <a:solidFill>
              <a:srgbClr val="E9DFC4"/>
            </a:solidFill>
            <a:prstDash val="solid"/>
          </a:ln>
        </p:spPr>
      </p:sp>
      <p:sp>
        <p:nvSpPr>
          <p:cNvPr id="9" name="Shape 7"/>
          <p:cNvSpPr/>
          <p:nvPr/>
        </p:nvSpPr>
        <p:spPr>
          <a:xfrm>
            <a:off x="1234440" y="4105656"/>
            <a:ext cx="10607040" cy="0"/>
          </a:xfrm>
          <a:prstGeom prst="line">
            <a:avLst/>
          </a:prstGeom>
          <a:noFill/>
          <a:ln w="12700">
            <a:solidFill>
              <a:srgbClr val="E9DFC4"/>
            </a:solidFill>
            <a:prstDash val="solid"/>
          </a:ln>
        </p:spPr>
      </p:sp>
      <p:sp>
        <p:nvSpPr>
          <p:cNvPr id="10" name="Shape 8"/>
          <p:cNvSpPr/>
          <p:nvPr/>
        </p:nvSpPr>
        <p:spPr>
          <a:xfrm>
            <a:off x="1234440" y="4489704"/>
            <a:ext cx="10607040" cy="0"/>
          </a:xfrm>
          <a:prstGeom prst="line">
            <a:avLst/>
          </a:prstGeom>
          <a:noFill/>
          <a:ln w="12700">
            <a:solidFill>
              <a:srgbClr val="E9DFC4"/>
            </a:solidFill>
            <a:prstDash val="solid"/>
          </a:ln>
        </p:spPr>
      </p:sp>
      <p:sp>
        <p:nvSpPr>
          <p:cNvPr id="11" name="Shape 9"/>
          <p:cNvSpPr/>
          <p:nvPr/>
        </p:nvSpPr>
        <p:spPr>
          <a:xfrm>
            <a:off x="1234440" y="4873752"/>
            <a:ext cx="10607040" cy="0"/>
          </a:xfrm>
          <a:prstGeom prst="line">
            <a:avLst/>
          </a:prstGeom>
          <a:noFill/>
          <a:ln w="12700">
            <a:solidFill>
              <a:srgbClr val="E9DFC4"/>
            </a:solidFill>
            <a:prstDash val="solid"/>
          </a:ln>
        </p:spPr>
      </p:sp>
      <p:sp>
        <p:nvSpPr>
          <p:cNvPr id="12" name="Shape 10"/>
          <p:cNvSpPr/>
          <p:nvPr/>
        </p:nvSpPr>
        <p:spPr>
          <a:xfrm>
            <a:off x="1234440" y="5257800"/>
            <a:ext cx="10607040" cy="0"/>
          </a:xfrm>
          <a:prstGeom prst="line">
            <a:avLst/>
          </a:prstGeom>
          <a:noFill/>
          <a:ln w="12700">
            <a:solidFill>
              <a:srgbClr val="E9DFC4"/>
            </a:solidFill>
            <a:prstDash val="solid"/>
          </a:ln>
        </p:spPr>
      </p:sp>
      <p:sp>
        <p:nvSpPr>
          <p:cNvPr id="13" name="Shape 11"/>
          <p:cNvSpPr/>
          <p:nvPr/>
        </p:nvSpPr>
        <p:spPr>
          <a:xfrm>
            <a:off x="1234440" y="5641848"/>
            <a:ext cx="10607040" cy="0"/>
          </a:xfrm>
          <a:prstGeom prst="line">
            <a:avLst/>
          </a:prstGeom>
          <a:noFill/>
          <a:ln w="12700">
            <a:solidFill>
              <a:srgbClr val="E9DFC4"/>
            </a:solidFill>
            <a:prstDash val="solid"/>
          </a:ln>
        </p:spPr>
      </p:sp>
      <p:sp>
        <p:nvSpPr>
          <p:cNvPr id="14" name="Shape 12"/>
          <p:cNvSpPr/>
          <p:nvPr/>
        </p:nvSpPr>
        <p:spPr>
          <a:xfrm>
            <a:off x="1234440" y="6025896"/>
            <a:ext cx="10607040" cy="0"/>
          </a:xfrm>
          <a:prstGeom prst="line">
            <a:avLst/>
          </a:prstGeom>
          <a:noFill/>
          <a:ln w="12700">
            <a:solidFill>
              <a:srgbClr val="E9DFC4"/>
            </a:solidFill>
            <a:prstDash val="solid"/>
          </a:ln>
        </p:spPr>
      </p:sp>
      <p:sp>
        <p:nvSpPr>
          <p:cNvPr id="15" name="Shape 13"/>
          <p:cNvSpPr/>
          <p:nvPr/>
        </p:nvSpPr>
        <p:spPr>
          <a:xfrm>
            <a:off x="1234440" y="6409944"/>
            <a:ext cx="10607040" cy="0"/>
          </a:xfrm>
          <a:prstGeom prst="line">
            <a:avLst/>
          </a:prstGeom>
          <a:noFill/>
          <a:ln w="12700">
            <a:solidFill>
              <a:srgbClr val="E9DFC4"/>
            </a:solidFill>
            <a:prstDash val="solid"/>
          </a:ln>
        </p:spPr>
      </p:sp>
      <p:sp>
        <p:nvSpPr>
          <p:cNvPr id="16" name="Shape 14"/>
          <p:cNvSpPr/>
          <p:nvPr/>
        </p:nvSpPr>
        <p:spPr>
          <a:xfrm>
            <a:off x="1051560" y="320040"/>
            <a:ext cx="0" cy="6309360"/>
          </a:xfrm>
          <a:prstGeom prst="line">
            <a:avLst/>
          </a:prstGeom>
          <a:noFill/>
          <a:ln w="15875">
            <a:solidFill>
              <a:srgbClr val="C0392B"/>
            </a:solidFill>
            <a:prstDash val="solid"/>
          </a:ln>
        </p:spPr>
      </p:sp>
      <p:sp>
        <p:nvSpPr>
          <p:cNvPr id="17" name="Text 15"/>
          <p:cNvSpPr/>
          <p:nvPr/>
        </p:nvSpPr>
        <p:spPr>
          <a:xfrm>
            <a:off x="1280160" y="310896"/>
            <a:ext cx="2743200" cy="320040"/>
          </a:xfrm>
          <a:prstGeom prst="rect">
            <a:avLst/>
          </a:prstGeom>
          <a:noFill/>
          <a:ln/>
        </p:spPr>
        <p:txBody>
          <a:bodyPr wrap="square" lIns="0" tIns="0" rIns="0" bIns="0" rtlCol="0" anchor="ctr"/>
          <a:lstStyle/>
          <a:p>
            <a:pPr marL="0" indent="0">
              <a:buNone/>
            </a:pPr>
            <a:r>
              <a:rPr lang="en-US" sz="1300" b="1" dirty="0">
                <a:solidFill>
                  <a:srgbClr val="C0392B"/>
                </a:solidFill>
                <a:latin typeface="Calibri" pitchFamily="34" charset="0"/>
                <a:ea typeface="Calibri" pitchFamily="34" charset="-122"/>
                <a:cs typeface="Calibri" pitchFamily="34" charset="-120"/>
              </a:rPr>
              <a:t>Topic 1.6</a:t>
            </a:r>
            <a:endParaRPr lang="en-US" sz="1300" dirty="0"/>
          </a:p>
        </p:txBody>
      </p:sp>
      <p:sp>
        <p:nvSpPr>
          <p:cNvPr id="18" name="Text 16"/>
          <p:cNvSpPr/>
          <p:nvPr/>
        </p:nvSpPr>
        <p:spPr>
          <a:xfrm>
            <a:off x="1234440" y="566928"/>
            <a:ext cx="8138160" cy="777240"/>
          </a:xfrm>
          <a:prstGeom prst="rect">
            <a:avLst/>
          </a:prstGeom>
          <a:noFill/>
          <a:ln/>
        </p:spPr>
        <p:txBody>
          <a:bodyPr wrap="square" lIns="0" tIns="0" rIns="0" bIns="0" rtlCol="0" anchor="t"/>
          <a:lstStyle/>
          <a:p>
            <a:pPr marL="0" indent="0">
              <a:buNone/>
            </a:pPr>
            <a:r>
              <a:rPr lang="en-US" sz="3000" b="1" dirty="0">
                <a:solidFill>
                  <a:srgbClr val="1B3A6B"/>
                </a:solidFill>
                <a:latin typeface="Comic Sans MS" pitchFamily="34" charset="0"/>
                <a:ea typeface="Comic Sans MS" pitchFamily="34" charset="-122"/>
                <a:cs typeface="Comic Sans MS" pitchFamily="34" charset="-120"/>
              </a:rPr>
              <a:t>Direct Cache Access (DCA)</a:t>
            </a:r>
            <a:endParaRPr lang="en-US" sz="3000" dirty="0"/>
          </a:p>
        </p:txBody>
      </p:sp>
      <p:sp>
        <p:nvSpPr>
          <p:cNvPr id="19" name="Shape 17"/>
          <p:cNvSpPr/>
          <p:nvPr/>
        </p:nvSpPr>
        <p:spPr>
          <a:xfrm>
            <a:off x="9646920" y="384048"/>
            <a:ext cx="1965960" cy="384048"/>
          </a:xfrm>
          <a:prstGeom prst="roundRect">
            <a:avLst>
              <a:gd name="adj" fmla="val 19048"/>
            </a:avLst>
          </a:prstGeom>
          <a:solidFill>
            <a:srgbClr val="C0392B"/>
          </a:solidFill>
          <a:ln/>
        </p:spPr>
      </p:sp>
      <p:sp>
        <p:nvSpPr>
          <p:cNvPr id="20" name="Text 18"/>
          <p:cNvSpPr/>
          <p:nvPr/>
        </p:nvSpPr>
        <p:spPr>
          <a:xfrm>
            <a:off x="9646920" y="384048"/>
            <a:ext cx="196596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DEFINITION</a:t>
            </a:r>
            <a:endParaRPr lang="en-US" sz="1200" dirty="0"/>
          </a:p>
        </p:txBody>
      </p:sp>
      <p:sp>
        <p:nvSpPr>
          <p:cNvPr id="21" name="Shape 19"/>
          <p:cNvSpPr/>
          <p:nvPr/>
        </p:nvSpPr>
        <p:spPr>
          <a:xfrm>
            <a:off x="8732520" y="502920"/>
            <a:ext cx="1051560" cy="1051560"/>
          </a:xfrm>
          <a:prstGeom prst="ellipse">
            <a:avLst/>
          </a:prstGeom>
          <a:solidFill>
            <a:srgbClr val="DCE6F5"/>
          </a:solidFill>
          <a:ln/>
          <a:effectLst>
            <a:outerShdw blurRad="50800" dist="25400" dir="5400000" algn="bl" rotWithShape="0">
              <a:srgbClr val="999999">
                <a:alpha val="25000"/>
              </a:srgbClr>
            </a:outerShdw>
          </a:effectLst>
        </p:spPr>
      </p:sp>
      <p:pic>
        <p:nvPicPr>
          <p:cNvPr id="22" name="Image 0" descr="/home/claude/iobook/icons/bolt.png"/>
          <p:cNvPicPr>
            <a:picLocks noChangeAspect="1"/>
          </p:cNvPicPr>
          <p:nvPr/>
        </p:nvPicPr>
        <p:blipFill>
          <a:blip r:embed="rId3"/>
          <a:stretch>
            <a:fillRect/>
          </a:stretch>
        </p:blipFill>
        <p:spPr>
          <a:xfrm>
            <a:off x="8963863" y="734263"/>
            <a:ext cx="588874" cy="588874"/>
          </a:xfrm>
          <a:prstGeom prst="rect">
            <a:avLst/>
          </a:prstGeom>
        </p:spPr>
      </p:pic>
      <p:sp>
        <p:nvSpPr>
          <p:cNvPr id="23" name="Shape 20"/>
          <p:cNvSpPr/>
          <p:nvPr/>
        </p:nvSpPr>
        <p:spPr>
          <a:xfrm>
            <a:off x="1280160" y="1600200"/>
            <a:ext cx="7360920" cy="1554480"/>
          </a:xfrm>
          <a:prstGeom prst="roundRect">
            <a:avLst>
              <a:gd name="adj" fmla="val 5882"/>
            </a:avLst>
          </a:prstGeom>
          <a:solidFill>
            <a:srgbClr val="FFE082">
              <a:alpha val="65000"/>
            </a:srgbClr>
          </a:solidFill>
          <a:ln w="12700">
            <a:solidFill>
              <a:srgbClr val="1B3A6B"/>
            </a:solidFill>
            <a:prstDash val="dash"/>
          </a:ln>
        </p:spPr>
      </p:sp>
      <p:sp>
        <p:nvSpPr>
          <p:cNvPr id="24" name="Text 21"/>
          <p:cNvSpPr/>
          <p:nvPr/>
        </p:nvSpPr>
        <p:spPr>
          <a:xfrm>
            <a:off x="1463040" y="1691640"/>
            <a:ext cx="6949440" cy="274320"/>
          </a:xfrm>
          <a:prstGeom prst="rect">
            <a:avLst/>
          </a:prstGeom>
          <a:noFill/>
          <a:ln/>
        </p:spPr>
        <p:txBody>
          <a:bodyPr wrap="square" lIns="0" tIns="0" rIns="0" bIns="0" rtlCol="0" anchor="ctr"/>
          <a:lstStyle/>
          <a:p>
            <a:pPr marL="0" indent="0">
              <a:buNone/>
            </a:pPr>
            <a:r>
              <a:rPr lang="en-US" sz="1200" b="1" dirty="0">
                <a:solidFill>
                  <a:srgbClr val="C0392B"/>
                </a:solidFill>
                <a:latin typeface="Calibri" pitchFamily="34" charset="0"/>
                <a:ea typeface="Calibri" pitchFamily="34" charset="-122"/>
                <a:cs typeface="Calibri" pitchFamily="34" charset="-120"/>
              </a:rPr>
              <a:t>IN SIMPLE WORDS:</a:t>
            </a:r>
            <a:endParaRPr lang="en-US" sz="1200" dirty="0"/>
          </a:p>
        </p:txBody>
      </p:sp>
      <p:sp>
        <p:nvSpPr>
          <p:cNvPr id="25" name="Text 22"/>
          <p:cNvSpPr/>
          <p:nvPr/>
        </p:nvSpPr>
        <p:spPr>
          <a:xfrm>
            <a:off x="1463040" y="1965960"/>
            <a:ext cx="6949440" cy="1097280"/>
          </a:xfrm>
          <a:prstGeom prst="rect">
            <a:avLst/>
          </a:prstGeom>
          <a:noFill/>
          <a:ln/>
        </p:spPr>
        <p:txBody>
          <a:bodyPr wrap="square" lIns="0" tIns="0" rIns="0" bIns="0" rtlCol="0" anchor="t"/>
          <a:lstStyle/>
          <a:p>
            <a:pPr marL="0" indent="0">
              <a:buNone/>
            </a:pPr>
            <a:r>
              <a:rPr lang="en-US" sz="1500" dirty="0">
                <a:solidFill>
                  <a:srgbClr val="1B3A6B"/>
                </a:solidFill>
                <a:latin typeface="Calibri" pitchFamily="34" charset="0"/>
                <a:ea typeface="Calibri" pitchFamily="34" charset="-122"/>
                <a:cs typeface="Calibri" pitchFamily="34" charset="-120"/>
              </a:rPr>
              <a:t>An enhancement where incoming I/O data is written directly into the CPU's cache instead of only main memory, so the CPU can use it almost instantly.</a:t>
            </a:r>
            <a:endParaRPr lang="en-US" sz="1500" dirty="0"/>
          </a:p>
        </p:txBody>
      </p:sp>
      <p:sp>
        <p:nvSpPr>
          <p:cNvPr id="26" name="Text 23"/>
          <p:cNvSpPr/>
          <p:nvPr/>
        </p:nvSpPr>
        <p:spPr>
          <a:xfrm>
            <a:off x="1280160" y="3429000"/>
            <a:ext cx="7315200" cy="320040"/>
          </a:xfrm>
          <a:prstGeom prst="rect">
            <a:avLst/>
          </a:prstGeom>
          <a:noFill/>
          <a:ln/>
        </p:spPr>
        <p:txBody>
          <a:bodyPr wrap="square" lIns="0" tIns="0" rIns="0" bIns="0" rtlCol="0" anchor="ctr"/>
          <a:lstStyle/>
          <a:p>
            <a:pPr marL="0" indent="0">
              <a:buNone/>
            </a:pPr>
            <a:r>
              <a:rPr lang="en-US" sz="1300" b="1" dirty="0">
                <a:solidFill>
                  <a:srgbClr val="1B3A6B"/>
                </a:solidFill>
                <a:latin typeface="Calibri" pitchFamily="34" charset="0"/>
                <a:ea typeface="Calibri" pitchFamily="34" charset="-122"/>
                <a:cs typeface="Calibri" pitchFamily="34" charset="-120"/>
              </a:rPr>
              <a:t>KEY POINTS TO REMEMBER</a:t>
            </a:r>
            <a:endParaRPr lang="en-US" sz="1300" dirty="0"/>
          </a:p>
        </p:txBody>
      </p:sp>
      <p:sp>
        <p:nvSpPr>
          <p:cNvPr id="27" name="Text 24"/>
          <p:cNvSpPr/>
          <p:nvPr/>
        </p:nvSpPr>
        <p:spPr>
          <a:xfrm>
            <a:off x="1463040" y="3794760"/>
            <a:ext cx="6949440" cy="2286000"/>
          </a:xfrm>
          <a:prstGeom prst="rect">
            <a:avLst/>
          </a:prstGeom>
          <a:noFill/>
          <a:ln/>
        </p:spPr>
        <p:txBody>
          <a:bodyPr wrap="square" lIns="0" tIns="0" rIns="0" bIns="0" rtlCol="0" anchor="t"/>
          <a:lstStyle/>
          <a:p>
            <a:pPr marL="254000" indent="-254000">
              <a:spcAft>
                <a:spcPts val="1000"/>
              </a:spcAft>
              <a:buSzPct val="100000"/>
              <a:buChar char="✓"/>
            </a:pPr>
            <a:r>
              <a:rPr lang="en-US" sz="1400" dirty="0">
                <a:solidFill>
                  <a:srgbClr val="4A4A4A"/>
                </a:solidFill>
                <a:latin typeface="Calibri" pitchFamily="34" charset="0"/>
                <a:ea typeface="Calibri" pitchFamily="34" charset="-122"/>
                <a:cs typeface="Calibri" pitchFamily="34" charset="-120"/>
              </a:rPr>
              <a:t>Skips the slow 'memory-then-cache' detour</a:t>
            </a:r>
            <a:endParaRPr lang="en-US" sz="1400" dirty="0"/>
          </a:p>
          <a:p>
            <a:pPr marL="254000" indent="-254000">
              <a:spcAft>
                <a:spcPts val="1000"/>
              </a:spcAft>
              <a:buSzPct val="100000"/>
              <a:buChar char="✓"/>
            </a:pPr>
            <a:r>
              <a:rPr lang="en-US" sz="1400" dirty="0">
                <a:solidFill>
                  <a:srgbClr val="4A4A4A"/>
                </a:solidFill>
                <a:latin typeface="Calibri" pitchFamily="34" charset="0"/>
                <a:ea typeface="Calibri" pitchFamily="34" charset="-122"/>
                <a:cs typeface="Calibri" pitchFamily="34" charset="-120"/>
              </a:rPr>
              <a:t>Reduces latency (delay) for the CPU</a:t>
            </a:r>
            <a:endParaRPr lang="en-US" sz="1400" dirty="0"/>
          </a:p>
          <a:p>
            <a:pPr marL="254000" indent="-254000">
              <a:spcAft>
                <a:spcPts val="1000"/>
              </a:spcAft>
              <a:buSzPct val="100000"/>
              <a:buChar char="✓"/>
            </a:pPr>
            <a:r>
              <a:rPr lang="en-US" sz="1400" dirty="0">
                <a:solidFill>
                  <a:srgbClr val="4A4A4A"/>
                </a:solidFill>
                <a:latin typeface="Calibri" pitchFamily="34" charset="0"/>
                <a:ea typeface="Calibri" pitchFamily="34" charset="-122"/>
                <a:cs typeface="Calibri" pitchFamily="34" charset="-120"/>
              </a:rPr>
              <a:t>Especially useful for high-speed network traffic</a:t>
            </a:r>
            <a:endParaRPr lang="en-US" sz="1400" dirty="0"/>
          </a:p>
        </p:txBody>
      </p:sp>
      <p:sp>
        <p:nvSpPr>
          <p:cNvPr id="28" name="Text 25"/>
          <p:cNvSpPr/>
          <p:nvPr/>
        </p:nvSpPr>
        <p:spPr>
          <a:xfrm>
            <a:off x="320040" y="6510528"/>
            <a:ext cx="5486400" cy="274320"/>
          </a:xfrm>
          <a:prstGeom prst="rect">
            <a:avLst/>
          </a:prstGeom>
          <a:noFill/>
          <a:ln/>
        </p:spPr>
        <p:txBody>
          <a:bodyPr wrap="square" lIns="0" tIns="0" rIns="0" bIns="0" rtlCol="0" anchor="ctr"/>
          <a:lstStyle/>
          <a:p>
            <a:pPr marL="0" indent="0">
              <a:buNone/>
            </a:pPr>
            <a:r>
              <a:rPr lang="en-US" sz="1000" i="1" dirty="0">
                <a:solidFill>
                  <a:srgbClr val="4A4A4A"/>
                </a:solidFill>
                <a:latin typeface="Calibri" pitchFamily="34" charset="0"/>
                <a:ea typeface="Calibri" pitchFamily="34" charset="-122"/>
                <a:cs typeface="Calibri" pitchFamily="34" charset="-120"/>
              </a:rPr>
              <a:t>Direct Cache Access (DCA)</a:t>
            </a:r>
            <a:endParaRPr lang="en-US" sz="1000" dirty="0"/>
          </a:p>
        </p:txBody>
      </p:sp>
      <p:sp>
        <p:nvSpPr>
          <p:cNvPr id="29" name="Text 26"/>
          <p:cNvSpPr/>
          <p:nvPr/>
        </p:nvSpPr>
        <p:spPr>
          <a:xfrm>
            <a:off x="5029200" y="6510528"/>
            <a:ext cx="5029200" cy="274320"/>
          </a:xfrm>
          <a:prstGeom prst="rect">
            <a:avLst/>
          </a:prstGeom>
          <a:noFill/>
          <a:ln/>
        </p:spPr>
        <p:txBody>
          <a:bodyPr wrap="square" lIns="0" tIns="0" rIns="0" bIns="0" rtlCol="0" anchor="ctr"/>
          <a:lstStyle/>
          <a:p>
            <a:pPr marL="0" indent="0" algn="r">
              <a:buNone/>
            </a:pPr>
            <a:r>
              <a:rPr lang="en-US" sz="900" dirty="0">
                <a:solidFill>
                  <a:srgbClr val="4A4A4A"/>
                </a:solidFill>
                <a:latin typeface="Calibri" pitchFamily="34" charset="0"/>
                <a:ea typeface="Calibri" pitchFamily="34" charset="-122"/>
                <a:cs typeface="Calibri" pitchFamily="34" charset="-120"/>
              </a:rPr>
              <a:t>Ch.7 • Stallings, Computer Organization &amp; Architecture</a:t>
            </a:r>
            <a:endParaRPr lang="en-US" sz="900" dirty="0"/>
          </a:p>
        </p:txBody>
      </p:sp>
      <p:sp>
        <p:nvSpPr>
          <p:cNvPr id="30" name="Text 27"/>
          <p:cNvSpPr/>
          <p:nvPr/>
        </p:nvSpPr>
        <p:spPr>
          <a:xfrm>
            <a:off x="11475720" y="6510528"/>
            <a:ext cx="548640" cy="274320"/>
          </a:xfrm>
          <a:prstGeom prst="rect">
            <a:avLst/>
          </a:prstGeom>
          <a:noFill/>
          <a:ln/>
        </p:spPr>
        <p:txBody>
          <a:bodyPr wrap="square" lIns="0" tIns="0" rIns="0" bIns="0" rtlCol="0" anchor="ctr"/>
          <a:lstStyle/>
          <a:p>
            <a:pPr marL="0" indent="0" algn="r">
              <a:buNone/>
            </a:pPr>
            <a:r>
              <a:rPr lang="en-US" sz="1000" dirty="0">
                <a:solidFill>
                  <a:srgbClr val="4A4A4A"/>
                </a:solidFill>
                <a:latin typeface="Calibri" pitchFamily="34" charset="0"/>
                <a:ea typeface="Calibri" pitchFamily="34" charset="-122"/>
                <a:cs typeface="Calibri" pitchFamily="34" charset="-120"/>
              </a:rPr>
              <a:t>17/30</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8E1"/>
        </a:solidFill>
        <a:effectLst/>
      </p:bgPr>
    </p:bg>
    <p:spTree>
      <p:nvGrpSpPr>
        <p:cNvPr id="1" name=""/>
        <p:cNvGrpSpPr/>
        <p:nvPr/>
      </p:nvGrpSpPr>
      <p:grpSpPr>
        <a:xfrm>
          <a:off x="0" y="0"/>
          <a:ext cx="0" cy="0"/>
          <a:chOff x="0" y="0"/>
          <a:chExt cx="0" cy="0"/>
        </a:xfrm>
      </p:grpSpPr>
      <p:sp>
        <p:nvSpPr>
          <p:cNvPr id="2" name="Shape 0"/>
          <p:cNvSpPr/>
          <p:nvPr/>
        </p:nvSpPr>
        <p:spPr>
          <a:xfrm>
            <a:off x="1234440" y="1417320"/>
            <a:ext cx="10607040" cy="0"/>
          </a:xfrm>
          <a:prstGeom prst="line">
            <a:avLst/>
          </a:prstGeom>
          <a:noFill/>
          <a:ln w="12700">
            <a:solidFill>
              <a:srgbClr val="E9DFC4"/>
            </a:solidFill>
            <a:prstDash val="solid"/>
          </a:ln>
        </p:spPr>
      </p:sp>
      <p:sp>
        <p:nvSpPr>
          <p:cNvPr id="3" name="Shape 1"/>
          <p:cNvSpPr/>
          <p:nvPr/>
        </p:nvSpPr>
        <p:spPr>
          <a:xfrm>
            <a:off x="1234440" y="1801368"/>
            <a:ext cx="10607040" cy="0"/>
          </a:xfrm>
          <a:prstGeom prst="line">
            <a:avLst/>
          </a:prstGeom>
          <a:noFill/>
          <a:ln w="12700">
            <a:solidFill>
              <a:srgbClr val="E9DFC4"/>
            </a:solidFill>
            <a:prstDash val="solid"/>
          </a:ln>
        </p:spPr>
      </p:sp>
      <p:sp>
        <p:nvSpPr>
          <p:cNvPr id="4" name="Shape 2"/>
          <p:cNvSpPr/>
          <p:nvPr/>
        </p:nvSpPr>
        <p:spPr>
          <a:xfrm>
            <a:off x="1234440" y="2185416"/>
            <a:ext cx="10607040" cy="0"/>
          </a:xfrm>
          <a:prstGeom prst="line">
            <a:avLst/>
          </a:prstGeom>
          <a:noFill/>
          <a:ln w="12700">
            <a:solidFill>
              <a:srgbClr val="E9DFC4"/>
            </a:solidFill>
            <a:prstDash val="solid"/>
          </a:ln>
        </p:spPr>
      </p:sp>
      <p:sp>
        <p:nvSpPr>
          <p:cNvPr id="5" name="Shape 3"/>
          <p:cNvSpPr/>
          <p:nvPr/>
        </p:nvSpPr>
        <p:spPr>
          <a:xfrm>
            <a:off x="1234440" y="2569464"/>
            <a:ext cx="10607040" cy="0"/>
          </a:xfrm>
          <a:prstGeom prst="line">
            <a:avLst/>
          </a:prstGeom>
          <a:noFill/>
          <a:ln w="12700">
            <a:solidFill>
              <a:srgbClr val="E9DFC4"/>
            </a:solidFill>
            <a:prstDash val="solid"/>
          </a:ln>
        </p:spPr>
      </p:sp>
      <p:sp>
        <p:nvSpPr>
          <p:cNvPr id="6" name="Shape 4"/>
          <p:cNvSpPr/>
          <p:nvPr/>
        </p:nvSpPr>
        <p:spPr>
          <a:xfrm>
            <a:off x="1234440" y="2953512"/>
            <a:ext cx="10607040" cy="0"/>
          </a:xfrm>
          <a:prstGeom prst="line">
            <a:avLst/>
          </a:prstGeom>
          <a:noFill/>
          <a:ln w="12700">
            <a:solidFill>
              <a:srgbClr val="E9DFC4"/>
            </a:solidFill>
            <a:prstDash val="solid"/>
          </a:ln>
        </p:spPr>
      </p:sp>
      <p:sp>
        <p:nvSpPr>
          <p:cNvPr id="7" name="Shape 5"/>
          <p:cNvSpPr/>
          <p:nvPr/>
        </p:nvSpPr>
        <p:spPr>
          <a:xfrm>
            <a:off x="1234440" y="3337560"/>
            <a:ext cx="10607040" cy="0"/>
          </a:xfrm>
          <a:prstGeom prst="line">
            <a:avLst/>
          </a:prstGeom>
          <a:noFill/>
          <a:ln w="12700">
            <a:solidFill>
              <a:srgbClr val="E9DFC4"/>
            </a:solidFill>
            <a:prstDash val="solid"/>
          </a:ln>
        </p:spPr>
      </p:sp>
      <p:sp>
        <p:nvSpPr>
          <p:cNvPr id="8" name="Shape 6"/>
          <p:cNvSpPr/>
          <p:nvPr/>
        </p:nvSpPr>
        <p:spPr>
          <a:xfrm>
            <a:off x="1234440" y="3721608"/>
            <a:ext cx="10607040" cy="0"/>
          </a:xfrm>
          <a:prstGeom prst="line">
            <a:avLst/>
          </a:prstGeom>
          <a:noFill/>
          <a:ln w="12700">
            <a:solidFill>
              <a:srgbClr val="E9DFC4"/>
            </a:solidFill>
            <a:prstDash val="solid"/>
          </a:ln>
        </p:spPr>
      </p:sp>
      <p:sp>
        <p:nvSpPr>
          <p:cNvPr id="9" name="Shape 7"/>
          <p:cNvSpPr/>
          <p:nvPr/>
        </p:nvSpPr>
        <p:spPr>
          <a:xfrm>
            <a:off x="1234440" y="4105656"/>
            <a:ext cx="10607040" cy="0"/>
          </a:xfrm>
          <a:prstGeom prst="line">
            <a:avLst/>
          </a:prstGeom>
          <a:noFill/>
          <a:ln w="12700">
            <a:solidFill>
              <a:srgbClr val="E9DFC4"/>
            </a:solidFill>
            <a:prstDash val="solid"/>
          </a:ln>
        </p:spPr>
      </p:sp>
      <p:sp>
        <p:nvSpPr>
          <p:cNvPr id="10" name="Shape 8"/>
          <p:cNvSpPr/>
          <p:nvPr/>
        </p:nvSpPr>
        <p:spPr>
          <a:xfrm>
            <a:off x="1234440" y="4489704"/>
            <a:ext cx="10607040" cy="0"/>
          </a:xfrm>
          <a:prstGeom prst="line">
            <a:avLst/>
          </a:prstGeom>
          <a:noFill/>
          <a:ln w="12700">
            <a:solidFill>
              <a:srgbClr val="E9DFC4"/>
            </a:solidFill>
            <a:prstDash val="solid"/>
          </a:ln>
        </p:spPr>
      </p:sp>
      <p:sp>
        <p:nvSpPr>
          <p:cNvPr id="11" name="Shape 9"/>
          <p:cNvSpPr/>
          <p:nvPr/>
        </p:nvSpPr>
        <p:spPr>
          <a:xfrm>
            <a:off x="1234440" y="4873752"/>
            <a:ext cx="10607040" cy="0"/>
          </a:xfrm>
          <a:prstGeom prst="line">
            <a:avLst/>
          </a:prstGeom>
          <a:noFill/>
          <a:ln w="12700">
            <a:solidFill>
              <a:srgbClr val="E9DFC4"/>
            </a:solidFill>
            <a:prstDash val="solid"/>
          </a:ln>
        </p:spPr>
      </p:sp>
      <p:sp>
        <p:nvSpPr>
          <p:cNvPr id="12" name="Shape 10"/>
          <p:cNvSpPr/>
          <p:nvPr/>
        </p:nvSpPr>
        <p:spPr>
          <a:xfrm>
            <a:off x="1234440" y="5257800"/>
            <a:ext cx="10607040" cy="0"/>
          </a:xfrm>
          <a:prstGeom prst="line">
            <a:avLst/>
          </a:prstGeom>
          <a:noFill/>
          <a:ln w="12700">
            <a:solidFill>
              <a:srgbClr val="E9DFC4"/>
            </a:solidFill>
            <a:prstDash val="solid"/>
          </a:ln>
        </p:spPr>
      </p:sp>
      <p:sp>
        <p:nvSpPr>
          <p:cNvPr id="13" name="Shape 11"/>
          <p:cNvSpPr/>
          <p:nvPr/>
        </p:nvSpPr>
        <p:spPr>
          <a:xfrm>
            <a:off x="1234440" y="5641848"/>
            <a:ext cx="10607040" cy="0"/>
          </a:xfrm>
          <a:prstGeom prst="line">
            <a:avLst/>
          </a:prstGeom>
          <a:noFill/>
          <a:ln w="12700">
            <a:solidFill>
              <a:srgbClr val="E9DFC4"/>
            </a:solidFill>
            <a:prstDash val="solid"/>
          </a:ln>
        </p:spPr>
      </p:sp>
      <p:sp>
        <p:nvSpPr>
          <p:cNvPr id="14" name="Shape 12"/>
          <p:cNvSpPr/>
          <p:nvPr/>
        </p:nvSpPr>
        <p:spPr>
          <a:xfrm>
            <a:off x="1234440" y="6025896"/>
            <a:ext cx="10607040" cy="0"/>
          </a:xfrm>
          <a:prstGeom prst="line">
            <a:avLst/>
          </a:prstGeom>
          <a:noFill/>
          <a:ln w="12700">
            <a:solidFill>
              <a:srgbClr val="E9DFC4"/>
            </a:solidFill>
            <a:prstDash val="solid"/>
          </a:ln>
        </p:spPr>
      </p:sp>
      <p:sp>
        <p:nvSpPr>
          <p:cNvPr id="15" name="Shape 13"/>
          <p:cNvSpPr/>
          <p:nvPr/>
        </p:nvSpPr>
        <p:spPr>
          <a:xfrm>
            <a:off x="1234440" y="6409944"/>
            <a:ext cx="10607040" cy="0"/>
          </a:xfrm>
          <a:prstGeom prst="line">
            <a:avLst/>
          </a:prstGeom>
          <a:noFill/>
          <a:ln w="12700">
            <a:solidFill>
              <a:srgbClr val="E9DFC4"/>
            </a:solidFill>
            <a:prstDash val="solid"/>
          </a:ln>
        </p:spPr>
      </p:sp>
      <p:sp>
        <p:nvSpPr>
          <p:cNvPr id="16" name="Shape 14"/>
          <p:cNvSpPr/>
          <p:nvPr/>
        </p:nvSpPr>
        <p:spPr>
          <a:xfrm>
            <a:off x="1051560" y="320040"/>
            <a:ext cx="0" cy="6309360"/>
          </a:xfrm>
          <a:prstGeom prst="line">
            <a:avLst/>
          </a:prstGeom>
          <a:noFill/>
          <a:ln w="15875">
            <a:solidFill>
              <a:srgbClr val="C0392B"/>
            </a:solidFill>
            <a:prstDash val="solid"/>
          </a:ln>
        </p:spPr>
      </p:sp>
      <p:sp>
        <p:nvSpPr>
          <p:cNvPr id="17" name="Text 15"/>
          <p:cNvSpPr/>
          <p:nvPr/>
        </p:nvSpPr>
        <p:spPr>
          <a:xfrm>
            <a:off x="1280160" y="310896"/>
            <a:ext cx="2743200" cy="320040"/>
          </a:xfrm>
          <a:prstGeom prst="rect">
            <a:avLst/>
          </a:prstGeom>
          <a:noFill/>
          <a:ln/>
        </p:spPr>
        <p:txBody>
          <a:bodyPr wrap="square" lIns="0" tIns="0" rIns="0" bIns="0" rtlCol="0" anchor="ctr"/>
          <a:lstStyle/>
          <a:p>
            <a:pPr marL="0" indent="0">
              <a:buNone/>
            </a:pPr>
            <a:r>
              <a:rPr lang="en-US" sz="1300" b="1" dirty="0">
                <a:solidFill>
                  <a:srgbClr val="C0392B"/>
                </a:solidFill>
                <a:latin typeface="Calibri" pitchFamily="34" charset="0"/>
                <a:ea typeface="Calibri" pitchFamily="34" charset="-122"/>
                <a:cs typeface="Calibri" pitchFamily="34" charset="-120"/>
              </a:rPr>
              <a:t>Topic 1.6</a:t>
            </a:r>
            <a:endParaRPr lang="en-US" sz="1300" dirty="0"/>
          </a:p>
        </p:txBody>
      </p:sp>
      <p:sp>
        <p:nvSpPr>
          <p:cNvPr id="18" name="Text 16"/>
          <p:cNvSpPr/>
          <p:nvPr/>
        </p:nvSpPr>
        <p:spPr>
          <a:xfrm>
            <a:off x="1234440" y="566928"/>
            <a:ext cx="8138160" cy="777240"/>
          </a:xfrm>
          <a:prstGeom prst="rect">
            <a:avLst/>
          </a:prstGeom>
          <a:noFill/>
          <a:ln/>
        </p:spPr>
        <p:txBody>
          <a:bodyPr wrap="square" lIns="0" tIns="0" rIns="0" bIns="0" rtlCol="0" anchor="t"/>
          <a:lstStyle/>
          <a:p>
            <a:pPr marL="0" indent="0">
              <a:buNone/>
            </a:pPr>
            <a:r>
              <a:rPr lang="en-US" sz="3000" b="1" dirty="0">
                <a:solidFill>
                  <a:srgbClr val="1B3A6B"/>
                </a:solidFill>
                <a:latin typeface="Comic Sans MS" pitchFamily="34" charset="0"/>
                <a:ea typeface="Comic Sans MS" pitchFamily="34" charset="-122"/>
                <a:cs typeface="Comic Sans MS" pitchFamily="34" charset="-120"/>
              </a:rPr>
              <a:t>Direct Cache Access (DCA)</a:t>
            </a:r>
            <a:endParaRPr lang="en-US" sz="3000" dirty="0"/>
          </a:p>
        </p:txBody>
      </p:sp>
      <p:sp>
        <p:nvSpPr>
          <p:cNvPr id="19" name="Shape 17"/>
          <p:cNvSpPr/>
          <p:nvPr/>
        </p:nvSpPr>
        <p:spPr>
          <a:xfrm>
            <a:off x="9646920" y="384048"/>
            <a:ext cx="1965960" cy="384048"/>
          </a:xfrm>
          <a:prstGeom prst="roundRect">
            <a:avLst>
              <a:gd name="adj" fmla="val 19048"/>
            </a:avLst>
          </a:prstGeom>
          <a:solidFill>
            <a:srgbClr val="C0392B"/>
          </a:solidFill>
          <a:ln/>
        </p:spPr>
      </p:sp>
      <p:sp>
        <p:nvSpPr>
          <p:cNvPr id="20" name="Text 18"/>
          <p:cNvSpPr/>
          <p:nvPr/>
        </p:nvSpPr>
        <p:spPr>
          <a:xfrm>
            <a:off x="9646920" y="384048"/>
            <a:ext cx="196596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HOW IT WORKS</a:t>
            </a:r>
            <a:endParaRPr lang="en-US" sz="1200" dirty="0"/>
          </a:p>
        </p:txBody>
      </p:sp>
      <p:sp>
        <p:nvSpPr>
          <p:cNvPr id="21" name="Shape 19"/>
          <p:cNvSpPr/>
          <p:nvPr/>
        </p:nvSpPr>
        <p:spPr>
          <a:xfrm>
            <a:off x="8732520" y="502920"/>
            <a:ext cx="1051560" cy="1051560"/>
          </a:xfrm>
          <a:prstGeom prst="ellipse">
            <a:avLst/>
          </a:prstGeom>
          <a:solidFill>
            <a:srgbClr val="DCE6F5"/>
          </a:solidFill>
          <a:ln/>
          <a:effectLst>
            <a:outerShdw blurRad="50800" dist="25400" dir="5400000" algn="bl" rotWithShape="0">
              <a:srgbClr val="999999">
                <a:alpha val="25000"/>
              </a:srgbClr>
            </a:outerShdw>
          </a:effectLst>
        </p:spPr>
      </p:sp>
      <p:pic>
        <p:nvPicPr>
          <p:cNvPr id="22" name="Image 0" descr="/home/claude/iobook/icons/bolt.png"/>
          <p:cNvPicPr>
            <a:picLocks noChangeAspect="1"/>
          </p:cNvPicPr>
          <p:nvPr/>
        </p:nvPicPr>
        <p:blipFill>
          <a:blip r:embed="rId3"/>
          <a:stretch>
            <a:fillRect/>
          </a:stretch>
        </p:blipFill>
        <p:spPr>
          <a:xfrm>
            <a:off x="8963863" y="734263"/>
            <a:ext cx="588874" cy="588874"/>
          </a:xfrm>
          <a:prstGeom prst="rect">
            <a:avLst/>
          </a:prstGeom>
        </p:spPr>
      </p:pic>
      <p:sp>
        <p:nvSpPr>
          <p:cNvPr id="23" name="Shape 20"/>
          <p:cNvSpPr/>
          <p:nvPr/>
        </p:nvSpPr>
        <p:spPr>
          <a:xfrm>
            <a:off x="1280160" y="1965960"/>
            <a:ext cx="2331720" cy="1600200"/>
          </a:xfrm>
          <a:prstGeom prst="roundRect">
            <a:avLst>
              <a:gd name="adj" fmla="val 4571"/>
            </a:avLst>
          </a:prstGeom>
          <a:solidFill>
            <a:srgbClr val="FFFFFF"/>
          </a:solidFill>
          <a:ln w="12700">
            <a:solidFill>
              <a:srgbClr val="1B3A6B"/>
            </a:solidFill>
            <a:prstDash val="solid"/>
          </a:ln>
          <a:effectLst>
            <a:outerShdw blurRad="38100" dist="25400" dir="5400000" algn="bl" rotWithShape="0">
              <a:srgbClr val="999999">
                <a:alpha val="20000"/>
              </a:srgbClr>
            </a:outerShdw>
          </a:effectLst>
        </p:spPr>
      </p:sp>
      <p:sp>
        <p:nvSpPr>
          <p:cNvPr id="24" name="Shape 21"/>
          <p:cNvSpPr/>
          <p:nvPr/>
        </p:nvSpPr>
        <p:spPr>
          <a:xfrm>
            <a:off x="2244852" y="1764792"/>
            <a:ext cx="402336" cy="402336"/>
          </a:xfrm>
          <a:prstGeom prst="ellipse">
            <a:avLst/>
          </a:prstGeom>
          <a:solidFill>
            <a:srgbClr val="C0392B"/>
          </a:solidFill>
          <a:ln w="25400">
            <a:solidFill>
              <a:srgbClr val="FFF8E1"/>
            </a:solidFill>
            <a:prstDash val="solid"/>
          </a:ln>
        </p:spPr>
      </p:sp>
      <p:sp>
        <p:nvSpPr>
          <p:cNvPr id="25" name="Text 22"/>
          <p:cNvSpPr/>
          <p:nvPr/>
        </p:nvSpPr>
        <p:spPr>
          <a:xfrm>
            <a:off x="2244852" y="1764792"/>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26" name="Text 23"/>
          <p:cNvSpPr/>
          <p:nvPr/>
        </p:nvSpPr>
        <p:spPr>
          <a:xfrm>
            <a:off x="1389888" y="2221992"/>
            <a:ext cx="2112264" cy="502920"/>
          </a:xfrm>
          <a:prstGeom prst="rect">
            <a:avLst/>
          </a:prstGeom>
          <a:noFill/>
          <a:ln/>
        </p:spPr>
        <p:txBody>
          <a:bodyPr wrap="square" lIns="0" tIns="0" rIns="0" bIns="0" rtlCol="0" anchor="t"/>
          <a:lstStyle/>
          <a:p>
            <a:pPr marL="0" indent="0">
              <a:buNone/>
            </a:pPr>
            <a:r>
              <a:rPr lang="en-US" sz="1350" b="1" dirty="0">
                <a:solidFill>
                  <a:srgbClr val="1B3A6B"/>
                </a:solidFill>
                <a:latin typeface="Calibri" pitchFamily="34" charset="0"/>
                <a:ea typeface="Calibri" pitchFamily="34" charset="-122"/>
                <a:cs typeface="Calibri" pitchFamily="34" charset="-120"/>
              </a:rPr>
              <a:t>1. Data Arrives</a:t>
            </a:r>
            <a:endParaRPr lang="en-US" sz="1350" dirty="0"/>
          </a:p>
        </p:txBody>
      </p:sp>
      <p:sp>
        <p:nvSpPr>
          <p:cNvPr id="27" name="Text 24"/>
          <p:cNvSpPr/>
          <p:nvPr/>
        </p:nvSpPr>
        <p:spPr>
          <a:xfrm>
            <a:off x="1389888" y="2715768"/>
            <a:ext cx="2112264" cy="777240"/>
          </a:xfrm>
          <a:prstGeom prst="rect">
            <a:avLst/>
          </a:prstGeom>
          <a:noFill/>
          <a:ln/>
        </p:spPr>
        <p:txBody>
          <a:bodyPr wrap="square" lIns="0" tIns="0" rIns="0" bIns="0" rtlCol="0" anchor="t"/>
          <a:lstStyle/>
          <a:p>
            <a:pPr marL="0" indent="0">
              <a:buNone/>
            </a:pPr>
            <a:r>
              <a:rPr lang="en-US" sz="1100" dirty="0">
                <a:solidFill>
                  <a:srgbClr val="4A4A4A"/>
                </a:solidFill>
                <a:latin typeface="Calibri" pitchFamily="34" charset="0"/>
                <a:ea typeface="Calibri" pitchFamily="34" charset="-122"/>
                <a:cs typeface="Calibri" pitchFamily="34" charset="-120"/>
              </a:rPr>
              <a:t>e.g., a network packet arrives</a:t>
            </a:r>
            <a:endParaRPr lang="en-US" sz="1100" dirty="0"/>
          </a:p>
        </p:txBody>
      </p:sp>
      <p:pic>
        <p:nvPicPr>
          <p:cNvPr id="28" name="Image 1" descr="/home/claude/iobook/icons/arrowRight.png"/>
          <p:cNvPicPr>
            <a:picLocks noChangeAspect="1"/>
          </p:cNvPicPr>
          <p:nvPr/>
        </p:nvPicPr>
        <p:blipFill>
          <a:blip r:embed="rId4"/>
          <a:stretch>
            <a:fillRect/>
          </a:stretch>
        </p:blipFill>
        <p:spPr>
          <a:xfrm>
            <a:off x="3639312" y="2628900"/>
            <a:ext cx="274320" cy="274320"/>
          </a:xfrm>
          <a:prstGeom prst="rect">
            <a:avLst/>
          </a:prstGeom>
        </p:spPr>
      </p:pic>
      <p:sp>
        <p:nvSpPr>
          <p:cNvPr id="29" name="Shape 25"/>
          <p:cNvSpPr/>
          <p:nvPr/>
        </p:nvSpPr>
        <p:spPr>
          <a:xfrm>
            <a:off x="3931920" y="1965960"/>
            <a:ext cx="2331720" cy="1600200"/>
          </a:xfrm>
          <a:prstGeom prst="roundRect">
            <a:avLst>
              <a:gd name="adj" fmla="val 4571"/>
            </a:avLst>
          </a:prstGeom>
          <a:solidFill>
            <a:srgbClr val="FFFFFF"/>
          </a:solidFill>
          <a:ln w="12700">
            <a:solidFill>
              <a:srgbClr val="1B3A6B"/>
            </a:solidFill>
            <a:prstDash val="solid"/>
          </a:ln>
          <a:effectLst>
            <a:outerShdw blurRad="38100" dist="25400" dir="5400000" algn="bl" rotWithShape="0">
              <a:srgbClr val="999999">
                <a:alpha val="20000"/>
              </a:srgbClr>
            </a:outerShdw>
          </a:effectLst>
        </p:spPr>
      </p:sp>
      <p:sp>
        <p:nvSpPr>
          <p:cNvPr id="30" name="Shape 26"/>
          <p:cNvSpPr/>
          <p:nvPr/>
        </p:nvSpPr>
        <p:spPr>
          <a:xfrm>
            <a:off x="4896612" y="1764792"/>
            <a:ext cx="402336" cy="402336"/>
          </a:xfrm>
          <a:prstGeom prst="ellipse">
            <a:avLst/>
          </a:prstGeom>
          <a:solidFill>
            <a:srgbClr val="C0392B"/>
          </a:solidFill>
          <a:ln w="25400">
            <a:solidFill>
              <a:srgbClr val="FFF8E1"/>
            </a:solidFill>
            <a:prstDash val="solid"/>
          </a:ln>
        </p:spPr>
      </p:sp>
      <p:sp>
        <p:nvSpPr>
          <p:cNvPr id="31" name="Text 27"/>
          <p:cNvSpPr/>
          <p:nvPr/>
        </p:nvSpPr>
        <p:spPr>
          <a:xfrm>
            <a:off x="4896612" y="1764792"/>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32" name="Text 28"/>
          <p:cNvSpPr/>
          <p:nvPr/>
        </p:nvSpPr>
        <p:spPr>
          <a:xfrm>
            <a:off x="4041648" y="2221992"/>
            <a:ext cx="2112264" cy="502920"/>
          </a:xfrm>
          <a:prstGeom prst="rect">
            <a:avLst/>
          </a:prstGeom>
          <a:noFill/>
          <a:ln/>
        </p:spPr>
        <p:txBody>
          <a:bodyPr wrap="square" lIns="0" tIns="0" rIns="0" bIns="0" rtlCol="0" anchor="t"/>
          <a:lstStyle/>
          <a:p>
            <a:pPr marL="0" indent="0">
              <a:buNone/>
            </a:pPr>
            <a:r>
              <a:rPr lang="en-US" sz="1350" b="1" dirty="0">
                <a:solidFill>
                  <a:srgbClr val="1B3A6B"/>
                </a:solidFill>
                <a:latin typeface="Calibri" pitchFamily="34" charset="0"/>
                <a:ea typeface="Calibri" pitchFamily="34" charset="-122"/>
                <a:cs typeface="Calibri" pitchFamily="34" charset="-120"/>
              </a:rPr>
              <a:t>2. Goes to Cache</a:t>
            </a:r>
            <a:endParaRPr lang="en-US" sz="1350" dirty="0"/>
          </a:p>
        </p:txBody>
      </p:sp>
      <p:sp>
        <p:nvSpPr>
          <p:cNvPr id="33" name="Text 29"/>
          <p:cNvSpPr/>
          <p:nvPr/>
        </p:nvSpPr>
        <p:spPr>
          <a:xfrm>
            <a:off x="4041648" y="2715768"/>
            <a:ext cx="2112264" cy="777240"/>
          </a:xfrm>
          <a:prstGeom prst="rect">
            <a:avLst/>
          </a:prstGeom>
          <a:noFill/>
          <a:ln/>
        </p:spPr>
        <p:txBody>
          <a:bodyPr wrap="square" lIns="0" tIns="0" rIns="0" bIns="0" rtlCol="0" anchor="t"/>
          <a:lstStyle/>
          <a:p>
            <a:pPr marL="0" indent="0">
              <a:buNone/>
            </a:pPr>
            <a:r>
              <a:rPr lang="en-US" sz="1100" dirty="0">
                <a:solidFill>
                  <a:srgbClr val="4A4A4A"/>
                </a:solidFill>
                <a:latin typeface="Calibri" pitchFamily="34" charset="0"/>
                <a:ea typeface="Calibri" pitchFamily="34" charset="-122"/>
                <a:cs typeface="Calibri" pitchFamily="34" charset="-120"/>
              </a:rPr>
              <a:t>Placed directly in CPU cache</a:t>
            </a:r>
            <a:endParaRPr lang="en-US" sz="1100" dirty="0"/>
          </a:p>
        </p:txBody>
      </p:sp>
      <p:pic>
        <p:nvPicPr>
          <p:cNvPr id="34" name="Image 2" descr="/home/claude/iobook/icons/arrowRight.png"/>
          <p:cNvPicPr>
            <a:picLocks noChangeAspect="1"/>
          </p:cNvPicPr>
          <p:nvPr/>
        </p:nvPicPr>
        <p:blipFill>
          <a:blip r:embed="rId4"/>
          <a:stretch>
            <a:fillRect/>
          </a:stretch>
        </p:blipFill>
        <p:spPr>
          <a:xfrm>
            <a:off x="6291072" y="2628900"/>
            <a:ext cx="274320" cy="274320"/>
          </a:xfrm>
          <a:prstGeom prst="rect">
            <a:avLst/>
          </a:prstGeom>
        </p:spPr>
      </p:pic>
      <p:sp>
        <p:nvSpPr>
          <p:cNvPr id="35" name="Shape 30"/>
          <p:cNvSpPr/>
          <p:nvPr/>
        </p:nvSpPr>
        <p:spPr>
          <a:xfrm>
            <a:off x="6583680" y="1965960"/>
            <a:ext cx="2331720" cy="1600200"/>
          </a:xfrm>
          <a:prstGeom prst="roundRect">
            <a:avLst>
              <a:gd name="adj" fmla="val 4571"/>
            </a:avLst>
          </a:prstGeom>
          <a:solidFill>
            <a:srgbClr val="FFFFFF"/>
          </a:solidFill>
          <a:ln w="12700">
            <a:solidFill>
              <a:srgbClr val="1B3A6B"/>
            </a:solidFill>
            <a:prstDash val="solid"/>
          </a:ln>
          <a:effectLst>
            <a:outerShdw blurRad="38100" dist="25400" dir="5400000" algn="bl" rotWithShape="0">
              <a:srgbClr val="999999">
                <a:alpha val="20000"/>
              </a:srgbClr>
            </a:outerShdw>
          </a:effectLst>
        </p:spPr>
      </p:sp>
      <p:sp>
        <p:nvSpPr>
          <p:cNvPr id="36" name="Shape 31"/>
          <p:cNvSpPr/>
          <p:nvPr/>
        </p:nvSpPr>
        <p:spPr>
          <a:xfrm>
            <a:off x="7548372" y="1764792"/>
            <a:ext cx="402336" cy="402336"/>
          </a:xfrm>
          <a:prstGeom prst="ellipse">
            <a:avLst/>
          </a:prstGeom>
          <a:solidFill>
            <a:srgbClr val="C0392B"/>
          </a:solidFill>
          <a:ln w="25400">
            <a:solidFill>
              <a:srgbClr val="FFF8E1"/>
            </a:solidFill>
            <a:prstDash val="solid"/>
          </a:ln>
        </p:spPr>
      </p:sp>
      <p:sp>
        <p:nvSpPr>
          <p:cNvPr id="37" name="Text 32"/>
          <p:cNvSpPr/>
          <p:nvPr/>
        </p:nvSpPr>
        <p:spPr>
          <a:xfrm>
            <a:off x="7548372" y="1764792"/>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38" name="Text 33"/>
          <p:cNvSpPr/>
          <p:nvPr/>
        </p:nvSpPr>
        <p:spPr>
          <a:xfrm>
            <a:off x="6693408" y="2221992"/>
            <a:ext cx="2112264" cy="502920"/>
          </a:xfrm>
          <a:prstGeom prst="rect">
            <a:avLst/>
          </a:prstGeom>
          <a:noFill/>
          <a:ln/>
        </p:spPr>
        <p:txBody>
          <a:bodyPr wrap="square" lIns="0" tIns="0" rIns="0" bIns="0" rtlCol="0" anchor="t"/>
          <a:lstStyle/>
          <a:p>
            <a:pPr marL="0" indent="0">
              <a:buNone/>
            </a:pPr>
            <a:r>
              <a:rPr lang="en-US" sz="1350" b="1" dirty="0">
                <a:solidFill>
                  <a:srgbClr val="1B3A6B"/>
                </a:solidFill>
                <a:latin typeface="Calibri" pitchFamily="34" charset="0"/>
                <a:ea typeface="Calibri" pitchFamily="34" charset="-122"/>
                <a:cs typeface="Calibri" pitchFamily="34" charset="-120"/>
              </a:rPr>
              <a:t>3. CPU Reads Fast</a:t>
            </a:r>
            <a:endParaRPr lang="en-US" sz="1350" dirty="0"/>
          </a:p>
        </p:txBody>
      </p:sp>
      <p:sp>
        <p:nvSpPr>
          <p:cNvPr id="39" name="Text 34"/>
          <p:cNvSpPr/>
          <p:nvPr/>
        </p:nvSpPr>
        <p:spPr>
          <a:xfrm>
            <a:off x="6693408" y="2715768"/>
            <a:ext cx="2112264" cy="777240"/>
          </a:xfrm>
          <a:prstGeom prst="rect">
            <a:avLst/>
          </a:prstGeom>
          <a:noFill/>
          <a:ln/>
        </p:spPr>
        <p:txBody>
          <a:bodyPr wrap="square" lIns="0" tIns="0" rIns="0" bIns="0" rtlCol="0" anchor="t"/>
          <a:lstStyle/>
          <a:p>
            <a:pPr marL="0" indent="0">
              <a:buNone/>
            </a:pPr>
            <a:r>
              <a:rPr lang="en-US" sz="1100" dirty="0">
                <a:solidFill>
                  <a:srgbClr val="4A4A4A"/>
                </a:solidFill>
                <a:latin typeface="Calibri" pitchFamily="34" charset="0"/>
                <a:ea typeface="Calibri" pitchFamily="34" charset="-122"/>
                <a:cs typeface="Calibri" pitchFamily="34" charset="-120"/>
              </a:rPr>
              <a:t>Accesses it instantly from cache</a:t>
            </a:r>
            <a:endParaRPr lang="en-US" sz="1100" dirty="0"/>
          </a:p>
        </p:txBody>
      </p:sp>
      <p:pic>
        <p:nvPicPr>
          <p:cNvPr id="40" name="Image 3" descr="/home/claude/iobook/icons/arrowRight.png"/>
          <p:cNvPicPr>
            <a:picLocks noChangeAspect="1"/>
          </p:cNvPicPr>
          <p:nvPr/>
        </p:nvPicPr>
        <p:blipFill>
          <a:blip r:embed="rId4"/>
          <a:stretch>
            <a:fillRect/>
          </a:stretch>
        </p:blipFill>
        <p:spPr>
          <a:xfrm>
            <a:off x="8942832" y="2628900"/>
            <a:ext cx="274320" cy="274320"/>
          </a:xfrm>
          <a:prstGeom prst="rect">
            <a:avLst/>
          </a:prstGeom>
        </p:spPr>
      </p:pic>
      <p:sp>
        <p:nvSpPr>
          <p:cNvPr id="41" name="Shape 35"/>
          <p:cNvSpPr/>
          <p:nvPr/>
        </p:nvSpPr>
        <p:spPr>
          <a:xfrm>
            <a:off x="9235440" y="1965960"/>
            <a:ext cx="2331720" cy="1600200"/>
          </a:xfrm>
          <a:prstGeom prst="roundRect">
            <a:avLst>
              <a:gd name="adj" fmla="val 4571"/>
            </a:avLst>
          </a:prstGeom>
          <a:solidFill>
            <a:srgbClr val="FFFFFF"/>
          </a:solidFill>
          <a:ln w="12700">
            <a:solidFill>
              <a:srgbClr val="1B3A6B"/>
            </a:solidFill>
            <a:prstDash val="solid"/>
          </a:ln>
          <a:effectLst>
            <a:outerShdw blurRad="38100" dist="25400" dir="5400000" algn="bl" rotWithShape="0">
              <a:srgbClr val="999999">
                <a:alpha val="20000"/>
              </a:srgbClr>
            </a:outerShdw>
          </a:effectLst>
        </p:spPr>
      </p:sp>
      <p:sp>
        <p:nvSpPr>
          <p:cNvPr id="42" name="Shape 36"/>
          <p:cNvSpPr/>
          <p:nvPr/>
        </p:nvSpPr>
        <p:spPr>
          <a:xfrm>
            <a:off x="10200132" y="1764792"/>
            <a:ext cx="402336" cy="402336"/>
          </a:xfrm>
          <a:prstGeom prst="ellipse">
            <a:avLst/>
          </a:prstGeom>
          <a:solidFill>
            <a:srgbClr val="C0392B"/>
          </a:solidFill>
          <a:ln w="25400">
            <a:solidFill>
              <a:srgbClr val="FFF8E1"/>
            </a:solidFill>
            <a:prstDash val="solid"/>
          </a:ln>
        </p:spPr>
      </p:sp>
      <p:sp>
        <p:nvSpPr>
          <p:cNvPr id="43" name="Text 37"/>
          <p:cNvSpPr/>
          <p:nvPr/>
        </p:nvSpPr>
        <p:spPr>
          <a:xfrm>
            <a:off x="10200132" y="1764792"/>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44" name="Text 38"/>
          <p:cNvSpPr/>
          <p:nvPr/>
        </p:nvSpPr>
        <p:spPr>
          <a:xfrm>
            <a:off x="9345168" y="2221992"/>
            <a:ext cx="2112264" cy="502920"/>
          </a:xfrm>
          <a:prstGeom prst="rect">
            <a:avLst/>
          </a:prstGeom>
          <a:noFill/>
          <a:ln/>
        </p:spPr>
        <p:txBody>
          <a:bodyPr wrap="square" lIns="0" tIns="0" rIns="0" bIns="0" rtlCol="0" anchor="t"/>
          <a:lstStyle/>
          <a:p>
            <a:pPr marL="0" indent="0">
              <a:buNone/>
            </a:pPr>
            <a:r>
              <a:rPr lang="en-US" sz="1350" b="1" dirty="0">
                <a:solidFill>
                  <a:srgbClr val="1B3A6B"/>
                </a:solidFill>
                <a:latin typeface="Calibri" pitchFamily="34" charset="0"/>
                <a:ea typeface="Calibri" pitchFamily="34" charset="-122"/>
                <a:cs typeface="Calibri" pitchFamily="34" charset="-120"/>
              </a:rPr>
              <a:t>4. Fewer Misses</a:t>
            </a:r>
            <a:endParaRPr lang="en-US" sz="1350" dirty="0"/>
          </a:p>
        </p:txBody>
      </p:sp>
      <p:sp>
        <p:nvSpPr>
          <p:cNvPr id="45" name="Text 39"/>
          <p:cNvSpPr/>
          <p:nvPr/>
        </p:nvSpPr>
        <p:spPr>
          <a:xfrm>
            <a:off x="9345168" y="2715768"/>
            <a:ext cx="2112264" cy="777240"/>
          </a:xfrm>
          <a:prstGeom prst="rect">
            <a:avLst/>
          </a:prstGeom>
          <a:noFill/>
          <a:ln/>
        </p:spPr>
        <p:txBody>
          <a:bodyPr wrap="square" lIns="0" tIns="0" rIns="0" bIns="0" rtlCol="0" anchor="t"/>
          <a:lstStyle/>
          <a:p>
            <a:pPr marL="0" indent="0">
              <a:buNone/>
            </a:pPr>
            <a:r>
              <a:rPr lang="en-US" sz="1100" dirty="0">
                <a:solidFill>
                  <a:srgbClr val="4A4A4A"/>
                </a:solidFill>
                <a:latin typeface="Calibri" pitchFamily="34" charset="0"/>
                <a:ea typeface="Calibri" pitchFamily="34" charset="-122"/>
                <a:cs typeface="Calibri" pitchFamily="34" charset="-120"/>
              </a:rPr>
              <a:t>No later fetch from slow memory</a:t>
            </a:r>
            <a:endParaRPr lang="en-US" sz="1100" dirty="0"/>
          </a:p>
        </p:txBody>
      </p:sp>
      <p:sp>
        <p:nvSpPr>
          <p:cNvPr id="46" name="Shape 40"/>
          <p:cNvSpPr/>
          <p:nvPr/>
        </p:nvSpPr>
        <p:spPr>
          <a:xfrm>
            <a:off x="1280160" y="3977640"/>
            <a:ext cx="8778240" cy="1234440"/>
          </a:xfrm>
          <a:prstGeom prst="roundRect">
            <a:avLst>
              <a:gd name="adj" fmla="val 7407"/>
            </a:avLst>
          </a:prstGeom>
          <a:solidFill>
            <a:srgbClr val="DCE6F5">
              <a:alpha val="70000"/>
            </a:srgbClr>
          </a:solidFill>
          <a:ln w="9525">
            <a:solidFill>
              <a:srgbClr val="1B3A6B"/>
            </a:solidFill>
            <a:prstDash val="sysDot"/>
          </a:ln>
        </p:spPr>
      </p:sp>
      <p:pic>
        <p:nvPicPr>
          <p:cNvPr id="47" name="Image 4" descr="/home/claude/iobook/icons/lightbulb.png"/>
          <p:cNvPicPr>
            <a:picLocks noChangeAspect="1"/>
          </p:cNvPicPr>
          <p:nvPr/>
        </p:nvPicPr>
        <p:blipFill>
          <a:blip r:embed="rId5"/>
          <a:stretch>
            <a:fillRect/>
          </a:stretch>
        </p:blipFill>
        <p:spPr>
          <a:xfrm>
            <a:off x="1463040" y="4160520"/>
            <a:ext cx="502920" cy="502920"/>
          </a:xfrm>
          <a:prstGeom prst="rect">
            <a:avLst/>
          </a:prstGeom>
        </p:spPr>
      </p:pic>
      <p:sp>
        <p:nvSpPr>
          <p:cNvPr id="48" name="Text 41"/>
          <p:cNvSpPr/>
          <p:nvPr/>
        </p:nvSpPr>
        <p:spPr>
          <a:xfrm>
            <a:off x="2103120" y="4114800"/>
            <a:ext cx="7772400" cy="1005840"/>
          </a:xfrm>
          <a:prstGeom prst="rect">
            <a:avLst/>
          </a:prstGeom>
          <a:noFill/>
          <a:ln/>
        </p:spPr>
        <p:txBody>
          <a:bodyPr wrap="square" lIns="0" tIns="0" rIns="0" bIns="0" rtlCol="0" anchor="ctr"/>
          <a:lstStyle/>
          <a:p>
            <a:pPr marL="0" indent="0">
              <a:buNone/>
            </a:pPr>
            <a:r>
              <a:rPr lang="en-US" sz="1350" i="1" dirty="0">
                <a:solidFill>
                  <a:srgbClr val="1B3A6B"/>
                </a:solidFill>
                <a:latin typeface="Calibri" pitchFamily="34" charset="0"/>
                <a:ea typeface="Calibri" pitchFamily="34" charset="-122"/>
                <a:cs typeface="Calibri" pitchFamily="34" charset="-120"/>
              </a:rPr>
              <a:t>DCA is all about SPEED — getting data physically close to the CPU before it's even asked for.</a:t>
            </a:r>
            <a:endParaRPr lang="en-US" sz="1350" dirty="0"/>
          </a:p>
        </p:txBody>
      </p:sp>
      <p:sp>
        <p:nvSpPr>
          <p:cNvPr id="49" name="Text 42"/>
          <p:cNvSpPr/>
          <p:nvPr/>
        </p:nvSpPr>
        <p:spPr>
          <a:xfrm>
            <a:off x="320040" y="6510528"/>
            <a:ext cx="5486400" cy="274320"/>
          </a:xfrm>
          <a:prstGeom prst="rect">
            <a:avLst/>
          </a:prstGeom>
          <a:noFill/>
          <a:ln/>
        </p:spPr>
        <p:txBody>
          <a:bodyPr wrap="square" lIns="0" tIns="0" rIns="0" bIns="0" rtlCol="0" anchor="ctr"/>
          <a:lstStyle/>
          <a:p>
            <a:pPr marL="0" indent="0">
              <a:buNone/>
            </a:pPr>
            <a:r>
              <a:rPr lang="en-US" sz="1000" i="1" dirty="0">
                <a:solidFill>
                  <a:srgbClr val="4A4A4A"/>
                </a:solidFill>
                <a:latin typeface="Calibri" pitchFamily="34" charset="0"/>
                <a:ea typeface="Calibri" pitchFamily="34" charset="-122"/>
                <a:cs typeface="Calibri" pitchFamily="34" charset="-120"/>
              </a:rPr>
              <a:t>Direct Cache Access (DCA)</a:t>
            </a:r>
            <a:endParaRPr lang="en-US" sz="1000" dirty="0"/>
          </a:p>
        </p:txBody>
      </p:sp>
      <p:sp>
        <p:nvSpPr>
          <p:cNvPr id="50" name="Text 43"/>
          <p:cNvSpPr/>
          <p:nvPr/>
        </p:nvSpPr>
        <p:spPr>
          <a:xfrm>
            <a:off x="5029200" y="6510528"/>
            <a:ext cx="5029200" cy="274320"/>
          </a:xfrm>
          <a:prstGeom prst="rect">
            <a:avLst/>
          </a:prstGeom>
          <a:noFill/>
          <a:ln/>
        </p:spPr>
        <p:txBody>
          <a:bodyPr wrap="square" lIns="0" tIns="0" rIns="0" bIns="0" rtlCol="0" anchor="ctr"/>
          <a:lstStyle/>
          <a:p>
            <a:pPr marL="0" indent="0" algn="r">
              <a:buNone/>
            </a:pPr>
            <a:r>
              <a:rPr lang="en-US" sz="900" dirty="0">
                <a:solidFill>
                  <a:srgbClr val="4A4A4A"/>
                </a:solidFill>
                <a:latin typeface="Calibri" pitchFamily="34" charset="0"/>
                <a:ea typeface="Calibri" pitchFamily="34" charset="-122"/>
                <a:cs typeface="Calibri" pitchFamily="34" charset="-120"/>
              </a:rPr>
              <a:t>Ch.7 • Stallings, Computer Organization &amp; Architecture</a:t>
            </a:r>
            <a:endParaRPr lang="en-US" sz="900" dirty="0"/>
          </a:p>
        </p:txBody>
      </p:sp>
      <p:sp>
        <p:nvSpPr>
          <p:cNvPr id="51" name="Text 44"/>
          <p:cNvSpPr/>
          <p:nvPr/>
        </p:nvSpPr>
        <p:spPr>
          <a:xfrm>
            <a:off x="11475720" y="6510528"/>
            <a:ext cx="548640" cy="274320"/>
          </a:xfrm>
          <a:prstGeom prst="rect">
            <a:avLst/>
          </a:prstGeom>
          <a:noFill/>
          <a:ln/>
        </p:spPr>
        <p:txBody>
          <a:bodyPr wrap="square" lIns="0" tIns="0" rIns="0" bIns="0" rtlCol="0" anchor="ctr"/>
          <a:lstStyle/>
          <a:p>
            <a:pPr marL="0" indent="0" algn="r">
              <a:buNone/>
            </a:pPr>
            <a:r>
              <a:rPr lang="en-US" sz="1000" dirty="0">
                <a:solidFill>
                  <a:srgbClr val="4A4A4A"/>
                </a:solidFill>
                <a:latin typeface="Calibri" pitchFamily="34" charset="0"/>
                <a:ea typeface="Calibri" pitchFamily="34" charset="-122"/>
                <a:cs typeface="Calibri" pitchFamily="34" charset="-120"/>
              </a:rPr>
              <a:t>18/30</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8E1"/>
        </a:solidFill>
        <a:effectLst/>
      </p:bgPr>
    </p:bg>
    <p:spTree>
      <p:nvGrpSpPr>
        <p:cNvPr id="1" name=""/>
        <p:cNvGrpSpPr/>
        <p:nvPr/>
      </p:nvGrpSpPr>
      <p:grpSpPr>
        <a:xfrm>
          <a:off x="0" y="0"/>
          <a:ext cx="0" cy="0"/>
          <a:chOff x="0" y="0"/>
          <a:chExt cx="0" cy="0"/>
        </a:xfrm>
      </p:grpSpPr>
      <p:sp>
        <p:nvSpPr>
          <p:cNvPr id="2" name="Shape 0"/>
          <p:cNvSpPr/>
          <p:nvPr/>
        </p:nvSpPr>
        <p:spPr>
          <a:xfrm>
            <a:off x="1234440" y="1417320"/>
            <a:ext cx="10607040" cy="0"/>
          </a:xfrm>
          <a:prstGeom prst="line">
            <a:avLst/>
          </a:prstGeom>
          <a:noFill/>
          <a:ln w="12700">
            <a:solidFill>
              <a:srgbClr val="E9DFC4"/>
            </a:solidFill>
            <a:prstDash val="solid"/>
          </a:ln>
        </p:spPr>
      </p:sp>
      <p:sp>
        <p:nvSpPr>
          <p:cNvPr id="3" name="Shape 1"/>
          <p:cNvSpPr/>
          <p:nvPr/>
        </p:nvSpPr>
        <p:spPr>
          <a:xfrm>
            <a:off x="1234440" y="1801368"/>
            <a:ext cx="10607040" cy="0"/>
          </a:xfrm>
          <a:prstGeom prst="line">
            <a:avLst/>
          </a:prstGeom>
          <a:noFill/>
          <a:ln w="12700">
            <a:solidFill>
              <a:srgbClr val="E9DFC4"/>
            </a:solidFill>
            <a:prstDash val="solid"/>
          </a:ln>
        </p:spPr>
      </p:sp>
      <p:sp>
        <p:nvSpPr>
          <p:cNvPr id="4" name="Shape 2"/>
          <p:cNvSpPr/>
          <p:nvPr/>
        </p:nvSpPr>
        <p:spPr>
          <a:xfrm>
            <a:off x="1234440" y="2185416"/>
            <a:ext cx="10607040" cy="0"/>
          </a:xfrm>
          <a:prstGeom prst="line">
            <a:avLst/>
          </a:prstGeom>
          <a:noFill/>
          <a:ln w="12700">
            <a:solidFill>
              <a:srgbClr val="E9DFC4"/>
            </a:solidFill>
            <a:prstDash val="solid"/>
          </a:ln>
        </p:spPr>
      </p:sp>
      <p:sp>
        <p:nvSpPr>
          <p:cNvPr id="5" name="Shape 3"/>
          <p:cNvSpPr/>
          <p:nvPr/>
        </p:nvSpPr>
        <p:spPr>
          <a:xfrm>
            <a:off x="1234440" y="2569464"/>
            <a:ext cx="10607040" cy="0"/>
          </a:xfrm>
          <a:prstGeom prst="line">
            <a:avLst/>
          </a:prstGeom>
          <a:noFill/>
          <a:ln w="12700">
            <a:solidFill>
              <a:srgbClr val="E9DFC4"/>
            </a:solidFill>
            <a:prstDash val="solid"/>
          </a:ln>
        </p:spPr>
      </p:sp>
      <p:sp>
        <p:nvSpPr>
          <p:cNvPr id="6" name="Shape 4"/>
          <p:cNvSpPr/>
          <p:nvPr/>
        </p:nvSpPr>
        <p:spPr>
          <a:xfrm>
            <a:off x="1234440" y="2953512"/>
            <a:ext cx="10607040" cy="0"/>
          </a:xfrm>
          <a:prstGeom prst="line">
            <a:avLst/>
          </a:prstGeom>
          <a:noFill/>
          <a:ln w="12700">
            <a:solidFill>
              <a:srgbClr val="E9DFC4"/>
            </a:solidFill>
            <a:prstDash val="solid"/>
          </a:ln>
        </p:spPr>
      </p:sp>
      <p:sp>
        <p:nvSpPr>
          <p:cNvPr id="7" name="Shape 5"/>
          <p:cNvSpPr/>
          <p:nvPr/>
        </p:nvSpPr>
        <p:spPr>
          <a:xfrm>
            <a:off x="1234440" y="3337560"/>
            <a:ext cx="10607040" cy="0"/>
          </a:xfrm>
          <a:prstGeom prst="line">
            <a:avLst/>
          </a:prstGeom>
          <a:noFill/>
          <a:ln w="12700">
            <a:solidFill>
              <a:srgbClr val="E9DFC4"/>
            </a:solidFill>
            <a:prstDash val="solid"/>
          </a:ln>
        </p:spPr>
      </p:sp>
      <p:sp>
        <p:nvSpPr>
          <p:cNvPr id="8" name="Shape 6"/>
          <p:cNvSpPr/>
          <p:nvPr/>
        </p:nvSpPr>
        <p:spPr>
          <a:xfrm>
            <a:off x="1234440" y="3721608"/>
            <a:ext cx="10607040" cy="0"/>
          </a:xfrm>
          <a:prstGeom prst="line">
            <a:avLst/>
          </a:prstGeom>
          <a:noFill/>
          <a:ln w="12700">
            <a:solidFill>
              <a:srgbClr val="E9DFC4"/>
            </a:solidFill>
            <a:prstDash val="solid"/>
          </a:ln>
        </p:spPr>
      </p:sp>
      <p:sp>
        <p:nvSpPr>
          <p:cNvPr id="9" name="Shape 7"/>
          <p:cNvSpPr/>
          <p:nvPr/>
        </p:nvSpPr>
        <p:spPr>
          <a:xfrm>
            <a:off x="1234440" y="4105656"/>
            <a:ext cx="10607040" cy="0"/>
          </a:xfrm>
          <a:prstGeom prst="line">
            <a:avLst/>
          </a:prstGeom>
          <a:noFill/>
          <a:ln w="12700">
            <a:solidFill>
              <a:srgbClr val="E9DFC4"/>
            </a:solidFill>
            <a:prstDash val="solid"/>
          </a:ln>
        </p:spPr>
      </p:sp>
      <p:sp>
        <p:nvSpPr>
          <p:cNvPr id="10" name="Shape 8"/>
          <p:cNvSpPr/>
          <p:nvPr/>
        </p:nvSpPr>
        <p:spPr>
          <a:xfrm>
            <a:off x="1234440" y="4489704"/>
            <a:ext cx="10607040" cy="0"/>
          </a:xfrm>
          <a:prstGeom prst="line">
            <a:avLst/>
          </a:prstGeom>
          <a:noFill/>
          <a:ln w="12700">
            <a:solidFill>
              <a:srgbClr val="E9DFC4"/>
            </a:solidFill>
            <a:prstDash val="solid"/>
          </a:ln>
        </p:spPr>
      </p:sp>
      <p:sp>
        <p:nvSpPr>
          <p:cNvPr id="11" name="Shape 9"/>
          <p:cNvSpPr/>
          <p:nvPr/>
        </p:nvSpPr>
        <p:spPr>
          <a:xfrm>
            <a:off x="1234440" y="4873752"/>
            <a:ext cx="10607040" cy="0"/>
          </a:xfrm>
          <a:prstGeom prst="line">
            <a:avLst/>
          </a:prstGeom>
          <a:noFill/>
          <a:ln w="12700">
            <a:solidFill>
              <a:srgbClr val="E9DFC4"/>
            </a:solidFill>
            <a:prstDash val="solid"/>
          </a:ln>
        </p:spPr>
      </p:sp>
      <p:sp>
        <p:nvSpPr>
          <p:cNvPr id="12" name="Shape 10"/>
          <p:cNvSpPr/>
          <p:nvPr/>
        </p:nvSpPr>
        <p:spPr>
          <a:xfrm>
            <a:off x="1234440" y="5257800"/>
            <a:ext cx="10607040" cy="0"/>
          </a:xfrm>
          <a:prstGeom prst="line">
            <a:avLst/>
          </a:prstGeom>
          <a:noFill/>
          <a:ln w="12700">
            <a:solidFill>
              <a:srgbClr val="E9DFC4"/>
            </a:solidFill>
            <a:prstDash val="solid"/>
          </a:ln>
        </p:spPr>
      </p:sp>
      <p:sp>
        <p:nvSpPr>
          <p:cNvPr id="13" name="Shape 11"/>
          <p:cNvSpPr/>
          <p:nvPr/>
        </p:nvSpPr>
        <p:spPr>
          <a:xfrm>
            <a:off x="1234440" y="5641848"/>
            <a:ext cx="10607040" cy="0"/>
          </a:xfrm>
          <a:prstGeom prst="line">
            <a:avLst/>
          </a:prstGeom>
          <a:noFill/>
          <a:ln w="12700">
            <a:solidFill>
              <a:srgbClr val="E9DFC4"/>
            </a:solidFill>
            <a:prstDash val="solid"/>
          </a:ln>
        </p:spPr>
      </p:sp>
      <p:sp>
        <p:nvSpPr>
          <p:cNvPr id="14" name="Shape 12"/>
          <p:cNvSpPr/>
          <p:nvPr/>
        </p:nvSpPr>
        <p:spPr>
          <a:xfrm>
            <a:off x="1234440" y="6025896"/>
            <a:ext cx="10607040" cy="0"/>
          </a:xfrm>
          <a:prstGeom prst="line">
            <a:avLst/>
          </a:prstGeom>
          <a:noFill/>
          <a:ln w="12700">
            <a:solidFill>
              <a:srgbClr val="E9DFC4"/>
            </a:solidFill>
            <a:prstDash val="solid"/>
          </a:ln>
        </p:spPr>
      </p:sp>
      <p:sp>
        <p:nvSpPr>
          <p:cNvPr id="15" name="Shape 13"/>
          <p:cNvSpPr/>
          <p:nvPr/>
        </p:nvSpPr>
        <p:spPr>
          <a:xfrm>
            <a:off x="1234440" y="6409944"/>
            <a:ext cx="10607040" cy="0"/>
          </a:xfrm>
          <a:prstGeom prst="line">
            <a:avLst/>
          </a:prstGeom>
          <a:noFill/>
          <a:ln w="12700">
            <a:solidFill>
              <a:srgbClr val="E9DFC4"/>
            </a:solidFill>
            <a:prstDash val="solid"/>
          </a:ln>
        </p:spPr>
      </p:sp>
      <p:sp>
        <p:nvSpPr>
          <p:cNvPr id="16" name="Shape 14"/>
          <p:cNvSpPr/>
          <p:nvPr/>
        </p:nvSpPr>
        <p:spPr>
          <a:xfrm>
            <a:off x="1051560" y="320040"/>
            <a:ext cx="0" cy="6309360"/>
          </a:xfrm>
          <a:prstGeom prst="line">
            <a:avLst/>
          </a:prstGeom>
          <a:noFill/>
          <a:ln w="15875">
            <a:solidFill>
              <a:srgbClr val="C0392B"/>
            </a:solidFill>
            <a:prstDash val="solid"/>
          </a:ln>
        </p:spPr>
      </p:sp>
      <p:sp>
        <p:nvSpPr>
          <p:cNvPr id="17" name="Text 15"/>
          <p:cNvSpPr/>
          <p:nvPr/>
        </p:nvSpPr>
        <p:spPr>
          <a:xfrm>
            <a:off x="1280160" y="310896"/>
            <a:ext cx="2743200" cy="320040"/>
          </a:xfrm>
          <a:prstGeom prst="rect">
            <a:avLst/>
          </a:prstGeom>
          <a:noFill/>
          <a:ln/>
        </p:spPr>
        <p:txBody>
          <a:bodyPr wrap="square" lIns="0" tIns="0" rIns="0" bIns="0" rtlCol="0" anchor="ctr"/>
          <a:lstStyle/>
          <a:p>
            <a:pPr marL="0" indent="0">
              <a:buNone/>
            </a:pPr>
            <a:r>
              <a:rPr lang="en-US" sz="1300" b="1" dirty="0">
                <a:solidFill>
                  <a:srgbClr val="C0392B"/>
                </a:solidFill>
                <a:latin typeface="Calibri" pitchFamily="34" charset="0"/>
                <a:ea typeface="Calibri" pitchFamily="34" charset="-122"/>
                <a:cs typeface="Calibri" pitchFamily="34" charset="-120"/>
              </a:rPr>
              <a:t>Topic 1.6</a:t>
            </a:r>
            <a:endParaRPr lang="en-US" sz="1300" dirty="0"/>
          </a:p>
        </p:txBody>
      </p:sp>
      <p:sp>
        <p:nvSpPr>
          <p:cNvPr id="18" name="Text 16"/>
          <p:cNvSpPr/>
          <p:nvPr/>
        </p:nvSpPr>
        <p:spPr>
          <a:xfrm>
            <a:off x="1234440" y="566928"/>
            <a:ext cx="8138160" cy="777240"/>
          </a:xfrm>
          <a:prstGeom prst="rect">
            <a:avLst/>
          </a:prstGeom>
          <a:noFill/>
          <a:ln/>
        </p:spPr>
        <p:txBody>
          <a:bodyPr wrap="square" lIns="0" tIns="0" rIns="0" bIns="0" rtlCol="0" anchor="t"/>
          <a:lstStyle/>
          <a:p>
            <a:pPr marL="0" indent="0">
              <a:buNone/>
            </a:pPr>
            <a:r>
              <a:rPr lang="en-US" sz="3000" b="1" dirty="0">
                <a:solidFill>
                  <a:srgbClr val="1B3A6B"/>
                </a:solidFill>
                <a:latin typeface="Comic Sans MS" pitchFamily="34" charset="0"/>
                <a:ea typeface="Comic Sans MS" pitchFamily="34" charset="-122"/>
                <a:cs typeface="Comic Sans MS" pitchFamily="34" charset="-120"/>
              </a:rPr>
              <a:t>Direct Cache Access (DCA)</a:t>
            </a:r>
            <a:endParaRPr lang="en-US" sz="3000" dirty="0"/>
          </a:p>
        </p:txBody>
      </p:sp>
      <p:sp>
        <p:nvSpPr>
          <p:cNvPr id="19" name="Shape 17"/>
          <p:cNvSpPr/>
          <p:nvPr/>
        </p:nvSpPr>
        <p:spPr>
          <a:xfrm>
            <a:off x="9646920" y="384048"/>
            <a:ext cx="1965960" cy="384048"/>
          </a:xfrm>
          <a:prstGeom prst="roundRect">
            <a:avLst>
              <a:gd name="adj" fmla="val 19048"/>
            </a:avLst>
          </a:prstGeom>
          <a:solidFill>
            <a:srgbClr val="C0392B"/>
          </a:solidFill>
          <a:ln/>
        </p:spPr>
      </p:sp>
      <p:sp>
        <p:nvSpPr>
          <p:cNvPr id="20" name="Text 18"/>
          <p:cNvSpPr/>
          <p:nvPr/>
        </p:nvSpPr>
        <p:spPr>
          <a:xfrm>
            <a:off x="9646920" y="384048"/>
            <a:ext cx="196596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EXAMPLE</a:t>
            </a:r>
            <a:endParaRPr lang="en-US" sz="1200" dirty="0"/>
          </a:p>
        </p:txBody>
      </p:sp>
      <p:sp>
        <p:nvSpPr>
          <p:cNvPr id="21" name="Shape 19"/>
          <p:cNvSpPr/>
          <p:nvPr/>
        </p:nvSpPr>
        <p:spPr>
          <a:xfrm>
            <a:off x="8732520" y="502920"/>
            <a:ext cx="1051560" cy="1051560"/>
          </a:xfrm>
          <a:prstGeom prst="ellipse">
            <a:avLst/>
          </a:prstGeom>
          <a:solidFill>
            <a:srgbClr val="DCE6F5"/>
          </a:solidFill>
          <a:ln/>
          <a:effectLst>
            <a:outerShdw blurRad="50800" dist="25400" dir="5400000" algn="bl" rotWithShape="0">
              <a:srgbClr val="999999">
                <a:alpha val="25000"/>
              </a:srgbClr>
            </a:outerShdw>
          </a:effectLst>
        </p:spPr>
      </p:sp>
      <p:pic>
        <p:nvPicPr>
          <p:cNvPr id="22" name="Image 0" descr="/home/claude/iobook/icons/bolt.png"/>
          <p:cNvPicPr>
            <a:picLocks noChangeAspect="1"/>
          </p:cNvPicPr>
          <p:nvPr/>
        </p:nvPicPr>
        <p:blipFill>
          <a:blip r:embed="rId3"/>
          <a:stretch>
            <a:fillRect/>
          </a:stretch>
        </p:blipFill>
        <p:spPr>
          <a:xfrm>
            <a:off x="8963863" y="734263"/>
            <a:ext cx="588874" cy="588874"/>
          </a:xfrm>
          <a:prstGeom prst="rect">
            <a:avLst/>
          </a:prstGeom>
        </p:spPr>
      </p:pic>
      <p:sp>
        <p:nvSpPr>
          <p:cNvPr id="23" name="Shape 20"/>
          <p:cNvSpPr/>
          <p:nvPr/>
        </p:nvSpPr>
        <p:spPr>
          <a:xfrm>
            <a:off x="1280160" y="1691640"/>
            <a:ext cx="6126480" cy="2834640"/>
          </a:xfrm>
          <a:prstGeom prst="roundRect">
            <a:avLst>
              <a:gd name="adj" fmla="val 3226"/>
            </a:avLst>
          </a:prstGeom>
          <a:solidFill>
            <a:srgbClr val="FFFFFF"/>
          </a:solidFill>
          <a:ln w="12700">
            <a:solidFill>
              <a:srgbClr val="1B3A6B"/>
            </a:solidFill>
            <a:prstDash val="solid"/>
          </a:ln>
          <a:effectLst>
            <a:outerShdw blurRad="38100" dist="25400" dir="5400000" algn="bl" rotWithShape="0">
              <a:srgbClr val="999999">
                <a:alpha val="20000"/>
              </a:srgbClr>
            </a:outerShdw>
          </a:effectLst>
        </p:spPr>
      </p:sp>
      <p:sp>
        <p:nvSpPr>
          <p:cNvPr id="24" name="Text 21"/>
          <p:cNvSpPr/>
          <p:nvPr/>
        </p:nvSpPr>
        <p:spPr>
          <a:xfrm>
            <a:off x="1508760" y="1828800"/>
            <a:ext cx="5669280" cy="320040"/>
          </a:xfrm>
          <a:prstGeom prst="rect">
            <a:avLst/>
          </a:prstGeom>
          <a:noFill/>
          <a:ln/>
        </p:spPr>
        <p:txBody>
          <a:bodyPr wrap="square" lIns="0" tIns="0" rIns="0" bIns="0" rtlCol="0" anchor="ctr"/>
          <a:lstStyle/>
          <a:p>
            <a:pPr marL="0" indent="0">
              <a:buNone/>
            </a:pPr>
            <a:r>
              <a:rPr lang="en-US" sz="1300" b="1" dirty="0">
                <a:solidFill>
                  <a:srgbClr val="C0392B"/>
                </a:solidFill>
                <a:latin typeface="Calibri" pitchFamily="34" charset="0"/>
                <a:ea typeface="Calibri" pitchFamily="34" charset="-122"/>
                <a:cs typeface="Calibri" pitchFamily="34" charset="-120"/>
              </a:rPr>
              <a:t>REAL-LIFE EXAMPLE</a:t>
            </a:r>
            <a:endParaRPr lang="en-US" sz="1300" dirty="0"/>
          </a:p>
        </p:txBody>
      </p:sp>
      <p:sp>
        <p:nvSpPr>
          <p:cNvPr id="25" name="Text 22"/>
          <p:cNvSpPr/>
          <p:nvPr/>
        </p:nvSpPr>
        <p:spPr>
          <a:xfrm>
            <a:off x="1508760" y="2194560"/>
            <a:ext cx="5669280" cy="2194560"/>
          </a:xfrm>
          <a:prstGeom prst="rect">
            <a:avLst/>
          </a:prstGeom>
          <a:noFill/>
          <a:ln/>
        </p:spPr>
        <p:txBody>
          <a:bodyPr wrap="square" lIns="0" tIns="0" rIns="0" bIns="0" rtlCol="0" anchor="t"/>
          <a:lstStyle/>
          <a:p>
            <a:pPr marL="0" indent="0">
              <a:buNone/>
            </a:pPr>
            <a:r>
              <a:rPr lang="en-US" sz="1450" dirty="0">
                <a:solidFill>
                  <a:srgbClr val="1B3A6B"/>
                </a:solidFill>
                <a:latin typeface="Calibri" pitchFamily="34" charset="0"/>
                <a:ea typeface="Calibri" pitchFamily="34" charset="-122"/>
                <a:cs typeface="Calibri" pitchFamily="34" charset="-120"/>
              </a:rPr>
              <a:t>It's like a waiter handing your coffee straight to your table (cache) instead of leaving it on a counter across the restaurant (main memory) for you to walk over and fetch.</a:t>
            </a:r>
            <a:endParaRPr lang="en-US" sz="1450" dirty="0"/>
          </a:p>
        </p:txBody>
      </p:sp>
      <p:sp>
        <p:nvSpPr>
          <p:cNvPr id="26" name="Shape 23"/>
          <p:cNvSpPr/>
          <p:nvPr/>
        </p:nvSpPr>
        <p:spPr>
          <a:xfrm>
            <a:off x="7635240" y="1691640"/>
            <a:ext cx="3383280" cy="2834640"/>
          </a:xfrm>
          <a:prstGeom prst="roundRect">
            <a:avLst>
              <a:gd name="adj" fmla="val 3226"/>
            </a:avLst>
          </a:prstGeom>
          <a:solidFill>
            <a:srgbClr val="C0392B"/>
          </a:solidFill>
          <a:ln/>
          <a:effectLst>
            <a:outerShdw blurRad="50800" dist="25400" dir="5400000" algn="bl" rotWithShape="0">
              <a:srgbClr val="000000">
                <a:alpha val="25000"/>
              </a:srgbClr>
            </a:outerShdw>
          </a:effectLst>
        </p:spPr>
      </p:sp>
      <p:pic>
        <p:nvPicPr>
          <p:cNvPr id="27" name="Image 1" descr="/home/claude/iobook/icons/check.png"/>
          <p:cNvPicPr>
            <a:picLocks noChangeAspect="1"/>
          </p:cNvPicPr>
          <p:nvPr/>
        </p:nvPicPr>
        <p:blipFill>
          <a:blip r:embed="rId4"/>
          <a:stretch>
            <a:fillRect/>
          </a:stretch>
        </p:blipFill>
        <p:spPr>
          <a:xfrm>
            <a:off x="7863840" y="1874520"/>
            <a:ext cx="457200" cy="457200"/>
          </a:xfrm>
          <a:prstGeom prst="rect">
            <a:avLst/>
          </a:prstGeom>
        </p:spPr>
      </p:pic>
      <p:sp>
        <p:nvSpPr>
          <p:cNvPr id="28" name="Text 24"/>
          <p:cNvSpPr/>
          <p:nvPr/>
        </p:nvSpPr>
        <p:spPr>
          <a:xfrm>
            <a:off x="8412480" y="1920240"/>
            <a:ext cx="2514600" cy="32004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KEY TAKEAWAY</a:t>
            </a:r>
            <a:endParaRPr lang="en-US" sz="1250" dirty="0"/>
          </a:p>
        </p:txBody>
      </p:sp>
      <p:sp>
        <p:nvSpPr>
          <p:cNvPr id="29" name="Text 25"/>
          <p:cNvSpPr/>
          <p:nvPr/>
        </p:nvSpPr>
        <p:spPr>
          <a:xfrm>
            <a:off x="7863840" y="2423160"/>
            <a:ext cx="3017520" cy="1965960"/>
          </a:xfrm>
          <a:prstGeom prst="rect">
            <a:avLst/>
          </a:prstGeom>
          <a:noFill/>
          <a:ln/>
        </p:spPr>
        <p:txBody>
          <a:bodyPr wrap="square" lIns="0" tIns="0" rIns="0" bIns="0" rtlCol="0" anchor="t"/>
          <a:lstStyle/>
          <a:p>
            <a:pPr marL="0" indent="0">
              <a:buNone/>
            </a:pPr>
            <a:r>
              <a:rPr lang="en-US" sz="1300" dirty="0">
                <a:solidFill>
                  <a:srgbClr val="FFFFFF"/>
                </a:solidFill>
                <a:latin typeface="Calibri" pitchFamily="34" charset="0"/>
                <a:ea typeface="Calibri" pitchFamily="34" charset="-122"/>
                <a:cs typeface="Calibri" pitchFamily="34" charset="-120"/>
              </a:rPr>
              <a:t>DCA trades a bit of cache space for a big drop in access latency — great for fast networking.</a:t>
            </a:r>
            <a:endParaRPr lang="en-US" sz="1300" dirty="0"/>
          </a:p>
        </p:txBody>
      </p:sp>
      <p:sp>
        <p:nvSpPr>
          <p:cNvPr id="30" name="Shape 26"/>
          <p:cNvSpPr/>
          <p:nvPr/>
        </p:nvSpPr>
        <p:spPr>
          <a:xfrm>
            <a:off x="1280160" y="4709160"/>
            <a:ext cx="9738360" cy="685800"/>
          </a:xfrm>
          <a:prstGeom prst="roundRect">
            <a:avLst>
              <a:gd name="adj" fmla="val 10667"/>
            </a:avLst>
          </a:prstGeom>
          <a:solidFill>
            <a:srgbClr val="FFE082">
              <a:alpha val="60000"/>
            </a:srgbClr>
          </a:solidFill>
          <a:ln w="9525">
            <a:solidFill>
              <a:srgbClr val="1B3A6B"/>
            </a:solidFill>
            <a:prstDash val="dash"/>
          </a:ln>
        </p:spPr>
      </p:sp>
      <p:sp>
        <p:nvSpPr>
          <p:cNvPr id="31" name="Text 27"/>
          <p:cNvSpPr/>
          <p:nvPr/>
        </p:nvSpPr>
        <p:spPr>
          <a:xfrm>
            <a:off x="1463040" y="4709160"/>
            <a:ext cx="9372600" cy="685800"/>
          </a:xfrm>
          <a:prstGeom prst="rect">
            <a:avLst/>
          </a:prstGeom>
          <a:noFill/>
          <a:ln/>
        </p:spPr>
        <p:txBody>
          <a:bodyPr wrap="square" lIns="0" tIns="0" rIns="0" bIns="0" rtlCol="0" anchor="ctr"/>
          <a:lstStyle/>
          <a:p>
            <a:pPr marL="0" indent="0">
              <a:buNone/>
            </a:pPr>
            <a:r>
              <a:rPr lang="en-US" sz="1300" b="1" dirty="0">
                <a:solidFill>
                  <a:srgbClr val="C0392B"/>
                </a:solidFill>
                <a:latin typeface="Calibri" pitchFamily="34" charset="0"/>
                <a:ea typeface="Calibri" pitchFamily="34" charset="-122"/>
                <a:cs typeface="Calibri" pitchFamily="34" charset="-120"/>
              </a:rPr>
              <a:t>Remember: </a:t>
            </a:r>
            <a:r>
              <a:rPr lang="en-US" sz="1300" dirty="0">
                <a:solidFill>
                  <a:srgbClr val="1B3A6B"/>
                </a:solidFill>
                <a:latin typeface="Calibri" pitchFamily="34" charset="0"/>
                <a:ea typeface="Calibri" pitchFamily="34" charset="-122"/>
                <a:cs typeface="Calibri" pitchFamily="34" charset="-120"/>
              </a:rPr>
              <a:t>DCA = I/O data is placed directly into cache, not just main memory, for faster CPU access.</a:t>
            </a:r>
            <a:endParaRPr lang="en-US" sz="1300" dirty="0"/>
          </a:p>
        </p:txBody>
      </p:sp>
      <p:sp>
        <p:nvSpPr>
          <p:cNvPr id="32" name="Text 28"/>
          <p:cNvSpPr/>
          <p:nvPr/>
        </p:nvSpPr>
        <p:spPr>
          <a:xfrm>
            <a:off x="320040" y="6510528"/>
            <a:ext cx="5486400" cy="274320"/>
          </a:xfrm>
          <a:prstGeom prst="rect">
            <a:avLst/>
          </a:prstGeom>
          <a:noFill/>
          <a:ln/>
        </p:spPr>
        <p:txBody>
          <a:bodyPr wrap="square" lIns="0" tIns="0" rIns="0" bIns="0" rtlCol="0" anchor="ctr"/>
          <a:lstStyle/>
          <a:p>
            <a:pPr marL="0" indent="0">
              <a:buNone/>
            </a:pPr>
            <a:r>
              <a:rPr lang="en-US" sz="1000" i="1" dirty="0">
                <a:solidFill>
                  <a:srgbClr val="4A4A4A"/>
                </a:solidFill>
                <a:latin typeface="Calibri" pitchFamily="34" charset="0"/>
                <a:ea typeface="Calibri" pitchFamily="34" charset="-122"/>
                <a:cs typeface="Calibri" pitchFamily="34" charset="-120"/>
              </a:rPr>
              <a:t>Direct Cache Access (DCA)</a:t>
            </a:r>
            <a:endParaRPr lang="en-US" sz="1000" dirty="0"/>
          </a:p>
        </p:txBody>
      </p:sp>
      <p:sp>
        <p:nvSpPr>
          <p:cNvPr id="33" name="Text 29"/>
          <p:cNvSpPr/>
          <p:nvPr/>
        </p:nvSpPr>
        <p:spPr>
          <a:xfrm>
            <a:off x="5029200" y="6510528"/>
            <a:ext cx="5029200" cy="274320"/>
          </a:xfrm>
          <a:prstGeom prst="rect">
            <a:avLst/>
          </a:prstGeom>
          <a:noFill/>
          <a:ln/>
        </p:spPr>
        <p:txBody>
          <a:bodyPr wrap="square" lIns="0" tIns="0" rIns="0" bIns="0" rtlCol="0" anchor="ctr"/>
          <a:lstStyle/>
          <a:p>
            <a:pPr marL="0" indent="0" algn="r">
              <a:buNone/>
            </a:pPr>
            <a:r>
              <a:rPr lang="en-US" sz="900" dirty="0">
                <a:solidFill>
                  <a:srgbClr val="4A4A4A"/>
                </a:solidFill>
                <a:latin typeface="Calibri" pitchFamily="34" charset="0"/>
                <a:ea typeface="Calibri" pitchFamily="34" charset="-122"/>
                <a:cs typeface="Calibri" pitchFamily="34" charset="-120"/>
              </a:rPr>
              <a:t>Ch.7 • Stallings, Computer Organization &amp; Architecture</a:t>
            </a:r>
            <a:endParaRPr lang="en-US" sz="900" dirty="0"/>
          </a:p>
        </p:txBody>
      </p:sp>
      <p:sp>
        <p:nvSpPr>
          <p:cNvPr id="34" name="Text 30"/>
          <p:cNvSpPr/>
          <p:nvPr/>
        </p:nvSpPr>
        <p:spPr>
          <a:xfrm>
            <a:off x="11475720" y="6510528"/>
            <a:ext cx="548640" cy="274320"/>
          </a:xfrm>
          <a:prstGeom prst="rect">
            <a:avLst/>
          </a:prstGeom>
          <a:noFill/>
          <a:ln/>
        </p:spPr>
        <p:txBody>
          <a:bodyPr wrap="square" lIns="0" tIns="0" rIns="0" bIns="0" rtlCol="0" anchor="ctr"/>
          <a:lstStyle/>
          <a:p>
            <a:pPr marL="0" indent="0" algn="r">
              <a:buNone/>
            </a:pPr>
            <a:r>
              <a:rPr lang="en-US" sz="1000" dirty="0">
                <a:solidFill>
                  <a:srgbClr val="4A4A4A"/>
                </a:solidFill>
                <a:latin typeface="Calibri" pitchFamily="34" charset="0"/>
                <a:ea typeface="Calibri" pitchFamily="34" charset="-122"/>
                <a:cs typeface="Calibri" pitchFamily="34" charset="-120"/>
              </a:rPr>
              <a:t>19/30</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8E1"/>
        </a:solidFill>
        <a:effectLst/>
      </p:bgPr>
    </p:bg>
    <p:spTree>
      <p:nvGrpSpPr>
        <p:cNvPr id="1" name=""/>
        <p:cNvGrpSpPr/>
        <p:nvPr/>
      </p:nvGrpSpPr>
      <p:grpSpPr>
        <a:xfrm>
          <a:off x="0" y="0"/>
          <a:ext cx="0" cy="0"/>
          <a:chOff x="0" y="0"/>
          <a:chExt cx="0" cy="0"/>
        </a:xfrm>
      </p:grpSpPr>
      <p:sp>
        <p:nvSpPr>
          <p:cNvPr id="2" name="Shape 0"/>
          <p:cNvSpPr/>
          <p:nvPr/>
        </p:nvSpPr>
        <p:spPr>
          <a:xfrm>
            <a:off x="1234440" y="1417320"/>
            <a:ext cx="10607040" cy="0"/>
          </a:xfrm>
          <a:prstGeom prst="line">
            <a:avLst/>
          </a:prstGeom>
          <a:noFill/>
          <a:ln w="12700">
            <a:solidFill>
              <a:srgbClr val="E9DFC4"/>
            </a:solidFill>
            <a:prstDash val="solid"/>
          </a:ln>
        </p:spPr>
      </p:sp>
      <p:sp>
        <p:nvSpPr>
          <p:cNvPr id="3" name="Shape 1"/>
          <p:cNvSpPr/>
          <p:nvPr/>
        </p:nvSpPr>
        <p:spPr>
          <a:xfrm>
            <a:off x="1234440" y="1801368"/>
            <a:ext cx="10607040" cy="0"/>
          </a:xfrm>
          <a:prstGeom prst="line">
            <a:avLst/>
          </a:prstGeom>
          <a:noFill/>
          <a:ln w="12700">
            <a:solidFill>
              <a:srgbClr val="E9DFC4"/>
            </a:solidFill>
            <a:prstDash val="solid"/>
          </a:ln>
        </p:spPr>
      </p:sp>
      <p:sp>
        <p:nvSpPr>
          <p:cNvPr id="4" name="Shape 2"/>
          <p:cNvSpPr/>
          <p:nvPr/>
        </p:nvSpPr>
        <p:spPr>
          <a:xfrm>
            <a:off x="1234440" y="2185416"/>
            <a:ext cx="10607040" cy="0"/>
          </a:xfrm>
          <a:prstGeom prst="line">
            <a:avLst/>
          </a:prstGeom>
          <a:noFill/>
          <a:ln w="12700">
            <a:solidFill>
              <a:srgbClr val="E9DFC4"/>
            </a:solidFill>
            <a:prstDash val="solid"/>
          </a:ln>
        </p:spPr>
      </p:sp>
      <p:sp>
        <p:nvSpPr>
          <p:cNvPr id="5" name="Shape 3"/>
          <p:cNvSpPr/>
          <p:nvPr/>
        </p:nvSpPr>
        <p:spPr>
          <a:xfrm>
            <a:off x="1234440" y="2569464"/>
            <a:ext cx="10607040" cy="0"/>
          </a:xfrm>
          <a:prstGeom prst="line">
            <a:avLst/>
          </a:prstGeom>
          <a:noFill/>
          <a:ln w="12700">
            <a:solidFill>
              <a:srgbClr val="E9DFC4"/>
            </a:solidFill>
            <a:prstDash val="solid"/>
          </a:ln>
        </p:spPr>
      </p:sp>
      <p:sp>
        <p:nvSpPr>
          <p:cNvPr id="6" name="Shape 4"/>
          <p:cNvSpPr/>
          <p:nvPr/>
        </p:nvSpPr>
        <p:spPr>
          <a:xfrm>
            <a:off x="1234440" y="2953512"/>
            <a:ext cx="10607040" cy="0"/>
          </a:xfrm>
          <a:prstGeom prst="line">
            <a:avLst/>
          </a:prstGeom>
          <a:noFill/>
          <a:ln w="12700">
            <a:solidFill>
              <a:srgbClr val="E9DFC4"/>
            </a:solidFill>
            <a:prstDash val="solid"/>
          </a:ln>
        </p:spPr>
      </p:sp>
      <p:sp>
        <p:nvSpPr>
          <p:cNvPr id="7" name="Shape 5"/>
          <p:cNvSpPr/>
          <p:nvPr/>
        </p:nvSpPr>
        <p:spPr>
          <a:xfrm>
            <a:off x="1234440" y="3337560"/>
            <a:ext cx="10607040" cy="0"/>
          </a:xfrm>
          <a:prstGeom prst="line">
            <a:avLst/>
          </a:prstGeom>
          <a:noFill/>
          <a:ln w="12700">
            <a:solidFill>
              <a:srgbClr val="E9DFC4"/>
            </a:solidFill>
            <a:prstDash val="solid"/>
          </a:ln>
        </p:spPr>
      </p:sp>
      <p:sp>
        <p:nvSpPr>
          <p:cNvPr id="8" name="Shape 6"/>
          <p:cNvSpPr/>
          <p:nvPr/>
        </p:nvSpPr>
        <p:spPr>
          <a:xfrm>
            <a:off x="1234440" y="3721608"/>
            <a:ext cx="10607040" cy="0"/>
          </a:xfrm>
          <a:prstGeom prst="line">
            <a:avLst/>
          </a:prstGeom>
          <a:noFill/>
          <a:ln w="12700">
            <a:solidFill>
              <a:srgbClr val="E9DFC4"/>
            </a:solidFill>
            <a:prstDash val="solid"/>
          </a:ln>
        </p:spPr>
      </p:sp>
      <p:sp>
        <p:nvSpPr>
          <p:cNvPr id="9" name="Shape 7"/>
          <p:cNvSpPr/>
          <p:nvPr/>
        </p:nvSpPr>
        <p:spPr>
          <a:xfrm>
            <a:off x="1234440" y="4105656"/>
            <a:ext cx="10607040" cy="0"/>
          </a:xfrm>
          <a:prstGeom prst="line">
            <a:avLst/>
          </a:prstGeom>
          <a:noFill/>
          <a:ln w="12700">
            <a:solidFill>
              <a:srgbClr val="E9DFC4"/>
            </a:solidFill>
            <a:prstDash val="solid"/>
          </a:ln>
        </p:spPr>
      </p:sp>
      <p:sp>
        <p:nvSpPr>
          <p:cNvPr id="10" name="Shape 8"/>
          <p:cNvSpPr/>
          <p:nvPr/>
        </p:nvSpPr>
        <p:spPr>
          <a:xfrm>
            <a:off x="1234440" y="4489704"/>
            <a:ext cx="10607040" cy="0"/>
          </a:xfrm>
          <a:prstGeom prst="line">
            <a:avLst/>
          </a:prstGeom>
          <a:noFill/>
          <a:ln w="12700">
            <a:solidFill>
              <a:srgbClr val="E9DFC4"/>
            </a:solidFill>
            <a:prstDash val="solid"/>
          </a:ln>
        </p:spPr>
      </p:sp>
      <p:sp>
        <p:nvSpPr>
          <p:cNvPr id="11" name="Shape 9"/>
          <p:cNvSpPr/>
          <p:nvPr/>
        </p:nvSpPr>
        <p:spPr>
          <a:xfrm>
            <a:off x="1234440" y="4873752"/>
            <a:ext cx="10607040" cy="0"/>
          </a:xfrm>
          <a:prstGeom prst="line">
            <a:avLst/>
          </a:prstGeom>
          <a:noFill/>
          <a:ln w="12700">
            <a:solidFill>
              <a:srgbClr val="E9DFC4"/>
            </a:solidFill>
            <a:prstDash val="solid"/>
          </a:ln>
        </p:spPr>
      </p:sp>
      <p:sp>
        <p:nvSpPr>
          <p:cNvPr id="12" name="Shape 10"/>
          <p:cNvSpPr/>
          <p:nvPr/>
        </p:nvSpPr>
        <p:spPr>
          <a:xfrm>
            <a:off x="1234440" y="5257800"/>
            <a:ext cx="10607040" cy="0"/>
          </a:xfrm>
          <a:prstGeom prst="line">
            <a:avLst/>
          </a:prstGeom>
          <a:noFill/>
          <a:ln w="12700">
            <a:solidFill>
              <a:srgbClr val="E9DFC4"/>
            </a:solidFill>
            <a:prstDash val="solid"/>
          </a:ln>
        </p:spPr>
      </p:sp>
      <p:sp>
        <p:nvSpPr>
          <p:cNvPr id="13" name="Shape 11"/>
          <p:cNvSpPr/>
          <p:nvPr/>
        </p:nvSpPr>
        <p:spPr>
          <a:xfrm>
            <a:off x="1234440" y="5641848"/>
            <a:ext cx="10607040" cy="0"/>
          </a:xfrm>
          <a:prstGeom prst="line">
            <a:avLst/>
          </a:prstGeom>
          <a:noFill/>
          <a:ln w="12700">
            <a:solidFill>
              <a:srgbClr val="E9DFC4"/>
            </a:solidFill>
            <a:prstDash val="solid"/>
          </a:ln>
        </p:spPr>
      </p:sp>
      <p:sp>
        <p:nvSpPr>
          <p:cNvPr id="14" name="Shape 12"/>
          <p:cNvSpPr/>
          <p:nvPr/>
        </p:nvSpPr>
        <p:spPr>
          <a:xfrm>
            <a:off x="1234440" y="6025896"/>
            <a:ext cx="10607040" cy="0"/>
          </a:xfrm>
          <a:prstGeom prst="line">
            <a:avLst/>
          </a:prstGeom>
          <a:noFill/>
          <a:ln w="12700">
            <a:solidFill>
              <a:srgbClr val="E9DFC4"/>
            </a:solidFill>
            <a:prstDash val="solid"/>
          </a:ln>
        </p:spPr>
      </p:sp>
      <p:sp>
        <p:nvSpPr>
          <p:cNvPr id="15" name="Shape 13"/>
          <p:cNvSpPr/>
          <p:nvPr/>
        </p:nvSpPr>
        <p:spPr>
          <a:xfrm>
            <a:off x="1234440" y="6409944"/>
            <a:ext cx="10607040" cy="0"/>
          </a:xfrm>
          <a:prstGeom prst="line">
            <a:avLst/>
          </a:prstGeom>
          <a:noFill/>
          <a:ln w="12700">
            <a:solidFill>
              <a:srgbClr val="E9DFC4"/>
            </a:solidFill>
            <a:prstDash val="solid"/>
          </a:ln>
        </p:spPr>
      </p:sp>
      <p:sp>
        <p:nvSpPr>
          <p:cNvPr id="16" name="Shape 14"/>
          <p:cNvSpPr/>
          <p:nvPr/>
        </p:nvSpPr>
        <p:spPr>
          <a:xfrm>
            <a:off x="1051560" y="320040"/>
            <a:ext cx="0" cy="6309360"/>
          </a:xfrm>
          <a:prstGeom prst="line">
            <a:avLst/>
          </a:prstGeom>
          <a:noFill/>
          <a:ln w="15875">
            <a:solidFill>
              <a:srgbClr val="C0392B"/>
            </a:solidFill>
            <a:prstDash val="solid"/>
          </a:ln>
        </p:spPr>
      </p:sp>
      <p:sp>
        <p:nvSpPr>
          <p:cNvPr id="17" name="Text 15"/>
          <p:cNvSpPr/>
          <p:nvPr/>
        </p:nvSpPr>
        <p:spPr>
          <a:xfrm>
            <a:off x="1280160" y="310896"/>
            <a:ext cx="2743200" cy="320040"/>
          </a:xfrm>
          <a:prstGeom prst="rect">
            <a:avLst/>
          </a:prstGeom>
          <a:noFill/>
          <a:ln/>
        </p:spPr>
        <p:txBody>
          <a:bodyPr wrap="square" lIns="0" tIns="0" rIns="0" bIns="0" rtlCol="0" anchor="ctr"/>
          <a:lstStyle/>
          <a:p>
            <a:pPr marL="0" indent="0">
              <a:buNone/>
            </a:pPr>
            <a:r>
              <a:rPr lang="en-US" sz="1300" b="1" dirty="0">
                <a:solidFill>
                  <a:srgbClr val="C0392B"/>
                </a:solidFill>
                <a:latin typeface="Calibri" pitchFamily="34" charset="0"/>
                <a:ea typeface="Calibri" pitchFamily="34" charset="-122"/>
                <a:cs typeface="Calibri" pitchFamily="34" charset="-120"/>
              </a:rPr>
              <a:t>Topic 1.7</a:t>
            </a:r>
            <a:endParaRPr lang="en-US" sz="1300" dirty="0"/>
          </a:p>
        </p:txBody>
      </p:sp>
      <p:sp>
        <p:nvSpPr>
          <p:cNvPr id="18" name="Text 16"/>
          <p:cNvSpPr/>
          <p:nvPr/>
        </p:nvSpPr>
        <p:spPr>
          <a:xfrm>
            <a:off x="1234440" y="566928"/>
            <a:ext cx="8138160" cy="777240"/>
          </a:xfrm>
          <a:prstGeom prst="rect">
            <a:avLst/>
          </a:prstGeom>
          <a:noFill/>
          <a:ln/>
        </p:spPr>
        <p:txBody>
          <a:bodyPr wrap="square" lIns="0" tIns="0" rIns="0" bIns="0" rtlCol="0" anchor="t"/>
          <a:lstStyle/>
          <a:p>
            <a:pPr marL="0" indent="0">
              <a:buNone/>
            </a:pPr>
            <a:r>
              <a:rPr lang="en-US" sz="3000" b="1" dirty="0">
                <a:solidFill>
                  <a:srgbClr val="1B3A6B"/>
                </a:solidFill>
                <a:latin typeface="Comic Sans MS" pitchFamily="34" charset="0"/>
                <a:ea typeface="Comic Sans MS" pitchFamily="34" charset="-122"/>
                <a:cs typeface="Comic Sans MS" pitchFamily="34" charset="-120"/>
              </a:rPr>
              <a:t>I/O Channels and Processors</a:t>
            </a:r>
            <a:endParaRPr lang="en-US" sz="3000" dirty="0"/>
          </a:p>
        </p:txBody>
      </p:sp>
      <p:sp>
        <p:nvSpPr>
          <p:cNvPr id="19" name="Shape 17"/>
          <p:cNvSpPr/>
          <p:nvPr/>
        </p:nvSpPr>
        <p:spPr>
          <a:xfrm>
            <a:off x="9646920" y="384048"/>
            <a:ext cx="1965960" cy="384048"/>
          </a:xfrm>
          <a:prstGeom prst="roundRect">
            <a:avLst>
              <a:gd name="adj" fmla="val 19048"/>
            </a:avLst>
          </a:prstGeom>
          <a:solidFill>
            <a:srgbClr val="C0392B"/>
          </a:solidFill>
          <a:ln/>
        </p:spPr>
      </p:sp>
      <p:sp>
        <p:nvSpPr>
          <p:cNvPr id="20" name="Text 18"/>
          <p:cNvSpPr/>
          <p:nvPr/>
        </p:nvSpPr>
        <p:spPr>
          <a:xfrm>
            <a:off x="9646920" y="384048"/>
            <a:ext cx="196596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DEFINITION</a:t>
            </a:r>
            <a:endParaRPr lang="en-US" sz="1200" dirty="0"/>
          </a:p>
        </p:txBody>
      </p:sp>
      <p:sp>
        <p:nvSpPr>
          <p:cNvPr id="21" name="Shape 19"/>
          <p:cNvSpPr/>
          <p:nvPr/>
        </p:nvSpPr>
        <p:spPr>
          <a:xfrm>
            <a:off x="8732520" y="502920"/>
            <a:ext cx="1051560" cy="1051560"/>
          </a:xfrm>
          <a:prstGeom prst="ellipse">
            <a:avLst/>
          </a:prstGeom>
          <a:solidFill>
            <a:srgbClr val="DCE6F5"/>
          </a:solidFill>
          <a:ln/>
          <a:effectLst>
            <a:outerShdw blurRad="50800" dist="25400" dir="5400000" algn="bl" rotWithShape="0">
              <a:srgbClr val="999999">
                <a:alpha val="25000"/>
              </a:srgbClr>
            </a:outerShdw>
          </a:effectLst>
        </p:spPr>
      </p:sp>
      <p:pic>
        <p:nvPicPr>
          <p:cNvPr id="22" name="Image 0" descr="/home/claude/iobook/icons/server.png"/>
          <p:cNvPicPr>
            <a:picLocks noChangeAspect="1"/>
          </p:cNvPicPr>
          <p:nvPr/>
        </p:nvPicPr>
        <p:blipFill>
          <a:blip r:embed="rId3"/>
          <a:stretch>
            <a:fillRect/>
          </a:stretch>
        </p:blipFill>
        <p:spPr>
          <a:xfrm>
            <a:off x="8963863" y="734263"/>
            <a:ext cx="588874" cy="588874"/>
          </a:xfrm>
          <a:prstGeom prst="rect">
            <a:avLst/>
          </a:prstGeom>
        </p:spPr>
      </p:pic>
      <p:sp>
        <p:nvSpPr>
          <p:cNvPr id="23" name="Shape 20"/>
          <p:cNvSpPr/>
          <p:nvPr/>
        </p:nvSpPr>
        <p:spPr>
          <a:xfrm>
            <a:off x="1280160" y="1600200"/>
            <a:ext cx="7360920" cy="1554480"/>
          </a:xfrm>
          <a:prstGeom prst="roundRect">
            <a:avLst>
              <a:gd name="adj" fmla="val 5882"/>
            </a:avLst>
          </a:prstGeom>
          <a:solidFill>
            <a:srgbClr val="FFE082">
              <a:alpha val="65000"/>
            </a:srgbClr>
          </a:solidFill>
          <a:ln w="12700">
            <a:solidFill>
              <a:srgbClr val="1B3A6B"/>
            </a:solidFill>
            <a:prstDash val="dash"/>
          </a:ln>
        </p:spPr>
      </p:sp>
      <p:sp>
        <p:nvSpPr>
          <p:cNvPr id="24" name="Text 21"/>
          <p:cNvSpPr/>
          <p:nvPr/>
        </p:nvSpPr>
        <p:spPr>
          <a:xfrm>
            <a:off x="1463040" y="1691640"/>
            <a:ext cx="6949440" cy="274320"/>
          </a:xfrm>
          <a:prstGeom prst="rect">
            <a:avLst/>
          </a:prstGeom>
          <a:noFill/>
          <a:ln/>
        </p:spPr>
        <p:txBody>
          <a:bodyPr wrap="square" lIns="0" tIns="0" rIns="0" bIns="0" rtlCol="0" anchor="ctr"/>
          <a:lstStyle/>
          <a:p>
            <a:pPr marL="0" indent="0">
              <a:buNone/>
            </a:pPr>
            <a:r>
              <a:rPr lang="en-US" sz="1200" b="1" dirty="0">
                <a:solidFill>
                  <a:srgbClr val="C0392B"/>
                </a:solidFill>
                <a:latin typeface="Calibri" pitchFamily="34" charset="0"/>
                <a:ea typeface="Calibri" pitchFamily="34" charset="-122"/>
                <a:cs typeface="Calibri" pitchFamily="34" charset="-120"/>
              </a:rPr>
              <a:t>IN SIMPLE WORDS:</a:t>
            </a:r>
            <a:endParaRPr lang="en-US" sz="1200" dirty="0"/>
          </a:p>
        </p:txBody>
      </p:sp>
      <p:sp>
        <p:nvSpPr>
          <p:cNvPr id="25" name="Text 22"/>
          <p:cNvSpPr/>
          <p:nvPr/>
        </p:nvSpPr>
        <p:spPr>
          <a:xfrm>
            <a:off x="1463040" y="1965960"/>
            <a:ext cx="6949440" cy="1097280"/>
          </a:xfrm>
          <a:prstGeom prst="rect">
            <a:avLst/>
          </a:prstGeom>
          <a:noFill/>
          <a:ln/>
        </p:spPr>
        <p:txBody>
          <a:bodyPr wrap="square" lIns="0" tIns="0" rIns="0" bIns="0" rtlCol="0" anchor="t"/>
          <a:lstStyle/>
          <a:p>
            <a:pPr marL="0" indent="0">
              <a:buNone/>
            </a:pPr>
            <a:r>
              <a:rPr lang="en-US" sz="1500" dirty="0">
                <a:solidFill>
                  <a:srgbClr val="1B3A6B"/>
                </a:solidFill>
                <a:latin typeface="Calibri" pitchFamily="34" charset="0"/>
                <a:ea typeface="Calibri" pitchFamily="34" charset="-122"/>
                <a:cs typeface="Calibri" pitchFamily="34" charset="-120"/>
              </a:rPr>
              <a:t>A dedicated, smart processor that runs its own small programs (channel programs) to manage complex I/O completely on its own, without bothering the main CPU.</a:t>
            </a:r>
            <a:endParaRPr lang="en-US" sz="1500" dirty="0"/>
          </a:p>
        </p:txBody>
      </p:sp>
      <p:sp>
        <p:nvSpPr>
          <p:cNvPr id="26" name="Text 23"/>
          <p:cNvSpPr/>
          <p:nvPr/>
        </p:nvSpPr>
        <p:spPr>
          <a:xfrm>
            <a:off x="1280160" y="3429000"/>
            <a:ext cx="7315200" cy="320040"/>
          </a:xfrm>
          <a:prstGeom prst="rect">
            <a:avLst/>
          </a:prstGeom>
          <a:noFill/>
          <a:ln/>
        </p:spPr>
        <p:txBody>
          <a:bodyPr wrap="square" lIns="0" tIns="0" rIns="0" bIns="0" rtlCol="0" anchor="ctr"/>
          <a:lstStyle/>
          <a:p>
            <a:pPr marL="0" indent="0">
              <a:buNone/>
            </a:pPr>
            <a:r>
              <a:rPr lang="en-US" sz="1300" b="1" dirty="0">
                <a:solidFill>
                  <a:srgbClr val="1B3A6B"/>
                </a:solidFill>
                <a:latin typeface="Calibri" pitchFamily="34" charset="0"/>
                <a:ea typeface="Calibri" pitchFamily="34" charset="-122"/>
                <a:cs typeface="Calibri" pitchFamily="34" charset="-120"/>
              </a:rPr>
              <a:t>KEY POINTS TO REMEMBER</a:t>
            </a:r>
            <a:endParaRPr lang="en-US" sz="1300" dirty="0"/>
          </a:p>
        </p:txBody>
      </p:sp>
      <p:sp>
        <p:nvSpPr>
          <p:cNvPr id="27" name="Text 24"/>
          <p:cNvSpPr/>
          <p:nvPr/>
        </p:nvSpPr>
        <p:spPr>
          <a:xfrm>
            <a:off x="1463040" y="3794760"/>
            <a:ext cx="6949440" cy="2286000"/>
          </a:xfrm>
          <a:prstGeom prst="rect">
            <a:avLst/>
          </a:prstGeom>
          <a:noFill/>
          <a:ln/>
        </p:spPr>
        <p:txBody>
          <a:bodyPr wrap="square" lIns="0" tIns="0" rIns="0" bIns="0" rtlCol="0" anchor="t"/>
          <a:lstStyle/>
          <a:p>
            <a:pPr marL="254000" indent="-254000">
              <a:spcAft>
                <a:spcPts val="1000"/>
              </a:spcAft>
              <a:buSzPct val="100000"/>
              <a:buChar char="✓"/>
            </a:pPr>
            <a:r>
              <a:rPr lang="en-US" sz="1400" dirty="0">
                <a:solidFill>
                  <a:srgbClr val="4A4A4A"/>
                </a:solidFill>
                <a:latin typeface="Calibri" pitchFamily="34" charset="0"/>
                <a:ea typeface="Calibri" pitchFamily="34" charset="-122"/>
                <a:cs typeface="Calibri" pitchFamily="34" charset="-120"/>
              </a:rPr>
              <a:t>More powerful than a simple DMA controller</a:t>
            </a:r>
            <a:endParaRPr lang="en-US" sz="1400" dirty="0"/>
          </a:p>
          <a:p>
            <a:pPr marL="254000" indent="-254000">
              <a:spcAft>
                <a:spcPts val="1000"/>
              </a:spcAft>
              <a:buSzPct val="100000"/>
              <a:buChar char="✓"/>
            </a:pPr>
            <a:r>
              <a:rPr lang="en-US" sz="1400" dirty="0">
                <a:solidFill>
                  <a:srgbClr val="4A4A4A"/>
                </a:solidFill>
                <a:latin typeface="Calibri" pitchFamily="34" charset="0"/>
                <a:ea typeface="Calibri" pitchFamily="34" charset="-122"/>
                <a:cs typeface="Calibri" pitchFamily="34" charset="-120"/>
              </a:rPr>
              <a:t>Can manage MULTIPLE devices at the same time</a:t>
            </a:r>
            <a:endParaRPr lang="en-US" sz="1400" dirty="0"/>
          </a:p>
          <a:p>
            <a:pPr marL="254000" indent="-254000">
              <a:spcAft>
                <a:spcPts val="1000"/>
              </a:spcAft>
              <a:buSzPct val="100000"/>
              <a:buChar char="✓"/>
            </a:pPr>
            <a:r>
              <a:rPr lang="en-US" sz="1400" dirty="0">
                <a:solidFill>
                  <a:srgbClr val="4A4A4A"/>
                </a:solidFill>
                <a:latin typeface="Calibri" pitchFamily="34" charset="0"/>
                <a:ea typeface="Calibri" pitchFamily="34" charset="-122"/>
                <a:cs typeface="Calibri" pitchFamily="34" charset="-120"/>
              </a:rPr>
              <a:t>Common in large mainframe computers</a:t>
            </a:r>
            <a:endParaRPr lang="en-US" sz="1400" dirty="0"/>
          </a:p>
        </p:txBody>
      </p:sp>
      <p:sp>
        <p:nvSpPr>
          <p:cNvPr id="28" name="Text 25"/>
          <p:cNvSpPr/>
          <p:nvPr/>
        </p:nvSpPr>
        <p:spPr>
          <a:xfrm>
            <a:off x="320040" y="6510528"/>
            <a:ext cx="5486400" cy="274320"/>
          </a:xfrm>
          <a:prstGeom prst="rect">
            <a:avLst/>
          </a:prstGeom>
          <a:noFill/>
          <a:ln/>
        </p:spPr>
        <p:txBody>
          <a:bodyPr wrap="square" lIns="0" tIns="0" rIns="0" bIns="0" rtlCol="0" anchor="ctr"/>
          <a:lstStyle/>
          <a:p>
            <a:pPr marL="0" indent="0">
              <a:buNone/>
            </a:pPr>
            <a:r>
              <a:rPr lang="en-US" sz="1000" i="1" dirty="0">
                <a:solidFill>
                  <a:srgbClr val="4A4A4A"/>
                </a:solidFill>
                <a:latin typeface="Calibri" pitchFamily="34" charset="0"/>
                <a:ea typeface="Calibri" pitchFamily="34" charset="-122"/>
                <a:cs typeface="Calibri" pitchFamily="34" charset="-120"/>
              </a:rPr>
              <a:t>I/O Channels and Processors</a:t>
            </a:r>
            <a:endParaRPr lang="en-US" sz="1000" dirty="0"/>
          </a:p>
        </p:txBody>
      </p:sp>
      <p:sp>
        <p:nvSpPr>
          <p:cNvPr id="29" name="Text 26"/>
          <p:cNvSpPr/>
          <p:nvPr/>
        </p:nvSpPr>
        <p:spPr>
          <a:xfrm>
            <a:off x="5029200" y="6510528"/>
            <a:ext cx="5029200" cy="274320"/>
          </a:xfrm>
          <a:prstGeom prst="rect">
            <a:avLst/>
          </a:prstGeom>
          <a:noFill/>
          <a:ln/>
        </p:spPr>
        <p:txBody>
          <a:bodyPr wrap="square" lIns="0" tIns="0" rIns="0" bIns="0" rtlCol="0" anchor="ctr"/>
          <a:lstStyle/>
          <a:p>
            <a:pPr marL="0" indent="0" algn="r">
              <a:buNone/>
            </a:pPr>
            <a:r>
              <a:rPr lang="en-US" sz="900" dirty="0">
                <a:solidFill>
                  <a:srgbClr val="4A4A4A"/>
                </a:solidFill>
                <a:latin typeface="Calibri" pitchFamily="34" charset="0"/>
                <a:ea typeface="Calibri" pitchFamily="34" charset="-122"/>
                <a:cs typeface="Calibri" pitchFamily="34" charset="-120"/>
              </a:rPr>
              <a:t>Ch.7 • Stallings, Computer Organization &amp; Architecture</a:t>
            </a:r>
            <a:endParaRPr lang="en-US" sz="900" dirty="0"/>
          </a:p>
        </p:txBody>
      </p:sp>
      <p:sp>
        <p:nvSpPr>
          <p:cNvPr id="30" name="Text 27"/>
          <p:cNvSpPr/>
          <p:nvPr/>
        </p:nvSpPr>
        <p:spPr>
          <a:xfrm>
            <a:off x="11475720" y="6510528"/>
            <a:ext cx="548640" cy="274320"/>
          </a:xfrm>
          <a:prstGeom prst="rect">
            <a:avLst/>
          </a:prstGeom>
          <a:noFill/>
          <a:ln/>
        </p:spPr>
        <p:txBody>
          <a:bodyPr wrap="square" lIns="0" tIns="0" rIns="0" bIns="0" rtlCol="0" anchor="ctr"/>
          <a:lstStyle/>
          <a:p>
            <a:pPr marL="0" indent="0" algn="r">
              <a:buNone/>
            </a:pPr>
            <a:r>
              <a:rPr lang="en-US" sz="1000" dirty="0">
                <a:solidFill>
                  <a:srgbClr val="4A4A4A"/>
                </a:solidFill>
                <a:latin typeface="Calibri" pitchFamily="34" charset="0"/>
                <a:ea typeface="Calibri" pitchFamily="34" charset="-122"/>
                <a:cs typeface="Calibri" pitchFamily="34" charset="-120"/>
              </a:rPr>
              <a:t>20/30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8E1"/>
        </a:solidFill>
        <a:effectLst/>
      </p:bgPr>
    </p:bg>
    <p:spTree>
      <p:nvGrpSpPr>
        <p:cNvPr id="1" name=""/>
        <p:cNvGrpSpPr/>
        <p:nvPr/>
      </p:nvGrpSpPr>
      <p:grpSpPr>
        <a:xfrm>
          <a:off x="0" y="0"/>
          <a:ext cx="0" cy="0"/>
          <a:chOff x="0" y="0"/>
          <a:chExt cx="0" cy="0"/>
        </a:xfrm>
      </p:grpSpPr>
      <p:sp>
        <p:nvSpPr>
          <p:cNvPr id="2" name="Shape 0"/>
          <p:cNvSpPr/>
          <p:nvPr/>
        </p:nvSpPr>
        <p:spPr>
          <a:xfrm>
            <a:off x="1234440" y="1417320"/>
            <a:ext cx="10607040" cy="0"/>
          </a:xfrm>
          <a:prstGeom prst="line">
            <a:avLst/>
          </a:prstGeom>
          <a:noFill/>
          <a:ln w="12700">
            <a:solidFill>
              <a:srgbClr val="E9DFC4"/>
            </a:solidFill>
            <a:prstDash val="solid"/>
          </a:ln>
        </p:spPr>
      </p:sp>
      <p:sp>
        <p:nvSpPr>
          <p:cNvPr id="3" name="Shape 1"/>
          <p:cNvSpPr/>
          <p:nvPr/>
        </p:nvSpPr>
        <p:spPr>
          <a:xfrm>
            <a:off x="1234440" y="1801368"/>
            <a:ext cx="10607040" cy="0"/>
          </a:xfrm>
          <a:prstGeom prst="line">
            <a:avLst/>
          </a:prstGeom>
          <a:noFill/>
          <a:ln w="12700">
            <a:solidFill>
              <a:srgbClr val="E9DFC4"/>
            </a:solidFill>
            <a:prstDash val="solid"/>
          </a:ln>
        </p:spPr>
      </p:sp>
      <p:sp>
        <p:nvSpPr>
          <p:cNvPr id="4" name="Shape 2"/>
          <p:cNvSpPr/>
          <p:nvPr/>
        </p:nvSpPr>
        <p:spPr>
          <a:xfrm>
            <a:off x="1234440" y="2185416"/>
            <a:ext cx="10607040" cy="0"/>
          </a:xfrm>
          <a:prstGeom prst="line">
            <a:avLst/>
          </a:prstGeom>
          <a:noFill/>
          <a:ln w="12700">
            <a:solidFill>
              <a:srgbClr val="E9DFC4"/>
            </a:solidFill>
            <a:prstDash val="solid"/>
          </a:ln>
        </p:spPr>
      </p:sp>
      <p:sp>
        <p:nvSpPr>
          <p:cNvPr id="5" name="Shape 3"/>
          <p:cNvSpPr/>
          <p:nvPr/>
        </p:nvSpPr>
        <p:spPr>
          <a:xfrm>
            <a:off x="1234440" y="2569464"/>
            <a:ext cx="10607040" cy="0"/>
          </a:xfrm>
          <a:prstGeom prst="line">
            <a:avLst/>
          </a:prstGeom>
          <a:noFill/>
          <a:ln w="12700">
            <a:solidFill>
              <a:srgbClr val="E9DFC4"/>
            </a:solidFill>
            <a:prstDash val="solid"/>
          </a:ln>
        </p:spPr>
      </p:sp>
      <p:sp>
        <p:nvSpPr>
          <p:cNvPr id="6" name="Shape 4"/>
          <p:cNvSpPr/>
          <p:nvPr/>
        </p:nvSpPr>
        <p:spPr>
          <a:xfrm>
            <a:off x="1234440" y="2953512"/>
            <a:ext cx="10607040" cy="0"/>
          </a:xfrm>
          <a:prstGeom prst="line">
            <a:avLst/>
          </a:prstGeom>
          <a:noFill/>
          <a:ln w="12700">
            <a:solidFill>
              <a:srgbClr val="E9DFC4"/>
            </a:solidFill>
            <a:prstDash val="solid"/>
          </a:ln>
        </p:spPr>
      </p:sp>
      <p:sp>
        <p:nvSpPr>
          <p:cNvPr id="7" name="Shape 5"/>
          <p:cNvSpPr/>
          <p:nvPr/>
        </p:nvSpPr>
        <p:spPr>
          <a:xfrm>
            <a:off x="1234440" y="3337560"/>
            <a:ext cx="10607040" cy="0"/>
          </a:xfrm>
          <a:prstGeom prst="line">
            <a:avLst/>
          </a:prstGeom>
          <a:noFill/>
          <a:ln w="12700">
            <a:solidFill>
              <a:srgbClr val="E9DFC4"/>
            </a:solidFill>
            <a:prstDash val="solid"/>
          </a:ln>
        </p:spPr>
      </p:sp>
      <p:sp>
        <p:nvSpPr>
          <p:cNvPr id="8" name="Shape 6"/>
          <p:cNvSpPr/>
          <p:nvPr/>
        </p:nvSpPr>
        <p:spPr>
          <a:xfrm>
            <a:off x="1234440" y="3721608"/>
            <a:ext cx="10607040" cy="0"/>
          </a:xfrm>
          <a:prstGeom prst="line">
            <a:avLst/>
          </a:prstGeom>
          <a:noFill/>
          <a:ln w="12700">
            <a:solidFill>
              <a:srgbClr val="E9DFC4"/>
            </a:solidFill>
            <a:prstDash val="solid"/>
          </a:ln>
        </p:spPr>
      </p:sp>
      <p:sp>
        <p:nvSpPr>
          <p:cNvPr id="9" name="Shape 7"/>
          <p:cNvSpPr/>
          <p:nvPr/>
        </p:nvSpPr>
        <p:spPr>
          <a:xfrm>
            <a:off x="1234440" y="4105656"/>
            <a:ext cx="10607040" cy="0"/>
          </a:xfrm>
          <a:prstGeom prst="line">
            <a:avLst/>
          </a:prstGeom>
          <a:noFill/>
          <a:ln w="12700">
            <a:solidFill>
              <a:srgbClr val="E9DFC4"/>
            </a:solidFill>
            <a:prstDash val="solid"/>
          </a:ln>
        </p:spPr>
      </p:sp>
      <p:sp>
        <p:nvSpPr>
          <p:cNvPr id="10" name="Shape 8"/>
          <p:cNvSpPr/>
          <p:nvPr/>
        </p:nvSpPr>
        <p:spPr>
          <a:xfrm>
            <a:off x="1234440" y="4489704"/>
            <a:ext cx="10607040" cy="0"/>
          </a:xfrm>
          <a:prstGeom prst="line">
            <a:avLst/>
          </a:prstGeom>
          <a:noFill/>
          <a:ln w="12700">
            <a:solidFill>
              <a:srgbClr val="E9DFC4"/>
            </a:solidFill>
            <a:prstDash val="solid"/>
          </a:ln>
        </p:spPr>
      </p:sp>
      <p:sp>
        <p:nvSpPr>
          <p:cNvPr id="11" name="Shape 9"/>
          <p:cNvSpPr/>
          <p:nvPr/>
        </p:nvSpPr>
        <p:spPr>
          <a:xfrm>
            <a:off x="1234440" y="4873752"/>
            <a:ext cx="10607040" cy="0"/>
          </a:xfrm>
          <a:prstGeom prst="line">
            <a:avLst/>
          </a:prstGeom>
          <a:noFill/>
          <a:ln w="12700">
            <a:solidFill>
              <a:srgbClr val="E9DFC4"/>
            </a:solidFill>
            <a:prstDash val="solid"/>
          </a:ln>
        </p:spPr>
      </p:sp>
      <p:sp>
        <p:nvSpPr>
          <p:cNvPr id="12" name="Shape 10"/>
          <p:cNvSpPr/>
          <p:nvPr/>
        </p:nvSpPr>
        <p:spPr>
          <a:xfrm>
            <a:off x="1234440" y="5257800"/>
            <a:ext cx="10607040" cy="0"/>
          </a:xfrm>
          <a:prstGeom prst="line">
            <a:avLst/>
          </a:prstGeom>
          <a:noFill/>
          <a:ln w="12700">
            <a:solidFill>
              <a:srgbClr val="E9DFC4"/>
            </a:solidFill>
            <a:prstDash val="solid"/>
          </a:ln>
        </p:spPr>
      </p:sp>
      <p:sp>
        <p:nvSpPr>
          <p:cNvPr id="13" name="Shape 11"/>
          <p:cNvSpPr/>
          <p:nvPr/>
        </p:nvSpPr>
        <p:spPr>
          <a:xfrm>
            <a:off x="1234440" y="5641848"/>
            <a:ext cx="10607040" cy="0"/>
          </a:xfrm>
          <a:prstGeom prst="line">
            <a:avLst/>
          </a:prstGeom>
          <a:noFill/>
          <a:ln w="12700">
            <a:solidFill>
              <a:srgbClr val="E9DFC4"/>
            </a:solidFill>
            <a:prstDash val="solid"/>
          </a:ln>
        </p:spPr>
      </p:sp>
      <p:sp>
        <p:nvSpPr>
          <p:cNvPr id="14" name="Shape 12"/>
          <p:cNvSpPr/>
          <p:nvPr/>
        </p:nvSpPr>
        <p:spPr>
          <a:xfrm>
            <a:off x="1234440" y="6025896"/>
            <a:ext cx="10607040" cy="0"/>
          </a:xfrm>
          <a:prstGeom prst="line">
            <a:avLst/>
          </a:prstGeom>
          <a:noFill/>
          <a:ln w="12700">
            <a:solidFill>
              <a:srgbClr val="E9DFC4"/>
            </a:solidFill>
            <a:prstDash val="solid"/>
          </a:ln>
        </p:spPr>
      </p:sp>
      <p:sp>
        <p:nvSpPr>
          <p:cNvPr id="15" name="Shape 13"/>
          <p:cNvSpPr/>
          <p:nvPr/>
        </p:nvSpPr>
        <p:spPr>
          <a:xfrm>
            <a:off x="1234440" y="6409944"/>
            <a:ext cx="10607040" cy="0"/>
          </a:xfrm>
          <a:prstGeom prst="line">
            <a:avLst/>
          </a:prstGeom>
          <a:noFill/>
          <a:ln w="12700">
            <a:solidFill>
              <a:srgbClr val="E9DFC4"/>
            </a:solidFill>
            <a:prstDash val="solid"/>
          </a:ln>
        </p:spPr>
      </p:sp>
      <p:sp>
        <p:nvSpPr>
          <p:cNvPr id="16" name="Shape 14"/>
          <p:cNvSpPr/>
          <p:nvPr/>
        </p:nvSpPr>
        <p:spPr>
          <a:xfrm>
            <a:off x="1051560" y="320040"/>
            <a:ext cx="0" cy="6309360"/>
          </a:xfrm>
          <a:prstGeom prst="line">
            <a:avLst/>
          </a:prstGeom>
          <a:noFill/>
          <a:ln w="15875">
            <a:solidFill>
              <a:srgbClr val="C0392B"/>
            </a:solidFill>
            <a:prstDash val="solid"/>
          </a:ln>
        </p:spPr>
      </p:sp>
      <p:sp>
        <p:nvSpPr>
          <p:cNvPr id="17" name="Text 15"/>
          <p:cNvSpPr/>
          <p:nvPr/>
        </p:nvSpPr>
        <p:spPr>
          <a:xfrm>
            <a:off x="1280160" y="310896"/>
            <a:ext cx="2743200" cy="320040"/>
          </a:xfrm>
          <a:prstGeom prst="rect">
            <a:avLst/>
          </a:prstGeom>
          <a:noFill/>
          <a:ln/>
        </p:spPr>
        <p:txBody>
          <a:bodyPr wrap="square" lIns="0" tIns="0" rIns="0" bIns="0" rtlCol="0" anchor="ctr"/>
          <a:lstStyle/>
          <a:p>
            <a:pPr marL="0" indent="0">
              <a:buNone/>
            </a:pPr>
            <a:r>
              <a:rPr lang="en-US" sz="1300" b="1" dirty="0">
                <a:solidFill>
                  <a:srgbClr val="C0392B"/>
                </a:solidFill>
                <a:latin typeface="Calibri" pitchFamily="34" charset="0"/>
                <a:ea typeface="Calibri" pitchFamily="34" charset="-122"/>
                <a:cs typeface="Calibri" pitchFamily="34" charset="-120"/>
              </a:rPr>
              <a:t>Topic 1.7</a:t>
            </a:r>
            <a:endParaRPr lang="en-US" sz="1300" dirty="0"/>
          </a:p>
        </p:txBody>
      </p:sp>
      <p:sp>
        <p:nvSpPr>
          <p:cNvPr id="18" name="Text 16"/>
          <p:cNvSpPr/>
          <p:nvPr/>
        </p:nvSpPr>
        <p:spPr>
          <a:xfrm>
            <a:off x="1234440" y="566928"/>
            <a:ext cx="8138160" cy="777240"/>
          </a:xfrm>
          <a:prstGeom prst="rect">
            <a:avLst/>
          </a:prstGeom>
          <a:noFill/>
          <a:ln/>
        </p:spPr>
        <p:txBody>
          <a:bodyPr wrap="square" lIns="0" tIns="0" rIns="0" bIns="0" rtlCol="0" anchor="t"/>
          <a:lstStyle/>
          <a:p>
            <a:pPr marL="0" indent="0">
              <a:buNone/>
            </a:pPr>
            <a:r>
              <a:rPr lang="en-US" sz="3000" b="1" dirty="0">
                <a:solidFill>
                  <a:srgbClr val="1B3A6B"/>
                </a:solidFill>
                <a:latin typeface="Comic Sans MS" pitchFamily="34" charset="0"/>
                <a:ea typeface="Comic Sans MS" pitchFamily="34" charset="-122"/>
                <a:cs typeface="Comic Sans MS" pitchFamily="34" charset="-120"/>
              </a:rPr>
              <a:t>I/O Channels and Processors</a:t>
            </a:r>
            <a:endParaRPr lang="en-US" sz="3000" dirty="0"/>
          </a:p>
        </p:txBody>
      </p:sp>
      <p:sp>
        <p:nvSpPr>
          <p:cNvPr id="19" name="Shape 17"/>
          <p:cNvSpPr/>
          <p:nvPr/>
        </p:nvSpPr>
        <p:spPr>
          <a:xfrm>
            <a:off x="9646920" y="384048"/>
            <a:ext cx="1965960" cy="384048"/>
          </a:xfrm>
          <a:prstGeom prst="roundRect">
            <a:avLst>
              <a:gd name="adj" fmla="val 19048"/>
            </a:avLst>
          </a:prstGeom>
          <a:solidFill>
            <a:srgbClr val="C0392B"/>
          </a:solidFill>
          <a:ln/>
        </p:spPr>
      </p:sp>
      <p:sp>
        <p:nvSpPr>
          <p:cNvPr id="20" name="Text 18"/>
          <p:cNvSpPr/>
          <p:nvPr/>
        </p:nvSpPr>
        <p:spPr>
          <a:xfrm>
            <a:off x="9646920" y="384048"/>
            <a:ext cx="196596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HOW IT WORKS</a:t>
            </a:r>
            <a:endParaRPr lang="en-US" sz="1200" dirty="0"/>
          </a:p>
        </p:txBody>
      </p:sp>
      <p:sp>
        <p:nvSpPr>
          <p:cNvPr id="21" name="Shape 19"/>
          <p:cNvSpPr/>
          <p:nvPr/>
        </p:nvSpPr>
        <p:spPr>
          <a:xfrm>
            <a:off x="8732520" y="502920"/>
            <a:ext cx="1051560" cy="1051560"/>
          </a:xfrm>
          <a:prstGeom prst="ellipse">
            <a:avLst/>
          </a:prstGeom>
          <a:solidFill>
            <a:srgbClr val="DCE6F5"/>
          </a:solidFill>
          <a:ln/>
          <a:effectLst>
            <a:outerShdw blurRad="50800" dist="25400" dir="5400000" algn="bl" rotWithShape="0">
              <a:srgbClr val="999999">
                <a:alpha val="25000"/>
              </a:srgbClr>
            </a:outerShdw>
          </a:effectLst>
        </p:spPr>
      </p:sp>
      <p:pic>
        <p:nvPicPr>
          <p:cNvPr id="22" name="Image 0" descr="/home/claude/iobook/icons/server.png"/>
          <p:cNvPicPr>
            <a:picLocks noChangeAspect="1"/>
          </p:cNvPicPr>
          <p:nvPr/>
        </p:nvPicPr>
        <p:blipFill>
          <a:blip r:embed="rId3"/>
          <a:stretch>
            <a:fillRect/>
          </a:stretch>
        </p:blipFill>
        <p:spPr>
          <a:xfrm>
            <a:off x="8963863" y="734263"/>
            <a:ext cx="588874" cy="588874"/>
          </a:xfrm>
          <a:prstGeom prst="rect">
            <a:avLst/>
          </a:prstGeom>
        </p:spPr>
      </p:pic>
      <p:sp>
        <p:nvSpPr>
          <p:cNvPr id="23" name="Shape 20"/>
          <p:cNvSpPr/>
          <p:nvPr/>
        </p:nvSpPr>
        <p:spPr>
          <a:xfrm>
            <a:off x="1280160" y="1965960"/>
            <a:ext cx="2331720" cy="1600200"/>
          </a:xfrm>
          <a:prstGeom prst="roundRect">
            <a:avLst>
              <a:gd name="adj" fmla="val 4571"/>
            </a:avLst>
          </a:prstGeom>
          <a:solidFill>
            <a:srgbClr val="FFFFFF"/>
          </a:solidFill>
          <a:ln w="12700">
            <a:solidFill>
              <a:srgbClr val="1B3A6B"/>
            </a:solidFill>
            <a:prstDash val="solid"/>
          </a:ln>
          <a:effectLst>
            <a:outerShdw blurRad="38100" dist="25400" dir="5400000" algn="bl" rotWithShape="0">
              <a:srgbClr val="999999">
                <a:alpha val="20000"/>
              </a:srgbClr>
            </a:outerShdw>
          </a:effectLst>
        </p:spPr>
      </p:sp>
      <p:sp>
        <p:nvSpPr>
          <p:cNvPr id="24" name="Shape 21"/>
          <p:cNvSpPr/>
          <p:nvPr/>
        </p:nvSpPr>
        <p:spPr>
          <a:xfrm>
            <a:off x="2244852" y="1764792"/>
            <a:ext cx="402336" cy="402336"/>
          </a:xfrm>
          <a:prstGeom prst="ellipse">
            <a:avLst/>
          </a:prstGeom>
          <a:solidFill>
            <a:srgbClr val="C0392B"/>
          </a:solidFill>
          <a:ln w="25400">
            <a:solidFill>
              <a:srgbClr val="FFF8E1"/>
            </a:solidFill>
            <a:prstDash val="solid"/>
          </a:ln>
        </p:spPr>
      </p:sp>
      <p:sp>
        <p:nvSpPr>
          <p:cNvPr id="25" name="Text 22"/>
          <p:cNvSpPr/>
          <p:nvPr/>
        </p:nvSpPr>
        <p:spPr>
          <a:xfrm>
            <a:off x="2244852" y="1764792"/>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26" name="Text 23"/>
          <p:cNvSpPr/>
          <p:nvPr/>
        </p:nvSpPr>
        <p:spPr>
          <a:xfrm>
            <a:off x="1389888" y="2221992"/>
            <a:ext cx="2112264" cy="502920"/>
          </a:xfrm>
          <a:prstGeom prst="rect">
            <a:avLst/>
          </a:prstGeom>
          <a:noFill/>
          <a:ln/>
        </p:spPr>
        <p:txBody>
          <a:bodyPr wrap="square" lIns="0" tIns="0" rIns="0" bIns="0" rtlCol="0" anchor="t"/>
          <a:lstStyle/>
          <a:p>
            <a:pPr marL="0" indent="0">
              <a:buNone/>
            </a:pPr>
            <a:r>
              <a:rPr lang="en-US" sz="1350" b="1" dirty="0">
                <a:solidFill>
                  <a:srgbClr val="1B3A6B"/>
                </a:solidFill>
                <a:latin typeface="Calibri" pitchFamily="34" charset="0"/>
                <a:ea typeface="Calibri" pitchFamily="34" charset="-122"/>
                <a:cs typeface="Calibri" pitchFamily="34" charset="-120"/>
              </a:rPr>
              <a:t>1. Selector Channel</a:t>
            </a:r>
            <a:endParaRPr lang="en-US" sz="1350" dirty="0"/>
          </a:p>
        </p:txBody>
      </p:sp>
      <p:sp>
        <p:nvSpPr>
          <p:cNvPr id="27" name="Text 24"/>
          <p:cNvSpPr/>
          <p:nvPr/>
        </p:nvSpPr>
        <p:spPr>
          <a:xfrm>
            <a:off x="1389888" y="2715768"/>
            <a:ext cx="2112264" cy="777240"/>
          </a:xfrm>
          <a:prstGeom prst="rect">
            <a:avLst/>
          </a:prstGeom>
          <a:noFill/>
          <a:ln/>
        </p:spPr>
        <p:txBody>
          <a:bodyPr wrap="square" lIns="0" tIns="0" rIns="0" bIns="0" rtlCol="0" anchor="t"/>
          <a:lstStyle/>
          <a:p>
            <a:pPr marL="0" indent="0">
              <a:buNone/>
            </a:pPr>
            <a:r>
              <a:rPr lang="en-US" sz="1100" dirty="0">
                <a:solidFill>
                  <a:srgbClr val="4A4A4A"/>
                </a:solidFill>
                <a:latin typeface="Calibri" pitchFamily="34" charset="0"/>
                <a:ea typeface="Calibri" pitchFamily="34" charset="-122"/>
                <a:cs typeface="Calibri" pitchFamily="34" charset="-120"/>
              </a:rPr>
              <a:t>Controls one high-speed device</a:t>
            </a:r>
            <a:endParaRPr lang="en-US" sz="1100" dirty="0"/>
          </a:p>
        </p:txBody>
      </p:sp>
      <p:pic>
        <p:nvPicPr>
          <p:cNvPr id="28" name="Image 1" descr="/home/claude/iobook/icons/arrowRight.png"/>
          <p:cNvPicPr>
            <a:picLocks noChangeAspect="1"/>
          </p:cNvPicPr>
          <p:nvPr/>
        </p:nvPicPr>
        <p:blipFill>
          <a:blip r:embed="rId4"/>
          <a:stretch>
            <a:fillRect/>
          </a:stretch>
        </p:blipFill>
        <p:spPr>
          <a:xfrm>
            <a:off x="3639312" y="2628900"/>
            <a:ext cx="274320" cy="274320"/>
          </a:xfrm>
          <a:prstGeom prst="rect">
            <a:avLst/>
          </a:prstGeom>
        </p:spPr>
      </p:pic>
      <p:sp>
        <p:nvSpPr>
          <p:cNvPr id="29" name="Shape 25"/>
          <p:cNvSpPr/>
          <p:nvPr/>
        </p:nvSpPr>
        <p:spPr>
          <a:xfrm>
            <a:off x="3931920" y="1965960"/>
            <a:ext cx="2331720" cy="1600200"/>
          </a:xfrm>
          <a:prstGeom prst="roundRect">
            <a:avLst>
              <a:gd name="adj" fmla="val 4571"/>
            </a:avLst>
          </a:prstGeom>
          <a:solidFill>
            <a:srgbClr val="FFFFFF"/>
          </a:solidFill>
          <a:ln w="12700">
            <a:solidFill>
              <a:srgbClr val="1B3A6B"/>
            </a:solidFill>
            <a:prstDash val="solid"/>
          </a:ln>
          <a:effectLst>
            <a:outerShdw blurRad="38100" dist="25400" dir="5400000" algn="bl" rotWithShape="0">
              <a:srgbClr val="999999">
                <a:alpha val="20000"/>
              </a:srgbClr>
            </a:outerShdw>
          </a:effectLst>
        </p:spPr>
      </p:sp>
      <p:sp>
        <p:nvSpPr>
          <p:cNvPr id="30" name="Shape 26"/>
          <p:cNvSpPr/>
          <p:nvPr/>
        </p:nvSpPr>
        <p:spPr>
          <a:xfrm>
            <a:off x="4896612" y="1764792"/>
            <a:ext cx="402336" cy="402336"/>
          </a:xfrm>
          <a:prstGeom prst="ellipse">
            <a:avLst/>
          </a:prstGeom>
          <a:solidFill>
            <a:srgbClr val="C0392B"/>
          </a:solidFill>
          <a:ln w="25400">
            <a:solidFill>
              <a:srgbClr val="FFF8E1"/>
            </a:solidFill>
            <a:prstDash val="solid"/>
          </a:ln>
        </p:spPr>
      </p:sp>
      <p:sp>
        <p:nvSpPr>
          <p:cNvPr id="31" name="Text 27"/>
          <p:cNvSpPr/>
          <p:nvPr/>
        </p:nvSpPr>
        <p:spPr>
          <a:xfrm>
            <a:off x="4896612" y="1764792"/>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32" name="Text 28"/>
          <p:cNvSpPr/>
          <p:nvPr/>
        </p:nvSpPr>
        <p:spPr>
          <a:xfrm>
            <a:off x="4041648" y="2221992"/>
            <a:ext cx="2112264" cy="502920"/>
          </a:xfrm>
          <a:prstGeom prst="rect">
            <a:avLst/>
          </a:prstGeom>
          <a:noFill/>
          <a:ln/>
        </p:spPr>
        <p:txBody>
          <a:bodyPr wrap="square" lIns="0" tIns="0" rIns="0" bIns="0" rtlCol="0" anchor="t"/>
          <a:lstStyle/>
          <a:p>
            <a:pPr marL="0" indent="0">
              <a:buNone/>
            </a:pPr>
            <a:r>
              <a:rPr lang="en-US" sz="1350" b="1" dirty="0">
                <a:solidFill>
                  <a:srgbClr val="1B3A6B"/>
                </a:solidFill>
                <a:latin typeface="Calibri" pitchFamily="34" charset="0"/>
                <a:ea typeface="Calibri" pitchFamily="34" charset="-122"/>
                <a:cs typeface="Calibri" pitchFamily="34" charset="-120"/>
              </a:rPr>
              <a:t>2. Multiplexor Ch.</a:t>
            </a:r>
            <a:endParaRPr lang="en-US" sz="1350" dirty="0"/>
          </a:p>
        </p:txBody>
      </p:sp>
      <p:sp>
        <p:nvSpPr>
          <p:cNvPr id="33" name="Text 29"/>
          <p:cNvSpPr/>
          <p:nvPr/>
        </p:nvSpPr>
        <p:spPr>
          <a:xfrm>
            <a:off x="4041648" y="2715768"/>
            <a:ext cx="2112264" cy="777240"/>
          </a:xfrm>
          <a:prstGeom prst="rect">
            <a:avLst/>
          </a:prstGeom>
          <a:noFill/>
          <a:ln/>
        </p:spPr>
        <p:txBody>
          <a:bodyPr wrap="square" lIns="0" tIns="0" rIns="0" bIns="0" rtlCol="0" anchor="t"/>
          <a:lstStyle/>
          <a:p>
            <a:pPr marL="0" indent="0">
              <a:buNone/>
            </a:pPr>
            <a:r>
              <a:rPr lang="en-US" sz="1100" dirty="0">
                <a:solidFill>
                  <a:srgbClr val="4A4A4A"/>
                </a:solidFill>
                <a:latin typeface="Calibri" pitchFamily="34" charset="0"/>
                <a:ea typeface="Calibri" pitchFamily="34" charset="-122"/>
                <a:cs typeface="Calibri" pitchFamily="34" charset="-120"/>
              </a:rPr>
              <a:t>Handles many slow devices together</a:t>
            </a:r>
            <a:endParaRPr lang="en-US" sz="1100" dirty="0"/>
          </a:p>
        </p:txBody>
      </p:sp>
      <p:pic>
        <p:nvPicPr>
          <p:cNvPr id="34" name="Image 2" descr="/home/claude/iobook/icons/arrowRight.png"/>
          <p:cNvPicPr>
            <a:picLocks noChangeAspect="1"/>
          </p:cNvPicPr>
          <p:nvPr/>
        </p:nvPicPr>
        <p:blipFill>
          <a:blip r:embed="rId4"/>
          <a:stretch>
            <a:fillRect/>
          </a:stretch>
        </p:blipFill>
        <p:spPr>
          <a:xfrm>
            <a:off x="6291072" y="2628900"/>
            <a:ext cx="274320" cy="274320"/>
          </a:xfrm>
          <a:prstGeom prst="rect">
            <a:avLst/>
          </a:prstGeom>
        </p:spPr>
      </p:pic>
      <p:sp>
        <p:nvSpPr>
          <p:cNvPr id="35" name="Shape 30"/>
          <p:cNvSpPr/>
          <p:nvPr/>
        </p:nvSpPr>
        <p:spPr>
          <a:xfrm>
            <a:off x="6583680" y="1965960"/>
            <a:ext cx="2331720" cy="1600200"/>
          </a:xfrm>
          <a:prstGeom prst="roundRect">
            <a:avLst>
              <a:gd name="adj" fmla="val 4571"/>
            </a:avLst>
          </a:prstGeom>
          <a:solidFill>
            <a:srgbClr val="FFFFFF"/>
          </a:solidFill>
          <a:ln w="12700">
            <a:solidFill>
              <a:srgbClr val="1B3A6B"/>
            </a:solidFill>
            <a:prstDash val="solid"/>
          </a:ln>
          <a:effectLst>
            <a:outerShdw blurRad="38100" dist="25400" dir="5400000" algn="bl" rotWithShape="0">
              <a:srgbClr val="999999">
                <a:alpha val="20000"/>
              </a:srgbClr>
            </a:outerShdw>
          </a:effectLst>
        </p:spPr>
      </p:sp>
      <p:sp>
        <p:nvSpPr>
          <p:cNvPr id="36" name="Shape 31"/>
          <p:cNvSpPr/>
          <p:nvPr/>
        </p:nvSpPr>
        <p:spPr>
          <a:xfrm>
            <a:off x="7548372" y="1764792"/>
            <a:ext cx="402336" cy="402336"/>
          </a:xfrm>
          <a:prstGeom prst="ellipse">
            <a:avLst/>
          </a:prstGeom>
          <a:solidFill>
            <a:srgbClr val="C0392B"/>
          </a:solidFill>
          <a:ln w="25400">
            <a:solidFill>
              <a:srgbClr val="FFF8E1"/>
            </a:solidFill>
            <a:prstDash val="solid"/>
          </a:ln>
        </p:spPr>
      </p:sp>
      <p:sp>
        <p:nvSpPr>
          <p:cNvPr id="37" name="Text 32"/>
          <p:cNvSpPr/>
          <p:nvPr/>
        </p:nvSpPr>
        <p:spPr>
          <a:xfrm>
            <a:off x="7548372" y="1764792"/>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38" name="Text 33"/>
          <p:cNvSpPr/>
          <p:nvPr/>
        </p:nvSpPr>
        <p:spPr>
          <a:xfrm>
            <a:off x="6693408" y="2221992"/>
            <a:ext cx="2112264" cy="502920"/>
          </a:xfrm>
          <a:prstGeom prst="rect">
            <a:avLst/>
          </a:prstGeom>
          <a:noFill/>
          <a:ln/>
        </p:spPr>
        <p:txBody>
          <a:bodyPr wrap="square" lIns="0" tIns="0" rIns="0" bIns="0" rtlCol="0" anchor="t"/>
          <a:lstStyle/>
          <a:p>
            <a:pPr marL="0" indent="0">
              <a:buNone/>
            </a:pPr>
            <a:r>
              <a:rPr lang="en-US" sz="1350" b="1" dirty="0">
                <a:solidFill>
                  <a:srgbClr val="1B3A6B"/>
                </a:solidFill>
                <a:latin typeface="Calibri" pitchFamily="34" charset="0"/>
                <a:ea typeface="Calibri" pitchFamily="34" charset="-122"/>
                <a:cs typeface="Calibri" pitchFamily="34" charset="-120"/>
              </a:rPr>
              <a:t>3. I/O Processor</a:t>
            </a:r>
            <a:endParaRPr lang="en-US" sz="1350" dirty="0"/>
          </a:p>
        </p:txBody>
      </p:sp>
      <p:sp>
        <p:nvSpPr>
          <p:cNvPr id="39" name="Text 34"/>
          <p:cNvSpPr/>
          <p:nvPr/>
        </p:nvSpPr>
        <p:spPr>
          <a:xfrm>
            <a:off x="6693408" y="2715768"/>
            <a:ext cx="2112264" cy="777240"/>
          </a:xfrm>
          <a:prstGeom prst="rect">
            <a:avLst/>
          </a:prstGeom>
          <a:noFill/>
          <a:ln/>
        </p:spPr>
        <p:txBody>
          <a:bodyPr wrap="square" lIns="0" tIns="0" rIns="0" bIns="0" rtlCol="0" anchor="t"/>
          <a:lstStyle/>
          <a:p>
            <a:pPr marL="0" indent="0">
              <a:buNone/>
            </a:pPr>
            <a:r>
              <a:rPr lang="en-US" sz="1100" dirty="0">
                <a:solidFill>
                  <a:srgbClr val="4A4A4A"/>
                </a:solidFill>
                <a:latin typeface="Calibri" pitchFamily="34" charset="0"/>
                <a:ea typeface="Calibri" pitchFamily="34" charset="-122"/>
                <a:cs typeface="Calibri" pitchFamily="34" charset="-120"/>
              </a:rPr>
              <a:t>Runs its own program to manage I/O</a:t>
            </a:r>
            <a:endParaRPr lang="en-US" sz="1100" dirty="0"/>
          </a:p>
        </p:txBody>
      </p:sp>
      <p:pic>
        <p:nvPicPr>
          <p:cNvPr id="40" name="Image 3" descr="/home/claude/iobook/icons/arrowRight.png"/>
          <p:cNvPicPr>
            <a:picLocks noChangeAspect="1"/>
          </p:cNvPicPr>
          <p:nvPr/>
        </p:nvPicPr>
        <p:blipFill>
          <a:blip r:embed="rId4"/>
          <a:stretch>
            <a:fillRect/>
          </a:stretch>
        </p:blipFill>
        <p:spPr>
          <a:xfrm>
            <a:off x="8942832" y="2628900"/>
            <a:ext cx="274320" cy="274320"/>
          </a:xfrm>
          <a:prstGeom prst="rect">
            <a:avLst/>
          </a:prstGeom>
        </p:spPr>
      </p:pic>
      <p:sp>
        <p:nvSpPr>
          <p:cNvPr id="41" name="Shape 35"/>
          <p:cNvSpPr/>
          <p:nvPr/>
        </p:nvSpPr>
        <p:spPr>
          <a:xfrm>
            <a:off x="9235440" y="1965960"/>
            <a:ext cx="2331720" cy="1600200"/>
          </a:xfrm>
          <a:prstGeom prst="roundRect">
            <a:avLst>
              <a:gd name="adj" fmla="val 4571"/>
            </a:avLst>
          </a:prstGeom>
          <a:solidFill>
            <a:srgbClr val="FFFFFF"/>
          </a:solidFill>
          <a:ln w="12700">
            <a:solidFill>
              <a:srgbClr val="1B3A6B"/>
            </a:solidFill>
            <a:prstDash val="solid"/>
          </a:ln>
          <a:effectLst>
            <a:outerShdw blurRad="38100" dist="25400" dir="5400000" algn="bl" rotWithShape="0">
              <a:srgbClr val="999999">
                <a:alpha val="20000"/>
              </a:srgbClr>
            </a:outerShdw>
          </a:effectLst>
        </p:spPr>
      </p:sp>
      <p:sp>
        <p:nvSpPr>
          <p:cNvPr id="42" name="Shape 36"/>
          <p:cNvSpPr/>
          <p:nvPr/>
        </p:nvSpPr>
        <p:spPr>
          <a:xfrm>
            <a:off x="10200132" y="1764792"/>
            <a:ext cx="402336" cy="402336"/>
          </a:xfrm>
          <a:prstGeom prst="ellipse">
            <a:avLst/>
          </a:prstGeom>
          <a:solidFill>
            <a:srgbClr val="C0392B"/>
          </a:solidFill>
          <a:ln w="25400">
            <a:solidFill>
              <a:srgbClr val="FFF8E1"/>
            </a:solidFill>
            <a:prstDash val="solid"/>
          </a:ln>
        </p:spPr>
      </p:sp>
      <p:sp>
        <p:nvSpPr>
          <p:cNvPr id="43" name="Text 37"/>
          <p:cNvSpPr/>
          <p:nvPr/>
        </p:nvSpPr>
        <p:spPr>
          <a:xfrm>
            <a:off x="10200132" y="1764792"/>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44" name="Text 38"/>
          <p:cNvSpPr/>
          <p:nvPr/>
        </p:nvSpPr>
        <p:spPr>
          <a:xfrm>
            <a:off x="9345168" y="2221992"/>
            <a:ext cx="2112264" cy="502920"/>
          </a:xfrm>
          <a:prstGeom prst="rect">
            <a:avLst/>
          </a:prstGeom>
          <a:noFill/>
          <a:ln/>
        </p:spPr>
        <p:txBody>
          <a:bodyPr wrap="square" lIns="0" tIns="0" rIns="0" bIns="0" rtlCol="0" anchor="t"/>
          <a:lstStyle/>
          <a:p>
            <a:pPr marL="0" indent="0">
              <a:buNone/>
            </a:pPr>
            <a:r>
              <a:rPr lang="en-US" sz="1350" b="1" dirty="0">
                <a:solidFill>
                  <a:srgbClr val="1B3A6B"/>
                </a:solidFill>
                <a:latin typeface="Calibri" pitchFamily="34" charset="0"/>
                <a:ea typeface="Calibri" pitchFamily="34" charset="-122"/>
                <a:cs typeface="Calibri" pitchFamily="34" charset="-120"/>
              </a:rPr>
              <a:t>4. CPU Stays Free</a:t>
            </a:r>
            <a:endParaRPr lang="en-US" sz="1350" dirty="0"/>
          </a:p>
        </p:txBody>
      </p:sp>
      <p:sp>
        <p:nvSpPr>
          <p:cNvPr id="45" name="Text 39"/>
          <p:cNvSpPr/>
          <p:nvPr/>
        </p:nvSpPr>
        <p:spPr>
          <a:xfrm>
            <a:off x="9345168" y="2715768"/>
            <a:ext cx="2112264" cy="777240"/>
          </a:xfrm>
          <a:prstGeom prst="rect">
            <a:avLst/>
          </a:prstGeom>
          <a:noFill/>
          <a:ln/>
        </p:spPr>
        <p:txBody>
          <a:bodyPr wrap="square" lIns="0" tIns="0" rIns="0" bIns="0" rtlCol="0" anchor="t"/>
          <a:lstStyle/>
          <a:p>
            <a:pPr marL="0" indent="0">
              <a:buNone/>
            </a:pPr>
            <a:r>
              <a:rPr lang="en-US" sz="1100" dirty="0">
                <a:solidFill>
                  <a:srgbClr val="4A4A4A"/>
                </a:solidFill>
                <a:latin typeface="Calibri" pitchFamily="34" charset="0"/>
                <a:ea typeface="Calibri" pitchFamily="34" charset="-122"/>
                <a:cs typeface="Calibri" pitchFamily="34" charset="-120"/>
              </a:rPr>
              <a:t>Told only when the whole job ends</a:t>
            </a:r>
            <a:endParaRPr lang="en-US" sz="1100" dirty="0"/>
          </a:p>
        </p:txBody>
      </p:sp>
      <p:sp>
        <p:nvSpPr>
          <p:cNvPr id="46" name="Shape 40"/>
          <p:cNvSpPr/>
          <p:nvPr/>
        </p:nvSpPr>
        <p:spPr>
          <a:xfrm>
            <a:off x="1280160" y="3977640"/>
            <a:ext cx="8778240" cy="1234440"/>
          </a:xfrm>
          <a:prstGeom prst="roundRect">
            <a:avLst>
              <a:gd name="adj" fmla="val 7407"/>
            </a:avLst>
          </a:prstGeom>
          <a:solidFill>
            <a:srgbClr val="DCE6F5">
              <a:alpha val="70000"/>
            </a:srgbClr>
          </a:solidFill>
          <a:ln w="9525">
            <a:solidFill>
              <a:srgbClr val="1B3A6B"/>
            </a:solidFill>
            <a:prstDash val="sysDot"/>
          </a:ln>
        </p:spPr>
      </p:sp>
      <p:pic>
        <p:nvPicPr>
          <p:cNvPr id="47" name="Image 4" descr="/home/claude/iobook/icons/lightbulb.png"/>
          <p:cNvPicPr>
            <a:picLocks noChangeAspect="1"/>
          </p:cNvPicPr>
          <p:nvPr/>
        </p:nvPicPr>
        <p:blipFill>
          <a:blip r:embed="rId5"/>
          <a:stretch>
            <a:fillRect/>
          </a:stretch>
        </p:blipFill>
        <p:spPr>
          <a:xfrm>
            <a:off x="1463040" y="4160520"/>
            <a:ext cx="502920" cy="502920"/>
          </a:xfrm>
          <a:prstGeom prst="rect">
            <a:avLst/>
          </a:prstGeom>
        </p:spPr>
      </p:pic>
      <p:sp>
        <p:nvSpPr>
          <p:cNvPr id="48" name="Text 41"/>
          <p:cNvSpPr/>
          <p:nvPr/>
        </p:nvSpPr>
        <p:spPr>
          <a:xfrm>
            <a:off x="2103120" y="4114800"/>
            <a:ext cx="7772400" cy="1005840"/>
          </a:xfrm>
          <a:prstGeom prst="rect">
            <a:avLst/>
          </a:prstGeom>
          <a:noFill/>
          <a:ln/>
        </p:spPr>
        <p:txBody>
          <a:bodyPr wrap="square" lIns="0" tIns="0" rIns="0" bIns="0" rtlCol="0" anchor="ctr"/>
          <a:lstStyle/>
          <a:p>
            <a:pPr marL="0" indent="0">
              <a:buNone/>
            </a:pPr>
            <a:r>
              <a:rPr lang="en-US" sz="1350" i="1" dirty="0">
                <a:solidFill>
                  <a:srgbClr val="1B3A6B"/>
                </a:solidFill>
                <a:latin typeface="Calibri" pitchFamily="34" charset="0"/>
                <a:ea typeface="Calibri" pitchFamily="34" charset="-122"/>
                <a:cs typeface="Calibri" pitchFamily="34" charset="-120"/>
              </a:rPr>
              <a:t>Evolution ladder: Programmed I/O → Interrupts → DMA → I/O Channels — each step frees the CPU a little more.</a:t>
            </a:r>
            <a:endParaRPr lang="en-US" sz="1350" dirty="0"/>
          </a:p>
        </p:txBody>
      </p:sp>
      <p:sp>
        <p:nvSpPr>
          <p:cNvPr id="49" name="Text 42"/>
          <p:cNvSpPr/>
          <p:nvPr/>
        </p:nvSpPr>
        <p:spPr>
          <a:xfrm>
            <a:off x="320040" y="6510528"/>
            <a:ext cx="5486400" cy="274320"/>
          </a:xfrm>
          <a:prstGeom prst="rect">
            <a:avLst/>
          </a:prstGeom>
          <a:noFill/>
          <a:ln/>
        </p:spPr>
        <p:txBody>
          <a:bodyPr wrap="square" lIns="0" tIns="0" rIns="0" bIns="0" rtlCol="0" anchor="ctr"/>
          <a:lstStyle/>
          <a:p>
            <a:pPr marL="0" indent="0">
              <a:buNone/>
            </a:pPr>
            <a:r>
              <a:rPr lang="en-US" sz="1000" i="1" dirty="0">
                <a:solidFill>
                  <a:srgbClr val="4A4A4A"/>
                </a:solidFill>
                <a:latin typeface="Calibri" pitchFamily="34" charset="0"/>
                <a:ea typeface="Calibri" pitchFamily="34" charset="-122"/>
                <a:cs typeface="Calibri" pitchFamily="34" charset="-120"/>
              </a:rPr>
              <a:t>I/O Channels and Processors</a:t>
            </a:r>
            <a:endParaRPr lang="en-US" sz="1000" dirty="0"/>
          </a:p>
        </p:txBody>
      </p:sp>
      <p:sp>
        <p:nvSpPr>
          <p:cNvPr id="50" name="Text 43"/>
          <p:cNvSpPr/>
          <p:nvPr/>
        </p:nvSpPr>
        <p:spPr>
          <a:xfrm>
            <a:off x="5029200" y="6510528"/>
            <a:ext cx="5029200" cy="274320"/>
          </a:xfrm>
          <a:prstGeom prst="rect">
            <a:avLst/>
          </a:prstGeom>
          <a:noFill/>
          <a:ln/>
        </p:spPr>
        <p:txBody>
          <a:bodyPr wrap="square" lIns="0" tIns="0" rIns="0" bIns="0" rtlCol="0" anchor="ctr"/>
          <a:lstStyle/>
          <a:p>
            <a:pPr marL="0" indent="0" algn="r">
              <a:buNone/>
            </a:pPr>
            <a:r>
              <a:rPr lang="en-US" sz="900" dirty="0">
                <a:solidFill>
                  <a:srgbClr val="4A4A4A"/>
                </a:solidFill>
                <a:latin typeface="Calibri" pitchFamily="34" charset="0"/>
                <a:ea typeface="Calibri" pitchFamily="34" charset="-122"/>
                <a:cs typeface="Calibri" pitchFamily="34" charset="-120"/>
              </a:rPr>
              <a:t>Ch.7 • Stallings, Computer Organization &amp; Architecture</a:t>
            </a:r>
            <a:endParaRPr lang="en-US" sz="900" dirty="0"/>
          </a:p>
        </p:txBody>
      </p:sp>
      <p:sp>
        <p:nvSpPr>
          <p:cNvPr id="51" name="Text 44"/>
          <p:cNvSpPr/>
          <p:nvPr/>
        </p:nvSpPr>
        <p:spPr>
          <a:xfrm>
            <a:off x="11475720" y="6510528"/>
            <a:ext cx="548640" cy="274320"/>
          </a:xfrm>
          <a:prstGeom prst="rect">
            <a:avLst/>
          </a:prstGeom>
          <a:noFill/>
          <a:ln/>
        </p:spPr>
        <p:txBody>
          <a:bodyPr wrap="square" lIns="0" tIns="0" rIns="0" bIns="0" rtlCol="0" anchor="ctr"/>
          <a:lstStyle/>
          <a:p>
            <a:pPr marL="0" indent="0" algn="r">
              <a:buNone/>
            </a:pPr>
            <a:r>
              <a:rPr lang="en-US" sz="1000" dirty="0">
                <a:solidFill>
                  <a:srgbClr val="4A4A4A"/>
                </a:solidFill>
                <a:latin typeface="Calibri" pitchFamily="34" charset="0"/>
                <a:ea typeface="Calibri" pitchFamily="34" charset="-122"/>
                <a:cs typeface="Calibri" pitchFamily="34" charset="-120"/>
              </a:rPr>
              <a:t>21/30</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8E1"/>
        </a:solidFill>
        <a:effectLst/>
      </p:bgPr>
    </p:bg>
    <p:spTree>
      <p:nvGrpSpPr>
        <p:cNvPr id="1" name=""/>
        <p:cNvGrpSpPr/>
        <p:nvPr/>
      </p:nvGrpSpPr>
      <p:grpSpPr>
        <a:xfrm>
          <a:off x="0" y="0"/>
          <a:ext cx="0" cy="0"/>
          <a:chOff x="0" y="0"/>
          <a:chExt cx="0" cy="0"/>
        </a:xfrm>
      </p:grpSpPr>
      <p:sp>
        <p:nvSpPr>
          <p:cNvPr id="2" name="Shape 0"/>
          <p:cNvSpPr/>
          <p:nvPr/>
        </p:nvSpPr>
        <p:spPr>
          <a:xfrm>
            <a:off x="1234440" y="1417320"/>
            <a:ext cx="10607040" cy="0"/>
          </a:xfrm>
          <a:prstGeom prst="line">
            <a:avLst/>
          </a:prstGeom>
          <a:noFill/>
          <a:ln w="12700">
            <a:solidFill>
              <a:srgbClr val="E9DFC4"/>
            </a:solidFill>
            <a:prstDash val="solid"/>
          </a:ln>
        </p:spPr>
      </p:sp>
      <p:sp>
        <p:nvSpPr>
          <p:cNvPr id="3" name="Shape 1"/>
          <p:cNvSpPr/>
          <p:nvPr/>
        </p:nvSpPr>
        <p:spPr>
          <a:xfrm>
            <a:off x="1234440" y="1801368"/>
            <a:ext cx="10607040" cy="0"/>
          </a:xfrm>
          <a:prstGeom prst="line">
            <a:avLst/>
          </a:prstGeom>
          <a:noFill/>
          <a:ln w="12700">
            <a:solidFill>
              <a:srgbClr val="E9DFC4"/>
            </a:solidFill>
            <a:prstDash val="solid"/>
          </a:ln>
        </p:spPr>
      </p:sp>
      <p:sp>
        <p:nvSpPr>
          <p:cNvPr id="4" name="Shape 2"/>
          <p:cNvSpPr/>
          <p:nvPr/>
        </p:nvSpPr>
        <p:spPr>
          <a:xfrm>
            <a:off x="1234440" y="2185416"/>
            <a:ext cx="10607040" cy="0"/>
          </a:xfrm>
          <a:prstGeom prst="line">
            <a:avLst/>
          </a:prstGeom>
          <a:noFill/>
          <a:ln w="12700">
            <a:solidFill>
              <a:srgbClr val="E9DFC4"/>
            </a:solidFill>
            <a:prstDash val="solid"/>
          </a:ln>
        </p:spPr>
      </p:sp>
      <p:sp>
        <p:nvSpPr>
          <p:cNvPr id="5" name="Shape 3"/>
          <p:cNvSpPr/>
          <p:nvPr/>
        </p:nvSpPr>
        <p:spPr>
          <a:xfrm>
            <a:off x="1234440" y="2569464"/>
            <a:ext cx="10607040" cy="0"/>
          </a:xfrm>
          <a:prstGeom prst="line">
            <a:avLst/>
          </a:prstGeom>
          <a:noFill/>
          <a:ln w="12700">
            <a:solidFill>
              <a:srgbClr val="E9DFC4"/>
            </a:solidFill>
            <a:prstDash val="solid"/>
          </a:ln>
        </p:spPr>
      </p:sp>
      <p:sp>
        <p:nvSpPr>
          <p:cNvPr id="6" name="Shape 4"/>
          <p:cNvSpPr/>
          <p:nvPr/>
        </p:nvSpPr>
        <p:spPr>
          <a:xfrm>
            <a:off x="1234440" y="2953512"/>
            <a:ext cx="10607040" cy="0"/>
          </a:xfrm>
          <a:prstGeom prst="line">
            <a:avLst/>
          </a:prstGeom>
          <a:noFill/>
          <a:ln w="12700">
            <a:solidFill>
              <a:srgbClr val="E9DFC4"/>
            </a:solidFill>
            <a:prstDash val="solid"/>
          </a:ln>
        </p:spPr>
      </p:sp>
      <p:sp>
        <p:nvSpPr>
          <p:cNvPr id="7" name="Shape 5"/>
          <p:cNvSpPr/>
          <p:nvPr/>
        </p:nvSpPr>
        <p:spPr>
          <a:xfrm>
            <a:off x="1234440" y="3337560"/>
            <a:ext cx="10607040" cy="0"/>
          </a:xfrm>
          <a:prstGeom prst="line">
            <a:avLst/>
          </a:prstGeom>
          <a:noFill/>
          <a:ln w="12700">
            <a:solidFill>
              <a:srgbClr val="E9DFC4"/>
            </a:solidFill>
            <a:prstDash val="solid"/>
          </a:ln>
        </p:spPr>
      </p:sp>
      <p:sp>
        <p:nvSpPr>
          <p:cNvPr id="8" name="Shape 6"/>
          <p:cNvSpPr/>
          <p:nvPr/>
        </p:nvSpPr>
        <p:spPr>
          <a:xfrm>
            <a:off x="1234440" y="3721608"/>
            <a:ext cx="10607040" cy="0"/>
          </a:xfrm>
          <a:prstGeom prst="line">
            <a:avLst/>
          </a:prstGeom>
          <a:noFill/>
          <a:ln w="12700">
            <a:solidFill>
              <a:srgbClr val="E9DFC4"/>
            </a:solidFill>
            <a:prstDash val="solid"/>
          </a:ln>
        </p:spPr>
      </p:sp>
      <p:sp>
        <p:nvSpPr>
          <p:cNvPr id="9" name="Shape 7"/>
          <p:cNvSpPr/>
          <p:nvPr/>
        </p:nvSpPr>
        <p:spPr>
          <a:xfrm>
            <a:off x="1234440" y="4105656"/>
            <a:ext cx="10607040" cy="0"/>
          </a:xfrm>
          <a:prstGeom prst="line">
            <a:avLst/>
          </a:prstGeom>
          <a:noFill/>
          <a:ln w="12700">
            <a:solidFill>
              <a:srgbClr val="E9DFC4"/>
            </a:solidFill>
            <a:prstDash val="solid"/>
          </a:ln>
        </p:spPr>
      </p:sp>
      <p:sp>
        <p:nvSpPr>
          <p:cNvPr id="10" name="Shape 8"/>
          <p:cNvSpPr/>
          <p:nvPr/>
        </p:nvSpPr>
        <p:spPr>
          <a:xfrm>
            <a:off x="1234440" y="4489704"/>
            <a:ext cx="10607040" cy="0"/>
          </a:xfrm>
          <a:prstGeom prst="line">
            <a:avLst/>
          </a:prstGeom>
          <a:noFill/>
          <a:ln w="12700">
            <a:solidFill>
              <a:srgbClr val="E9DFC4"/>
            </a:solidFill>
            <a:prstDash val="solid"/>
          </a:ln>
        </p:spPr>
      </p:sp>
      <p:sp>
        <p:nvSpPr>
          <p:cNvPr id="11" name="Shape 9"/>
          <p:cNvSpPr/>
          <p:nvPr/>
        </p:nvSpPr>
        <p:spPr>
          <a:xfrm>
            <a:off x="1234440" y="4873752"/>
            <a:ext cx="10607040" cy="0"/>
          </a:xfrm>
          <a:prstGeom prst="line">
            <a:avLst/>
          </a:prstGeom>
          <a:noFill/>
          <a:ln w="12700">
            <a:solidFill>
              <a:srgbClr val="E9DFC4"/>
            </a:solidFill>
            <a:prstDash val="solid"/>
          </a:ln>
        </p:spPr>
      </p:sp>
      <p:sp>
        <p:nvSpPr>
          <p:cNvPr id="12" name="Shape 10"/>
          <p:cNvSpPr/>
          <p:nvPr/>
        </p:nvSpPr>
        <p:spPr>
          <a:xfrm>
            <a:off x="1234440" y="5257800"/>
            <a:ext cx="10607040" cy="0"/>
          </a:xfrm>
          <a:prstGeom prst="line">
            <a:avLst/>
          </a:prstGeom>
          <a:noFill/>
          <a:ln w="12700">
            <a:solidFill>
              <a:srgbClr val="E9DFC4"/>
            </a:solidFill>
            <a:prstDash val="solid"/>
          </a:ln>
        </p:spPr>
      </p:sp>
      <p:sp>
        <p:nvSpPr>
          <p:cNvPr id="13" name="Shape 11"/>
          <p:cNvSpPr/>
          <p:nvPr/>
        </p:nvSpPr>
        <p:spPr>
          <a:xfrm>
            <a:off x="1234440" y="5641848"/>
            <a:ext cx="10607040" cy="0"/>
          </a:xfrm>
          <a:prstGeom prst="line">
            <a:avLst/>
          </a:prstGeom>
          <a:noFill/>
          <a:ln w="12700">
            <a:solidFill>
              <a:srgbClr val="E9DFC4"/>
            </a:solidFill>
            <a:prstDash val="solid"/>
          </a:ln>
        </p:spPr>
      </p:sp>
      <p:sp>
        <p:nvSpPr>
          <p:cNvPr id="14" name="Shape 12"/>
          <p:cNvSpPr/>
          <p:nvPr/>
        </p:nvSpPr>
        <p:spPr>
          <a:xfrm>
            <a:off x="1234440" y="6025896"/>
            <a:ext cx="10607040" cy="0"/>
          </a:xfrm>
          <a:prstGeom prst="line">
            <a:avLst/>
          </a:prstGeom>
          <a:noFill/>
          <a:ln w="12700">
            <a:solidFill>
              <a:srgbClr val="E9DFC4"/>
            </a:solidFill>
            <a:prstDash val="solid"/>
          </a:ln>
        </p:spPr>
      </p:sp>
      <p:sp>
        <p:nvSpPr>
          <p:cNvPr id="15" name="Shape 13"/>
          <p:cNvSpPr/>
          <p:nvPr/>
        </p:nvSpPr>
        <p:spPr>
          <a:xfrm>
            <a:off x="1234440" y="6409944"/>
            <a:ext cx="10607040" cy="0"/>
          </a:xfrm>
          <a:prstGeom prst="line">
            <a:avLst/>
          </a:prstGeom>
          <a:noFill/>
          <a:ln w="12700">
            <a:solidFill>
              <a:srgbClr val="E9DFC4"/>
            </a:solidFill>
            <a:prstDash val="solid"/>
          </a:ln>
        </p:spPr>
      </p:sp>
      <p:sp>
        <p:nvSpPr>
          <p:cNvPr id="16" name="Shape 14"/>
          <p:cNvSpPr/>
          <p:nvPr/>
        </p:nvSpPr>
        <p:spPr>
          <a:xfrm>
            <a:off x="1051560" y="320040"/>
            <a:ext cx="0" cy="6309360"/>
          </a:xfrm>
          <a:prstGeom prst="line">
            <a:avLst/>
          </a:prstGeom>
          <a:noFill/>
          <a:ln w="15875">
            <a:solidFill>
              <a:srgbClr val="C0392B"/>
            </a:solidFill>
            <a:prstDash val="solid"/>
          </a:ln>
        </p:spPr>
      </p:sp>
      <p:sp>
        <p:nvSpPr>
          <p:cNvPr id="17" name="Text 15"/>
          <p:cNvSpPr/>
          <p:nvPr/>
        </p:nvSpPr>
        <p:spPr>
          <a:xfrm>
            <a:off x="1280160" y="310896"/>
            <a:ext cx="2743200" cy="320040"/>
          </a:xfrm>
          <a:prstGeom prst="rect">
            <a:avLst/>
          </a:prstGeom>
          <a:noFill/>
          <a:ln/>
        </p:spPr>
        <p:txBody>
          <a:bodyPr wrap="square" lIns="0" tIns="0" rIns="0" bIns="0" rtlCol="0" anchor="ctr"/>
          <a:lstStyle/>
          <a:p>
            <a:pPr marL="0" indent="0">
              <a:buNone/>
            </a:pPr>
            <a:r>
              <a:rPr lang="en-US" sz="1300" b="1" dirty="0">
                <a:solidFill>
                  <a:srgbClr val="C0392B"/>
                </a:solidFill>
                <a:latin typeface="Calibri" pitchFamily="34" charset="0"/>
                <a:ea typeface="Calibri" pitchFamily="34" charset="-122"/>
                <a:cs typeface="Calibri" pitchFamily="34" charset="-120"/>
              </a:rPr>
              <a:t>Topic 1.7</a:t>
            </a:r>
            <a:endParaRPr lang="en-US" sz="1300" dirty="0"/>
          </a:p>
        </p:txBody>
      </p:sp>
      <p:sp>
        <p:nvSpPr>
          <p:cNvPr id="18" name="Text 16"/>
          <p:cNvSpPr/>
          <p:nvPr/>
        </p:nvSpPr>
        <p:spPr>
          <a:xfrm>
            <a:off x="1234440" y="566928"/>
            <a:ext cx="8138160" cy="777240"/>
          </a:xfrm>
          <a:prstGeom prst="rect">
            <a:avLst/>
          </a:prstGeom>
          <a:noFill/>
          <a:ln/>
        </p:spPr>
        <p:txBody>
          <a:bodyPr wrap="square" lIns="0" tIns="0" rIns="0" bIns="0" rtlCol="0" anchor="t"/>
          <a:lstStyle/>
          <a:p>
            <a:pPr marL="0" indent="0">
              <a:buNone/>
            </a:pPr>
            <a:r>
              <a:rPr lang="en-US" sz="3000" b="1" dirty="0">
                <a:solidFill>
                  <a:srgbClr val="1B3A6B"/>
                </a:solidFill>
                <a:latin typeface="Comic Sans MS" pitchFamily="34" charset="0"/>
                <a:ea typeface="Comic Sans MS" pitchFamily="34" charset="-122"/>
                <a:cs typeface="Comic Sans MS" pitchFamily="34" charset="-120"/>
              </a:rPr>
              <a:t>I/O Channels and Processors</a:t>
            </a:r>
            <a:endParaRPr lang="en-US" sz="3000" dirty="0"/>
          </a:p>
        </p:txBody>
      </p:sp>
      <p:sp>
        <p:nvSpPr>
          <p:cNvPr id="19" name="Shape 17"/>
          <p:cNvSpPr/>
          <p:nvPr/>
        </p:nvSpPr>
        <p:spPr>
          <a:xfrm>
            <a:off x="9646920" y="384048"/>
            <a:ext cx="1965960" cy="384048"/>
          </a:xfrm>
          <a:prstGeom prst="roundRect">
            <a:avLst>
              <a:gd name="adj" fmla="val 19048"/>
            </a:avLst>
          </a:prstGeom>
          <a:solidFill>
            <a:srgbClr val="C0392B"/>
          </a:solidFill>
          <a:ln/>
        </p:spPr>
      </p:sp>
      <p:sp>
        <p:nvSpPr>
          <p:cNvPr id="20" name="Text 18"/>
          <p:cNvSpPr/>
          <p:nvPr/>
        </p:nvSpPr>
        <p:spPr>
          <a:xfrm>
            <a:off x="9646920" y="384048"/>
            <a:ext cx="196596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EXAMPLE</a:t>
            </a:r>
            <a:endParaRPr lang="en-US" sz="1200" dirty="0"/>
          </a:p>
        </p:txBody>
      </p:sp>
      <p:sp>
        <p:nvSpPr>
          <p:cNvPr id="21" name="Shape 19"/>
          <p:cNvSpPr/>
          <p:nvPr/>
        </p:nvSpPr>
        <p:spPr>
          <a:xfrm>
            <a:off x="8732520" y="502920"/>
            <a:ext cx="1051560" cy="1051560"/>
          </a:xfrm>
          <a:prstGeom prst="ellipse">
            <a:avLst/>
          </a:prstGeom>
          <a:solidFill>
            <a:srgbClr val="DCE6F5"/>
          </a:solidFill>
          <a:ln/>
          <a:effectLst>
            <a:outerShdw blurRad="50800" dist="25400" dir="5400000" algn="bl" rotWithShape="0">
              <a:srgbClr val="999999">
                <a:alpha val="25000"/>
              </a:srgbClr>
            </a:outerShdw>
          </a:effectLst>
        </p:spPr>
      </p:sp>
      <p:pic>
        <p:nvPicPr>
          <p:cNvPr id="22" name="Image 0" descr="/home/claude/iobook/icons/server.png"/>
          <p:cNvPicPr>
            <a:picLocks noChangeAspect="1"/>
          </p:cNvPicPr>
          <p:nvPr/>
        </p:nvPicPr>
        <p:blipFill>
          <a:blip r:embed="rId3"/>
          <a:stretch>
            <a:fillRect/>
          </a:stretch>
        </p:blipFill>
        <p:spPr>
          <a:xfrm>
            <a:off x="8963863" y="734263"/>
            <a:ext cx="588874" cy="588874"/>
          </a:xfrm>
          <a:prstGeom prst="rect">
            <a:avLst/>
          </a:prstGeom>
        </p:spPr>
      </p:pic>
      <p:sp>
        <p:nvSpPr>
          <p:cNvPr id="23" name="Shape 20"/>
          <p:cNvSpPr/>
          <p:nvPr/>
        </p:nvSpPr>
        <p:spPr>
          <a:xfrm>
            <a:off x="1280160" y="1691640"/>
            <a:ext cx="6126480" cy="2834640"/>
          </a:xfrm>
          <a:prstGeom prst="roundRect">
            <a:avLst>
              <a:gd name="adj" fmla="val 3226"/>
            </a:avLst>
          </a:prstGeom>
          <a:solidFill>
            <a:srgbClr val="FFFFFF"/>
          </a:solidFill>
          <a:ln w="12700">
            <a:solidFill>
              <a:srgbClr val="1B3A6B"/>
            </a:solidFill>
            <a:prstDash val="solid"/>
          </a:ln>
          <a:effectLst>
            <a:outerShdw blurRad="38100" dist="25400" dir="5400000" algn="bl" rotWithShape="0">
              <a:srgbClr val="999999">
                <a:alpha val="20000"/>
              </a:srgbClr>
            </a:outerShdw>
          </a:effectLst>
        </p:spPr>
      </p:sp>
      <p:sp>
        <p:nvSpPr>
          <p:cNvPr id="24" name="Text 21"/>
          <p:cNvSpPr/>
          <p:nvPr/>
        </p:nvSpPr>
        <p:spPr>
          <a:xfrm>
            <a:off x="1508760" y="1828800"/>
            <a:ext cx="5669280" cy="320040"/>
          </a:xfrm>
          <a:prstGeom prst="rect">
            <a:avLst/>
          </a:prstGeom>
          <a:noFill/>
          <a:ln/>
        </p:spPr>
        <p:txBody>
          <a:bodyPr wrap="square" lIns="0" tIns="0" rIns="0" bIns="0" rtlCol="0" anchor="ctr"/>
          <a:lstStyle/>
          <a:p>
            <a:pPr marL="0" indent="0">
              <a:buNone/>
            </a:pPr>
            <a:r>
              <a:rPr lang="en-US" sz="1300" b="1" dirty="0">
                <a:solidFill>
                  <a:srgbClr val="C0392B"/>
                </a:solidFill>
                <a:latin typeface="Calibri" pitchFamily="34" charset="0"/>
                <a:ea typeface="Calibri" pitchFamily="34" charset="-122"/>
                <a:cs typeface="Calibri" pitchFamily="34" charset="-120"/>
              </a:rPr>
              <a:t>REAL-LIFE EXAMPLE</a:t>
            </a:r>
            <a:endParaRPr lang="en-US" sz="1300" dirty="0"/>
          </a:p>
        </p:txBody>
      </p:sp>
      <p:sp>
        <p:nvSpPr>
          <p:cNvPr id="25" name="Text 22"/>
          <p:cNvSpPr/>
          <p:nvPr/>
        </p:nvSpPr>
        <p:spPr>
          <a:xfrm>
            <a:off x="1508760" y="2194560"/>
            <a:ext cx="5669280" cy="2194560"/>
          </a:xfrm>
          <a:prstGeom prst="rect">
            <a:avLst/>
          </a:prstGeom>
          <a:noFill/>
          <a:ln/>
        </p:spPr>
        <p:txBody>
          <a:bodyPr wrap="square" lIns="0" tIns="0" rIns="0" bIns="0" rtlCol="0" anchor="t"/>
          <a:lstStyle/>
          <a:p>
            <a:pPr marL="0" indent="0">
              <a:buNone/>
            </a:pPr>
            <a:r>
              <a:rPr lang="en-US" sz="1450" dirty="0">
                <a:solidFill>
                  <a:srgbClr val="1B3A6B"/>
                </a:solidFill>
                <a:latin typeface="Calibri" pitchFamily="34" charset="0"/>
                <a:ea typeface="Calibri" pitchFamily="34" charset="-122"/>
                <a:cs typeface="Calibri" pitchFamily="34" charset="-120"/>
              </a:rPr>
              <a:t>Think of a hotel manager (I/O processor) who independently coordinates housekeeping, room service, and check-ins — the hotel owner (CPU) doesn't micromanage every task.</a:t>
            </a:r>
            <a:endParaRPr lang="en-US" sz="1450" dirty="0"/>
          </a:p>
        </p:txBody>
      </p:sp>
      <p:sp>
        <p:nvSpPr>
          <p:cNvPr id="26" name="Shape 23"/>
          <p:cNvSpPr/>
          <p:nvPr/>
        </p:nvSpPr>
        <p:spPr>
          <a:xfrm>
            <a:off x="7635240" y="1691640"/>
            <a:ext cx="3383280" cy="2834640"/>
          </a:xfrm>
          <a:prstGeom prst="roundRect">
            <a:avLst>
              <a:gd name="adj" fmla="val 3226"/>
            </a:avLst>
          </a:prstGeom>
          <a:solidFill>
            <a:srgbClr val="C0392B"/>
          </a:solidFill>
          <a:ln/>
          <a:effectLst>
            <a:outerShdw blurRad="50800" dist="25400" dir="5400000" algn="bl" rotWithShape="0">
              <a:srgbClr val="000000">
                <a:alpha val="25000"/>
              </a:srgbClr>
            </a:outerShdw>
          </a:effectLst>
        </p:spPr>
      </p:sp>
      <p:pic>
        <p:nvPicPr>
          <p:cNvPr id="27" name="Image 1" descr="/home/claude/iobook/icons/check.png"/>
          <p:cNvPicPr>
            <a:picLocks noChangeAspect="1"/>
          </p:cNvPicPr>
          <p:nvPr/>
        </p:nvPicPr>
        <p:blipFill>
          <a:blip r:embed="rId4"/>
          <a:stretch>
            <a:fillRect/>
          </a:stretch>
        </p:blipFill>
        <p:spPr>
          <a:xfrm>
            <a:off x="7863840" y="1874520"/>
            <a:ext cx="457200" cy="457200"/>
          </a:xfrm>
          <a:prstGeom prst="rect">
            <a:avLst/>
          </a:prstGeom>
        </p:spPr>
      </p:pic>
      <p:sp>
        <p:nvSpPr>
          <p:cNvPr id="28" name="Text 24"/>
          <p:cNvSpPr/>
          <p:nvPr/>
        </p:nvSpPr>
        <p:spPr>
          <a:xfrm>
            <a:off x="8412480" y="1920240"/>
            <a:ext cx="2514600" cy="32004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KEY TAKEAWAY</a:t>
            </a:r>
            <a:endParaRPr lang="en-US" sz="1250" dirty="0"/>
          </a:p>
        </p:txBody>
      </p:sp>
      <p:sp>
        <p:nvSpPr>
          <p:cNvPr id="29" name="Text 25"/>
          <p:cNvSpPr/>
          <p:nvPr/>
        </p:nvSpPr>
        <p:spPr>
          <a:xfrm>
            <a:off x="7863840" y="2423160"/>
            <a:ext cx="3017520" cy="1965960"/>
          </a:xfrm>
          <a:prstGeom prst="rect">
            <a:avLst/>
          </a:prstGeom>
          <a:noFill/>
          <a:ln/>
        </p:spPr>
        <p:txBody>
          <a:bodyPr wrap="square" lIns="0" tIns="0" rIns="0" bIns="0" rtlCol="0" anchor="t"/>
          <a:lstStyle/>
          <a:p>
            <a:pPr marL="0" indent="0">
              <a:buNone/>
            </a:pPr>
            <a:r>
              <a:rPr lang="en-US" sz="1300" dirty="0">
                <a:solidFill>
                  <a:srgbClr val="FFFFFF"/>
                </a:solidFill>
                <a:latin typeface="Calibri" pitchFamily="34" charset="0"/>
                <a:ea typeface="Calibri" pitchFamily="34" charset="-122"/>
                <a:cs typeface="Calibri" pitchFamily="34" charset="-120"/>
              </a:rPr>
              <a:t>I/O channels/processors offload entire I/O programs, ideal for mainframes juggling huge amounts of traffic.</a:t>
            </a:r>
            <a:endParaRPr lang="en-US" sz="1300" dirty="0"/>
          </a:p>
        </p:txBody>
      </p:sp>
      <p:sp>
        <p:nvSpPr>
          <p:cNvPr id="30" name="Shape 26"/>
          <p:cNvSpPr/>
          <p:nvPr/>
        </p:nvSpPr>
        <p:spPr>
          <a:xfrm>
            <a:off x="1280160" y="4709160"/>
            <a:ext cx="9738360" cy="685800"/>
          </a:xfrm>
          <a:prstGeom prst="roundRect">
            <a:avLst>
              <a:gd name="adj" fmla="val 10667"/>
            </a:avLst>
          </a:prstGeom>
          <a:solidFill>
            <a:srgbClr val="FFE082">
              <a:alpha val="60000"/>
            </a:srgbClr>
          </a:solidFill>
          <a:ln w="9525">
            <a:solidFill>
              <a:srgbClr val="1B3A6B"/>
            </a:solidFill>
            <a:prstDash val="dash"/>
          </a:ln>
        </p:spPr>
      </p:sp>
      <p:sp>
        <p:nvSpPr>
          <p:cNvPr id="31" name="Text 27"/>
          <p:cNvSpPr/>
          <p:nvPr/>
        </p:nvSpPr>
        <p:spPr>
          <a:xfrm>
            <a:off x="1463040" y="4709160"/>
            <a:ext cx="9372600" cy="685800"/>
          </a:xfrm>
          <a:prstGeom prst="rect">
            <a:avLst/>
          </a:prstGeom>
          <a:noFill/>
          <a:ln/>
        </p:spPr>
        <p:txBody>
          <a:bodyPr wrap="square" lIns="0" tIns="0" rIns="0" bIns="0" rtlCol="0" anchor="ctr"/>
          <a:lstStyle/>
          <a:p>
            <a:pPr marL="0" indent="0">
              <a:buNone/>
            </a:pPr>
            <a:r>
              <a:rPr lang="en-US" sz="1300" b="1" dirty="0">
                <a:solidFill>
                  <a:srgbClr val="C0392B"/>
                </a:solidFill>
                <a:latin typeface="Calibri" pitchFamily="34" charset="0"/>
                <a:ea typeface="Calibri" pitchFamily="34" charset="-122"/>
                <a:cs typeface="Calibri" pitchFamily="34" charset="-120"/>
              </a:rPr>
              <a:t>Remember: </a:t>
            </a:r>
            <a:r>
              <a:rPr lang="en-US" sz="1300" dirty="0">
                <a:solidFill>
                  <a:srgbClr val="1B3A6B"/>
                </a:solidFill>
                <a:latin typeface="Calibri" pitchFamily="34" charset="0"/>
                <a:ea typeface="Calibri" pitchFamily="34" charset="-122"/>
                <a:cs typeface="Calibri" pitchFamily="34" charset="-120"/>
              </a:rPr>
              <a:t>I/O channel/processor = a smart, independent unit that runs whole I/O programs on its own.</a:t>
            </a:r>
            <a:endParaRPr lang="en-US" sz="1300" dirty="0"/>
          </a:p>
        </p:txBody>
      </p:sp>
      <p:sp>
        <p:nvSpPr>
          <p:cNvPr id="32" name="Text 28"/>
          <p:cNvSpPr/>
          <p:nvPr/>
        </p:nvSpPr>
        <p:spPr>
          <a:xfrm>
            <a:off x="320040" y="6510528"/>
            <a:ext cx="5486400" cy="274320"/>
          </a:xfrm>
          <a:prstGeom prst="rect">
            <a:avLst/>
          </a:prstGeom>
          <a:noFill/>
          <a:ln/>
        </p:spPr>
        <p:txBody>
          <a:bodyPr wrap="square" lIns="0" tIns="0" rIns="0" bIns="0" rtlCol="0" anchor="ctr"/>
          <a:lstStyle/>
          <a:p>
            <a:pPr marL="0" indent="0">
              <a:buNone/>
            </a:pPr>
            <a:r>
              <a:rPr lang="en-US" sz="1000" i="1" dirty="0">
                <a:solidFill>
                  <a:srgbClr val="4A4A4A"/>
                </a:solidFill>
                <a:latin typeface="Calibri" pitchFamily="34" charset="0"/>
                <a:ea typeface="Calibri" pitchFamily="34" charset="-122"/>
                <a:cs typeface="Calibri" pitchFamily="34" charset="-120"/>
              </a:rPr>
              <a:t>I/O Channels and Processors</a:t>
            </a:r>
            <a:endParaRPr lang="en-US" sz="1000" dirty="0"/>
          </a:p>
        </p:txBody>
      </p:sp>
      <p:sp>
        <p:nvSpPr>
          <p:cNvPr id="33" name="Text 29"/>
          <p:cNvSpPr/>
          <p:nvPr/>
        </p:nvSpPr>
        <p:spPr>
          <a:xfrm>
            <a:off x="5029200" y="6510528"/>
            <a:ext cx="5029200" cy="274320"/>
          </a:xfrm>
          <a:prstGeom prst="rect">
            <a:avLst/>
          </a:prstGeom>
          <a:noFill/>
          <a:ln/>
        </p:spPr>
        <p:txBody>
          <a:bodyPr wrap="square" lIns="0" tIns="0" rIns="0" bIns="0" rtlCol="0" anchor="ctr"/>
          <a:lstStyle/>
          <a:p>
            <a:pPr marL="0" indent="0" algn="r">
              <a:buNone/>
            </a:pPr>
            <a:r>
              <a:rPr lang="en-US" sz="900" dirty="0">
                <a:solidFill>
                  <a:srgbClr val="4A4A4A"/>
                </a:solidFill>
                <a:latin typeface="Calibri" pitchFamily="34" charset="0"/>
                <a:ea typeface="Calibri" pitchFamily="34" charset="-122"/>
                <a:cs typeface="Calibri" pitchFamily="34" charset="-120"/>
              </a:rPr>
              <a:t>Ch.7 • Stallings, Computer Organization &amp; Architecture</a:t>
            </a:r>
            <a:endParaRPr lang="en-US" sz="900" dirty="0"/>
          </a:p>
        </p:txBody>
      </p:sp>
      <p:sp>
        <p:nvSpPr>
          <p:cNvPr id="34" name="Text 30"/>
          <p:cNvSpPr/>
          <p:nvPr/>
        </p:nvSpPr>
        <p:spPr>
          <a:xfrm>
            <a:off x="11475720" y="6510528"/>
            <a:ext cx="548640" cy="274320"/>
          </a:xfrm>
          <a:prstGeom prst="rect">
            <a:avLst/>
          </a:prstGeom>
          <a:noFill/>
          <a:ln/>
        </p:spPr>
        <p:txBody>
          <a:bodyPr wrap="square" lIns="0" tIns="0" rIns="0" bIns="0" rtlCol="0" anchor="ctr"/>
          <a:lstStyle/>
          <a:p>
            <a:pPr marL="0" indent="0" algn="r">
              <a:buNone/>
            </a:pPr>
            <a:r>
              <a:rPr lang="en-US" sz="1000" dirty="0">
                <a:solidFill>
                  <a:srgbClr val="4A4A4A"/>
                </a:solidFill>
                <a:latin typeface="Calibri" pitchFamily="34" charset="0"/>
                <a:ea typeface="Calibri" pitchFamily="34" charset="-122"/>
                <a:cs typeface="Calibri" pitchFamily="34" charset="-120"/>
              </a:rPr>
              <a:t>22/30</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8E1"/>
        </a:solidFill>
        <a:effectLst/>
      </p:bgPr>
    </p:bg>
    <p:spTree>
      <p:nvGrpSpPr>
        <p:cNvPr id="1" name=""/>
        <p:cNvGrpSpPr/>
        <p:nvPr/>
      </p:nvGrpSpPr>
      <p:grpSpPr>
        <a:xfrm>
          <a:off x="0" y="0"/>
          <a:ext cx="0" cy="0"/>
          <a:chOff x="0" y="0"/>
          <a:chExt cx="0" cy="0"/>
        </a:xfrm>
      </p:grpSpPr>
      <p:sp>
        <p:nvSpPr>
          <p:cNvPr id="2" name="Shape 0"/>
          <p:cNvSpPr/>
          <p:nvPr/>
        </p:nvSpPr>
        <p:spPr>
          <a:xfrm>
            <a:off x="1234440" y="1417320"/>
            <a:ext cx="10607040" cy="0"/>
          </a:xfrm>
          <a:prstGeom prst="line">
            <a:avLst/>
          </a:prstGeom>
          <a:noFill/>
          <a:ln w="12700">
            <a:solidFill>
              <a:srgbClr val="E9DFC4"/>
            </a:solidFill>
            <a:prstDash val="solid"/>
          </a:ln>
        </p:spPr>
      </p:sp>
      <p:sp>
        <p:nvSpPr>
          <p:cNvPr id="3" name="Shape 1"/>
          <p:cNvSpPr/>
          <p:nvPr/>
        </p:nvSpPr>
        <p:spPr>
          <a:xfrm>
            <a:off x="1234440" y="1801368"/>
            <a:ext cx="10607040" cy="0"/>
          </a:xfrm>
          <a:prstGeom prst="line">
            <a:avLst/>
          </a:prstGeom>
          <a:noFill/>
          <a:ln w="12700">
            <a:solidFill>
              <a:srgbClr val="E9DFC4"/>
            </a:solidFill>
            <a:prstDash val="solid"/>
          </a:ln>
        </p:spPr>
      </p:sp>
      <p:sp>
        <p:nvSpPr>
          <p:cNvPr id="4" name="Shape 2"/>
          <p:cNvSpPr/>
          <p:nvPr/>
        </p:nvSpPr>
        <p:spPr>
          <a:xfrm>
            <a:off x="1234440" y="2185416"/>
            <a:ext cx="10607040" cy="0"/>
          </a:xfrm>
          <a:prstGeom prst="line">
            <a:avLst/>
          </a:prstGeom>
          <a:noFill/>
          <a:ln w="12700">
            <a:solidFill>
              <a:srgbClr val="E9DFC4"/>
            </a:solidFill>
            <a:prstDash val="solid"/>
          </a:ln>
        </p:spPr>
      </p:sp>
      <p:sp>
        <p:nvSpPr>
          <p:cNvPr id="5" name="Shape 3"/>
          <p:cNvSpPr/>
          <p:nvPr/>
        </p:nvSpPr>
        <p:spPr>
          <a:xfrm>
            <a:off x="1234440" y="2569464"/>
            <a:ext cx="10607040" cy="0"/>
          </a:xfrm>
          <a:prstGeom prst="line">
            <a:avLst/>
          </a:prstGeom>
          <a:noFill/>
          <a:ln w="12700">
            <a:solidFill>
              <a:srgbClr val="E9DFC4"/>
            </a:solidFill>
            <a:prstDash val="solid"/>
          </a:ln>
        </p:spPr>
      </p:sp>
      <p:sp>
        <p:nvSpPr>
          <p:cNvPr id="6" name="Shape 4"/>
          <p:cNvSpPr/>
          <p:nvPr/>
        </p:nvSpPr>
        <p:spPr>
          <a:xfrm>
            <a:off x="1234440" y="2953512"/>
            <a:ext cx="10607040" cy="0"/>
          </a:xfrm>
          <a:prstGeom prst="line">
            <a:avLst/>
          </a:prstGeom>
          <a:noFill/>
          <a:ln w="12700">
            <a:solidFill>
              <a:srgbClr val="E9DFC4"/>
            </a:solidFill>
            <a:prstDash val="solid"/>
          </a:ln>
        </p:spPr>
      </p:sp>
      <p:sp>
        <p:nvSpPr>
          <p:cNvPr id="7" name="Shape 5"/>
          <p:cNvSpPr/>
          <p:nvPr/>
        </p:nvSpPr>
        <p:spPr>
          <a:xfrm>
            <a:off x="1234440" y="3337560"/>
            <a:ext cx="10607040" cy="0"/>
          </a:xfrm>
          <a:prstGeom prst="line">
            <a:avLst/>
          </a:prstGeom>
          <a:noFill/>
          <a:ln w="12700">
            <a:solidFill>
              <a:srgbClr val="E9DFC4"/>
            </a:solidFill>
            <a:prstDash val="solid"/>
          </a:ln>
        </p:spPr>
      </p:sp>
      <p:sp>
        <p:nvSpPr>
          <p:cNvPr id="8" name="Shape 6"/>
          <p:cNvSpPr/>
          <p:nvPr/>
        </p:nvSpPr>
        <p:spPr>
          <a:xfrm>
            <a:off x="1234440" y="3721608"/>
            <a:ext cx="10607040" cy="0"/>
          </a:xfrm>
          <a:prstGeom prst="line">
            <a:avLst/>
          </a:prstGeom>
          <a:noFill/>
          <a:ln w="12700">
            <a:solidFill>
              <a:srgbClr val="E9DFC4"/>
            </a:solidFill>
            <a:prstDash val="solid"/>
          </a:ln>
        </p:spPr>
      </p:sp>
      <p:sp>
        <p:nvSpPr>
          <p:cNvPr id="9" name="Shape 7"/>
          <p:cNvSpPr/>
          <p:nvPr/>
        </p:nvSpPr>
        <p:spPr>
          <a:xfrm>
            <a:off x="1234440" y="4105656"/>
            <a:ext cx="10607040" cy="0"/>
          </a:xfrm>
          <a:prstGeom prst="line">
            <a:avLst/>
          </a:prstGeom>
          <a:noFill/>
          <a:ln w="12700">
            <a:solidFill>
              <a:srgbClr val="E9DFC4"/>
            </a:solidFill>
            <a:prstDash val="solid"/>
          </a:ln>
        </p:spPr>
      </p:sp>
      <p:sp>
        <p:nvSpPr>
          <p:cNvPr id="10" name="Shape 8"/>
          <p:cNvSpPr/>
          <p:nvPr/>
        </p:nvSpPr>
        <p:spPr>
          <a:xfrm>
            <a:off x="1234440" y="4489704"/>
            <a:ext cx="10607040" cy="0"/>
          </a:xfrm>
          <a:prstGeom prst="line">
            <a:avLst/>
          </a:prstGeom>
          <a:noFill/>
          <a:ln w="12700">
            <a:solidFill>
              <a:srgbClr val="E9DFC4"/>
            </a:solidFill>
            <a:prstDash val="solid"/>
          </a:ln>
        </p:spPr>
      </p:sp>
      <p:sp>
        <p:nvSpPr>
          <p:cNvPr id="11" name="Shape 9"/>
          <p:cNvSpPr/>
          <p:nvPr/>
        </p:nvSpPr>
        <p:spPr>
          <a:xfrm>
            <a:off x="1234440" y="4873752"/>
            <a:ext cx="10607040" cy="0"/>
          </a:xfrm>
          <a:prstGeom prst="line">
            <a:avLst/>
          </a:prstGeom>
          <a:noFill/>
          <a:ln w="12700">
            <a:solidFill>
              <a:srgbClr val="E9DFC4"/>
            </a:solidFill>
            <a:prstDash val="solid"/>
          </a:ln>
        </p:spPr>
      </p:sp>
      <p:sp>
        <p:nvSpPr>
          <p:cNvPr id="12" name="Shape 10"/>
          <p:cNvSpPr/>
          <p:nvPr/>
        </p:nvSpPr>
        <p:spPr>
          <a:xfrm>
            <a:off x="1234440" y="5257800"/>
            <a:ext cx="10607040" cy="0"/>
          </a:xfrm>
          <a:prstGeom prst="line">
            <a:avLst/>
          </a:prstGeom>
          <a:noFill/>
          <a:ln w="12700">
            <a:solidFill>
              <a:srgbClr val="E9DFC4"/>
            </a:solidFill>
            <a:prstDash val="solid"/>
          </a:ln>
        </p:spPr>
      </p:sp>
      <p:sp>
        <p:nvSpPr>
          <p:cNvPr id="13" name="Shape 11"/>
          <p:cNvSpPr/>
          <p:nvPr/>
        </p:nvSpPr>
        <p:spPr>
          <a:xfrm>
            <a:off x="1234440" y="5641848"/>
            <a:ext cx="10607040" cy="0"/>
          </a:xfrm>
          <a:prstGeom prst="line">
            <a:avLst/>
          </a:prstGeom>
          <a:noFill/>
          <a:ln w="12700">
            <a:solidFill>
              <a:srgbClr val="E9DFC4"/>
            </a:solidFill>
            <a:prstDash val="solid"/>
          </a:ln>
        </p:spPr>
      </p:sp>
      <p:sp>
        <p:nvSpPr>
          <p:cNvPr id="14" name="Shape 12"/>
          <p:cNvSpPr/>
          <p:nvPr/>
        </p:nvSpPr>
        <p:spPr>
          <a:xfrm>
            <a:off x="1234440" y="6025896"/>
            <a:ext cx="10607040" cy="0"/>
          </a:xfrm>
          <a:prstGeom prst="line">
            <a:avLst/>
          </a:prstGeom>
          <a:noFill/>
          <a:ln w="12700">
            <a:solidFill>
              <a:srgbClr val="E9DFC4"/>
            </a:solidFill>
            <a:prstDash val="solid"/>
          </a:ln>
        </p:spPr>
      </p:sp>
      <p:sp>
        <p:nvSpPr>
          <p:cNvPr id="15" name="Shape 13"/>
          <p:cNvSpPr/>
          <p:nvPr/>
        </p:nvSpPr>
        <p:spPr>
          <a:xfrm>
            <a:off x="1234440" y="6409944"/>
            <a:ext cx="10607040" cy="0"/>
          </a:xfrm>
          <a:prstGeom prst="line">
            <a:avLst/>
          </a:prstGeom>
          <a:noFill/>
          <a:ln w="12700">
            <a:solidFill>
              <a:srgbClr val="E9DFC4"/>
            </a:solidFill>
            <a:prstDash val="solid"/>
          </a:ln>
        </p:spPr>
      </p:sp>
      <p:sp>
        <p:nvSpPr>
          <p:cNvPr id="16" name="Shape 14"/>
          <p:cNvSpPr/>
          <p:nvPr/>
        </p:nvSpPr>
        <p:spPr>
          <a:xfrm>
            <a:off x="1051560" y="320040"/>
            <a:ext cx="0" cy="6309360"/>
          </a:xfrm>
          <a:prstGeom prst="line">
            <a:avLst/>
          </a:prstGeom>
          <a:noFill/>
          <a:ln w="15875">
            <a:solidFill>
              <a:srgbClr val="C0392B"/>
            </a:solidFill>
            <a:prstDash val="solid"/>
          </a:ln>
        </p:spPr>
      </p:sp>
      <p:sp>
        <p:nvSpPr>
          <p:cNvPr id="17" name="Text 15"/>
          <p:cNvSpPr/>
          <p:nvPr/>
        </p:nvSpPr>
        <p:spPr>
          <a:xfrm>
            <a:off x="1280160" y="310896"/>
            <a:ext cx="2743200" cy="320040"/>
          </a:xfrm>
          <a:prstGeom prst="rect">
            <a:avLst/>
          </a:prstGeom>
          <a:noFill/>
          <a:ln/>
        </p:spPr>
        <p:txBody>
          <a:bodyPr wrap="square" lIns="0" tIns="0" rIns="0" bIns="0" rtlCol="0" anchor="ctr"/>
          <a:lstStyle/>
          <a:p>
            <a:pPr marL="0" indent="0">
              <a:buNone/>
            </a:pPr>
            <a:r>
              <a:rPr lang="en-US" sz="1300" b="1" dirty="0">
                <a:solidFill>
                  <a:srgbClr val="C0392B"/>
                </a:solidFill>
                <a:latin typeface="Calibri" pitchFamily="34" charset="0"/>
                <a:ea typeface="Calibri" pitchFamily="34" charset="-122"/>
                <a:cs typeface="Calibri" pitchFamily="34" charset="-120"/>
              </a:rPr>
              <a:t>Topic 1.8</a:t>
            </a:r>
            <a:endParaRPr lang="en-US" sz="1300" dirty="0"/>
          </a:p>
        </p:txBody>
      </p:sp>
      <p:sp>
        <p:nvSpPr>
          <p:cNvPr id="18" name="Text 16"/>
          <p:cNvSpPr/>
          <p:nvPr/>
        </p:nvSpPr>
        <p:spPr>
          <a:xfrm>
            <a:off x="1234440" y="566928"/>
            <a:ext cx="8138160" cy="777240"/>
          </a:xfrm>
          <a:prstGeom prst="rect">
            <a:avLst/>
          </a:prstGeom>
          <a:noFill/>
          <a:ln/>
        </p:spPr>
        <p:txBody>
          <a:bodyPr wrap="square" lIns="0" tIns="0" rIns="0" bIns="0" rtlCol="0" anchor="t"/>
          <a:lstStyle/>
          <a:p>
            <a:pPr marL="0" indent="0">
              <a:buNone/>
            </a:pPr>
            <a:r>
              <a:rPr lang="en-US" sz="3000" b="1" dirty="0">
                <a:solidFill>
                  <a:srgbClr val="1B3A6B"/>
                </a:solidFill>
                <a:latin typeface="Comic Sans MS" pitchFamily="34" charset="0"/>
                <a:ea typeface="Comic Sans MS" pitchFamily="34" charset="-122"/>
                <a:cs typeface="Comic Sans MS" pitchFamily="34" charset="-120"/>
              </a:rPr>
              <a:t>External Interconnection Standards</a:t>
            </a:r>
            <a:endParaRPr lang="en-US" sz="3000" dirty="0"/>
          </a:p>
        </p:txBody>
      </p:sp>
      <p:sp>
        <p:nvSpPr>
          <p:cNvPr id="19" name="Shape 17"/>
          <p:cNvSpPr/>
          <p:nvPr/>
        </p:nvSpPr>
        <p:spPr>
          <a:xfrm>
            <a:off x="9646920" y="384048"/>
            <a:ext cx="1965960" cy="384048"/>
          </a:xfrm>
          <a:prstGeom prst="roundRect">
            <a:avLst>
              <a:gd name="adj" fmla="val 19048"/>
            </a:avLst>
          </a:prstGeom>
          <a:solidFill>
            <a:srgbClr val="C0392B"/>
          </a:solidFill>
          <a:ln/>
        </p:spPr>
      </p:sp>
      <p:sp>
        <p:nvSpPr>
          <p:cNvPr id="20" name="Text 18"/>
          <p:cNvSpPr/>
          <p:nvPr/>
        </p:nvSpPr>
        <p:spPr>
          <a:xfrm>
            <a:off x="9646920" y="384048"/>
            <a:ext cx="196596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DEFINITION</a:t>
            </a:r>
            <a:endParaRPr lang="en-US" sz="1200" dirty="0"/>
          </a:p>
        </p:txBody>
      </p:sp>
      <p:sp>
        <p:nvSpPr>
          <p:cNvPr id="21" name="Shape 19"/>
          <p:cNvSpPr/>
          <p:nvPr/>
        </p:nvSpPr>
        <p:spPr>
          <a:xfrm>
            <a:off x="8732520" y="502920"/>
            <a:ext cx="1051560" cy="1051560"/>
          </a:xfrm>
          <a:prstGeom prst="ellipse">
            <a:avLst/>
          </a:prstGeom>
          <a:solidFill>
            <a:srgbClr val="DCE6F5"/>
          </a:solidFill>
          <a:ln/>
          <a:effectLst>
            <a:outerShdw blurRad="50800" dist="25400" dir="5400000" algn="bl" rotWithShape="0">
              <a:srgbClr val="999999">
                <a:alpha val="25000"/>
              </a:srgbClr>
            </a:outerShdw>
          </a:effectLst>
        </p:spPr>
      </p:sp>
      <p:pic>
        <p:nvPicPr>
          <p:cNvPr id="22" name="Image 0" descr="/home/claude/iobook/icons/usb.png"/>
          <p:cNvPicPr>
            <a:picLocks noChangeAspect="1"/>
          </p:cNvPicPr>
          <p:nvPr/>
        </p:nvPicPr>
        <p:blipFill>
          <a:blip r:embed="rId3"/>
          <a:stretch>
            <a:fillRect/>
          </a:stretch>
        </p:blipFill>
        <p:spPr>
          <a:xfrm>
            <a:off x="8963863" y="734263"/>
            <a:ext cx="588874" cy="588874"/>
          </a:xfrm>
          <a:prstGeom prst="rect">
            <a:avLst/>
          </a:prstGeom>
        </p:spPr>
      </p:pic>
      <p:sp>
        <p:nvSpPr>
          <p:cNvPr id="23" name="Shape 20"/>
          <p:cNvSpPr/>
          <p:nvPr/>
        </p:nvSpPr>
        <p:spPr>
          <a:xfrm>
            <a:off x="1280160" y="1600200"/>
            <a:ext cx="7360920" cy="1554480"/>
          </a:xfrm>
          <a:prstGeom prst="roundRect">
            <a:avLst>
              <a:gd name="adj" fmla="val 5882"/>
            </a:avLst>
          </a:prstGeom>
          <a:solidFill>
            <a:srgbClr val="FFE082">
              <a:alpha val="65000"/>
            </a:srgbClr>
          </a:solidFill>
          <a:ln w="12700">
            <a:solidFill>
              <a:srgbClr val="1B3A6B"/>
            </a:solidFill>
            <a:prstDash val="dash"/>
          </a:ln>
        </p:spPr>
      </p:sp>
      <p:sp>
        <p:nvSpPr>
          <p:cNvPr id="24" name="Text 21"/>
          <p:cNvSpPr/>
          <p:nvPr/>
        </p:nvSpPr>
        <p:spPr>
          <a:xfrm>
            <a:off x="1463040" y="1691640"/>
            <a:ext cx="6949440" cy="274320"/>
          </a:xfrm>
          <a:prstGeom prst="rect">
            <a:avLst/>
          </a:prstGeom>
          <a:noFill/>
          <a:ln/>
        </p:spPr>
        <p:txBody>
          <a:bodyPr wrap="square" lIns="0" tIns="0" rIns="0" bIns="0" rtlCol="0" anchor="ctr"/>
          <a:lstStyle/>
          <a:p>
            <a:pPr marL="0" indent="0">
              <a:buNone/>
            </a:pPr>
            <a:r>
              <a:rPr lang="en-US" sz="1200" b="1" dirty="0">
                <a:solidFill>
                  <a:srgbClr val="C0392B"/>
                </a:solidFill>
                <a:latin typeface="Calibri" pitchFamily="34" charset="0"/>
                <a:ea typeface="Calibri" pitchFamily="34" charset="-122"/>
                <a:cs typeface="Calibri" pitchFamily="34" charset="-120"/>
              </a:rPr>
              <a:t>IN SIMPLE WORDS:</a:t>
            </a:r>
            <a:endParaRPr lang="en-US" sz="1200" dirty="0"/>
          </a:p>
        </p:txBody>
      </p:sp>
      <p:sp>
        <p:nvSpPr>
          <p:cNvPr id="25" name="Text 22"/>
          <p:cNvSpPr/>
          <p:nvPr/>
        </p:nvSpPr>
        <p:spPr>
          <a:xfrm>
            <a:off x="1463040" y="1965960"/>
            <a:ext cx="6949440" cy="1097280"/>
          </a:xfrm>
          <a:prstGeom prst="rect">
            <a:avLst/>
          </a:prstGeom>
          <a:noFill/>
          <a:ln/>
        </p:spPr>
        <p:txBody>
          <a:bodyPr wrap="square" lIns="0" tIns="0" rIns="0" bIns="0" rtlCol="0" anchor="t"/>
          <a:lstStyle/>
          <a:p>
            <a:pPr marL="0" indent="0">
              <a:buNone/>
            </a:pPr>
            <a:r>
              <a:rPr lang="en-US" sz="1500" dirty="0">
                <a:solidFill>
                  <a:srgbClr val="1B3A6B"/>
                </a:solidFill>
                <a:latin typeface="Calibri" pitchFamily="34" charset="0"/>
                <a:ea typeface="Calibri" pitchFamily="34" charset="-122"/>
                <a:cs typeface="Calibri" pitchFamily="34" charset="-120"/>
              </a:rPr>
              <a:t>Agreed-upon rules (protocols) and physical connectors that let devices from ANY manufacturer connect to a computer and work correctly together.</a:t>
            </a:r>
            <a:endParaRPr lang="en-US" sz="1500" dirty="0"/>
          </a:p>
        </p:txBody>
      </p:sp>
      <p:sp>
        <p:nvSpPr>
          <p:cNvPr id="26" name="Text 23"/>
          <p:cNvSpPr/>
          <p:nvPr/>
        </p:nvSpPr>
        <p:spPr>
          <a:xfrm>
            <a:off x="1280160" y="3429000"/>
            <a:ext cx="7315200" cy="320040"/>
          </a:xfrm>
          <a:prstGeom prst="rect">
            <a:avLst/>
          </a:prstGeom>
          <a:noFill/>
          <a:ln/>
        </p:spPr>
        <p:txBody>
          <a:bodyPr wrap="square" lIns="0" tIns="0" rIns="0" bIns="0" rtlCol="0" anchor="ctr"/>
          <a:lstStyle/>
          <a:p>
            <a:pPr marL="0" indent="0">
              <a:buNone/>
            </a:pPr>
            <a:r>
              <a:rPr lang="en-US" sz="1300" b="1" dirty="0">
                <a:solidFill>
                  <a:srgbClr val="1B3A6B"/>
                </a:solidFill>
                <a:latin typeface="Calibri" pitchFamily="34" charset="0"/>
                <a:ea typeface="Calibri" pitchFamily="34" charset="-122"/>
                <a:cs typeface="Calibri" pitchFamily="34" charset="-120"/>
              </a:rPr>
              <a:t>KEY POINTS TO REMEMBER</a:t>
            </a:r>
            <a:endParaRPr lang="en-US" sz="1300" dirty="0"/>
          </a:p>
        </p:txBody>
      </p:sp>
      <p:sp>
        <p:nvSpPr>
          <p:cNvPr id="27" name="Text 24"/>
          <p:cNvSpPr/>
          <p:nvPr/>
        </p:nvSpPr>
        <p:spPr>
          <a:xfrm>
            <a:off x="1463040" y="3794760"/>
            <a:ext cx="6949440" cy="2286000"/>
          </a:xfrm>
          <a:prstGeom prst="rect">
            <a:avLst/>
          </a:prstGeom>
          <a:noFill/>
          <a:ln/>
        </p:spPr>
        <p:txBody>
          <a:bodyPr wrap="square" lIns="0" tIns="0" rIns="0" bIns="0" rtlCol="0" anchor="t"/>
          <a:lstStyle/>
          <a:p>
            <a:pPr marL="254000" indent="-254000">
              <a:spcAft>
                <a:spcPts val="1000"/>
              </a:spcAft>
              <a:buSzPct val="100000"/>
              <a:buChar char="✓"/>
            </a:pPr>
            <a:r>
              <a:rPr lang="en-US" sz="1400" dirty="0">
                <a:solidFill>
                  <a:srgbClr val="4A4A4A"/>
                </a:solidFill>
                <a:latin typeface="Calibri" pitchFamily="34" charset="0"/>
                <a:ea typeface="Calibri" pitchFamily="34" charset="-122"/>
                <a:cs typeface="Calibri" pitchFamily="34" charset="-120"/>
              </a:rPr>
              <a:t>Ensures compatibility between different brands</a:t>
            </a:r>
            <a:endParaRPr lang="en-US" sz="1400" dirty="0"/>
          </a:p>
          <a:p>
            <a:pPr marL="254000" indent="-254000">
              <a:spcAft>
                <a:spcPts val="1000"/>
              </a:spcAft>
              <a:buSzPct val="100000"/>
              <a:buChar char="✓"/>
            </a:pPr>
            <a:r>
              <a:rPr lang="en-US" sz="1400" dirty="0">
                <a:solidFill>
                  <a:srgbClr val="4A4A4A"/>
                </a:solidFill>
                <a:latin typeface="Calibri" pitchFamily="34" charset="0"/>
                <a:ea typeface="Calibri" pitchFamily="34" charset="-122"/>
                <a:cs typeface="Calibri" pitchFamily="34" charset="-120"/>
              </a:rPr>
              <a:t>Defines cables, connectors, speed, and signaling</a:t>
            </a:r>
            <a:endParaRPr lang="en-US" sz="1400" dirty="0"/>
          </a:p>
          <a:p>
            <a:pPr marL="254000" indent="-254000">
              <a:spcAft>
                <a:spcPts val="1000"/>
              </a:spcAft>
              <a:buSzPct val="100000"/>
              <a:buChar char="✓"/>
            </a:pPr>
            <a:r>
              <a:rPr lang="en-US" sz="1400" dirty="0">
                <a:solidFill>
                  <a:srgbClr val="4A4A4A"/>
                </a:solidFill>
                <a:latin typeface="Calibri" pitchFamily="34" charset="0"/>
                <a:ea typeface="Calibri" pitchFamily="34" charset="-122"/>
                <a:cs typeface="Calibri" pitchFamily="34" charset="-120"/>
              </a:rPr>
              <a:t>Examples: USB, SATA, PCIe, Thunderbolt, FireWire</a:t>
            </a:r>
            <a:endParaRPr lang="en-US" sz="1400" dirty="0"/>
          </a:p>
        </p:txBody>
      </p:sp>
      <p:sp>
        <p:nvSpPr>
          <p:cNvPr id="28" name="Text 25"/>
          <p:cNvSpPr/>
          <p:nvPr/>
        </p:nvSpPr>
        <p:spPr>
          <a:xfrm>
            <a:off x="320040" y="6510528"/>
            <a:ext cx="5486400" cy="274320"/>
          </a:xfrm>
          <a:prstGeom prst="rect">
            <a:avLst/>
          </a:prstGeom>
          <a:noFill/>
          <a:ln/>
        </p:spPr>
        <p:txBody>
          <a:bodyPr wrap="square" lIns="0" tIns="0" rIns="0" bIns="0" rtlCol="0" anchor="ctr"/>
          <a:lstStyle/>
          <a:p>
            <a:pPr marL="0" indent="0">
              <a:buNone/>
            </a:pPr>
            <a:r>
              <a:rPr lang="en-US" sz="1000" i="1" dirty="0">
                <a:solidFill>
                  <a:srgbClr val="4A4A4A"/>
                </a:solidFill>
                <a:latin typeface="Calibri" pitchFamily="34" charset="0"/>
                <a:ea typeface="Calibri" pitchFamily="34" charset="-122"/>
                <a:cs typeface="Calibri" pitchFamily="34" charset="-120"/>
              </a:rPr>
              <a:t>External Interconnection Standards</a:t>
            </a:r>
            <a:endParaRPr lang="en-US" sz="1000" dirty="0"/>
          </a:p>
        </p:txBody>
      </p:sp>
      <p:sp>
        <p:nvSpPr>
          <p:cNvPr id="29" name="Text 26"/>
          <p:cNvSpPr/>
          <p:nvPr/>
        </p:nvSpPr>
        <p:spPr>
          <a:xfrm>
            <a:off x="5029200" y="6510528"/>
            <a:ext cx="5029200" cy="274320"/>
          </a:xfrm>
          <a:prstGeom prst="rect">
            <a:avLst/>
          </a:prstGeom>
          <a:noFill/>
          <a:ln/>
        </p:spPr>
        <p:txBody>
          <a:bodyPr wrap="square" lIns="0" tIns="0" rIns="0" bIns="0" rtlCol="0" anchor="ctr"/>
          <a:lstStyle/>
          <a:p>
            <a:pPr marL="0" indent="0" algn="r">
              <a:buNone/>
            </a:pPr>
            <a:r>
              <a:rPr lang="en-US" sz="900" dirty="0">
                <a:solidFill>
                  <a:srgbClr val="4A4A4A"/>
                </a:solidFill>
                <a:latin typeface="Calibri" pitchFamily="34" charset="0"/>
                <a:ea typeface="Calibri" pitchFamily="34" charset="-122"/>
                <a:cs typeface="Calibri" pitchFamily="34" charset="-120"/>
              </a:rPr>
              <a:t>Ch.7 • Stallings, Computer Organization &amp; Architecture</a:t>
            </a:r>
            <a:endParaRPr lang="en-US" sz="900" dirty="0"/>
          </a:p>
        </p:txBody>
      </p:sp>
      <p:sp>
        <p:nvSpPr>
          <p:cNvPr id="30" name="Text 27"/>
          <p:cNvSpPr/>
          <p:nvPr/>
        </p:nvSpPr>
        <p:spPr>
          <a:xfrm>
            <a:off x="11475720" y="6510528"/>
            <a:ext cx="548640" cy="274320"/>
          </a:xfrm>
          <a:prstGeom prst="rect">
            <a:avLst/>
          </a:prstGeom>
          <a:noFill/>
          <a:ln/>
        </p:spPr>
        <p:txBody>
          <a:bodyPr wrap="square" lIns="0" tIns="0" rIns="0" bIns="0" rtlCol="0" anchor="ctr"/>
          <a:lstStyle/>
          <a:p>
            <a:pPr marL="0" indent="0" algn="r">
              <a:buNone/>
            </a:pPr>
            <a:r>
              <a:rPr lang="en-US" sz="1000" dirty="0">
                <a:solidFill>
                  <a:srgbClr val="4A4A4A"/>
                </a:solidFill>
                <a:latin typeface="Calibri" pitchFamily="34" charset="0"/>
                <a:ea typeface="Calibri" pitchFamily="34" charset="-122"/>
                <a:cs typeface="Calibri" pitchFamily="34" charset="-120"/>
              </a:rPr>
              <a:t>23/30</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8E1"/>
        </a:solidFill>
        <a:effectLst/>
      </p:bgPr>
    </p:bg>
    <p:spTree>
      <p:nvGrpSpPr>
        <p:cNvPr id="1" name=""/>
        <p:cNvGrpSpPr/>
        <p:nvPr/>
      </p:nvGrpSpPr>
      <p:grpSpPr>
        <a:xfrm>
          <a:off x="0" y="0"/>
          <a:ext cx="0" cy="0"/>
          <a:chOff x="0" y="0"/>
          <a:chExt cx="0" cy="0"/>
        </a:xfrm>
      </p:grpSpPr>
      <p:sp>
        <p:nvSpPr>
          <p:cNvPr id="2" name="Shape 0"/>
          <p:cNvSpPr/>
          <p:nvPr/>
        </p:nvSpPr>
        <p:spPr>
          <a:xfrm>
            <a:off x="1234440" y="1417320"/>
            <a:ext cx="10607040" cy="0"/>
          </a:xfrm>
          <a:prstGeom prst="line">
            <a:avLst/>
          </a:prstGeom>
          <a:noFill/>
          <a:ln w="12700">
            <a:solidFill>
              <a:srgbClr val="E9DFC4"/>
            </a:solidFill>
            <a:prstDash val="solid"/>
          </a:ln>
        </p:spPr>
      </p:sp>
      <p:sp>
        <p:nvSpPr>
          <p:cNvPr id="3" name="Shape 1"/>
          <p:cNvSpPr/>
          <p:nvPr/>
        </p:nvSpPr>
        <p:spPr>
          <a:xfrm>
            <a:off x="1234440" y="1801368"/>
            <a:ext cx="10607040" cy="0"/>
          </a:xfrm>
          <a:prstGeom prst="line">
            <a:avLst/>
          </a:prstGeom>
          <a:noFill/>
          <a:ln w="12700">
            <a:solidFill>
              <a:srgbClr val="E9DFC4"/>
            </a:solidFill>
            <a:prstDash val="solid"/>
          </a:ln>
        </p:spPr>
      </p:sp>
      <p:sp>
        <p:nvSpPr>
          <p:cNvPr id="4" name="Shape 2"/>
          <p:cNvSpPr/>
          <p:nvPr/>
        </p:nvSpPr>
        <p:spPr>
          <a:xfrm>
            <a:off x="1234440" y="2185416"/>
            <a:ext cx="10607040" cy="0"/>
          </a:xfrm>
          <a:prstGeom prst="line">
            <a:avLst/>
          </a:prstGeom>
          <a:noFill/>
          <a:ln w="12700">
            <a:solidFill>
              <a:srgbClr val="E9DFC4"/>
            </a:solidFill>
            <a:prstDash val="solid"/>
          </a:ln>
        </p:spPr>
      </p:sp>
      <p:sp>
        <p:nvSpPr>
          <p:cNvPr id="5" name="Shape 3"/>
          <p:cNvSpPr/>
          <p:nvPr/>
        </p:nvSpPr>
        <p:spPr>
          <a:xfrm>
            <a:off x="1234440" y="2569464"/>
            <a:ext cx="10607040" cy="0"/>
          </a:xfrm>
          <a:prstGeom prst="line">
            <a:avLst/>
          </a:prstGeom>
          <a:noFill/>
          <a:ln w="12700">
            <a:solidFill>
              <a:srgbClr val="E9DFC4"/>
            </a:solidFill>
            <a:prstDash val="solid"/>
          </a:ln>
        </p:spPr>
      </p:sp>
      <p:sp>
        <p:nvSpPr>
          <p:cNvPr id="6" name="Shape 4"/>
          <p:cNvSpPr/>
          <p:nvPr/>
        </p:nvSpPr>
        <p:spPr>
          <a:xfrm>
            <a:off x="1234440" y="2953512"/>
            <a:ext cx="10607040" cy="0"/>
          </a:xfrm>
          <a:prstGeom prst="line">
            <a:avLst/>
          </a:prstGeom>
          <a:noFill/>
          <a:ln w="12700">
            <a:solidFill>
              <a:srgbClr val="E9DFC4"/>
            </a:solidFill>
            <a:prstDash val="solid"/>
          </a:ln>
        </p:spPr>
      </p:sp>
      <p:sp>
        <p:nvSpPr>
          <p:cNvPr id="7" name="Shape 5"/>
          <p:cNvSpPr/>
          <p:nvPr/>
        </p:nvSpPr>
        <p:spPr>
          <a:xfrm>
            <a:off x="1234440" y="3337560"/>
            <a:ext cx="10607040" cy="0"/>
          </a:xfrm>
          <a:prstGeom prst="line">
            <a:avLst/>
          </a:prstGeom>
          <a:noFill/>
          <a:ln w="12700">
            <a:solidFill>
              <a:srgbClr val="E9DFC4"/>
            </a:solidFill>
            <a:prstDash val="solid"/>
          </a:ln>
        </p:spPr>
      </p:sp>
      <p:sp>
        <p:nvSpPr>
          <p:cNvPr id="8" name="Shape 6"/>
          <p:cNvSpPr/>
          <p:nvPr/>
        </p:nvSpPr>
        <p:spPr>
          <a:xfrm>
            <a:off x="1234440" y="3721608"/>
            <a:ext cx="10607040" cy="0"/>
          </a:xfrm>
          <a:prstGeom prst="line">
            <a:avLst/>
          </a:prstGeom>
          <a:noFill/>
          <a:ln w="12700">
            <a:solidFill>
              <a:srgbClr val="E9DFC4"/>
            </a:solidFill>
            <a:prstDash val="solid"/>
          </a:ln>
        </p:spPr>
      </p:sp>
      <p:sp>
        <p:nvSpPr>
          <p:cNvPr id="9" name="Shape 7"/>
          <p:cNvSpPr/>
          <p:nvPr/>
        </p:nvSpPr>
        <p:spPr>
          <a:xfrm>
            <a:off x="1234440" y="4105656"/>
            <a:ext cx="10607040" cy="0"/>
          </a:xfrm>
          <a:prstGeom prst="line">
            <a:avLst/>
          </a:prstGeom>
          <a:noFill/>
          <a:ln w="12700">
            <a:solidFill>
              <a:srgbClr val="E9DFC4"/>
            </a:solidFill>
            <a:prstDash val="solid"/>
          </a:ln>
        </p:spPr>
      </p:sp>
      <p:sp>
        <p:nvSpPr>
          <p:cNvPr id="10" name="Shape 8"/>
          <p:cNvSpPr/>
          <p:nvPr/>
        </p:nvSpPr>
        <p:spPr>
          <a:xfrm>
            <a:off x="1234440" y="4489704"/>
            <a:ext cx="10607040" cy="0"/>
          </a:xfrm>
          <a:prstGeom prst="line">
            <a:avLst/>
          </a:prstGeom>
          <a:noFill/>
          <a:ln w="12700">
            <a:solidFill>
              <a:srgbClr val="E9DFC4"/>
            </a:solidFill>
            <a:prstDash val="solid"/>
          </a:ln>
        </p:spPr>
      </p:sp>
      <p:sp>
        <p:nvSpPr>
          <p:cNvPr id="11" name="Shape 9"/>
          <p:cNvSpPr/>
          <p:nvPr/>
        </p:nvSpPr>
        <p:spPr>
          <a:xfrm>
            <a:off x="1234440" y="4873752"/>
            <a:ext cx="10607040" cy="0"/>
          </a:xfrm>
          <a:prstGeom prst="line">
            <a:avLst/>
          </a:prstGeom>
          <a:noFill/>
          <a:ln w="12700">
            <a:solidFill>
              <a:srgbClr val="E9DFC4"/>
            </a:solidFill>
            <a:prstDash val="solid"/>
          </a:ln>
        </p:spPr>
      </p:sp>
      <p:sp>
        <p:nvSpPr>
          <p:cNvPr id="12" name="Shape 10"/>
          <p:cNvSpPr/>
          <p:nvPr/>
        </p:nvSpPr>
        <p:spPr>
          <a:xfrm>
            <a:off x="1234440" y="5257800"/>
            <a:ext cx="10607040" cy="0"/>
          </a:xfrm>
          <a:prstGeom prst="line">
            <a:avLst/>
          </a:prstGeom>
          <a:noFill/>
          <a:ln w="12700">
            <a:solidFill>
              <a:srgbClr val="E9DFC4"/>
            </a:solidFill>
            <a:prstDash val="solid"/>
          </a:ln>
        </p:spPr>
      </p:sp>
      <p:sp>
        <p:nvSpPr>
          <p:cNvPr id="13" name="Shape 11"/>
          <p:cNvSpPr/>
          <p:nvPr/>
        </p:nvSpPr>
        <p:spPr>
          <a:xfrm>
            <a:off x="1234440" y="5641848"/>
            <a:ext cx="10607040" cy="0"/>
          </a:xfrm>
          <a:prstGeom prst="line">
            <a:avLst/>
          </a:prstGeom>
          <a:noFill/>
          <a:ln w="12700">
            <a:solidFill>
              <a:srgbClr val="E9DFC4"/>
            </a:solidFill>
            <a:prstDash val="solid"/>
          </a:ln>
        </p:spPr>
      </p:sp>
      <p:sp>
        <p:nvSpPr>
          <p:cNvPr id="14" name="Shape 12"/>
          <p:cNvSpPr/>
          <p:nvPr/>
        </p:nvSpPr>
        <p:spPr>
          <a:xfrm>
            <a:off x="1234440" y="6025896"/>
            <a:ext cx="10607040" cy="0"/>
          </a:xfrm>
          <a:prstGeom prst="line">
            <a:avLst/>
          </a:prstGeom>
          <a:noFill/>
          <a:ln w="12700">
            <a:solidFill>
              <a:srgbClr val="E9DFC4"/>
            </a:solidFill>
            <a:prstDash val="solid"/>
          </a:ln>
        </p:spPr>
      </p:sp>
      <p:sp>
        <p:nvSpPr>
          <p:cNvPr id="15" name="Shape 13"/>
          <p:cNvSpPr/>
          <p:nvPr/>
        </p:nvSpPr>
        <p:spPr>
          <a:xfrm>
            <a:off x="1234440" y="6409944"/>
            <a:ext cx="10607040" cy="0"/>
          </a:xfrm>
          <a:prstGeom prst="line">
            <a:avLst/>
          </a:prstGeom>
          <a:noFill/>
          <a:ln w="12700">
            <a:solidFill>
              <a:srgbClr val="E9DFC4"/>
            </a:solidFill>
            <a:prstDash val="solid"/>
          </a:ln>
        </p:spPr>
      </p:sp>
      <p:sp>
        <p:nvSpPr>
          <p:cNvPr id="16" name="Shape 14"/>
          <p:cNvSpPr/>
          <p:nvPr/>
        </p:nvSpPr>
        <p:spPr>
          <a:xfrm>
            <a:off x="1051560" y="320040"/>
            <a:ext cx="0" cy="6309360"/>
          </a:xfrm>
          <a:prstGeom prst="line">
            <a:avLst/>
          </a:prstGeom>
          <a:noFill/>
          <a:ln w="15875">
            <a:solidFill>
              <a:srgbClr val="C0392B"/>
            </a:solidFill>
            <a:prstDash val="solid"/>
          </a:ln>
        </p:spPr>
      </p:sp>
      <p:sp>
        <p:nvSpPr>
          <p:cNvPr id="17" name="Text 15"/>
          <p:cNvSpPr/>
          <p:nvPr/>
        </p:nvSpPr>
        <p:spPr>
          <a:xfrm>
            <a:off x="1280160" y="310896"/>
            <a:ext cx="2743200" cy="320040"/>
          </a:xfrm>
          <a:prstGeom prst="rect">
            <a:avLst/>
          </a:prstGeom>
          <a:noFill/>
          <a:ln/>
        </p:spPr>
        <p:txBody>
          <a:bodyPr wrap="square" lIns="0" tIns="0" rIns="0" bIns="0" rtlCol="0" anchor="ctr"/>
          <a:lstStyle/>
          <a:p>
            <a:pPr marL="0" indent="0">
              <a:buNone/>
            </a:pPr>
            <a:r>
              <a:rPr lang="en-US" sz="1300" b="1" dirty="0">
                <a:solidFill>
                  <a:srgbClr val="C0392B"/>
                </a:solidFill>
                <a:latin typeface="Calibri" pitchFamily="34" charset="0"/>
                <a:ea typeface="Calibri" pitchFamily="34" charset="-122"/>
                <a:cs typeface="Calibri" pitchFamily="34" charset="-120"/>
              </a:rPr>
              <a:t>Topic 1.8</a:t>
            </a:r>
            <a:endParaRPr lang="en-US" sz="1300" dirty="0"/>
          </a:p>
        </p:txBody>
      </p:sp>
      <p:sp>
        <p:nvSpPr>
          <p:cNvPr id="18" name="Text 16"/>
          <p:cNvSpPr/>
          <p:nvPr/>
        </p:nvSpPr>
        <p:spPr>
          <a:xfrm>
            <a:off x="1234440" y="566928"/>
            <a:ext cx="8138160" cy="777240"/>
          </a:xfrm>
          <a:prstGeom prst="rect">
            <a:avLst/>
          </a:prstGeom>
          <a:noFill/>
          <a:ln/>
        </p:spPr>
        <p:txBody>
          <a:bodyPr wrap="square" lIns="0" tIns="0" rIns="0" bIns="0" rtlCol="0" anchor="t"/>
          <a:lstStyle/>
          <a:p>
            <a:pPr marL="0" indent="0">
              <a:buNone/>
            </a:pPr>
            <a:r>
              <a:rPr lang="en-US" sz="3000" b="1" dirty="0">
                <a:solidFill>
                  <a:srgbClr val="1B3A6B"/>
                </a:solidFill>
                <a:latin typeface="Comic Sans MS" pitchFamily="34" charset="0"/>
                <a:ea typeface="Comic Sans MS" pitchFamily="34" charset="-122"/>
                <a:cs typeface="Comic Sans MS" pitchFamily="34" charset="-120"/>
              </a:rPr>
              <a:t>External Interconnection Standards</a:t>
            </a:r>
            <a:endParaRPr lang="en-US" sz="3000" dirty="0"/>
          </a:p>
        </p:txBody>
      </p:sp>
      <p:sp>
        <p:nvSpPr>
          <p:cNvPr id="19" name="Shape 17"/>
          <p:cNvSpPr/>
          <p:nvPr/>
        </p:nvSpPr>
        <p:spPr>
          <a:xfrm>
            <a:off x="9646920" y="384048"/>
            <a:ext cx="1965960" cy="384048"/>
          </a:xfrm>
          <a:prstGeom prst="roundRect">
            <a:avLst>
              <a:gd name="adj" fmla="val 19048"/>
            </a:avLst>
          </a:prstGeom>
          <a:solidFill>
            <a:srgbClr val="C0392B"/>
          </a:solidFill>
          <a:ln/>
        </p:spPr>
      </p:sp>
      <p:sp>
        <p:nvSpPr>
          <p:cNvPr id="20" name="Text 18"/>
          <p:cNvSpPr/>
          <p:nvPr/>
        </p:nvSpPr>
        <p:spPr>
          <a:xfrm>
            <a:off x="9646920" y="384048"/>
            <a:ext cx="196596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HOW IT WORKS</a:t>
            </a:r>
            <a:endParaRPr lang="en-US" sz="1200" dirty="0"/>
          </a:p>
        </p:txBody>
      </p:sp>
      <p:sp>
        <p:nvSpPr>
          <p:cNvPr id="21" name="Shape 19"/>
          <p:cNvSpPr/>
          <p:nvPr/>
        </p:nvSpPr>
        <p:spPr>
          <a:xfrm>
            <a:off x="8732520" y="502920"/>
            <a:ext cx="1051560" cy="1051560"/>
          </a:xfrm>
          <a:prstGeom prst="ellipse">
            <a:avLst/>
          </a:prstGeom>
          <a:solidFill>
            <a:srgbClr val="DCE6F5"/>
          </a:solidFill>
          <a:ln/>
          <a:effectLst>
            <a:outerShdw blurRad="50800" dist="25400" dir="5400000" algn="bl" rotWithShape="0">
              <a:srgbClr val="999999">
                <a:alpha val="25000"/>
              </a:srgbClr>
            </a:outerShdw>
          </a:effectLst>
        </p:spPr>
      </p:sp>
      <p:pic>
        <p:nvPicPr>
          <p:cNvPr id="22" name="Image 0" descr="/home/claude/iobook/icons/usb.png"/>
          <p:cNvPicPr>
            <a:picLocks noChangeAspect="1"/>
          </p:cNvPicPr>
          <p:nvPr/>
        </p:nvPicPr>
        <p:blipFill>
          <a:blip r:embed="rId3"/>
          <a:stretch>
            <a:fillRect/>
          </a:stretch>
        </p:blipFill>
        <p:spPr>
          <a:xfrm>
            <a:off x="8963863" y="734263"/>
            <a:ext cx="588874" cy="588874"/>
          </a:xfrm>
          <a:prstGeom prst="rect">
            <a:avLst/>
          </a:prstGeom>
        </p:spPr>
      </p:pic>
      <p:sp>
        <p:nvSpPr>
          <p:cNvPr id="23" name="Shape 20"/>
          <p:cNvSpPr/>
          <p:nvPr/>
        </p:nvSpPr>
        <p:spPr>
          <a:xfrm>
            <a:off x="1280160" y="1965960"/>
            <a:ext cx="2331720" cy="1600200"/>
          </a:xfrm>
          <a:prstGeom prst="roundRect">
            <a:avLst>
              <a:gd name="adj" fmla="val 4571"/>
            </a:avLst>
          </a:prstGeom>
          <a:solidFill>
            <a:srgbClr val="FFFFFF"/>
          </a:solidFill>
          <a:ln w="12700">
            <a:solidFill>
              <a:srgbClr val="1B3A6B"/>
            </a:solidFill>
            <a:prstDash val="solid"/>
          </a:ln>
          <a:effectLst>
            <a:outerShdw blurRad="38100" dist="25400" dir="5400000" algn="bl" rotWithShape="0">
              <a:srgbClr val="999999">
                <a:alpha val="20000"/>
              </a:srgbClr>
            </a:outerShdw>
          </a:effectLst>
        </p:spPr>
      </p:sp>
      <p:sp>
        <p:nvSpPr>
          <p:cNvPr id="24" name="Shape 21"/>
          <p:cNvSpPr/>
          <p:nvPr/>
        </p:nvSpPr>
        <p:spPr>
          <a:xfrm>
            <a:off x="2244852" y="1764792"/>
            <a:ext cx="402336" cy="402336"/>
          </a:xfrm>
          <a:prstGeom prst="ellipse">
            <a:avLst/>
          </a:prstGeom>
          <a:solidFill>
            <a:srgbClr val="C0392B"/>
          </a:solidFill>
          <a:ln w="25400">
            <a:solidFill>
              <a:srgbClr val="FFF8E1"/>
            </a:solidFill>
            <a:prstDash val="solid"/>
          </a:ln>
        </p:spPr>
      </p:sp>
      <p:sp>
        <p:nvSpPr>
          <p:cNvPr id="25" name="Text 22"/>
          <p:cNvSpPr/>
          <p:nvPr/>
        </p:nvSpPr>
        <p:spPr>
          <a:xfrm>
            <a:off x="2244852" y="1764792"/>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26" name="Text 23"/>
          <p:cNvSpPr/>
          <p:nvPr/>
        </p:nvSpPr>
        <p:spPr>
          <a:xfrm>
            <a:off x="1389888" y="2221992"/>
            <a:ext cx="2112264" cy="502920"/>
          </a:xfrm>
          <a:prstGeom prst="rect">
            <a:avLst/>
          </a:prstGeom>
          <a:noFill/>
          <a:ln/>
        </p:spPr>
        <p:txBody>
          <a:bodyPr wrap="square" lIns="0" tIns="0" rIns="0" bIns="0" rtlCol="0" anchor="t"/>
          <a:lstStyle/>
          <a:p>
            <a:pPr marL="0" indent="0">
              <a:buNone/>
            </a:pPr>
            <a:r>
              <a:rPr lang="en-US" sz="1350" b="1" dirty="0">
                <a:solidFill>
                  <a:srgbClr val="1B3A6B"/>
                </a:solidFill>
                <a:latin typeface="Calibri" pitchFamily="34" charset="0"/>
                <a:ea typeface="Calibri" pitchFamily="34" charset="-122"/>
                <a:cs typeface="Calibri" pitchFamily="34" charset="-120"/>
              </a:rPr>
              <a:t>1. USB</a:t>
            </a:r>
            <a:endParaRPr lang="en-US" sz="1350" dirty="0"/>
          </a:p>
        </p:txBody>
      </p:sp>
      <p:sp>
        <p:nvSpPr>
          <p:cNvPr id="27" name="Text 24"/>
          <p:cNvSpPr/>
          <p:nvPr/>
        </p:nvSpPr>
        <p:spPr>
          <a:xfrm>
            <a:off x="1389888" y="2715768"/>
            <a:ext cx="2112264" cy="777240"/>
          </a:xfrm>
          <a:prstGeom prst="rect">
            <a:avLst/>
          </a:prstGeom>
          <a:noFill/>
          <a:ln/>
        </p:spPr>
        <p:txBody>
          <a:bodyPr wrap="square" lIns="0" tIns="0" rIns="0" bIns="0" rtlCol="0" anchor="t"/>
          <a:lstStyle/>
          <a:p>
            <a:pPr marL="0" indent="0">
              <a:buNone/>
            </a:pPr>
            <a:r>
              <a:rPr lang="en-US" sz="1100" dirty="0">
                <a:solidFill>
                  <a:srgbClr val="4A4A4A"/>
                </a:solidFill>
                <a:latin typeface="Calibri" pitchFamily="34" charset="0"/>
                <a:ea typeface="Calibri" pitchFamily="34" charset="-122"/>
                <a:cs typeface="Calibri" pitchFamily="34" charset="-120"/>
              </a:rPr>
              <a:t>Universal Serial Bus — keyboards, drives, phones</a:t>
            </a:r>
            <a:endParaRPr lang="en-US" sz="1100" dirty="0"/>
          </a:p>
        </p:txBody>
      </p:sp>
      <p:pic>
        <p:nvPicPr>
          <p:cNvPr id="28" name="Image 1" descr="/home/claude/iobook/icons/arrowRight.png"/>
          <p:cNvPicPr>
            <a:picLocks noChangeAspect="1"/>
          </p:cNvPicPr>
          <p:nvPr/>
        </p:nvPicPr>
        <p:blipFill>
          <a:blip r:embed="rId4"/>
          <a:stretch>
            <a:fillRect/>
          </a:stretch>
        </p:blipFill>
        <p:spPr>
          <a:xfrm>
            <a:off x="3639312" y="2628900"/>
            <a:ext cx="274320" cy="274320"/>
          </a:xfrm>
          <a:prstGeom prst="rect">
            <a:avLst/>
          </a:prstGeom>
        </p:spPr>
      </p:pic>
      <p:sp>
        <p:nvSpPr>
          <p:cNvPr id="29" name="Shape 25"/>
          <p:cNvSpPr/>
          <p:nvPr/>
        </p:nvSpPr>
        <p:spPr>
          <a:xfrm>
            <a:off x="3931920" y="1965960"/>
            <a:ext cx="2331720" cy="1600200"/>
          </a:xfrm>
          <a:prstGeom prst="roundRect">
            <a:avLst>
              <a:gd name="adj" fmla="val 4571"/>
            </a:avLst>
          </a:prstGeom>
          <a:solidFill>
            <a:srgbClr val="FFFFFF"/>
          </a:solidFill>
          <a:ln w="12700">
            <a:solidFill>
              <a:srgbClr val="1B3A6B"/>
            </a:solidFill>
            <a:prstDash val="solid"/>
          </a:ln>
          <a:effectLst>
            <a:outerShdw blurRad="38100" dist="25400" dir="5400000" algn="bl" rotWithShape="0">
              <a:srgbClr val="999999">
                <a:alpha val="20000"/>
              </a:srgbClr>
            </a:outerShdw>
          </a:effectLst>
        </p:spPr>
      </p:sp>
      <p:sp>
        <p:nvSpPr>
          <p:cNvPr id="30" name="Shape 26"/>
          <p:cNvSpPr/>
          <p:nvPr/>
        </p:nvSpPr>
        <p:spPr>
          <a:xfrm>
            <a:off x="4896612" y="1764792"/>
            <a:ext cx="402336" cy="402336"/>
          </a:xfrm>
          <a:prstGeom prst="ellipse">
            <a:avLst/>
          </a:prstGeom>
          <a:solidFill>
            <a:srgbClr val="C0392B"/>
          </a:solidFill>
          <a:ln w="25400">
            <a:solidFill>
              <a:srgbClr val="FFF8E1"/>
            </a:solidFill>
            <a:prstDash val="solid"/>
          </a:ln>
        </p:spPr>
      </p:sp>
      <p:sp>
        <p:nvSpPr>
          <p:cNvPr id="31" name="Text 27"/>
          <p:cNvSpPr/>
          <p:nvPr/>
        </p:nvSpPr>
        <p:spPr>
          <a:xfrm>
            <a:off x="4896612" y="1764792"/>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32" name="Text 28"/>
          <p:cNvSpPr/>
          <p:nvPr/>
        </p:nvSpPr>
        <p:spPr>
          <a:xfrm>
            <a:off x="4041648" y="2221992"/>
            <a:ext cx="2112264" cy="502920"/>
          </a:xfrm>
          <a:prstGeom prst="rect">
            <a:avLst/>
          </a:prstGeom>
          <a:noFill/>
          <a:ln/>
        </p:spPr>
        <p:txBody>
          <a:bodyPr wrap="square" lIns="0" tIns="0" rIns="0" bIns="0" rtlCol="0" anchor="t"/>
          <a:lstStyle/>
          <a:p>
            <a:pPr marL="0" indent="0">
              <a:buNone/>
            </a:pPr>
            <a:r>
              <a:rPr lang="en-US" sz="1350" b="1" dirty="0">
                <a:solidFill>
                  <a:srgbClr val="1B3A6B"/>
                </a:solidFill>
                <a:latin typeface="Calibri" pitchFamily="34" charset="0"/>
                <a:ea typeface="Calibri" pitchFamily="34" charset="-122"/>
                <a:cs typeface="Calibri" pitchFamily="34" charset="-120"/>
              </a:rPr>
              <a:t>2. SATA</a:t>
            </a:r>
            <a:endParaRPr lang="en-US" sz="1350" dirty="0"/>
          </a:p>
        </p:txBody>
      </p:sp>
      <p:sp>
        <p:nvSpPr>
          <p:cNvPr id="33" name="Text 29"/>
          <p:cNvSpPr/>
          <p:nvPr/>
        </p:nvSpPr>
        <p:spPr>
          <a:xfrm>
            <a:off x="4041648" y="2715768"/>
            <a:ext cx="2112264" cy="777240"/>
          </a:xfrm>
          <a:prstGeom prst="rect">
            <a:avLst/>
          </a:prstGeom>
          <a:noFill/>
          <a:ln/>
        </p:spPr>
        <p:txBody>
          <a:bodyPr wrap="square" lIns="0" tIns="0" rIns="0" bIns="0" rtlCol="0" anchor="t"/>
          <a:lstStyle/>
          <a:p>
            <a:pPr marL="0" indent="0">
              <a:buNone/>
            </a:pPr>
            <a:r>
              <a:rPr lang="en-US" sz="1100" dirty="0">
                <a:solidFill>
                  <a:srgbClr val="4A4A4A"/>
                </a:solidFill>
                <a:latin typeface="Calibri" pitchFamily="34" charset="0"/>
                <a:ea typeface="Calibri" pitchFamily="34" charset="-122"/>
                <a:cs typeface="Calibri" pitchFamily="34" charset="-120"/>
              </a:rPr>
              <a:t>Connects internal hard drives &amp; SSDs</a:t>
            </a:r>
            <a:endParaRPr lang="en-US" sz="1100" dirty="0"/>
          </a:p>
        </p:txBody>
      </p:sp>
      <p:pic>
        <p:nvPicPr>
          <p:cNvPr id="34" name="Image 2" descr="/home/claude/iobook/icons/arrowRight.png"/>
          <p:cNvPicPr>
            <a:picLocks noChangeAspect="1"/>
          </p:cNvPicPr>
          <p:nvPr/>
        </p:nvPicPr>
        <p:blipFill>
          <a:blip r:embed="rId4"/>
          <a:stretch>
            <a:fillRect/>
          </a:stretch>
        </p:blipFill>
        <p:spPr>
          <a:xfrm>
            <a:off x="6291072" y="2628900"/>
            <a:ext cx="274320" cy="274320"/>
          </a:xfrm>
          <a:prstGeom prst="rect">
            <a:avLst/>
          </a:prstGeom>
        </p:spPr>
      </p:pic>
      <p:sp>
        <p:nvSpPr>
          <p:cNvPr id="35" name="Shape 30"/>
          <p:cNvSpPr/>
          <p:nvPr/>
        </p:nvSpPr>
        <p:spPr>
          <a:xfrm>
            <a:off x="6583680" y="1965960"/>
            <a:ext cx="2331720" cy="1600200"/>
          </a:xfrm>
          <a:prstGeom prst="roundRect">
            <a:avLst>
              <a:gd name="adj" fmla="val 4571"/>
            </a:avLst>
          </a:prstGeom>
          <a:solidFill>
            <a:srgbClr val="FFFFFF"/>
          </a:solidFill>
          <a:ln w="12700">
            <a:solidFill>
              <a:srgbClr val="1B3A6B"/>
            </a:solidFill>
            <a:prstDash val="solid"/>
          </a:ln>
          <a:effectLst>
            <a:outerShdw blurRad="38100" dist="25400" dir="5400000" algn="bl" rotWithShape="0">
              <a:srgbClr val="999999">
                <a:alpha val="20000"/>
              </a:srgbClr>
            </a:outerShdw>
          </a:effectLst>
        </p:spPr>
      </p:sp>
      <p:sp>
        <p:nvSpPr>
          <p:cNvPr id="36" name="Shape 31"/>
          <p:cNvSpPr/>
          <p:nvPr/>
        </p:nvSpPr>
        <p:spPr>
          <a:xfrm>
            <a:off x="7548372" y="1764792"/>
            <a:ext cx="402336" cy="402336"/>
          </a:xfrm>
          <a:prstGeom prst="ellipse">
            <a:avLst/>
          </a:prstGeom>
          <a:solidFill>
            <a:srgbClr val="C0392B"/>
          </a:solidFill>
          <a:ln w="25400">
            <a:solidFill>
              <a:srgbClr val="FFF8E1"/>
            </a:solidFill>
            <a:prstDash val="solid"/>
          </a:ln>
        </p:spPr>
      </p:sp>
      <p:sp>
        <p:nvSpPr>
          <p:cNvPr id="37" name="Text 32"/>
          <p:cNvSpPr/>
          <p:nvPr/>
        </p:nvSpPr>
        <p:spPr>
          <a:xfrm>
            <a:off x="7548372" y="1764792"/>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38" name="Text 33"/>
          <p:cNvSpPr/>
          <p:nvPr/>
        </p:nvSpPr>
        <p:spPr>
          <a:xfrm>
            <a:off x="6693408" y="2221992"/>
            <a:ext cx="2112264" cy="502920"/>
          </a:xfrm>
          <a:prstGeom prst="rect">
            <a:avLst/>
          </a:prstGeom>
          <a:noFill/>
          <a:ln/>
        </p:spPr>
        <p:txBody>
          <a:bodyPr wrap="square" lIns="0" tIns="0" rIns="0" bIns="0" rtlCol="0" anchor="t"/>
          <a:lstStyle/>
          <a:p>
            <a:pPr marL="0" indent="0">
              <a:buNone/>
            </a:pPr>
            <a:r>
              <a:rPr lang="en-US" sz="1350" b="1" dirty="0">
                <a:solidFill>
                  <a:srgbClr val="1B3A6B"/>
                </a:solidFill>
                <a:latin typeface="Calibri" pitchFamily="34" charset="0"/>
                <a:ea typeface="Calibri" pitchFamily="34" charset="-122"/>
                <a:cs typeface="Calibri" pitchFamily="34" charset="-120"/>
              </a:rPr>
              <a:t>3. PCIe</a:t>
            </a:r>
            <a:endParaRPr lang="en-US" sz="1350" dirty="0"/>
          </a:p>
        </p:txBody>
      </p:sp>
      <p:sp>
        <p:nvSpPr>
          <p:cNvPr id="39" name="Text 34"/>
          <p:cNvSpPr/>
          <p:nvPr/>
        </p:nvSpPr>
        <p:spPr>
          <a:xfrm>
            <a:off x="6693408" y="2715768"/>
            <a:ext cx="2112264" cy="777240"/>
          </a:xfrm>
          <a:prstGeom prst="rect">
            <a:avLst/>
          </a:prstGeom>
          <a:noFill/>
          <a:ln/>
        </p:spPr>
        <p:txBody>
          <a:bodyPr wrap="square" lIns="0" tIns="0" rIns="0" bIns="0" rtlCol="0" anchor="t"/>
          <a:lstStyle/>
          <a:p>
            <a:pPr marL="0" indent="0">
              <a:buNone/>
            </a:pPr>
            <a:r>
              <a:rPr lang="en-US" sz="1100" dirty="0">
                <a:solidFill>
                  <a:srgbClr val="4A4A4A"/>
                </a:solidFill>
                <a:latin typeface="Calibri" pitchFamily="34" charset="0"/>
                <a:ea typeface="Calibri" pitchFamily="34" charset="-122"/>
                <a:cs typeface="Calibri" pitchFamily="34" charset="-120"/>
              </a:rPr>
              <a:t>High-speed internal expansion cards</a:t>
            </a:r>
            <a:endParaRPr lang="en-US" sz="1100" dirty="0"/>
          </a:p>
        </p:txBody>
      </p:sp>
      <p:pic>
        <p:nvPicPr>
          <p:cNvPr id="40" name="Image 3" descr="/home/claude/iobook/icons/arrowRight.png"/>
          <p:cNvPicPr>
            <a:picLocks noChangeAspect="1"/>
          </p:cNvPicPr>
          <p:nvPr/>
        </p:nvPicPr>
        <p:blipFill>
          <a:blip r:embed="rId4"/>
          <a:stretch>
            <a:fillRect/>
          </a:stretch>
        </p:blipFill>
        <p:spPr>
          <a:xfrm>
            <a:off x="8942832" y="2628900"/>
            <a:ext cx="274320" cy="274320"/>
          </a:xfrm>
          <a:prstGeom prst="rect">
            <a:avLst/>
          </a:prstGeom>
        </p:spPr>
      </p:pic>
      <p:sp>
        <p:nvSpPr>
          <p:cNvPr id="41" name="Shape 35"/>
          <p:cNvSpPr/>
          <p:nvPr/>
        </p:nvSpPr>
        <p:spPr>
          <a:xfrm>
            <a:off x="9235440" y="1965960"/>
            <a:ext cx="2331720" cy="1600200"/>
          </a:xfrm>
          <a:prstGeom prst="roundRect">
            <a:avLst>
              <a:gd name="adj" fmla="val 4571"/>
            </a:avLst>
          </a:prstGeom>
          <a:solidFill>
            <a:srgbClr val="FFFFFF"/>
          </a:solidFill>
          <a:ln w="12700">
            <a:solidFill>
              <a:srgbClr val="1B3A6B"/>
            </a:solidFill>
            <a:prstDash val="solid"/>
          </a:ln>
          <a:effectLst>
            <a:outerShdw blurRad="38100" dist="25400" dir="5400000" algn="bl" rotWithShape="0">
              <a:srgbClr val="999999">
                <a:alpha val="20000"/>
              </a:srgbClr>
            </a:outerShdw>
          </a:effectLst>
        </p:spPr>
      </p:sp>
      <p:sp>
        <p:nvSpPr>
          <p:cNvPr id="42" name="Shape 36"/>
          <p:cNvSpPr/>
          <p:nvPr/>
        </p:nvSpPr>
        <p:spPr>
          <a:xfrm>
            <a:off x="10200132" y="1764792"/>
            <a:ext cx="402336" cy="402336"/>
          </a:xfrm>
          <a:prstGeom prst="ellipse">
            <a:avLst/>
          </a:prstGeom>
          <a:solidFill>
            <a:srgbClr val="C0392B"/>
          </a:solidFill>
          <a:ln w="25400">
            <a:solidFill>
              <a:srgbClr val="FFF8E1"/>
            </a:solidFill>
            <a:prstDash val="solid"/>
          </a:ln>
        </p:spPr>
      </p:sp>
      <p:sp>
        <p:nvSpPr>
          <p:cNvPr id="43" name="Text 37"/>
          <p:cNvSpPr/>
          <p:nvPr/>
        </p:nvSpPr>
        <p:spPr>
          <a:xfrm>
            <a:off x="10200132" y="1764792"/>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44" name="Text 38"/>
          <p:cNvSpPr/>
          <p:nvPr/>
        </p:nvSpPr>
        <p:spPr>
          <a:xfrm>
            <a:off x="9345168" y="2221992"/>
            <a:ext cx="2112264" cy="502920"/>
          </a:xfrm>
          <a:prstGeom prst="rect">
            <a:avLst/>
          </a:prstGeom>
          <a:noFill/>
          <a:ln/>
        </p:spPr>
        <p:txBody>
          <a:bodyPr wrap="square" lIns="0" tIns="0" rIns="0" bIns="0" rtlCol="0" anchor="t"/>
          <a:lstStyle/>
          <a:p>
            <a:pPr marL="0" indent="0">
              <a:buNone/>
            </a:pPr>
            <a:r>
              <a:rPr lang="en-US" sz="1350" b="1" dirty="0">
                <a:solidFill>
                  <a:srgbClr val="1B3A6B"/>
                </a:solidFill>
                <a:latin typeface="Calibri" pitchFamily="34" charset="0"/>
                <a:ea typeface="Calibri" pitchFamily="34" charset="-122"/>
                <a:cs typeface="Calibri" pitchFamily="34" charset="-120"/>
              </a:rPr>
              <a:t>4. Thunderbolt</a:t>
            </a:r>
            <a:endParaRPr lang="en-US" sz="1350" dirty="0"/>
          </a:p>
        </p:txBody>
      </p:sp>
      <p:sp>
        <p:nvSpPr>
          <p:cNvPr id="45" name="Text 39"/>
          <p:cNvSpPr/>
          <p:nvPr/>
        </p:nvSpPr>
        <p:spPr>
          <a:xfrm>
            <a:off x="9345168" y="2715768"/>
            <a:ext cx="2112264" cy="777240"/>
          </a:xfrm>
          <a:prstGeom prst="rect">
            <a:avLst/>
          </a:prstGeom>
          <a:noFill/>
          <a:ln/>
        </p:spPr>
        <p:txBody>
          <a:bodyPr wrap="square" lIns="0" tIns="0" rIns="0" bIns="0" rtlCol="0" anchor="t"/>
          <a:lstStyle/>
          <a:p>
            <a:pPr marL="0" indent="0">
              <a:buNone/>
            </a:pPr>
            <a:r>
              <a:rPr lang="en-US" sz="1100" dirty="0">
                <a:solidFill>
                  <a:srgbClr val="4A4A4A"/>
                </a:solidFill>
                <a:latin typeface="Calibri" pitchFamily="34" charset="0"/>
                <a:ea typeface="Calibri" pitchFamily="34" charset="-122"/>
                <a:cs typeface="Calibri" pitchFamily="34" charset="-120"/>
              </a:rPr>
              <a:t>Very high-speed data + display + power</a:t>
            </a:r>
            <a:endParaRPr lang="en-US" sz="1100" dirty="0"/>
          </a:p>
        </p:txBody>
      </p:sp>
      <p:sp>
        <p:nvSpPr>
          <p:cNvPr id="46" name="Shape 40"/>
          <p:cNvSpPr/>
          <p:nvPr/>
        </p:nvSpPr>
        <p:spPr>
          <a:xfrm>
            <a:off x="1280160" y="3977640"/>
            <a:ext cx="8778240" cy="1234440"/>
          </a:xfrm>
          <a:prstGeom prst="roundRect">
            <a:avLst>
              <a:gd name="adj" fmla="val 7407"/>
            </a:avLst>
          </a:prstGeom>
          <a:solidFill>
            <a:srgbClr val="DCE6F5">
              <a:alpha val="70000"/>
            </a:srgbClr>
          </a:solidFill>
          <a:ln w="9525">
            <a:solidFill>
              <a:srgbClr val="1B3A6B"/>
            </a:solidFill>
            <a:prstDash val="sysDot"/>
          </a:ln>
        </p:spPr>
      </p:sp>
      <p:pic>
        <p:nvPicPr>
          <p:cNvPr id="47" name="Image 4" descr="/home/claude/iobook/icons/lightbulb.png"/>
          <p:cNvPicPr>
            <a:picLocks noChangeAspect="1"/>
          </p:cNvPicPr>
          <p:nvPr/>
        </p:nvPicPr>
        <p:blipFill>
          <a:blip r:embed="rId5"/>
          <a:stretch>
            <a:fillRect/>
          </a:stretch>
        </p:blipFill>
        <p:spPr>
          <a:xfrm>
            <a:off x="1463040" y="4160520"/>
            <a:ext cx="502920" cy="502920"/>
          </a:xfrm>
          <a:prstGeom prst="rect">
            <a:avLst/>
          </a:prstGeom>
        </p:spPr>
      </p:pic>
      <p:sp>
        <p:nvSpPr>
          <p:cNvPr id="48" name="Text 41"/>
          <p:cNvSpPr/>
          <p:nvPr/>
        </p:nvSpPr>
        <p:spPr>
          <a:xfrm>
            <a:off x="2103120" y="4114800"/>
            <a:ext cx="7772400" cy="1005840"/>
          </a:xfrm>
          <a:prstGeom prst="rect">
            <a:avLst/>
          </a:prstGeom>
          <a:noFill/>
          <a:ln/>
        </p:spPr>
        <p:txBody>
          <a:bodyPr wrap="square" lIns="0" tIns="0" rIns="0" bIns="0" rtlCol="0" anchor="ctr"/>
          <a:lstStyle/>
          <a:p>
            <a:pPr marL="0" indent="0">
              <a:buNone/>
            </a:pPr>
            <a:r>
              <a:rPr lang="en-US" sz="1350" i="1" dirty="0">
                <a:solidFill>
                  <a:srgbClr val="1B3A6B"/>
                </a:solidFill>
                <a:latin typeface="Calibri" pitchFamily="34" charset="0"/>
                <a:ea typeface="Calibri" pitchFamily="34" charset="-122"/>
                <a:cs typeface="Calibri" pitchFamily="34" charset="-120"/>
              </a:rPr>
              <a:t>Standards are exactly why you don't need a different plug shape for every single brand of device.</a:t>
            </a:r>
            <a:endParaRPr lang="en-US" sz="1350" dirty="0"/>
          </a:p>
        </p:txBody>
      </p:sp>
      <p:sp>
        <p:nvSpPr>
          <p:cNvPr id="49" name="Text 42"/>
          <p:cNvSpPr/>
          <p:nvPr/>
        </p:nvSpPr>
        <p:spPr>
          <a:xfrm>
            <a:off x="320040" y="6510528"/>
            <a:ext cx="5486400" cy="274320"/>
          </a:xfrm>
          <a:prstGeom prst="rect">
            <a:avLst/>
          </a:prstGeom>
          <a:noFill/>
          <a:ln/>
        </p:spPr>
        <p:txBody>
          <a:bodyPr wrap="square" lIns="0" tIns="0" rIns="0" bIns="0" rtlCol="0" anchor="ctr"/>
          <a:lstStyle/>
          <a:p>
            <a:pPr marL="0" indent="0">
              <a:buNone/>
            </a:pPr>
            <a:r>
              <a:rPr lang="en-US" sz="1000" i="1" dirty="0">
                <a:solidFill>
                  <a:srgbClr val="4A4A4A"/>
                </a:solidFill>
                <a:latin typeface="Calibri" pitchFamily="34" charset="0"/>
                <a:ea typeface="Calibri" pitchFamily="34" charset="-122"/>
                <a:cs typeface="Calibri" pitchFamily="34" charset="-120"/>
              </a:rPr>
              <a:t>External Interconnection Standards</a:t>
            </a:r>
            <a:endParaRPr lang="en-US" sz="1000" dirty="0"/>
          </a:p>
        </p:txBody>
      </p:sp>
      <p:sp>
        <p:nvSpPr>
          <p:cNvPr id="50" name="Text 43"/>
          <p:cNvSpPr/>
          <p:nvPr/>
        </p:nvSpPr>
        <p:spPr>
          <a:xfrm>
            <a:off x="5029200" y="6510528"/>
            <a:ext cx="5029200" cy="274320"/>
          </a:xfrm>
          <a:prstGeom prst="rect">
            <a:avLst/>
          </a:prstGeom>
          <a:noFill/>
          <a:ln/>
        </p:spPr>
        <p:txBody>
          <a:bodyPr wrap="square" lIns="0" tIns="0" rIns="0" bIns="0" rtlCol="0" anchor="ctr"/>
          <a:lstStyle/>
          <a:p>
            <a:pPr marL="0" indent="0" algn="r">
              <a:buNone/>
            </a:pPr>
            <a:r>
              <a:rPr lang="en-US" sz="900" dirty="0">
                <a:solidFill>
                  <a:srgbClr val="4A4A4A"/>
                </a:solidFill>
                <a:latin typeface="Calibri" pitchFamily="34" charset="0"/>
                <a:ea typeface="Calibri" pitchFamily="34" charset="-122"/>
                <a:cs typeface="Calibri" pitchFamily="34" charset="-120"/>
              </a:rPr>
              <a:t>Ch.7 • Stallings, Computer Organization &amp; Architecture</a:t>
            </a:r>
            <a:endParaRPr lang="en-US" sz="900" dirty="0"/>
          </a:p>
        </p:txBody>
      </p:sp>
      <p:sp>
        <p:nvSpPr>
          <p:cNvPr id="51" name="Text 44"/>
          <p:cNvSpPr/>
          <p:nvPr/>
        </p:nvSpPr>
        <p:spPr>
          <a:xfrm>
            <a:off x="11475720" y="6510528"/>
            <a:ext cx="548640" cy="274320"/>
          </a:xfrm>
          <a:prstGeom prst="rect">
            <a:avLst/>
          </a:prstGeom>
          <a:noFill/>
          <a:ln/>
        </p:spPr>
        <p:txBody>
          <a:bodyPr wrap="square" lIns="0" tIns="0" rIns="0" bIns="0" rtlCol="0" anchor="ctr"/>
          <a:lstStyle/>
          <a:p>
            <a:pPr marL="0" indent="0" algn="r">
              <a:buNone/>
            </a:pPr>
            <a:r>
              <a:rPr lang="en-US" sz="1000" dirty="0">
                <a:solidFill>
                  <a:srgbClr val="4A4A4A"/>
                </a:solidFill>
                <a:latin typeface="Calibri" pitchFamily="34" charset="0"/>
                <a:ea typeface="Calibri" pitchFamily="34" charset="-122"/>
                <a:cs typeface="Calibri" pitchFamily="34" charset="-120"/>
              </a:rPr>
              <a:t>24/30</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8E1"/>
        </a:solidFill>
        <a:effectLst/>
      </p:bgPr>
    </p:bg>
    <p:spTree>
      <p:nvGrpSpPr>
        <p:cNvPr id="1" name=""/>
        <p:cNvGrpSpPr/>
        <p:nvPr/>
      </p:nvGrpSpPr>
      <p:grpSpPr>
        <a:xfrm>
          <a:off x="0" y="0"/>
          <a:ext cx="0" cy="0"/>
          <a:chOff x="0" y="0"/>
          <a:chExt cx="0" cy="0"/>
        </a:xfrm>
      </p:grpSpPr>
      <p:sp>
        <p:nvSpPr>
          <p:cNvPr id="2" name="Shape 0"/>
          <p:cNvSpPr/>
          <p:nvPr/>
        </p:nvSpPr>
        <p:spPr>
          <a:xfrm>
            <a:off x="1234440" y="1417320"/>
            <a:ext cx="10607040" cy="0"/>
          </a:xfrm>
          <a:prstGeom prst="line">
            <a:avLst/>
          </a:prstGeom>
          <a:noFill/>
          <a:ln w="12700">
            <a:solidFill>
              <a:srgbClr val="E9DFC4"/>
            </a:solidFill>
            <a:prstDash val="solid"/>
          </a:ln>
        </p:spPr>
      </p:sp>
      <p:sp>
        <p:nvSpPr>
          <p:cNvPr id="3" name="Shape 1"/>
          <p:cNvSpPr/>
          <p:nvPr/>
        </p:nvSpPr>
        <p:spPr>
          <a:xfrm>
            <a:off x="1234440" y="1801368"/>
            <a:ext cx="10607040" cy="0"/>
          </a:xfrm>
          <a:prstGeom prst="line">
            <a:avLst/>
          </a:prstGeom>
          <a:noFill/>
          <a:ln w="12700">
            <a:solidFill>
              <a:srgbClr val="E9DFC4"/>
            </a:solidFill>
            <a:prstDash val="solid"/>
          </a:ln>
        </p:spPr>
      </p:sp>
      <p:sp>
        <p:nvSpPr>
          <p:cNvPr id="4" name="Shape 2"/>
          <p:cNvSpPr/>
          <p:nvPr/>
        </p:nvSpPr>
        <p:spPr>
          <a:xfrm>
            <a:off x="1234440" y="2185416"/>
            <a:ext cx="10607040" cy="0"/>
          </a:xfrm>
          <a:prstGeom prst="line">
            <a:avLst/>
          </a:prstGeom>
          <a:noFill/>
          <a:ln w="12700">
            <a:solidFill>
              <a:srgbClr val="E9DFC4"/>
            </a:solidFill>
            <a:prstDash val="solid"/>
          </a:ln>
        </p:spPr>
      </p:sp>
      <p:sp>
        <p:nvSpPr>
          <p:cNvPr id="5" name="Shape 3"/>
          <p:cNvSpPr/>
          <p:nvPr/>
        </p:nvSpPr>
        <p:spPr>
          <a:xfrm>
            <a:off x="1234440" y="2569464"/>
            <a:ext cx="10607040" cy="0"/>
          </a:xfrm>
          <a:prstGeom prst="line">
            <a:avLst/>
          </a:prstGeom>
          <a:noFill/>
          <a:ln w="12700">
            <a:solidFill>
              <a:srgbClr val="E9DFC4"/>
            </a:solidFill>
            <a:prstDash val="solid"/>
          </a:ln>
        </p:spPr>
      </p:sp>
      <p:sp>
        <p:nvSpPr>
          <p:cNvPr id="6" name="Shape 4"/>
          <p:cNvSpPr/>
          <p:nvPr/>
        </p:nvSpPr>
        <p:spPr>
          <a:xfrm>
            <a:off x="1234440" y="2953512"/>
            <a:ext cx="10607040" cy="0"/>
          </a:xfrm>
          <a:prstGeom prst="line">
            <a:avLst/>
          </a:prstGeom>
          <a:noFill/>
          <a:ln w="12700">
            <a:solidFill>
              <a:srgbClr val="E9DFC4"/>
            </a:solidFill>
            <a:prstDash val="solid"/>
          </a:ln>
        </p:spPr>
      </p:sp>
      <p:sp>
        <p:nvSpPr>
          <p:cNvPr id="7" name="Shape 5"/>
          <p:cNvSpPr/>
          <p:nvPr/>
        </p:nvSpPr>
        <p:spPr>
          <a:xfrm>
            <a:off x="1234440" y="3337560"/>
            <a:ext cx="10607040" cy="0"/>
          </a:xfrm>
          <a:prstGeom prst="line">
            <a:avLst/>
          </a:prstGeom>
          <a:noFill/>
          <a:ln w="12700">
            <a:solidFill>
              <a:srgbClr val="E9DFC4"/>
            </a:solidFill>
            <a:prstDash val="solid"/>
          </a:ln>
        </p:spPr>
      </p:sp>
      <p:sp>
        <p:nvSpPr>
          <p:cNvPr id="8" name="Shape 6"/>
          <p:cNvSpPr/>
          <p:nvPr/>
        </p:nvSpPr>
        <p:spPr>
          <a:xfrm>
            <a:off x="1234440" y="3721608"/>
            <a:ext cx="10607040" cy="0"/>
          </a:xfrm>
          <a:prstGeom prst="line">
            <a:avLst/>
          </a:prstGeom>
          <a:noFill/>
          <a:ln w="12700">
            <a:solidFill>
              <a:srgbClr val="E9DFC4"/>
            </a:solidFill>
            <a:prstDash val="solid"/>
          </a:ln>
        </p:spPr>
      </p:sp>
      <p:sp>
        <p:nvSpPr>
          <p:cNvPr id="9" name="Shape 7"/>
          <p:cNvSpPr/>
          <p:nvPr/>
        </p:nvSpPr>
        <p:spPr>
          <a:xfrm>
            <a:off x="1234440" y="4105656"/>
            <a:ext cx="10607040" cy="0"/>
          </a:xfrm>
          <a:prstGeom prst="line">
            <a:avLst/>
          </a:prstGeom>
          <a:noFill/>
          <a:ln w="12700">
            <a:solidFill>
              <a:srgbClr val="E9DFC4"/>
            </a:solidFill>
            <a:prstDash val="solid"/>
          </a:ln>
        </p:spPr>
      </p:sp>
      <p:sp>
        <p:nvSpPr>
          <p:cNvPr id="10" name="Shape 8"/>
          <p:cNvSpPr/>
          <p:nvPr/>
        </p:nvSpPr>
        <p:spPr>
          <a:xfrm>
            <a:off x="1234440" y="4489704"/>
            <a:ext cx="10607040" cy="0"/>
          </a:xfrm>
          <a:prstGeom prst="line">
            <a:avLst/>
          </a:prstGeom>
          <a:noFill/>
          <a:ln w="12700">
            <a:solidFill>
              <a:srgbClr val="E9DFC4"/>
            </a:solidFill>
            <a:prstDash val="solid"/>
          </a:ln>
        </p:spPr>
      </p:sp>
      <p:sp>
        <p:nvSpPr>
          <p:cNvPr id="11" name="Shape 9"/>
          <p:cNvSpPr/>
          <p:nvPr/>
        </p:nvSpPr>
        <p:spPr>
          <a:xfrm>
            <a:off x="1234440" y="4873752"/>
            <a:ext cx="10607040" cy="0"/>
          </a:xfrm>
          <a:prstGeom prst="line">
            <a:avLst/>
          </a:prstGeom>
          <a:noFill/>
          <a:ln w="12700">
            <a:solidFill>
              <a:srgbClr val="E9DFC4"/>
            </a:solidFill>
            <a:prstDash val="solid"/>
          </a:ln>
        </p:spPr>
      </p:sp>
      <p:sp>
        <p:nvSpPr>
          <p:cNvPr id="12" name="Shape 10"/>
          <p:cNvSpPr/>
          <p:nvPr/>
        </p:nvSpPr>
        <p:spPr>
          <a:xfrm>
            <a:off x="1234440" y="5257800"/>
            <a:ext cx="10607040" cy="0"/>
          </a:xfrm>
          <a:prstGeom prst="line">
            <a:avLst/>
          </a:prstGeom>
          <a:noFill/>
          <a:ln w="12700">
            <a:solidFill>
              <a:srgbClr val="E9DFC4"/>
            </a:solidFill>
            <a:prstDash val="solid"/>
          </a:ln>
        </p:spPr>
      </p:sp>
      <p:sp>
        <p:nvSpPr>
          <p:cNvPr id="13" name="Shape 11"/>
          <p:cNvSpPr/>
          <p:nvPr/>
        </p:nvSpPr>
        <p:spPr>
          <a:xfrm>
            <a:off x="1234440" y="5641848"/>
            <a:ext cx="10607040" cy="0"/>
          </a:xfrm>
          <a:prstGeom prst="line">
            <a:avLst/>
          </a:prstGeom>
          <a:noFill/>
          <a:ln w="12700">
            <a:solidFill>
              <a:srgbClr val="E9DFC4"/>
            </a:solidFill>
            <a:prstDash val="solid"/>
          </a:ln>
        </p:spPr>
      </p:sp>
      <p:sp>
        <p:nvSpPr>
          <p:cNvPr id="14" name="Shape 12"/>
          <p:cNvSpPr/>
          <p:nvPr/>
        </p:nvSpPr>
        <p:spPr>
          <a:xfrm>
            <a:off x="1234440" y="6025896"/>
            <a:ext cx="10607040" cy="0"/>
          </a:xfrm>
          <a:prstGeom prst="line">
            <a:avLst/>
          </a:prstGeom>
          <a:noFill/>
          <a:ln w="12700">
            <a:solidFill>
              <a:srgbClr val="E9DFC4"/>
            </a:solidFill>
            <a:prstDash val="solid"/>
          </a:ln>
        </p:spPr>
      </p:sp>
      <p:sp>
        <p:nvSpPr>
          <p:cNvPr id="15" name="Shape 13"/>
          <p:cNvSpPr/>
          <p:nvPr/>
        </p:nvSpPr>
        <p:spPr>
          <a:xfrm>
            <a:off x="1234440" y="6409944"/>
            <a:ext cx="10607040" cy="0"/>
          </a:xfrm>
          <a:prstGeom prst="line">
            <a:avLst/>
          </a:prstGeom>
          <a:noFill/>
          <a:ln w="12700">
            <a:solidFill>
              <a:srgbClr val="E9DFC4"/>
            </a:solidFill>
            <a:prstDash val="solid"/>
          </a:ln>
        </p:spPr>
      </p:sp>
      <p:sp>
        <p:nvSpPr>
          <p:cNvPr id="16" name="Shape 14"/>
          <p:cNvSpPr/>
          <p:nvPr/>
        </p:nvSpPr>
        <p:spPr>
          <a:xfrm>
            <a:off x="1051560" y="320040"/>
            <a:ext cx="0" cy="6309360"/>
          </a:xfrm>
          <a:prstGeom prst="line">
            <a:avLst/>
          </a:prstGeom>
          <a:noFill/>
          <a:ln w="15875">
            <a:solidFill>
              <a:srgbClr val="C0392B"/>
            </a:solidFill>
            <a:prstDash val="solid"/>
          </a:ln>
        </p:spPr>
      </p:sp>
      <p:sp>
        <p:nvSpPr>
          <p:cNvPr id="17" name="Text 15"/>
          <p:cNvSpPr/>
          <p:nvPr/>
        </p:nvSpPr>
        <p:spPr>
          <a:xfrm>
            <a:off x="1280160" y="310896"/>
            <a:ext cx="2743200" cy="320040"/>
          </a:xfrm>
          <a:prstGeom prst="rect">
            <a:avLst/>
          </a:prstGeom>
          <a:noFill/>
          <a:ln/>
        </p:spPr>
        <p:txBody>
          <a:bodyPr wrap="square" lIns="0" tIns="0" rIns="0" bIns="0" rtlCol="0" anchor="ctr"/>
          <a:lstStyle/>
          <a:p>
            <a:pPr marL="0" indent="0">
              <a:buNone/>
            </a:pPr>
            <a:r>
              <a:rPr lang="en-US" sz="1300" b="1" dirty="0">
                <a:solidFill>
                  <a:srgbClr val="C0392B"/>
                </a:solidFill>
                <a:latin typeface="Calibri" pitchFamily="34" charset="0"/>
                <a:ea typeface="Calibri" pitchFamily="34" charset="-122"/>
                <a:cs typeface="Calibri" pitchFamily="34" charset="-120"/>
              </a:rPr>
              <a:t>Topic 1.8</a:t>
            </a:r>
            <a:endParaRPr lang="en-US" sz="1300" dirty="0"/>
          </a:p>
        </p:txBody>
      </p:sp>
      <p:sp>
        <p:nvSpPr>
          <p:cNvPr id="18" name="Text 16"/>
          <p:cNvSpPr/>
          <p:nvPr/>
        </p:nvSpPr>
        <p:spPr>
          <a:xfrm>
            <a:off x="1234440" y="566928"/>
            <a:ext cx="8138160" cy="777240"/>
          </a:xfrm>
          <a:prstGeom prst="rect">
            <a:avLst/>
          </a:prstGeom>
          <a:noFill/>
          <a:ln/>
        </p:spPr>
        <p:txBody>
          <a:bodyPr wrap="square" lIns="0" tIns="0" rIns="0" bIns="0" rtlCol="0" anchor="t"/>
          <a:lstStyle/>
          <a:p>
            <a:pPr marL="0" indent="0">
              <a:buNone/>
            </a:pPr>
            <a:r>
              <a:rPr lang="en-US" sz="3000" b="1" dirty="0">
                <a:solidFill>
                  <a:srgbClr val="1B3A6B"/>
                </a:solidFill>
                <a:latin typeface="Comic Sans MS" pitchFamily="34" charset="0"/>
                <a:ea typeface="Comic Sans MS" pitchFamily="34" charset="-122"/>
                <a:cs typeface="Comic Sans MS" pitchFamily="34" charset="-120"/>
              </a:rPr>
              <a:t>External Interconnection Standards</a:t>
            </a:r>
            <a:endParaRPr lang="en-US" sz="3000" dirty="0"/>
          </a:p>
        </p:txBody>
      </p:sp>
      <p:sp>
        <p:nvSpPr>
          <p:cNvPr id="19" name="Shape 17"/>
          <p:cNvSpPr/>
          <p:nvPr/>
        </p:nvSpPr>
        <p:spPr>
          <a:xfrm>
            <a:off x="9646920" y="384048"/>
            <a:ext cx="1965960" cy="384048"/>
          </a:xfrm>
          <a:prstGeom prst="roundRect">
            <a:avLst>
              <a:gd name="adj" fmla="val 19048"/>
            </a:avLst>
          </a:prstGeom>
          <a:solidFill>
            <a:srgbClr val="C0392B"/>
          </a:solidFill>
          <a:ln/>
        </p:spPr>
      </p:sp>
      <p:sp>
        <p:nvSpPr>
          <p:cNvPr id="20" name="Text 18"/>
          <p:cNvSpPr/>
          <p:nvPr/>
        </p:nvSpPr>
        <p:spPr>
          <a:xfrm>
            <a:off x="9646920" y="384048"/>
            <a:ext cx="196596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EXAMPLE</a:t>
            </a:r>
            <a:endParaRPr lang="en-US" sz="1200" dirty="0"/>
          </a:p>
        </p:txBody>
      </p:sp>
      <p:sp>
        <p:nvSpPr>
          <p:cNvPr id="21" name="Shape 19"/>
          <p:cNvSpPr/>
          <p:nvPr/>
        </p:nvSpPr>
        <p:spPr>
          <a:xfrm>
            <a:off x="8732520" y="502920"/>
            <a:ext cx="1051560" cy="1051560"/>
          </a:xfrm>
          <a:prstGeom prst="ellipse">
            <a:avLst/>
          </a:prstGeom>
          <a:solidFill>
            <a:srgbClr val="DCE6F5"/>
          </a:solidFill>
          <a:ln/>
          <a:effectLst>
            <a:outerShdw blurRad="50800" dist="25400" dir="5400000" algn="bl" rotWithShape="0">
              <a:srgbClr val="999999">
                <a:alpha val="25000"/>
              </a:srgbClr>
            </a:outerShdw>
          </a:effectLst>
        </p:spPr>
      </p:sp>
      <p:pic>
        <p:nvPicPr>
          <p:cNvPr id="22" name="Image 0" descr="/home/claude/iobook/icons/usb.png"/>
          <p:cNvPicPr>
            <a:picLocks noChangeAspect="1"/>
          </p:cNvPicPr>
          <p:nvPr/>
        </p:nvPicPr>
        <p:blipFill>
          <a:blip r:embed="rId3"/>
          <a:stretch>
            <a:fillRect/>
          </a:stretch>
        </p:blipFill>
        <p:spPr>
          <a:xfrm>
            <a:off x="8963863" y="734263"/>
            <a:ext cx="588874" cy="588874"/>
          </a:xfrm>
          <a:prstGeom prst="rect">
            <a:avLst/>
          </a:prstGeom>
        </p:spPr>
      </p:pic>
      <p:sp>
        <p:nvSpPr>
          <p:cNvPr id="23" name="Shape 20"/>
          <p:cNvSpPr/>
          <p:nvPr/>
        </p:nvSpPr>
        <p:spPr>
          <a:xfrm>
            <a:off x="1280160" y="1691640"/>
            <a:ext cx="6126480" cy="2834640"/>
          </a:xfrm>
          <a:prstGeom prst="roundRect">
            <a:avLst>
              <a:gd name="adj" fmla="val 3226"/>
            </a:avLst>
          </a:prstGeom>
          <a:solidFill>
            <a:srgbClr val="FFFFFF"/>
          </a:solidFill>
          <a:ln w="12700">
            <a:solidFill>
              <a:srgbClr val="1B3A6B"/>
            </a:solidFill>
            <a:prstDash val="solid"/>
          </a:ln>
          <a:effectLst>
            <a:outerShdw blurRad="38100" dist="25400" dir="5400000" algn="bl" rotWithShape="0">
              <a:srgbClr val="999999">
                <a:alpha val="20000"/>
              </a:srgbClr>
            </a:outerShdw>
          </a:effectLst>
        </p:spPr>
      </p:sp>
      <p:sp>
        <p:nvSpPr>
          <p:cNvPr id="24" name="Text 21"/>
          <p:cNvSpPr/>
          <p:nvPr/>
        </p:nvSpPr>
        <p:spPr>
          <a:xfrm>
            <a:off x="1508760" y="1828800"/>
            <a:ext cx="5669280" cy="320040"/>
          </a:xfrm>
          <a:prstGeom prst="rect">
            <a:avLst/>
          </a:prstGeom>
          <a:noFill/>
          <a:ln/>
        </p:spPr>
        <p:txBody>
          <a:bodyPr wrap="square" lIns="0" tIns="0" rIns="0" bIns="0" rtlCol="0" anchor="ctr"/>
          <a:lstStyle/>
          <a:p>
            <a:pPr marL="0" indent="0">
              <a:buNone/>
            </a:pPr>
            <a:r>
              <a:rPr lang="en-US" sz="1300" b="1" dirty="0">
                <a:solidFill>
                  <a:srgbClr val="C0392B"/>
                </a:solidFill>
                <a:latin typeface="Calibri" pitchFamily="34" charset="0"/>
                <a:ea typeface="Calibri" pitchFamily="34" charset="-122"/>
                <a:cs typeface="Calibri" pitchFamily="34" charset="-120"/>
              </a:rPr>
              <a:t>REAL-LIFE EXAMPLE</a:t>
            </a:r>
            <a:endParaRPr lang="en-US" sz="1300" dirty="0"/>
          </a:p>
        </p:txBody>
      </p:sp>
      <p:sp>
        <p:nvSpPr>
          <p:cNvPr id="25" name="Text 22"/>
          <p:cNvSpPr/>
          <p:nvPr/>
        </p:nvSpPr>
        <p:spPr>
          <a:xfrm>
            <a:off x="1508760" y="2194560"/>
            <a:ext cx="5669280" cy="2194560"/>
          </a:xfrm>
          <a:prstGeom prst="rect">
            <a:avLst/>
          </a:prstGeom>
          <a:noFill/>
          <a:ln/>
        </p:spPr>
        <p:txBody>
          <a:bodyPr wrap="square" lIns="0" tIns="0" rIns="0" bIns="0" rtlCol="0" anchor="t"/>
          <a:lstStyle/>
          <a:p>
            <a:pPr marL="0" indent="0">
              <a:buNone/>
            </a:pPr>
            <a:r>
              <a:rPr lang="en-US" sz="1450" dirty="0">
                <a:solidFill>
                  <a:srgbClr val="1B3A6B"/>
                </a:solidFill>
                <a:latin typeface="Calibri" pitchFamily="34" charset="0"/>
                <a:ea typeface="Calibri" pitchFamily="34" charset="-122"/>
                <a:cs typeface="Calibri" pitchFamily="34" charset="-120"/>
              </a:rPr>
              <a:t>Any USB flash drive — from any company — works in any USB port on any laptop, because every manufacturer follows the same agreed USB standard.</a:t>
            </a:r>
            <a:endParaRPr lang="en-US" sz="1450" dirty="0"/>
          </a:p>
        </p:txBody>
      </p:sp>
      <p:sp>
        <p:nvSpPr>
          <p:cNvPr id="26" name="Shape 23"/>
          <p:cNvSpPr/>
          <p:nvPr/>
        </p:nvSpPr>
        <p:spPr>
          <a:xfrm>
            <a:off x="7635240" y="1691640"/>
            <a:ext cx="3383280" cy="2834640"/>
          </a:xfrm>
          <a:prstGeom prst="roundRect">
            <a:avLst>
              <a:gd name="adj" fmla="val 3226"/>
            </a:avLst>
          </a:prstGeom>
          <a:solidFill>
            <a:srgbClr val="C0392B"/>
          </a:solidFill>
          <a:ln/>
          <a:effectLst>
            <a:outerShdw blurRad="50800" dist="25400" dir="5400000" algn="bl" rotWithShape="0">
              <a:srgbClr val="000000">
                <a:alpha val="25000"/>
              </a:srgbClr>
            </a:outerShdw>
          </a:effectLst>
        </p:spPr>
      </p:sp>
      <p:pic>
        <p:nvPicPr>
          <p:cNvPr id="27" name="Image 1" descr="/home/claude/iobook/icons/check.png"/>
          <p:cNvPicPr>
            <a:picLocks noChangeAspect="1"/>
          </p:cNvPicPr>
          <p:nvPr/>
        </p:nvPicPr>
        <p:blipFill>
          <a:blip r:embed="rId4"/>
          <a:stretch>
            <a:fillRect/>
          </a:stretch>
        </p:blipFill>
        <p:spPr>
          <a:xfrm>
            <a:off x="7863840" y="1874520"/>
            <a:ext cx="457200" cy="457200"/>
          </a:xfrm>
          <a:prstGeom prst="rect">
            <a:avLst/>
          </a:prstGeom>
        </p:spPr>
      </p:pic>
      <p:sp>
        <p:nvSpPr>
          <p:cNvPr id="28" name="Text 24"/>
          <p:cNvSpPr/>
          <p:nvPr/>
        </p:nvSpPr>
        <p:spPr>
          <a:xfrm>
            <a:off x="8412480" y="1920240"/>
            <a:ext cx="2514600" cy="32004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KEY TAKEAWAY</a:t>
            </a:r>
            <a:endParaRPr lang="en-US" sz="1250" dirty="0"/>
          </a:p>
        </p:txBody>
      </p:sp>
      <p:sp>
        <p:nvSpPr>
          <p:cNvPr id="29" name="Text 25"/>
          <p:cNvSpPr/>
          <p:nvPr/>
        </p:nvSpPr>
        <p:spPr>
          <a:xfrm>
            <a:off x="7863840" y="2423160"/>
            <a:ext cx="3017520" cy="1965960"/>
          </a:xfrm>
          <a:prstGeom prst="rect">
            <a:avLst/>
          </a:prstGeom>
          <a:noFill/>
          <a:ln/>
        </p:spPr>
        <p:txBody>
          <a:bodyPr wrap="square" lIns="0" tIns="0" rIns="0" bIns="0" rtlCol="0" anchor="t"/>
          <a:lstStyle/>
          <a:p>
            <a:pPr marL="0" indent="0">
              <a:buNone/>
            </a:pPr>
            <a:r>
              <a:rPr lang="en-US" sz="1300" dirty="0">
                <a:solidFill>
                  <a:srgbClr val="FFFFFF"/>
                </a:solidFill>
                <a:latin typeface="Calibri" pitchFamily="34" charset="0"/>
                <a:ea typeface="Calibri" pitchFamily="34" charset="-122"/>
                <a:cs typeface="Calibri" pitchFamily="34" charset="-120"/>
              </a:rPr>
              <a:t>Interconnection standards are what make 'plug and play' possible across an entire industry.</a:t>
            </a:r>
            <a:endParaRPr lang="en-US" sz="1300" dirty="0"/>
          </a:p>
        </p:txBody>
      </p:sp>
      <p:sp>
        <p:nvSpPr>
          <p:cNvPr id="30" name="Shape 26"/>
          <p:cNvSpPr/>
          <p:nvPr/>
        </p:nvSpPr>
        <p:spPr>
          <a:xfrm>
            <a:off x="1280160" y="4709160"/>
            <a:ext cx="9738360" cy="685800"/>
          </a:xfrm>
          <a:prstGeom prst="roundRect">
            <a:avLst>
              <a:gd name="adj" fmla="val 10667"/>
            </a:avLst>
          </a:prstGeom>
          <a:solidFill>
            <a:srgbClr val="FFE082">
              <a:alpha val="60000"/>
            </a:srgbClr>
          </a:solidFill>
          <a:ln w="9525">
            <a:solidFill>
              <a:srgbClr val="1B3A6B"/>
            </a:solidFill>
            <a:prstDash val="dash"/>
          </a:ln>
        </p:spPr>
      </p:sp>
      <p:sp>
        <p:nvSpPr>
          <p:cNvPr id="31" name="Text 27"/>
          <p:cNvSpPr/>
          <p:nvPr/>
        </p:nvSpPr>
        <p:spPr>
          <a:xfrm>
            <a:off x="1463040" y="4709160"/>
            <a:ext cx="9372600" cy="685800"/>
          </a:xfrm>
          <a:prstGeom prst="rect">
            <a:avLst/>
          </a:prstGeom>
          <a:noFill/>
          <a:ln/>
        </p:spPr>
        <p:txBody>
          <a:bodyPr wrap="square" lIns="0" tIns="0" rIns="0" bIns="0" rtlCol="0" anchor="ctr"/>
          <a:lstStyle/>
          <a:p>
            <a:pPr marL="0" indent="0">
              <a:buNone/>
            </a:pPr>
            <a:r>
              <a:rPr lang="en-US" sz="1300" b="1" dirty="0">
                <a:solidFill>
                  <a:srgbClr val="C0392B"/>
                </a:solidFill>
                <a:latin typeface="Calibri" pitchFamily="34" charset="0"/>
                <a:ea typeface="Calibri" pitchFamily="34" charset="-122"/>
                <a:cs typeface="Calibri" pitchFamily="34" charset="-120"/>
              </a:rPr>
              <a:t>Remember: </a:t>
            </a:r>
            <a:r>
              <a:rPr lang="en-US" sz="1300" dirty="0">
                <a:solidFill>
                  <a:srgbClr val="1B3A6B"/>
                </a:solidFill>
                <a:latin typeface="Calibri" pitchFamily="34" charset="0"/>
                <a:ea typeface="Calibri" pitchFamily="34" charset="-122"/>
                <a:cs typeface="Calibri" pitchFamily="34" charset="-120"/>
              </a:rPr>
              <a:t>interconnection standards = shared rules that make devices from any vendor compatible.</a:t>
            </a:r>
            <a:endParaRPr lang="en-US" sz="1300" dirty="0"/>
          </a:p>
        </p:txBody>
      </p:sp>
      <p:sp>
        <p:nvSpPr>
          <p:cNvPr id="32" name="Text 28"/>
          <p:cNvSpPr/>
          <p:nvPr/>
        </p:nvSpPr>
        <p:spPr>
          <a:xfrm>
            <a:off x="320040" y="6510528"/>
            <a:ext cx="5486400" cy="274320"/>
          </a:xfrm>
          <a:prstGeom prst="rect">
            <a:avLst/>
          </a:prstGeom>
          <a:noFill/>
          <a:ln/>
        </p:spPr>
        <p:txBody>
          <a:bodyPr wrap="square" lIns="0" tIns="0" rIns="0" bIns="0" rtlCol="0" anchor="ctr"/>
          <a:lstStyle/>
          <a:p>
            <a:pPr marL="0" indent="0">
              <a:buNone/>
            </a:pPr>
            <a:r>
              <a:rPr lang="en-US" sz="1000" i="1" dirty="0">
                <a:solidFill>
                  <a:srgbClr val="4A4A4A"/>
                </a:solidFill>
                <a:latin typeface="Calibri" pitchFamily="34" charset="0"/>
                <a:ea typeface="Calibri" pitchFamily="34" charset="-122"/>
                <a:cs typeface="Calibri" pitchFamily="34" charset="-120"/>
              </a:rPr>
              <a:t>External Interconnection Standards</a:t>
            </a:r>
            <a:endParaRPr lang="en-US" sz="1000" dirty="0"/>
          </a:p>
        </p:txBody>
      </p:sp>
      <p:sp>
        <p:nvSpPr>
          <p:cNvPr id="33" name="Text 29"/>
          <p:cNvSpPr/>
          <p:nvPr/>
        </p:nvSpPr>
        <p:spPr>
          <a:xfrm>
            <a:off x="5029200" y="6510528"/>
            <a:ext cx="5029200" cy="274320"/>
          </a:xfrm>
          <a:prstGeom prst="rect">
            <a:avLst/>
          </a:prstGeom>
          <a:noFill/>
          <a:ln/>
        </p:spPr>
        <p:txBody>
          <a:bodyPr wrap="square" lIns="0" tIns="0" rIns="0" bIns="0" rtlCol="0" anchor="ctr"/>
          <a:lstStyle/>
          <a:p>
            <a:pPr marL="0" indent="0" algn="r">
              <a:buNone/>
            </a:pPr>
            <a:r>
              <a:rPr lang="en-US" sz="900" dirty="0">
                <a:solidFill>
                  <a:srgbClr val="4A4A4A"/>
                </a:solidFill>
                <a:latin typeface="Calibri" pitchFamily="34" charset="0"/>
                <a:ea typeface="Calibri" pitchFamily="34" charset="-122"/>
                <a:cs typeface="Calibri" pitchFamily="34" charset="-120"/>
              </a:rPr>
              <a:t>Ch.7 • Stallings, Computer Organization &amp; Architecture</a:t>
            </a:r>
            <a:endParaRPr lang="en-US" sz="900" dirty="0"/>
          </a:p>
        </p:txBody>
      </p:sp>
      <p:sp>
        <p:nvSpPr>
          <p:cNvPr id="34" name="Text 30"/>
          <p:cNvSpPr/>
          <p:nvPr/>
        </p:nvSpPr>
        <p:spPr>
          <a:xfrm>
            <a:off x="11475720" y="6510528"/>
            <a:ext cx="548640" cy="274320"/>
          </a:xfrm>
          <a:prstGeom prst="rect">
            <a:avLst/>
          </a:prstGeom>
          <a:noFill/>
          <a:ln/>
        </p:spPr>
        <p:txBody>
          <a:bodyPr wrap="square" lIns="0" tIns="0" rIns="0" bIns="0" rtlCol="0" anchor="ctr"/>
          <a:lstStyle/>
          <a:p>
            <a:pPr marL="0" indent="0" algn="r">
              <a:buNone/>
            </a:pPr>
            <a:r>
              <a:rPr lang="en-US" sz="1000" dirty="0">
                <a:solidFill>
                  <a:srgbClr val="4A4A4A"/>
                </a:solidFill>
                <a:latin typeface="Calibri" pitchFamily="34" charset="0"/>
                <a:ea typeface="Calibri" pitchFamily="34" charset="-122"/>
                <a:cs typeface="Calibri" pitchFamily="34" charset="-120"/>
              </a:rPr>
              <a:t>25/30</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8E1"/>
        </a:solidFill>
        <a:effectLst/>
      </p:bgPr>
    </p:bg>
    <p:spTree>
      <p:nvGrpSpPr>
        <p:cNvPr id="1" name=""/>
        <p:cNvGrpSpPr/>
        <p:nvPr/>
      </p:nvGrpSpPr>
      <p:grpSpPr>
        <a:xfrm>
          <a:off x="0" y="0"/>
          <a:ext cx="0" cy="0"/>
          <a:chOff x="0" y="0"/>
          <a:chExt cx="0" cy="0"/>
        </a:xfrm>
      </p:grpSpPr>
      <p:sp>
        <p:nvSpPr>
          <p:cNvPr id="2" name="Shape 0"/>
          <p:cNvSpPr/>
          <p:nvPr/>
        </p:nvSpPr>
        <p:spPr>
          <a:xfrm>
            <a:off x="1234440" y="1417320"/>
            <a:ext cx="10607040" cy="0"/>
          </a:xfrm>
          <a:prstGeom prst="line">
            <a:avLst/>
          </a:prstGeom>
          <a:noFill/>
          <a:ln w="12700">
            <a:solidFill>
              <a:srgbClr val="E9DFC4"/>
            </a:solidFill>
            <a:prstDash val="solid"/>
          </a:ln>
        </p:spPr>
      </p:sp>
      <p:sp>
        <p:nvSpPr>
          <p:cNvPr id="3" name="Shape 1"/>
          <p:cNvSpPr/>
          <p:nvPr/>
        </p:nvSpPr>
        <p:spPr>
          <a:xfrm>
            <a:off x="1234440" y="1801368"/>
            <a:ext cx="10607040" cy="0"/>
          </a:xfrm>
          <a:prstGeom prst="line">
            <a:avLst/>
          </a:prstGeom>
          <a:noFill/>
          <a:ln w="12700">
            <a:solidFill>
              <a:srgbClr val="E9DFC4"/>
            </a:solidFill>
            <a:prstDash val="solid"/>
          </a:ln>
        </p:spPr>
      </p:sp>
      <p:sp>
        <p:nvSpPr>
          <p:cNvPr id="4" name="Shape 2"/>
          <p:cNvSpPr/>
          <p:nvPr/>
        </p:nvSpPr>
        <p:spPr>
          <a:xfrm>
            <a:off x="1234440" y="2185416"/>
            <a:ext cx="10607040" cy="0"/>
          </a:xfrm>
          <a:prstGeom prst="line">
            <a:avLst/>
          </a:prstGeom>
          <a:noFill/>
          <a:ln w="12700">
            <a:solidFill>
              <a:srgbClr val="E9DFC4"/>
            </a:solidFill>
            <a:prstDash val="solid"/>
          </a:ln>
        </p:spPr>
      </p:sp>
      <p:sp>
        <p:nvSpPr>
          <p:cNvPr id="5" name="Shape 3"/>
          <p:cNvSpPr/>
          <p:nvPr/>
        </p:nvSpPr>
        <p:spPr>
          <a:xfrm>
            <a:off x="1234440" y="2569464"/>
            <a:ext cx="10607040" cy="0"/>
          </a:xfrm>
          <a:prstGeom prst="line">
            <a:avLst/>
          </a:prstGeom>
          <a:noFill/>
          <a:ln w="12700">
            <a:solidFill>
              <a:srgbClr val="E9DFC4"/>
            </a:solidFill>
            <a:prstDash val="solid"/>
          </a:ln>
        </p:spPr>
      </p:sp>
      <p:sp>
        <p:nvSpPr>
          <p:cNvPr id="6" name="Shape 4"/>
          <p:cNvSpPr/>
          <p:nvPr/>
        </p:nvSpPr>
        <p:spPr>
          <a:xfrm>
            <a:off x="1234440" y="2953512"/>
            <a:ext cx="10607040" cy="0"/>
          </a:xfrm>
          <a:prstGeom prst="line">
            <a:avLst/>
          </a:prstGeom>
          <a:noFill/>
          <a:ln w="12700">
            <a:solidFill>
              <a:srgbClr val="E9DFC4"/>
            </a:solidFill>
            <a:prstDash val="solid"/>
          </a:ln>
        </p:spPr>
      </p:sp>
      <p:sp>
        <p:nvSpPr>
          <p:cNvPr id="7" name="Shape 5"/>
          <p:cNvSpPr/>
          <p:nvPr/>
        </p:nvSpPr>
        <p:spPr>
          <a:xfrm>
            <a:off x="1234440" y="3337560"/>
            <a:ext cx="10607040" cy="0"/>
          </a:xfrm>
          <a:prstGeom prst="line">
            <a:avLst/>
          </a:prstGeom>
          <a:noFill/>
          <a:ln w="12700">
            <a:solidFill>
              <a:srgbClr val="E9DFC4"/>
            </a:solidFill>
            <a:prstDash val="solid"/>
          </a:ln>
        </p:spPr>
      </p:sp>
      <p:sp>
        <p:nvSpPr>
          <p:cNvPr id="8" name="Shape 6"/>
          <p:cNvSpPr/>
          <p:nvPr/>
        </p:nvSpPr>
        <p:spPr>
          <a:xfrm>
            <a:off x="1234440" y="3721608"/>
            <a:ext cx="10607040" cy="0"/>
          </a:xfrm>
          <a:prstGeom prst="line">
            <a:avLst/>
          </a:prstGeom>
          <a:noFill/>
          <a:ln w="12700">
            <a:solidFill>
              <a:srgbClr val="E9DFC4"/>
            </a:solidFill>
            <a:prstDash val="solid"/>
          </a:ln>
        </p:spPr>
      </p:sp>
      <p:sp>
        <p:nvSpPr>
          <p:cNvPr id="9" name="Shape 7"/>
          <p:cNvSpPr/>
          <p:nvPr/>
        </p:nvSpPr>
        <p:spPr>
          <a:xfrm>
            <a:off x="1234440" y="4105656"/>
            <a:ext cx="10607040" cy="0"/>
          </a:xfrm>
          <a:prstGeom prst="line">
            <a:avLst/>
          </a:prstGeom>
          <a:noFill/>
          <a:ln w="12700">
            <a:solidFill>
              <a:srgbClr val="E9DFC4"/>
            </a:solidFill>
            <a:prstDash val="solid"/>
          </a:ln>
        </p:spPr>
      </p:sp>
      <p:sp>
        <p:nvSpPr>
          <p:cNvPr id="10" name="Shape 8"/>
          <p:cNvSpPr/>
          <p:nvPr/>
        </p:nvSpPr>
        <p:spPr>
          <a:xfrm>
            <a:off x="1234440" y="4489704"/>
            <a:ext cx="10607040" cy="0"/>
          </a:xfrm>
          <a:prstGeom prst="line">
            <a:avLst/>
          </a:prstGeom>
          <a:noFill/>
          <a:ln w="12700">
            <a:solidFill>
              <a:srgbClr val="E9DFC4"/>
            </a:solidFill>
            <a:prstDash val="solid"/>
          </a:ln>
        </p:spPr>
      </p:sp>
      <p:sp>
        <p:nvSpPr>
          <p:cNvPr id="11" name="Shape 9"/>
          <p:cNvSpPr/>
          <p:nvPr/>
        </p:nvSpPr>
        <p:spPr>
          <a:xfrm>
            <a:off x="1234440" y="4873752"/>
            <a:ext cx="10607040" cy="0"/>
          </a:xfrm>
          <a:prstGeom prst="line">
            <a:avLst/>
          </a:prstGeom>
          <a:noFill/>
          <a:ln w="12700">
            <a:solidFill>
              <a:srgbClr val="E9DFC4"/>
            </a:solidFill>
            <a:prstDash val="solid"/>
          </a:ln>
        </p:spPr>
      </p:sp>
      <p:sp>
        <p:nvSpPr>
          <p:cNvPr id="12" name="Shape 10"/>
          <p:cNvSpPr/>
          <p:nvPr/>
        </p:nvSpPr>
        <p:spPr>
          <a:xfrm>
            <a:off x="1234440" y="5257800"/>
            <a:ext cx="10607040" cy="0"/>
          </a:xfrm>
          <a:prstGeom prst="line">
            <a:avLst/>
          </a:prstGeom>
          <a:noFill/>
          <a:ln w="12700">
            <a:solidFill>
              <a:srgbClr val="E9DFC4"/>
            </a:solidFill>
            <a:prstDash val="solid"/>
          </a:ln>
        </p:spPr>
      </p:sp>
      <p:sp>
        <p:nvSpPr>
          <p:cNvPr id="13" name="Shape 11"/>
          <p:cNvSpPr/>
          <p:nvPr/>
        </p:nvSpPr>
        <p:spPr>
          <a:xfrm>
            <a:off x="1234440" y="5641848"/>
            <a:ext cx="10607040" cy="0"/>
          </a:xfrm>
          <a:prstGeom prst="line">
            <a:avLst/>
          </a:prstGeom>
          <a:noFill/>
          <a:ln w="12700">
            <a:solidFill>
              <a:srgbClr val="E9DFC4"/>
            </a:solidFill>
            <a:prstDash val="solid"/>
          </a:ln>
        </p:spPr>
      </p:sp>
      <p:sp>
        <p:nvSpPr>
          <p:cNvPr id="14" name="Shape 12"/>
          <p:cNvSpPr/>
          <p:nvPr/>
        </p:nvSpPr>
        <p:spPr>
          <a:xfrm>
            <a:off x="1234440" y="6025896"/>
            <a:ext cx="10607040" cy="0"/>
          </a:xfrm>
          <a:prstGeom prst="line">
            <a:avLst/>
          </a:prstGeom>
          <a:noFill/>
          <a:ln w="12700">
            <a:solidFill>
              <a:srgbClr val="E9DFC4"/>
            </a:solidFill>
            <a:prstDash val="solid"/>
          </a:ln>
        </p:spPr>
      </p:sp>
      <p:sp>
        <p:nvSpPr>
          <p:cNvPr id="15" name="Shape 13"/>
          <p:cNvSpPr/>
          <p:nvPr/>
        </p:nvSpPr>
        <p:spPr>
          <a:xfrm>
            <a:off x="1234440" y="6409944"/>
            <a:ext cx="10607040" cy="0"/>
          </a:xfrm>
          <a:prstGeom prst="line">
            <a:avLst/>
          </a:prstGeom>
          <a:noFill/>
          <a:ln w="12700">
            <a:solidFill>
              <a:srgbClr val="E9DFC4"/>
            </a:solidFill>
            <a:prstDash val="solid"/>
          </a:ln>
        </p:spPr>
      </p:sp>
      <p:sp>
        <p:nvSpPr>
          <p:cNvPr id="16" name="Shape 14"/>
          <p:cNvSpPr/>
          <p:nvPr/>
        </p:nvSpPr>
        <p:spPr>
          <a:xfrm>
            <a:off x="1051560" y="320040"/>
            <a:ext cx="0" cy="6309360"/>
          </a:xfrm>
          <a:prstGeom prst="line">
            <a:avLst/>
          </a:prstGeom>
          <a:noFill/>
          <a:ln w="15875">
            <a:solidFill>
              <a:srgbClr val="C0392B"/>
            </a:solidFill>
            <a:prstDash val="solid"/>
          </a:ln>
        </p:spPr>
      </p:sp>
      <p:sp>
        <p:nvSpPr>
          <p:cNvPr id="17" name="Text 15"/>
          <p:cNvSpPr/>
          <p:nvPr/>
        </p:nvSpPr>
        <p:spPr>
          <a:xfrm>
            <a:off x="1280160" y="310896"/>
            <a:ext cx="2743200" cy="320040"/>
          </a:xfrm>
          <a:prstGeom prst="rect">
            <a:avLst/>
          </a:prstGeom>
          <a:noFill/>
          <a:ln/>
        </p:spPr>
        <p:txBody>
          <a:bodyPr wrap="square" lIns="0" tIns="0" rIns="0" bIns="0" rtlCol="0" anchor="ctr"/>
          <a:lstStyle/>
          <a:p>
            <a:pPr marL="0" indent="0">
              <a:buNone/>
            </a:pPr>
            <a:r>
              <a:rPr lang="en-US" sz="1300" b="1" dirty="0">
                <a:solidFill>
                  <a:srgbClr val="C0392B"/>
                </a:solidFill>
                <a:latin typeface="Calibri" pitchFamily="34" charset="0"/>
                <a:ea typeface="Calibri" pitchFamily="34" charset="-122"/>
                <a:cs typeface="Calibri" pitchFamily="34" charset="-120"/>
              </a:rPr>
              <a:t>Topic 1.9</a:t>
            </a:r>
            <a:endParaRPr lang="en-US" sz="1300" dirty="0"/>
          </a:p>
        </p:txBody>
      </p:sp>
      <p:sp>
        <p:nvSpPr>
          <p:cNvPr id="18" name="Text 16"/>
          <p:cNvSpPr/>
          <p:nvPr/>
        </p:nvSpPr>
        <p:spPr>
          <a:xfrm>
            <a:off x="1234440" y="566928"/>
            <a:ext cx="8138160" cy="777240"/>
          </a:xfrm>
          <a:prstGeom prst="rect">
            <a:avLst/>
          </a:prstGeom>
          <a:noFill/>
          <a:ln/>
        </p:spPr>
        <p:txBody>
          <a:bodyPr wrap="square" lIns="0" tIns="0" rIns="0" bIns="0" rtlCol="0" anchor="t"/>
          <a:lstStyle/>
          <a:p>
            <a:pPr marL="0" indent="0">
              <a:buNone/>
            </a:pPr>
            <a:r>
              <a:rPr lang="en-US" sz="3000" b="1" dirty="0">
                <a:solidFill>
                  <a:srgbClr val="1B3A6B"/>
                </a:solidFill>
                <a:latin typeface="Comic Sans MS" pitchFamily="34" charset="0"/>
                <a:ea typeface="Comic Sans MS" pitchFamily="34" charset="-122"/>
                <a:cs typeface="Comic Sans MS" pitchFamily="34" charset="-120"/>
              </a:rPr>
              <a:t>IBM zEnterprise EC12 I/O Structure</a:t>
            </a:r>
            <a:endParaRPr lang="en-US" sz="3000" dirty="0"/>
          </a:p>
        </p:txBody>
      </p:sp>
      <p:sp>
        <p:nvSpPr>
          <p:cNvPr id="19" name="Shape 17"/>
          <p:cNvSpPr/>
          <p:nvPr/>
        </p:nvSpPr>
        <p:spPr>
          <a:xfrm>
            <a:off x="9646920" y="384048"/>
            <a:ext cx="1965960" cy="384048"/>
          </a:xfrm>
          <a:prstGeom prst="roundRect">
            <a:avLst>
              <a:gd name="adj" fmla="val 19048"/>
            </a:avLst>
          </a:prstGeom>
          <a:solidFill>
            <a:srgbClr val="C0392B"/>
          </a:solidFill>
          <a:ln/>
        </p:spPr>
      </p:sp>
      <p:sp>
        <p:nvSpPr>
          <p:cNvPr id="20" name="Text 18"/>
          <p:cNvSpPr/>
          <p:nvPr/>
        </p:nvSpPr>
        <p:spPr>
          <a:xfrm>
            <a:off x="9646920" y="384048"/>
            <a:ext cx="196596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DEFINITION</a:t>
            </a:r>
            <a:endParaRPr lang="en-US" sz="1200" dirty="0"/>
          </a:p>
        </p:txBody>
      </p:sp>
      <p:sp>
        <p:nvSpPr>
          <p:cNvPr id="21" name="Shape 19"/>
          <p:cNvSpPr/>
          <p:nvPr/>
        </p:nvSpPr>
        <p:spPr>
          <a:xfrm>
            <a:off x="8732520" y="502920"/>
            <a:ext cx="1051560" cy="1051560"/>
          </a:xfrm>
          <a:prstGeom prst="ellipse">
            <a:avLst/>
          </a:prstGeom>
          <a:solidFill>
            <a:srgbClr val="DCE6F5"/>
          </a:solidFill>
          <a:ln/>
          <a:effectLst>
            <a:outerShdw blurRad="50800" dist="25400" dir="5400000" algn="bl" rotWithShape="0">
              <a:srgbClr val="999999">
                <a:alpha val="25000"/>
              </a:srgbClr>
            </a:outerShdw>
          </a:effectLst>
        </p:spPr>
      </p:sp>
      <p:pic>
        <p:nvPicPr>
          <p:cNvPr id="22" name="Image 0" descr="/home/claude/iobook/icons/building.png"/>
          <p:cNvPicPr>
            <a:picLocks noChangeAspect="1"/>
          </p:cNvPicPr>
          <p:nvPr/>
        </p:nvPicPr>
        <p:blipFill>
          <a:blip r:embed="rId3"/>
          <a:stretch>
            <a:fillRect/>
          </a:stretch>
        </p:blipFill>
        <p:spPr>
          <a:xfrm>
            <a:off x="8963863" y="734263"/>
            <a:ext cx="588874" cy="588874"/>
          </a:xfrm>
          <a:prstGeom prst="rect">
            <a:avLst/>
          </a:prstGeom>
        </p:spPr>
      </p:pic>
      <p:sp>
        <p:nvSpPr>
          <p:cNvPr id="23" name="Shape 20"/>
          <p:cNvSpPr/>
          <p:nvPr/>
        </p:nvSpPr>
        <p:spPr>
          <a:xfrm>
            <a:off x="1280160" y="1600200"/>
            <a:ext cx="7360920" cy="1554480"/>
          </a:xfrm>
          <a:prstGeom prst="roundRect">
            <a:avLst>
              <a:gd name="adj" fmla="val 5882"/>
            </a:avLst>
          </a:prstGeom>
          <a:solidFill>
            <a:srgbClr val="FFE082">
              <a:alpha val="65000"/>
            </a:srgbClr>
          </a:solidFill>
          <a:ln w="12700">
            <a:solidFill>
              <a:srgbClr val="1B3A6B"/>
            </a:solidFill>
            <a:prstDash val="dash"/>
          </a:ln>
        </p:spPr>
      </p:sp>
      <p:sp>
        <p:nvSpPr>
          <p:cNvPr id="24" name="Text 21"/>
          <p:cNvSpPr/>
          <p:nvPr/>
        </p:nvSpPr>
        <p:spPr>
          <a:xfrm>
            <a:off x="1463040" y="1691640"/>
            <a:ext cx="6949440" cy="274320"/>
          </a:xfrm>
          <a:prstGeom prst="rect">
            <a:avLst/>
          </a:prstGeom>
          <a:noFill/>
          <a:ln/>
        </p:spPr>
        <p:txBody>
          <a:bodyPr wrap="square" lIns="0" tIns="0" rIns="0" bIns="0" rtlCol="0" anchor="ctr"/>
          <a:lstStyle/>
          <a:p>
            <a:pPr marL="0" indent="0">
              <a:buNone/>
            </a:pPr>
            <a:r>
              <a:rPr lang="en-US" sz="1200" b="1" dirty="0">
                <a:solidFill>
                  <a:srgbClr val="C0392B"/>
                </a:solidFill>
                <a:latin typeface="Calibri" pitchFamily="34" charset="0"/>
                <a:ea typeface="Calibri" pitchFamily="34" charset="-122"/>
                <a:cs typeface="Calibri" pitchFamily="34" charset="-120"/>
              </a:rPr>
              <a:t>IN SIMPLE WORDS:</a:t>
            </a:r>
            <a:endParaRPr lang="en-US" sz="1200" dirty="0"/>
          </a:p>
        </p:txBody>
      </p:sp>
      <p:sp>
        <p:nvSpPr>
          <p:cNvPr id="25" name="Text 22"/>
          <p:cNvSpPr/>
          <p:nvPr/>
        </p:nvSpPr>
        <p:spPr>
          <a:xfrm>
            <a:off x="1463040" y="1965960"/>
            <a:ext cx="6949440" cy="1097280"/>
          </a:xfrm>
          <a:prstGeom prst="rect">
            <a:avLst/>
          </a:prstGeom>
          <a:noFill/>
          <a:ln/>
        </p:spPr>
        <p:txBody>
          <a:bodyPr wrap="square" lIns="0" tIns="0" rIns="0" bIns="0" rtlCol="0" anchor="t"/>
          <a:lstStyle/>
          <a:p>
            <a:pPr marL="0" indent="0">
              <a:buNone/>
            </a:pPr>
            <a:r>
              <a:rPr lang="en-US" sz="1500" dirty="0">
                <a:solidFill>
                  <a:srgbClr val="1B3A6B"/>
                </a:solidFill>
                <a:latin typeface="Calibri" pitchFamily="34" charset="0"/>
                <a:ea typeface="Calibri" pitchFamily="34" charset="-122"/>
                <a:cs typeface="Calibri" pitchFamily="34" charset="-120"/>
              </a:rPr>
              <a:t>A real, large-scale example of enterprise I/O design used in IBM mainframes — built for extreme reliability, redundancy, and non-stop throughput.</a:t>
            </a:r>
            <a:endParaRPr lang="en-US" sz="1500" dirty="0"/>
          </a:p>
        </p:txBody>
      </p:sp>
      <p:sp>
        <p:nvSpPr>
          <p:cNvPr id="26" name="Text 23"/>
          <p:cNvSpPr/>
          <p:nvPr/>
        </p:nvSpPr>
        <p:spPr>
          <a:xfrm>
            <a:off x="1280160" y="3429000"/>
            <a:ext cx="7315200" cy="320040"/>
          </a:xfrm>
          <a:prstGeom prst="rect">
            <a:avLst/>
          </a:prstGeom>
          <a:noFill/>
          <a:ln/>
        </p:spPr>
        <p:txBody>
          <a:bodyPr wrap="square" lIns="0" tIns="0" rIns="0" bIns="0" rtlCol="0" anchor="ctr"/>
          <a:lstStyle/>
          <a:p>
            <a:pPr marL="0" indent="0">
              <a:buNone/>
            </a:pPr>
            <a:r>
              <a:rPr lang="en-US" sz="1300" b="1" dirty="0">
                <a:solidFill>
                  <a:srgbClr val="1B3A6B"/>
                </a:solidFill>
                <a:latin typeface="Calibri" pitchFamily="34" charset="0"/>
                <a:ea typeface="Calibri" pitchFamily="34" charset="-122"/>
                <a:cs typeface="Calibri" pitchFamily="34" charset="-120"/>
              </a:rPr>
              <a:t>KEY POINTS TO REMEMBER</a:t>
            </a:r>
            <a:endParaRPr lang="en-US" sz="1300" dirty="0"/>
          </a:p>
        </p:txBody>
      </p:sp>
      <p:sp>
        <p:nvSpPr>
          <p:cNvPr id="27" name="Text 24"/>
          <p:cNvSpPr/>
          <p:nvPr/>
        </p:nvSpPr>
        <p:spPr>
          <a:xfrm>
            <a:off x="1463040" y="3794760"/>
            <a:ext cx="6949440" cy="2286000"/>
          </a:xfrm>
          <a:prstGeom prst="rect">
            <a:avLst/>
          </a:prstGeom>
          <a:noFill/>
          <a:ln/>
        </p:spPr>
        <p:txBody>
          <a:bodyPr wrap="square" lIns="0" tIns="0" rIns="0" bIns="0" rtlCol="0" anchor="t"/>
          <a:lstStyle/>
          <a:p>
            <a:pPr marL="254000" indent="-254000">
              <a:spcAft>
                <a:spcPts val="1000"/>
              </a:spcAft>
              <a:buSzPct val="100000"/>
              <a:buChar char="✓"/>
            </a:pPr>
            <a:r>
              <a:rPr lang="en-US" sz="1400" dirty="0">
                <a:solidFill>
                  <a:srgbClr val="4A4A4A"/>
                </a:solidFill>
                <a:latin typeface="Calibri" pitchFamily="34" charset="0"/>
                <a:ea typeface="Calibri" pitchFamily="34" charset="-122"/>
                <a:cs typeface="Calibri" pitchFamily="34" charset="-120"/>
              </a:rPr>
              <a:t>Uses a Channel Subsystem to manage all I/O</a:t>
            </a:r>
            <a:endParaRPr lang="en-US" sz="1400" dirty="0"/>
          </a:p>
          <a:p>
            <a:pPr marL="254000" indent="-254000">
              <a:spcAft>
                <a:spcPts val="1000"/>
              </a:spcAft>
              <a:buSzPct val="100000"/>
              <a:buChar char="✓"/>
            </a:pPr>
            <a:r>
              <a:rPr lang="en-US" sz="1400" dirty="0">
                <a:solidFill>
                  <a:srgbClr val="4A4A4A"/>
                </a:solidFill>
                <a:latin typeface="Calibri" pitchFamily="34" charset="0"/>
                <a:ea typeface="Calibri" pitchFamily="34" charset="-122"/>
                <a:cs typeface="Calibri" pitchFamily="34" charset="-120"/>
              </a:rPr>
              <a:t>Many redundant Channel Paths, so one failure isn't fatal</a:t>
            </a:r>
            <a:endParaRPr lang="en-US" sz="1400" dirty="0"/>
          </a:p>
          <a:p>
            <a:pPr marL="254000" indent="-254000">
              <a:spcAft>
                <a:spcPts val="1000"/>
              </a:spcAft>
              <a:buSzPct val="100000"/>
              <a:buChar char="✓"/>
            </a:pPr>
            <a:r>
              <a:rPr lang="en-US" sz="1400" dirty="0">
                <a:solidFill>
                  <a:srgbClr val="4A4A4A"/>
                </a:solidFill>
                <a:latin typeface="Calibri" pitchFamily="34" charset="0"/>
                <a:ea typeface="Calibri" pitchFamily="34" charset="-122"/>
                <a:cs typeface="Calibri" pitchFamily="34" charset="-120"/>
              </a:rPr>
              <a:t>Designed so banks and airlines never lose critical data</a:t>
            </a:r>
            <a:endParaRPr lang="en-US" sz="1400" dirty="0"/>
          </a:p>
        </p:txBody>
      </p:sp>
      <p:sp>
        <p:nvSpPr>
          <p:cNvPr id="28" name="Text 25"/>
          <p:cNvSpPr/>
          <p:nvPr/>
        </p:nvSpPr>
        <p:spPr>
          <a:xfrm>
            <a:off x="320040" y="6510528"/>
            <a:ext cx="5486400" cy="274320"/>
          </a:xfrm>
          <a:prstGeom prst="rect">
            <a:avLst/>
          </a:prstGeom>
          <a:noFill/>
          <a:ln/>
        </p:spPr>
        <p:txBody>
          <a:bodyPr wrap="square" lIns="0" tIns="0" rIns="0" bIns="0" rtlCol="0" anchor="ctr"/>
          <a:lstStyle/>
          <a:p>
            <a:pPr marL="0" indent="0">
              <a:buNone/>
            </a:pPr>
            <a:r>
              <a:rPr lang="en-US" sz="1000" i="1" dirty="0">
                <a:solidFill>
                  <a:srgbClr val="4A4A4A"/>
                </a:solidFill>
                <a:latin typeface="Calibri" pitchFamily="34" charset="0"/>
                <a:ea typeface="Calibri" pitchFamily="34" charset="-122"/>
                <a:cs typeface="Calibri" pitchFamily="34" charset="-120"/>
              </a:rPr>
              <a:t>IBM zEnterprise EC12 I/O Structure</a:t>
            </a:r>
            <a:endParaRPr lang="en-US" sz="1000" dirty="0"/>
          </a:p>
        </p:txBody>
      </p:sp>
      <p:sp>
        <p:nvSpPr>
          <p:cNvPr id="29" name="Text 26"/>
          <p:cNvSpPr/>
          <p:nvPr/>
        </p:nvSpPr>
        <p:spPr>
          <a:xfrm>
            <a:off x="5029200" y="6510528"/>
            <a:ext cx="5029200" cy="274320"/>
          </a:xfrm>
          <a:prstGeom prst="rect">
            <a:avLst/>
          </a:prstGeom>
          <a:noFill/>
          <a:ln/>
        </p:spPr>
        <p:txBody>
          <a:bodyPr wrap="square" lIns="0" tIns="0" rIns="0" bIns="0" rtlCol="0" anchor="ctr"/>
          <a:lstStyle/>
          <a:p>
            <a:pPr marL="0" indent="0" algn="r">
              <a:buNone/>
            </a:pPr>
            <a:r>
              <a:rPr lang="en-US" sz="900" dirty="0">
                <a:solidFill>
                  <a:srgbClr val="4A4A4A"/>
                </a:solidFill>
                <a:latin typeface="Calibri" pitchFamily="34" charset="0"/>
                <a:ea typeface="Calibri" pitchFamily="34" charset="-122"/>
                <a:cs typeface="Calibri" pitchFamily="34" charset="-120"/>
              </a:rPr>
              <a:t>Ch.7 • Stallings, Computer Organization &amp; Architecture</a:t>
            </a:r>
            <a:endParaRPr lang="en-US" sz="900" dirty="0"/>
          </a:p>
        </p:txBody>
      </p:sp>
      <p:sp>
        <p:nvSpPr>
          <p:cNvPr id="30" name="Text 27"/>
          <p:cNvSpPr/>
          <p:nvPr/>
        </p:nvSpPr>
        <p:spPr>
          <a:xfrm>
            <a:off x="11475720" y="6510528"/>
            <a:ext cx="548640" cy="274320"/>
          </a:xfrm>
          <a:prstGeom prst="rect">
            <a:avLst/>
          </a:prstGeom>
          <a:noFill/>
          <a:ln/>
        </p:spPr>
        <p:txBody>
          <a:bodyPr wrap="square" lIns="0" tIns="0" rIns="0" bIns="0" rtlCol="0" anchor="ctr"/>
          <a:lstStyle/>
          <a:p>
            <a:pPr marL="0" indent="0" algn="r">
              <a:buNone/>
            </a:pPr>
            <a:r>
              <a:rPr lang="en-US" sz="1000" dirty="0">
                <a:solidFill>
                  <a:srgbClr val="4A4A4A"/>
                </a:solidFill>
                <a:latin typeface="Calibri" pitchFamily="34" charset="0"/>
                <a:ea typeface="Calibri" pitchFamily="34" charset="-122"/>
                <a:cs typeface="Calibri" pitchFamily="34" charset="-120"/>
              </a:rPr>
              <a:t>26/30</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8E1"/>
        </a:solidFill>
        <a:effectLst/>
      </p:bgPr>
    </p:bg>
    <p:spTree>
      <p:nvGrpSpPr>
        <p:cNvPr id="1" name=""/>
        <p:cNvGrpSpPr/>
        <p:nvPr/>
      </p:nvGrpSpPr>
      <p:grpSpPr>
        <a:xfrm>
          <a:off x="0" y="0"/>
          <a:ext cx="0" cy="0"/>
          <a:chOff x="0" y="0"/>
          <a:chExt cx="0" cy="0"/>
        </a:xfrm>
      </p:grpSpPr>
      <p:sp>
        <p:nvSpPr>
          <p:cNvPr id="2" name="Shape 0"/>
          <p:cNvSpPr/>
          <p:nvPr/>
        </p:nvSpPr>
        <p:spPr>
          <a:xfrm>
            <a:off x="1234440" y="1417320"/>
            <a:ext cx="10607040" cy="0"/>
          </a:xfrm>
          <a:prstGeom prst="line">
            <a:avLst/>
          </a:prstGeom>
          <a:noFill/>
          <a:ln w="12700">
            <a:solidFill>
              <a:srgbClr val="E9DFC4"/>
            </a:solidFill>
            <a:prstDash val="solid"/>
          </a:ln>
        </p:spPr>
      </p:sp>
      <p:sp>
        <p:nvSpPr>
          <p:cNvPr id="3" name="Shape 1"/>
          <p:cNvSpPr/>
          <p:nvPr/>
        </p:nvSpPr>
        <p:spPr>
          <a:xfrm>
            <a:off x="1234440" y="1801368"/>
            <a:ext cx="10607040" cy="0"/>
          </a:xfrm>
          <a:prstGeom prst="line">
            <a:avLst/>
          </a:prstGeom>
          <a:noFill/>
          <a:ln w="12700">
            <a:solidFill>
              <a:srgbClr val="E9DFC4"/>
            </a:solidFill>
            <a:prstDash val="solid"/>
          </a:ln>
        </p:spPr>
      </p:sp>
      <p:sp>
        <p:nvSpPr>
          <p:cNvPr id="4" name="Shape 2"/>
          <p:cNvSpPr/>
          <p:nvPr/>
        </p:nvSpPr>
        <p:spPr>
          <a:xfrm>
            <a:off x="1234440" y="2185416"/>
            <a:ext cx="10607040" cy="0"/>
          </a:xfrm>
          <a:prstGeom prst="line">
            <a:avLst/>
          </a:prstGeom>
          <a:noFill/>
          <a:ln w="12700">
            <a:solidFill>
              <a:srgbClr val="E9DFC4"/>
            </a:solidFill>
            <a:prstDash val="solid"/>
          </a:ln>
        </p:spPr>
      </p:sp>
      <p:sp>
        <p:nvSpPr>
          <p:cNvPr id="5" name="Shape 3"/>
          <p:cNvSpPr/>
          <p:nvPr/>
        </p:nvSpPr>
        <p:spPr>
          <a:xfrm>
            <a:off x="1234440" y="2569464"/>
            <a:ext cx="10607040" cy="0"/>
          </a:xfrm>
          <a:prstGeom prst="line">
            <a:avLst/>
          </a:prstGeom>
          <a:noFill/>
          <a:ln w="12700">
            <a:solidFill>
              <a:srgbClr val="E9DFC4"/>
            </a:solidFill>
            <a:prstDash val="solid"/>
          </a:ln>
        </p:spPr>
      </p:sp>
      <p:sp>
        <p:nvSpPr>
          <p:cNvPr id="6" name="Shape 4"/>
          <p:cNvSpPr/>
          <p:nvPr/>
        </p:nvSpPr>
        <p:spPr>
          <a:xfrm>
            <a:off x="1234440" y="2953512"/>
            <a:ext cx="10607040" cy="0"/>
          </a:xfrm>
          <a:prstGeom prst="line">
            <a:avLst/>
          </a:prstGeom>
          <a:noFill/>
          <a:ln w="12700">
            <a:solidFill>
              <a:srgbClr val="E9DFC4"/>
            </a:solidFill>
            <a:prstDash val="solid"/>
          </a:ln>
        </p:spPr>
      </p:sp>
      <p:sp>
        <p:nvSpPr>
          <p:cNvPr id="7" name="Shape 5"/>
          <p:cNvSpPr/>
          <p:nvPr/>
        </p:nvSpPr>
        <p:spPr>
          <a:xfrm>
            <a:off x="1234440" y="3337560"/>
            <a:ext cx="10607040" cy="0"/>
          </a:xfrm>
          <a:prstGeom prst="line">
            <a:avLst/>
          </a:prstGeom>
          <a:noFill/>
          <a:ln w="12700">
            <a:solidFill>
              <a:srgbClr val="E9DFC4"/>
            </a:solidFill>
            <a:prstDash val="solid"/>
          </a:ln>
        </p:spPr>
      </p:sp>
      <p:sp>
        <p:nvSpPr>
          <p:cNvPr id="8" name="Shape 6"/>
          <p:cNvSpPr/>
          <p:nvPr/>
        </p:nvSpPr>
        <p:spPr>
          <a:xfrm>
            <a:off x="1234440" y="3721608"/>
            <a:ext cx="10607040" cy="0"/>
          </a:xfrm>
          <a:prstGeom prst="line">
            <a:avLst/>
          </a:prstGeom>
          <a:noFill/>
          <a:ln w="12700">
            <a:solidFill>
              <a:srgbClr val="E9DFC4"/>
            </a:solidFill>
            <a:prstDash val="solid"/>
          </a:ln>
        </p:spPr>
      </p:sp>
      <p:sp>
        <p:nvSpPr>
          <p:cNvPr id="9" name="Shape 7"/>
          <p:cNvSpPr/>
          <p:nvPr/>
        </p:nvSpPr>
        <p:spPr>
          <a:xfrm>
            <a:off x="1234440" y="4105656"/>
            <a:ext cx="10607040" cy="0"/>
          </a:xfrm>
          <a:prstGeom prst="line">
            <a:avLst/>
          </a:prstGeom>
          <a:noFill/>
          <a:ln w="12700">
            <a:solidFill>
              <a:srgbClr val="E9DFC4"/>
            </a:solidFill>
            <a:prstDash val="solid"/>
          </a:ln>
        </p:spPr>
      </p:sp>
      <p:sp>
        <p:nvSpPr>
          <p:cNvPr id="10" name="Shape 8"/>
          <p:cNvSpPr/>
          <p:nvPr/>
        </p:nvSpPr>
        <p:spPr>
          <a:xfrm>
            <a:off x="1234440" y="4489704"/>
            <a:ext cx="10607040" cy="0"/>
          </a:xfrm>
          <a:prstGeom prst="line">
            <a:avLst/>
          </a:prstGeom>
          <a:noFill/>
          <a:ln w="12700">
            <a:solidFill>
              <a:srgbClr val="E9DFC4"/>
            </a:solidFill>
            <a:prstDash val="solid"/>
          </a:ln>
        </p:spPr>
      </p:sp>
      <p:sp>
        <p:nvSpPr>
          <p:cNvPr id="11" name="Shape 9"/>
          <p:cNvSpPr/>
          <p:nvPr/>
        </p:nvSpPr>
        <p:spPr>
          <a:xfrm>
            <a:off x="1234440" y="4873752"/>
            <a:ext cx="10607040" cy="0"/>
          </a:xfrm>
          <a:prstGeom prst="line">
            <a:avLst/>
          </a:prstGeom>
          <a:noFill/>
          <a:ln w="12700">
            <a:solidFill>
              <a:srgbClr val="E9DFC4"/>
            </a:solidFill>
            <a:prstDash val="solid"/>
          </a:ln>
        </p:spPr>
      </p:sp>
      <p:sp>
        <p:nvSpPr>
          <p:cNvPr id="12" name="Shape 10"/>
          <p:cNvSpPr/>
          <p:nvPr/>
        </p:nvSpPr>
        <p:spPr>
          <a:xfrm>
            <a:off x="1234440" y="5257800"/>
            <a:ext cx="10607040" cy="0"/>
          </a:xfrm>
          <a:prstGeom prst="line">
            <a:avLst/>
          </a:prstGeom>
          <a:noFill/>
          <a:ln w="12700">
            <a:solidFill>
              <a:srgbClr val="E9DFC4"/>
            </a:solidFill>
            <a:prstDash val="solid"/>
          </a:ln>
        </p:spPr>
      </p:sp>
      <p:sp>
        <p:nvSpPr>
          <p:cNvPr id="13" name="Shape 11"/>
          <p:cNvSpPr/>
          <p:nvPr/>
        </p:nvSpPr>
        <p:spPr>
          <a:xfrm>
            <a:off x="1234440" y="5641848"/>
            <a:ext cx="10607040" cy="0"/>
          </a:xfrm>
          <a:prstGeom prst="line">
            <a:avLst/>
          </a:prstGeom>
          <a:noFill/>
          <a:ln w="12700">
            <a:solidFill>
              <a:srgbClr val="E9DFC4"/>
            </a:solidFill>
            <a:prstDash val="solid"/>
          </a:ln>
        </p:spPr>
      </p:sp>
      <p:sp>
        <p:nvSpPr>
          <p:cNvPr id="14" name="Shape 12"/>
          <p:cNvSpPr/>
          <p:nvPr/>
        </p:nvSpPr>
        <p:spPr>
          <a:xfrm>
            <a:off x="1234440" y="6025896"/>
            <a:ext cx="10607040" cy="0"/>
          </a:xfrm>
          <a:prstGeom prst="line">
            <a:avLst/>
          </a:prstGeom>
          <a:noFill/>
          <a:ln w="12700">
            <a:solidFill>
              <a:srgbClr val="E9DFC4"/>
            </a:solidFill>
            <a:prstDash val="solid"/>
          </a:ln>
        </p:spPr>
      </p:sp>
      <p:sp>
        <p:nvSpPr>
          <p:cNvPr id="15" name="Shape 13"/>
          <p:cNvSpPr/>
          <p:nvPr/>
        </p:nvSpPr>
        <p:spPr>
          <a:xfrm>
            <a:off x="1234440" y="6409944"/>
            <a:ext cx="10607040" cy="0"/>
          </a:xfrm>
          <a:prstGeom prst="line">
            <a:avLst/>
          </a:prstGeom>
          <a:noFill/>
          <a:ln w="12700">
            <a:solidFill>
              <a:srgbClr val="E9DFC4"/>
            </a:solidFill>
            <a:prstDash val="solid"/>
          </a:ln>
        </p:spPr>
      </p:sp>
      <p:sp>
        <p:nvSpPr>
          <p:cNvPr id="16" name="Shape 14"/>
          <p:cNvSpPr/>
          <p:nvPr/>
        </p:nvSpPr>
        <p:spPr>
          <a:xfrm>
            <a:off x="1051560" y="320040"/>
            <a:ext cx="0" cy="6309360"/>
          </a:xfrm>
          <a:prstGeom prst="line">
            <a:avLst/>
          </a:prstGeom>
          <a:noFill/>
          <a:ln w="15875">
            <a:solidFill>
              <a:srgbClr val="C0392B"/>
            </a:solidFill>
            <a:prstDash val="solid"/>
          </a:ln>
        </p:spPr>
      </p:sp>
      <p:sp>
        <p:nvSpPr>
          <p:cNvPr id="17" name="Text 15"/>
          <p:cNvSpPr/>
          <p:nvPr/>
        </p:nvSpPr>
        <p:spPr>
          <a:xfrm>
            <a:off x="1280160" y="310896"/>
            <a:ext cx="2743200" cy="320040"/>
          </a:xfrm>
          <a:prstGeom prst="rect">
            <a:avLst/>
          </a:prstGeom>
          <a:noFill/>
          <a:ln/>
        </p:spPr>
        <p:txBody>
          <a:bodyPr wrap="square" lIns="0" tIns="0" rIns="0" bIns="0" rtlCol="0" anchor="ctr"/>
          <a:lstStyle/>
          <a:p>
            <a:pPr marL="0" indent="0">
              <a:buNone/>
            </a:pPr>
            <a:r>
              <a:rPr lang="en-US" sz="1300" b="1" dirty="0">
                <a:solidFill>
                  <a:srgbClr val="C0392B"/>
                </a:solidFill>
                <a:latin typeface="Calibri" pitchFamily="34" charset="0"/>
                <a:ea typeface="Calibri" pitchFamily="34" charset="-122"/>
                <a:cs typeface="Calibri" pitchFamily="34" charset="-120"/>
              </a:rPr>
              <a:t>Topic 1.9</a:t>
            </a:r>
            <a:endParaRPr lang="en-US" sz="1300" dirty="0"/>
          </a:p>
        </p:txBody>
      </p:sp>
      <p:sp>
        <p:nvSpPr>
          <p:cNvPr id="18" name="Text 16"/>
          <p:cNvSpPr/>
          <p:nvPr/>
        </p:nvSpPr>
        <p:spPr>
          <a:xfrm>
            <a:off x="1234440" y="566928"/>
            <a:ext cx="8138160" cy="777240"/>
          </a:xfrm>
          <a:prstGeom prst="rect">
            <a:avLst/>
          </a:prstGeom>
          <a:noFill/>
          <a:ln/>
        </p:spPr>
        <p:txBody>
          <a:bodyPr wrap="square" lIns="0" tIns="0" rIns="0" bIns="0" rtlCol="0" anchor="t"/>
          <a:lstStyle/>
          <a:p>
            <a:pPr marL="0" indent="0">
              <a:buNone/>
            </a:pPr>
            <a:r>
              <a:rPr lang="en-US" sz="3000" b="1" dirty="0">
                <a:solidFill>
                  <a:srgbClr val="1B3A6B"/>
                </a:solidFill>
                <a:latin typeface="Comic Sans MS" pitchFamily="34" charset="0"/>
                <a:ea typeface="Comic Sans MS" pitchFamily="34" charset="-122"/>
                <a:cs typeface="Comic Sans MS" pitchFamily="34" charset="-120"/>
              </a:rPr>
              <a:t>IBM zEnterprise EC12 I/O Structure</a:t>
            </a:r>
            <a:endParaRPr lang="en-US" sz="3000" dirty="0"/>
          </a:p>
        </p:txBody>
      </p:sp>
      <p:sp>
        <p:nvSpPr>
          <p:cNvPr id="19" name="Shape 17"/>
          <p:cNvSpPr/>
          <p:nvPr/>
        </p:nvSpPr>
        <p:spPr>
          <a:xfrm>
            <a:off x="9646920" y="384048"/>
            <a:ext cx="1965960" cy="384048"/>
          </a:xfrm>
          <a:prstGeom prst="roundRect">
            <a:avLst>
              <a:gd name="adj" fmla="val 19048"/>
            </a:avLst>
          </a:prstGeom>
          <a:solidFill>
            <a:srgbClr val="C0392B"/>
          </a:solidFill>
          <a:ln/>
        </p:spPr>
      </p:sp>
      <p:sp>
        <p:nvSpPr>
          <p:cNvPr id="20" name="Text 18"/>
          <p:cNvSpPr/>
          <p:nvPr/>
        </p:nvSpPr>
        <p:spPr>
          <a:xfrm>
            <a:off x="9646920" y="384048"/>
            <a:ext cx="196596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HOW IT WORKS</a:t>
            </a:r>
            <a:endParaRPr lang="en-US" sz="1200" dirty="0"/>
          </a:p>
        </p:txBody>
      </p:sp>
      <p:sp>
        <p:nvSpPr>
          <p:cNvPr id="21" name="Shape 19"/>
          <p:cNvSpPr/>
          <p:nvPr/>
        </p:nvSpPr>
        <p:spPr>
          <a:xfrm>
            <a:off x="8732520" y="502920"/>
            <a:ext cx="1051560" cy="1051560"/>
          </a:xfrm>
          <a:prstGeom prst="ellipse">
            <a:avLst/>
          </a:prstGeom>
          <a:solidFill>
            <a:srgbClr val="DCE6F5"/>
          </a:solidFill>
          <a:ln/>
          <a:effectLst>
            <a:outerShdw blurRad="50800" dist="25400" dir="5400000" algn="bl" rotWithShape="0">
              <a:srgbClr val="999999">
                <a:alpha val="25000"/>
              </a:srgbClr>
            </a:outerShdw>
          </a:effectLst>
        </p:spPr>
      </p:sp>
      <p:pic>
        <p:nvPicPr>
          <p:cNvPr id="22" name="Image 0" descr="/home/claude/iobook/icons/building.png"/>
          <p:cNvPicPr>
            <a:picLocks noChangeAspect="1"/>
          </p:cNvPicPr>
          <p:nvPr/>
        </p:nvPicPr>
        <p:blipFill>
          <a:blip r:embed="rId3"/>
          <a:stretch>
            <a:fillRect/>
          </a:stretch>
        </p:blipFill>
        <p:spPr>
          <a:xfrm>
            <a:off x="8963863" y="734263"/>
            <a:ext cx="588874" cy="588874"/>
          </a:xfrm>
          <a:prstGeom prst="rect">
            <a:avLst/>
          </a:prstGeom>
        </p:spPr>
      </p:pic>
      <p:sp>
        <p:nvSpPr>
          <p:cNvPr id="23" name="Shape 20"/>
          <p:cNvSpPr/>
          <p:nvPr/>
        </p:nvSpPr>
        <p:spPr>
          <a:xfrm>
            <a:off x="1280160" y="1965960"/>
            <a:ext cx="2331720" cy="1600200"/>
          </a:xfrm>
          <a:prstGeom prst="roundRect">
            <a:avLst>
              <a:gd name="adj" fmla="val 4571"/>
            </a:avLst>
          </a:prstGeom>
          <a:solidFill>
            <a:srgbClr val="FFFFFF"/>
          </a:solidFill>
          <a:ln w="12700">
            <a:solidFill>
              <a:srgbClr val="1B3A6B"/>
            </a:solidFill>
            <a:prstDash val="solid"/>
          </a:ln>
          <a:effectLst>
            <a:outerShdw blurRad="38100" dist="25400" dir="5400000" algn="bl" rotWithShape="0">
              <a:srgbClr val="999999">
                <a:alpha val="20000"/>
              </a:srgbClr>
            </a:outerShdw>
          </a:effectLst>
        </p:spPr>
      </p:sp>
      <p:sp>
        <p:nvSpPr>
          <p:cNvPr id="24" name="Shape 21"/>
          <p:cNvSpPr/>
          <p:nvPr/>
        </p:nvSpPr>
        <p:spPr>
          <a:xfrm>
            <a:off x="2244852" y="1764792"/>
            <a:ext cx="402336" cy="402336"/>
          </a:xfrm>
          <a:prstGeom prst="ellipse">
            <a:avLst/>
          </a:prstGeom>
          <a:solidFill>
            <a:srgbClr val="C0392B"/>
          </a:solidFill>
          <a:ln w="25400">
            <a:solidFill>
              <a:srgbClr val="FFF8E1"/>
            </a:solidFill>
            <a:prstDash val="solid"/>
          </a:ln>
        </p:spPr>
      </p:sp>
      <p:sp>
        <p:nvSpPr>
          <p:cNvPr id="25" name="Text 22"/>
          <p:cNvSpPr/>
          <p:nvPr/>
        </p:nvSpPr>
        <p:spPr>
          <a:xfrm>
            <a:off x="2244852" y="1764792"/>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26" name="Text 23"/>
          <p:cNvSpPr/>
          <p:nvPr/>
        </p:nvSpPr>
        <p:spPr>
          <a:xfrm>
            <a:off x="1389888" y="2221992"/>
            <a:ext cx="2112264" cy="502920"/>
          </a:xfrm>
          <a:prstGeom prst="rect">
            <a:avLst/>
          </a:prstGeom>
          <a:noFill/>
          <a:ln/>
        </p:spPr>
        <p:txBody>
          <a:bodyPr wrap="square" lIns="0" tIns="0" rIns="0" bIns="0" rtlCol="0" anchor="t"/>
          <a:lstStyle/>
          <a:p>
            <a:pPr marL="0" indent="0">
              <a:buNone/>
            </a:pPr>
            <a:r>
              <a:rPr lang="en-US" sz="1350" b="1" dirty="0">
                <a:solidFill>
                  <a:srgbClr val="1B3A6B"/>
                </a:solidFill>
                <a:latin typeface="Calibri" pitchFamily="34" charset="0"/>
                <a:ea typeface="Calibri" pitchFamily="34" charset="-122"/>
                <a:cs typeface="Calibri" pitchFamily="34" charset="-120"/>
              </a:rPr>
              <a:t>1. Channel Subsystem</a:t>
            </a:r>
            <a:endParaRPr lang="en-US" sz="1350" dirty="0"/>
          </a:p>
        </p:txBody>
      </p:sp>
      <p:sp>
        <p:nvSpPr>
          <p:cNvPr id="27" name="Text 24"/>
          <p:cNvSpPr/>
          <p:nvPr/>
        </p:nvSpPr>
        <p:spPr>
          <a:xfrm>
            <a:off x="1389888" y="2715768"/>
            <a:ext cx="2112264" cy="777240"/>
          </a:xfrm>
          <a:prstGeom prst="rect">
            <a:avLst/>
          </a:prstGeom>
          <a:noFill/>
          <a:ln/>
        </p:spPr>
        <p:txBody>
          <a:bodyPr wrap="square" lIns="0" tIns="0" rIns="0" bIns="0" rtlCol="0" anchor="t"/>
          <a:lstStyle/>
          <a:p>
            <a:pPr marL="0" indent="0">
              <a:buNone/>
            </a:pPr>
            <a:r>
              <a:rPr lang="en-US" sz="1100" dirty="0">
                <a:solidFill>
                  <a:srgbClr val="4A4A4A"/>
                </a:solidFill>
                <a:latin typeface="Calibri" pitchFamily="34" charset="0"/>
                <a:ea typeface="Calibri" pitchFamily="34" charset="-122"/>
                <a:cs typeface="Calibri" pitchFamily="34" charset="-120"/>
              </a:rPr>
              <a:t>Central manager of all I/O activity</a:t>
            </a:r>
            <a:endParaRPr lang="en-US" sz="1100" dirty="0"/>
          </a:p>
        </p:txBody>
      </p:sp>
      <p:pic>
        <p:nvPicPr>
          <p:cNvPr id="28" name="Image 1" descr="/home/claude/iobook/icons/arrowRight.png"/>
          <p:cNvPicPr>
            <a:picLocks noChangeAspect="1"/>
          </p:cNvPicPr>
          <p:nvPr/>
        </p:nvPicPr>
        <p:blipFill>
          <a:blip r:embed="rId4"/>
          <a:stretch>
            <a:fillRect/>
          </a:stretch>
        </p:blipFill>
        <p:spPr>
          <a:xfrm>
            <a:off x="3639312" y="2628900"/>
            <a:ext cx="274320" cy="274320"/>
          </a:xfrm>
          <a:prstGeom prst="rect">
            <a:avLst/>
          </a:prstGeom>
        </p:spPr>
      </p:pic>
      <p:sp>
        <p:nvSpPr>
          <p:cNvPr id="29" name="Shape 25"/>
          <p:cNvSpPr/>
          <p:nvPr/>
        </p:nvSpPr>
        <p:spPr>
          <a:xfrm>
            <a:off x="3931920" y="1965960"/>
            <a:ext cx="2331720" cy="1600200"/>
          </a:xfrm>
          <a:prstGeom prst="roundRect">
            <a:avLst>
              <a:gd name="adj" fmla="val 4571"/>
            </a:avLst>
          </a:prstGeom>
          <a:solidFill>
            <a:srgbClr val="FFFFFF"/>
          </a:solidFill>
          <a:ln w="12700">
            <a:solidFill>
              <a:srgbClr val="1B3A6B"/>
            </a:solidFill>
            <a:prstDash val="solid"/>
          </a:ln>
          <a:effectLst>
            <a:outerShdw blurRad="38100" dist="25400" dir="5400000" algn="bl" rotWithShape="0">
              <a:srgbClr val="999999">
                <a:alpha val="20000"/>
              </a:srgbClr>
            </a:outerShdw>
          </a:effectLst>
        </p:spPr>
      </p:sp>
      <p:sp>
        <p:nvSpPr>
          <p:cNvPr id="30" name="Shape 26"/>
          <p:cNvSpPr/>
          <p:nvPr/>
        </p:nvSpPr>
        <p:spPr>
          <a:xfrm>
            <a:off x="4896612" y="1764792"/>
            <a:ext cx="402336" cy="402336"/>
          </a:xfrm>
          <a:prstGeom prst="ellipse">
            <a:avLst/>
          </a:prstGeom>
          <a:solidFill>
            <a:srgbClr val="C0392B"/>
          </a:solidFill>
          <a:ln w="25400">
            <a:solidFill>
              <a:srgbClr val="FFF8E1"/>
            </a:solidFill>
            <a:prstDash val="solid"/>
          </a:ln>
        </p:spPr>
      </p:sp>
      <p:sp>
        <p:nvSpPr>
          <p:cNvPr id="31" name="Text 27"/>
          <p:cNvSpPr/>
          <p:nvPr/>
        </p:nvSpPr>
        <p:spPr>
          <a:xfrm>
            <a:off x="4896612" y="1764792"/>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32" name="Text 28"/>
          <p:cNvSpPr/>
          <p:nvPr/>
        </p:nvSpPr>
        <p:spPr>
          <a:xfrm>
            <a:off x="4041648" y="2221992"/>
            <a:ext cx="2112264" cy="502920"/>
          </a:xfrm>
          <a:prstGeom prst="rect">
            <a:avLst/>
          </a:prstGeom>
          <a:noFill/>
          <a:ln/>
        </p:spPr>
        <p:txBody>
          <a:bodyPr wrap="square" lIns="0" tIns="0" rIns="0" bIns="0" rtlCol="0" anchor="t"/>
          <a:lstStyle/>
          <a:p>
            <a:pPr marL="0" indent="0">
              <a:buNone/>
            </a:pPr>
            <a:r>
              <a:rPr lang="en-US" sz="1350" b="1" dirty="0">
                <a:solidFill>
                  <a:srgbClr val="1B3A6B"/>
                </a:solidFill>
                <a:latin typeface="Calibri" pitchFamily="34" charset="0"/>
                <a:ea typeface="Calibri" pitchFamily="34" charset="-122"/>
                <a:cs typeface="Calibri" pitchFamily="34" charset="-120"/>
              </a:rPr>
              <a:t>2. Channel Paths</a:t>
            </a:r>
            <a:endParaRPr lang="en-US" sz="1350" dirty="0"/>
          </a:p>
        </p:txBody>
      </p:sp>
      <p:sp>
        <p:nvSpPr>
          <p:cNvPr id="33" name="Text 29"/>
          <p:cNvSpPr/>
          <p:nvPr/>
        </p:nvSpPr>
        <p:spPr>
          <a:xfrm>
            <a:off x="4041648" y="2715768"/>
            <a:ext cx="2112264" cy="777240"/>
          </a:xfrm>
          <a:prstGeom prst="rect">
            <a:avLst/>
          </a:prstGeom>
          <a:noFill/>
          <a:ln/>
        </p:spPr>
        <p:txBody>
          <a:bodyPr wrap="square" lIns="0" tIns="0" rIns="0" bIns="0" rtlCol="0" anchor="t"/>
          <a:lstStyle/>
          <a:p>
            <a:pPr marL="0" indent="0">
              <a:buNone/>
            </a:pPr>
            <a:r>
              <a:rPr lang="en-US" sz="1100" dirty="0">
                <a:solidFill>
                  <a:srgbClr val="4A4A4A"/>
                </a:solidFill>
                <a:latin typeface="Calibri" pitchFamily="34" charset="0"/>
                <a:ea typeface="Calibri" pitchFamily="34" charset="-122"/>
                <a:cs typeface="Calibri" pitchFamily="34" charset="-120"/>
              </a:rPr>
              <a:t>Several routes to reach the same device</a:t>
            </a:r>
            <a:endParaRPr lang="en-US" sz="1100" dirty="0"/>
          </a:p>
        </p:txBody>
      </p:sp>
      <p:pic>
        <p:nvPicPr>
          <p:cNvPr id="34" name="Image 2" descr="/home/claude/iobook/icons/arrowRight.png"/>
          <p:cNvPicPr>
            <a:picLocks noChangeAspect="1"/>
          </p:cNvPicPr>
          <p:nvPr/>
        </p:nvPicPr>
        <p:blipFill>
          <a:blip r:embed="rId4"/>
          <a:stretch>
            <a:fillRect/>
          </a:stretch>
        </p:blipFill>
        <p:spPr>
          <a:xfrm>
            <a:off x="6291072" y="2628900"/>
            <a:ext cx="274320" cy="274320"/>
          </a:xfrm>
          <a:prstGeom prst="rect">
            <a:avLst/>
          </a:prstGeom>
        </p:spPr>
      </p:pic>
      <p:sp>
        <p:nvSpPr>
          <p:cNvPr id="35" name="Shape 30"/>
          <p:cNvSpPr/>
          <p:nvPr/>
        </p:nvSpPr>
        <p:spPr>
          <a:xfrm>
            <a:off x="6583680" y="1965960"/>
            <a:ext cx="2331720" cy="1600200"/>
          </a:xfrm>
          <a:prstGeom prst="roundRect">
            <a:avLst>
              <a:gd name="adj" fmla="val 4571"/>
            </a:avLst>
          </a:prstGeom>
          <a:solidFill>
            <a:srgbClr val="FFFFFF"/>
          </a:solidFill>
          <a:ln w="12700">
            <a:solidFill>
              <a:srgbClr val="1B3A6B"/>
            </a:solidFill>
            <a:prstDash val="solid"/>
          </a:ln>
          <a:effectLst>
            <a:outerShdw blurRad="38100" dist="25400" dir="5400000" algn="bl" rotWithShape="0">
              <a:srgbClr val="999999">
                <a:alpha val="20000"/>
              </a:srgbClr>
            </a:outerShdw>
          </a:effectLst>
        </p:spPr>
      </p:sp>
      <p:sp>
        <p:nvSpPr>
          <p:cNvPr id="36" name="Shape 31"/>
          <p:cNvSpPr/>
          <p:nvPr/>
        </p:nvSpPr>
        <p:spPr>
          <a:xfrm>
            <a:off x="7548372" y="1764792"/>
            <a:ext cx="402336" cy="402336"/>
          </a:xfrm>
          <a:prstGeom prst="ellipse">
            <a:avLst/>
          </a:prstGeom>
          <a:solidFill>
            <a:srgbClr val="C0392B"/>
          </a:solidFill>
          <a:ln w="25400">
            <a:solidFill>
              <a:srgbClr val="FFF8E1"/>
            </a:solidFill>
            <a:prstDash val="solid"/>
          </a:ln>
        </p:spPr>
      </p:sp>
      <p:sp>
        <p:nvSpPr>
          <p:cNvPr id="37" name="Text 32"/>
          <p:cNvSpPr/>
          <p:nvPr/>
        </p:nvSpPr>
        <p:spPr>
          <a:xfrm>
            <a:off x="7548372" y="1764792"/>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38" name="Text 33"/>
          <p:cNvSpPr/>
          <p:nvPr/>
        </p:nvSpPr>
        <p:spPr>
          <a:xfrm>
            <a:off x="6693408" y="2221992"/>
            <a:ext cx="2112264" cy="502920"/>
          </a:xfrm>
          <a:prstGeom prst="rect">
            <a:avLst/>
          </a:prstGeom>
          <a:noFill/>
          <a:ln/>
        </p:spPr>
        <p:txBody>
          <a:bodyPr wrap="square" lIns="0" tIns="0" rIns="0" bIns="0" rtlCol="0" anchor="t"/>
          <a:lstStyle/>
          <a:p>
            <a:pPr marL="0" indent="0">
              <a:buNone/>
            </a:pPr>
            <a:r>
              <a:rPr lang="en-US" sz="1350" b="1" dirty="0">
                <a:solidFill>
                  <a:srgbClr val="1B3A6B"/>
                </a:solidFill>
                <a:latin typeface="Calibri" pitchFamily="34" charset="0"/>
                <a:ea typeface="Calibri" pitchFamily="34" charset="-122"/>
                <a:cs typeface="Calibri" pitchFamily="34" charset="-120"/>
              </a:rPr>
              <a:t>3. Control Units</a:t>
            </a:r>
            <a:endParaRPr lang="en-US" sz="1350" dirty="0"/>
          </a:p>
        </p:txBody>
      </p:sp>
      <p:sp>
        <p:nvSpPr>
          <p:cNvPr id="39" name="Text 34"/>
          <p:cNvSpPr/>
          <p:nvPr/>
        </p:nvSpPr>
        <p:spPr>
          <a:xfrm>
            <a:off x="6693408" y="2715768"/>
            <a:ext cx="2112264" cy="777240"/>
          </a:xfrm>
          <a:prstGeom prst="rect">
            <a:avLst/>
          </a:prstGeom>
          <a:noFill/>
          <a:ln/>
        </p:spPr>
        <p:txBody>
          <a:bodyPr wrap="square" lIns="0" tIns="0" rIns="0" bIns="0" rtlCol="0" anchor="t"/>
          <a:lstStyle/>
          <a:p>
            <a:pPr marL="0" indent="0">
              <a:buNone/>
            </a:pPr>
            <a:r>
              <a:rPr lang="en-US" sz="1100" dirty="0">
                <a:solidFill>
                  <a:srgbClr val="4A4A4A"/>
                </a:solidFill>
                <a:latin typeface="Calibri" pitchFamily="34" charset="0"/>
                <a:ea typeface="Calibri" pitchFamily="34" charset="-122"/>
                <a:cs typeface="Calibri" pitchFamily="34" charset="-120"/>
              </a:rPr>
              <a:t>Connect channels to storage devices</a:t>
            </a:r>
            <a:endParaRPr lang="en-US" sz="1100" dirty="0"/>
          </a:p>
        </p:txBody>
      </p:sp>
      <p:pic>
        <p:nvPicPr>
          <p:cNvPr id="40" name="Image 3" descr="/home/claude/iobook/icons/arrowRight.png"/>
          <p:cNvPicPr>
            <a:picLocks noChangeAspect="1"/>
          </p:cNvPicPr>
          <p:nvPr/>
        </p:nvPicPr>
        <p:blipFill>
          <a:blip r:embed="rId4"/>
          <a:stretch>
            <a:fillRect/>
          </a:stretch>
        </p:blipFill>
        <p:spPr>
          <a:xfrm>
            <a:off x="8942832" y="2628900"/>
            <a:ext cx="274320" cy="274320"/>
          </a:xfrm>
          <a:prstGeom prst="rect">
            <a:avLst/>
          </a:prstGeom>
        </p:spPr>
      </p:pic>
      <p:sp>
        <p:nvSpPr>
          <p:cNvPr id="41" name="Shape 35"/>
          <p:cNvSpPr/>
          <p:nvPr/>
        </p:nvSpPr>
        <p:spPr>
          <a:xfrm>
            <a:off x="9235440" y="1965960"/>
            <a:ext cx="2331720" cy="1600200"/>
          </a:xfrm>
          <a:prstGeom prst="roundRect">
            <a:avLst>
              <a:gd name="adj" fmla="val 4571"/>
            </a:avLst>
          </a:prstGeom>
          <a:solidFill>
            <a:srgbClr val="FFFFFF"/>
          </a:solidFill>
          <a:ln w="12700">
            <a:solidFill>
              <a:srgbClr val="1B3A6B"/>
            </a:solidFill>
            <a:prstDash val="solid"/>
          </a:ln>
          <a:effectLst>
            <a:outerShdw blurRad="38100" dist="25400" dir="5400000" algn="bl" rotWithShape="0">
              <a:srgbClr val="999999">
                <a:alpha val="20000"/>
              </a:srgbClr>
            </a:outerShdw>
          </a:effectLst>
        </p:spPr>
      </p:sp>
      <p:sp>
        <p:nvSpPr>
          <p:cNvPr id="42" name="Shape 36"/>
          <p:cNvSpPr/>
          <p:nvPr/>
        </p:nvSpPr>
        <p:spPr>
          <a:xfrm>
            <a:off x="10200132" y="1764792"/>
            <a:ext cx="402336" cy="402336"/>
          </a:xfrm>
          <a:prstGeom prst="ellipse">
            <a:avLst/>
          </a:prstGeom>
          <a:solidFill>
            <a:srgbClr val="C0392B"/>
          </a:solidFill>
          <a:ln w="25400">
            <a:solidFill>
              <a:srgbClr val="FFF8E1"/>
            </a:solidFill>
            <a:prstDash val="solid"/>
          </a:ln>
        </p:spPr>
      </p:sp>
      <p:sp>
        <p:nvSpPr>
          <p:cNvPr id="43" name="Text 37"/>
          <p:cNvSpPr/>
          <p:nvPr/>
        </p:nvSpPr>
        <p:spPr>
          <a:xfrm>
            <a:off x="10200132" y="1764792"/>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44" name="Text 38"/>
          <p:cNvSpPr/>
          <p:nvPr/>
        </p:nvSpPr>
        <p:spPr>
          <a:xfrm>
            <a:off x="9345168" y="2221992"/>
            <a:ext cx="2112264" cy="502920"/>
          </a:xfrm>
          <a:prstGeom prst="rect">
            <a:avLst/>
          </a:prstGeom>
          <a:noFill/>
          <a:ln/>
        </p:spPr>
        <p:txBody>
          <a:bodyPr wrap="square" lIns="0" tIns="0" rIns="0" bIns="0" rtlCol="0" anchor="t"/>
          <a:lstStyle/>
          <a:p>
            <a:pPr marL="0" indent="0">
              <a:buNone/>
            </a:pPr>
            <a:r>
              <a:rPr lang="en-US" sz="1350" b="1" dirty="0">
                <a:solidFill>
                  <a:srgbClr val="1B3A6B"/>
                </a:solidFill>
                <a:latin typeface="Calibri" pitchFamily="34" charset="0"/>
                <a:ea typeface="Calibri" pitchFamily="34" charset="-122"/>
                <a:cs typeface="Calibri" pitchFamily="34" charset="-120"/>
              </a:rPr>
              <a:t>4. Redundancy</a:t>
            </a:r>
            <a:endParaRPr lang="en-US" sz="1350" dirty="0"/>
          </a:p>
        </p:txBody>
      </p:sp>
      <p:sp>
        <p:nvSpPr>
          <p:cNvPr id="45" name="Text 39"/>
          <p:cNvSpPr/>
          <p:nvPr/>
        </p:nvSpPr>
        <p:spPr>
          <a:xfrm>
            <a:off x="9345168" y="2715768"/>
            <a:ext cx="2112264" cy="777240"/>
          </a:xfrm>
          <a:prstGeom prst="rect">
            <a:avLst/>
          </a:prstGeom>
          <a:noFill/>
          <a:ln/>
        </p:spPr>
        <p:txBody>
          <a:bodyPr wrap="square" lIns="0" tIns="0" rIns="0" bIns="0" rtlCol="0" anchor="t"/>
          <a:lstStyle/>
          <a:p>
            <a:pPr marL="0" indent="0">
              <a:buNone/>
            </a:pPr>
            <a:r>
              <a:rPr lang="en-US" sz="1100" dirty="0">
                <a:solidFill>
                  <a:srgbClr val="4A4A4A"/>
                </a:solidFill>
                <a:latin typeface="Calibri" pitchFamily="34" charset="0"/>
                <a:ea typeface="Calibri" pitchFamily="34" charset="-122"/>
                <a:cs typeface="Calibri" pitchFamily="34" charset="-120"/>
              </a:rPr>
              <a:t>A failed path auto-reroutes traffic</a:t>
            </a:r>
            <a:endParaRPr lang="en-US" sz="1100" dirty="0"/>
          </a:p>
        </p:txBody>
      </p:sp>
      <p:sp>
        <p:nvSpPr>
          <p:cNvPr id="46" name="Shape 40"/>
          <p:cNvSpPr/>
          <p:nvPr/>
        </p:nvSpPr>
        <p:spPr>
          <a:xfrm>
            <a:off x="1280160" y="3977640"/>
            <a:ext cx="8778240" cy="1234440"/>
          </a:xfrm>
          <a:prstGeom prst="roundRect">
            <a:avLst>
              <a:gd name="adj" fmla="val 7407"/>
            </a:avLst>
          </a:prstGeom>
          <a:solidFill>
            <a:srgbClr val="DCE6F5">
              <a:alpha val="70000"/>
            </a:srgbClr>
          </a:solidFill>
          <a:ln w="9525">
            <a:solidFill>
              <a:srgbClr val="1B3A6B"/>
            </a:solidFill>
            <a:prstDash val="sysDot"/>
          </a:ln>
        </p:spPr>
      </p:sp>
      <p:pic>
        <p:nvPicPr>
          <p:cNvPr id="47" name="Image 4" descr="/home/claude/iobook/icons/lightbulb.png"/>
          <p:cNvPicPr>
            <a:picLocks noChangeAspect="1"/>
          </p:cNvPicPr>
          <p:nvPr/>
        </p:nvPicPr>
        <p:blipFill>
          <a:blip r:embed="rId5"/>
          <a:stretch>
            <a:fillRect/>
          </a:stretch>
        </p:blipFill>
        <p:spPr>
          <a:xfrm>
            <a:off x="1463040" y="4160520"/>
            <a:ext cx="502920" cy="502920"/>
          </a:xfrm>
          <a:prstGeom prst="rect">
            <a:avLst/>
          </a:prstGeom>
        </p:spPr>
      </p:pic>
      <p:sp>
        <p:nvSpPr>
          <p:cNvPr id="48" name="Text 41"/>
          <p:cNvSpPr/>
          <p:nvPr/>
        </p:nvSpPr>
        <p:spPr>
          <a:xfrm>
            <a:off x="2103120" y="4114800"/>
            <a:ext cx="7772400" cy="1005840"/>
          </a:xfrm>
          <a:prstGeom prst="rect">
            <a:avLst/>
          </a:prstGeom>
          <a:noFill/>
          <a:ln/>
        </p:spPr>
        <p:txBody>
          <a:bodyPr wrap="square" lIns="0" tIns="0" rIns="0" bIns="0" rtlCol="0" anchor="ctr"/>
          <a:lstStyle/>
          <a:p>
            <a:pPr marL="0" indent="0">
              <a:buNone/>
            </a:pPr>
            <a:r>
              <a:rPr lang="en-US" sz="1350" i="1" dirty="0">
                <a:solidFill>
                  <a:srgbClr val="1B3A6B"/>
                </a:solidFill>
                <a:latin typeface="Calibri" pitchFamily="34" charset="0"/>
                <a:ea typeface="Calibri" pitchFamily="34" charset="-122"/>
                <a:cs typeface="Calibri" pitchFamily="34" charset="-120"/>
              </a:rPr>
              <a:t>This is where every earlier concept — I/O modules, DMA, channels — comes together at massive, real-world scale.</a:t>
            </a:r>
            <a:endParaRPr lang="en-US" sz="1350" dirty="0"/>
          </a:p>
        </p:txBody>
      </p:sp>
      <p:sp>
        <p:nvSpPr>
          <p:cNvPr id="49" name="Text 42"/>
          <p:cNvSpPr/>
          <p:nvPr/>
        </p:nvSpPr>
        <p:spPr>
          <a:xfrm>
            <a:off x="320040" y="6510528"/>
            <a:ext cx="5486400" cy="274320"/>
          </a:xfrm>
          <a:prstGeom prst="rect">
            <a:avLst/>
          </a:prstGeom>
          <a:noFill/>
          <a:ln/>
        </p:spPr>
        <p:txBody>
          <a:bodyPr wrap="square" lIns="0" tIns="0" rIns="0" bIns="0" rtlCol="0" anchor="ctr"/>
          <a:lstStyle/>
          <a:p>
            <a:pPr marL="0" indent="0">
              <a:buNone/>
            </a:pPr>
            <a:r>
              <a:rPr lang="en-US" sz="1000" i="1" dirty="0">
                <a:solidFill>
                  <a:srgbClr val="4A4A4A"/>
                </a:solidFill>
                <a:latin typeface="Calibri" pitchFamily="34" charset="0"/>
                <a:ea typeface="Calibri" pitchFamily="34" charset="-122"/>
                <a:cs typeface="Calibri" pitchFamily="34" charset="-120"/>
              </a:rPr>
              <a:t>IBM zEnterprise EC12 I/O Structure</a:t>
            </a:r>
            <a:endParaRPr lang="en-US" sz="1000" dirty="0"/>
          </a:p>
        </p:txBody>
      </p:sp>
      <p:sp>
        <p:nvSpPr>
          <p:cNvPr id="50" name="Text 43"/>
          <p:cNvSpPr/>
          <p:nvPr/>
        </p:nvSpPr>
        <p:spPr>
          <a:xfrm>
            <a:off x="5029200" y="6510528"/>
            <a:ext cx="5029200" cy="274320"/>
          </a:xfrm>
          <a:prstGeom prst="rect">
            <a:avLst/>
          </a:prstGeom>
          <a:noFill/>
          <a:ln/>
        </p:spPr>
        <p:txBody>
          <a:bodyPr wrap="square" lIns="0" tIns="0" rIns="0" bIns="0" rtlCol="0" anchor="ctr"/>
          <a:lstStyle/>
          <a:p>
            <a:pPr marL="0" indent="0" algn="r">
              <a:buNone/>
            </a:pPr>
            <a:r>
              <a:rPr lang="en-US" sz="900" dirty="0">
                <a:solidFill>
                  <a:srgbClr val="4A4A4A"/>
                </a:solidFill>
                <a:latin typeface="Calibri" pitchFamily="34" charset="0"/>
                <a:ea typeface="Calibri" pitchFamily="34" charset="-122"/>
                <a:cs typeface="Calibri" pitchFamily="34" charset="-120"/>
              </a:rPr>
              <a:t>Ch.7 • Stallings, Computer Organization &amp; Architecture</a:t>
            </a:r>
            <a:endParaRPr lang="en-US" sz="900" dirty="0"/>
          </a:p>
        </p:txBody>
      </p:sp>
      <p:sp>
        <p:nvSpPr>
          <p:cNvPr id="51" name="Text 44"/>
          <p:cNvSpPr/>
          <p:nvPr/>
        </p:nvSpPr>
        <p:spPr>
          <a:xfrm>
            <a:off x="11475720" y="6510528"/>
            <a:ext cx="548640" cy="274320"/>
          </a:xfrm>
          <a:prstGeom prst="rect">
            <a:avLst/>
          </a:prstGeom>
          <a:noFill/>
          <a:ln/>
        </p:spPr>
        <p:txBody>
          <a:bodyPr wrap="square" lIns="0" tIns="0" rIns="0" bIns="0" rtlCol="0" anchor="ctr"/>
          <a:lstStyle/>
          <a:p>
            <a:pPr marL="0" indent="0" algn="r">
              <a:buNone/>
            </a:pPr>
            <a:r>
              <a:rPr lang="en-US" sz="1000" dirty="0">
                <a:solidFill>
                  <a:srgbClr val="4A4A4A"/>
                </a:solidFill>
                <a:latin typeface="Calibri" pitchFamily="34" charset="0"/>
                <a:ea typeface="Calibri" pitchFamily="34" charset="-122"/>
                <a:cs typeface="Calibri" pitchFamily="34" charset="-120"/>
              </a:rPr>
              <a:t>27/30</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8E1"/>
        </a:solidFill>
        <a:effectLst/>
      </p:bgPr>
    </p:bg>
    <p:spTree>
      <p:nvGrpSpPr>
        <p:cNvPr id="1" name=""/>
        <p:cNvGrpSpPr/>
        <p:nvPr/>
      </p:nvGrpSpPr>
      <p:grpSpPr>
        <a:xfrm>
          <a:off x="0" y="0"/>
          <a:ext cx="0" cy="0"/>
          <a:chOff x="0" y="0"/>
          <a:chExt cx="0" cy="0"/>
        </a:xfrm>
      </p:grpSpPr>
      <p:sp>
        <p:nvSpPr>
          <p:cNvPr id="2" name="Shape 0"/>
          <p:cNvSpPr/>
          <p:nvPr/>
        </p:nvSpPr>
        <p:spPr>
          <a:xfrm>
            <a:off x="1234440" y="1417320"/>
            <a:ext cx="10607040" cy="0"/>
          </a:xfrm>
          <a:prstGeom prst="line">
            <a:avLst/>
          </a:prstGeom>
          <a:noFill/>
          <a:ln w="12700">
            <a:solidFill>
              <a:srgbClr val="E9DFC4"/>
            </a:solidFill>
            <a:prstDash val="solid"/>
          </a:ln>
        </p:spPr>
      </p:sp>
      <p:sp>
        <p:nvSpPr>
          <p:cNvPr id="3" name="Shape 1"/>
          <p:cNvSpPr/>
          <p:nvPr/>
        </p:nvSpPr>
        <p:spPr>
          <a:xfrm>
            <a:off x="1234440" y="1801368"/>
            <a:ext cx="10607040" cy="0"/>
          </a:xfrm>
          <a:prstGeom prst="line">
            <a:avLst/>
          </a:prstGeom>
          <a:noFill/>
          <a:ln w="12700">
            <a:solidFill>
              <a:srgbClr val="E9DFC4"/>
            </a:solidFill>
            <a:prstDash val="solid"/>
          </a:ln>
        </p:spPr>
      </p:sp>
      <p:sp>
        <p:nvSpPr>
          <p:cNvPr id="4" name="Shape 2"/>
          <p:cNvSpPr/>
          <p:nvPr/>
        </p:nvSpPr>
        <p:spPr>
          <a:xfrm>
            <a:off x="1234440" y="2185416"/>
            <a:ext cx="10607040" cy="0"/>
          </a:xfrm>
          <a:prstGeom prst="line">
            <a:avLst/>
          </a:prstGeom>
          <a:noFill/>
          <a:ln w="12700">
            <a:solidFill>
              <a:srgbClr val="E9DFC4"/>
            </a:solidFill>
            <a:prstDash val="solid"/>
          </a:ln>
        </p:spPr>
      </p:sp>
      <p:sp>
        <p:nvSpPr>
          <p:cNvPr id="5" name="Shape 3"/>
          <p:cNvSpPr/>
          <p:nvPr/>
        </p:nvSpPr>
        <p:spPr>
          <a:xfrm>
            <a:off x="1234440" y="2569464"/>
            <a:ext cx="10607040" cy="0"/>
          </a:xfrm>
          <a:prstGeom prst="line">
            <a:avLst/>
          </a:prstGeom>
          <a:noFill/>
          <a:ln w="12700">
            <a:solidFill>
              <a:srgbClr val="E9DFC4"/>
            </a:solidFill>
            <a:prstDash val="solid"/>
          </a:ln>
        </p:spPr>
      </p:sp>
      <p:sp>
        <p:nvSpPr>
          <p:cNvPr id="6" name="Shape 4"/>
          <p:cNvSpPr/>
          <p:nvPr/>
        </p:nvSpPr>
        <p:spPr>
          <a:xfrm>
            <a:off x="1234440" y="2953512"/>
            <a:ext cx="10607040" cy="0"/>
          </a:xfrm>
          <a:prstGeom prst="line">
            <a:avLst/>
          </a:prstGeom>
          <a:noFill/>
          <a:ln w="12700">
            <a:solidFill>
              <a:srgbClr val="E9DFC4"/>
            </a:solidFill>
            <a:prstDash val="solid"/>
          </a:ln>
        </p:spPr>
      </p:sp>
      <p:sp>
        <p:nvSpPr>
          <p:cNvPr id="7" name="Shape 5"/>
          <p:cNvSpPr/>
          <p:nvPr/>
        </p:nvSpPr>
        <p:spPr>
          <a:xfrm>
            <a:off x="1234440" y="3337560"/>
            <a:ext cx="10607040" cy="0"/>
          </a:xfrm>
          <a:prstGeom prst="line">
            <a:avLst/>
          </a:prstGeom>
          <a:noFill/>
          <a:ln w="12700">
            <a:solidFill>
              <a:srgbClr val="E9DFC4"/>
            </a:solidFill>
            <a:prstDash val="solid"/>
          </a:ln>
        </p:spPr>
      </p:sp>
      <p:sp>
        <p:nvSpPr>
          <p:cNvPr id="8" name="Shape 6"/>
          <p:cNvSpPr/>
          <p:nvPr/>
        </p:nvSpPr>
        <p:spPr>
          <a:xfrm>
            <a:off x="1234440" y="3721608"/>
            <a:ext cx="10607040" cy="0"/>
          </a:xfrm>
          <a:prstGeom prst="line">
            <a:avLst/>
          </a:prstGeom>
          <a:noFill/>
          <a:ln w="12700">
            <a:solidFill>
              <a:srgbClr val="E9DFC4"/>
            </a:solidFill>
            <a:prstDash val="solid"/>
          </a:ln>
        </p:spPr>
      </p:sp>
      <p:sp>
        <p:nvSpPr>
          <p:cNvPr id="9" name="Shape 7"/>
          <p:cNvSpPr/>
          <p:nvPr/>
        </p:nvSpPr>
        <p:spPr>
          <a:xfrm>
            <a:off x="1234440" y="4105656"/>
            <a:ext cx="10607040" cy="0"/>
          </a:xfrm>
          <a:prstGeom prst="line">
            <a:avLst/>
          </a:prstGeom>
          <a:noFill/>
          <a:ln w="12700">
            <a:solidFill>
              <a:srgbClr val="E9DFC4"/>
            </a:solidFill>
            <a:prstDash val="solid"/>
          </a:ln>
        </p:spPr>
      </p:sp>
      <p:sp>
        <p:nvSpPr>
          <p:cNvPr id="10" name="Shape 8"/>
          <p:cNvSpPr/>
          <p:nvPr/>
        </p:nvSpPr>
        <p:spPr>
          <a:xfrm>
            <a:off x="1234440" y="4489704"/>
            <a:ext cx="10607040" cy="0"/>
          </a:xfrm>
          <a:prstGeom prst="line">
            <a:avLst/>
          </a:prstGeom>
          <a:noFill/>
          <a:ln w="12700">
            <a:solidFill>
              <a:srgbClr val="E9DFC4"/>
            </a:solidFill>
            <a:prstDash val="solid"/>
          </a:ln>
        </p:spPr>
      </p:sp>
      <p:sp>
        <p:nvSpPr>
          <p:cNvPr id="11" name="Shape 9"/>
          <p:cNvSpPr/>
          <p:nvPr/>
        </p:nvSpPr>
        <p:spPr>
          <a:xfrm>
            <a:off x="1234440" y="4873752"/>
            <a:ext cx="10607040" cy="0"/>
          </a:xfrm>
          <a:prstGeom prst="line">
            <a:avLst/>
          </a:prstGeom>
          <a:noFill/>
          <a:ln w="12700">
            <a:solidFill>
              <a:srgbClr val="E9DFC4"/>
            </a:solidFill>
            <a:prstDash val="solid"/>
          </a:ln>
        </p:spPr>
      </p:sp>
      <p:sp>
        <p:nvSpPr>
          <p:cNvPr id="12" name="Shape 10"/>
          <p:cNvSpPr/>
          <p:nvPr/>
        </p:nvSpPr>
        <p:spPr>
          <a:xfrm>
            <a:off x="1234440" y="5257800"/>
            <a:ext cx="10607040" cy="0"/>
          </a:xfrm>
          <a:prstGeom prst="line">
            <a:avLst/>
          </a:prstGeom>
          <a:noFill/>
          <a:ln w="12700">
            <a:solidFill>
              <a:srgbClr val="E9DFC4"/>
            </a:solidFill>
            <a:prstDash val="solid"/>
          </a:ln>
        </p:spPr>
      </p:sp>
      <p:sp>
        <p:nvSpPr>
          <p:cNvPr id="13" name="Shape 11"/>
          <p:cNvSpPr/>
          <p:nvPr/>
        </p:nvSpPr>
        <p:spPr>
          <a:xfrm>
            <a:off x="1234440" y="5641848"/>
            <a:ext cx="10607040" cy="0"/>
          </a:xfrm>
          <a:prstGeom prst="line">
            <a:avLst/>
          </a:prstGeom>
          <a:noFill/>
          <a:ln w="12700">
            <a:solidFill>
              <a:srgbClr val="E9DFC4"/>
            </a:solidFill>
            <a:prstDash val="solid"/>
          </a:ln>
        </p:spPr>
      </p:sp>
      <p:sp>
        <p:nvSpPr>
          <p:cNvPr id="14" name="Shape 12"/>
          <p:cNvSpPr/>
          <p:nvPr/>
        </p:nvSpPr>
        <p:spPr>
          <a:xfrm>
            <a:off x="1234440" y="6025896"/>
            <a:ext cx="10607040" cy="0"/>
          </a:xfrm>
          <a:prstGeom prst="line">
            <a:avLst/>
          </a:prstGeom>
          <a:noFill/>
          <a:ln w="12700">
            <a:solidFill>
              <a:srgbClr val="E9DFC4"/>
            </a:solidFill>
            <a:prstDash val="solid"/>
          </a:ln>
        </p:spPr>
      </p:sp>
      <p:sp>
        <p:nvSpPr>
          <p:cNvPr id="15" name="Shape 13"/>
          <p:cNvSpPr/>
          <p:nvPr/>
        </p:nvSpPr>
        <p:spPr>
          <a:xfrm>
            <a:off x="1234440" y="6409944"/>
            <a:ext cx="10607040" cy="0"/>
          </a:xfrm>
          <a:prstGeom prst="line">
            <a:avLst/>
          </a:prstGeom>
          <a:noFill/>
          <a:ln w="12700">
            <a:solidFill>
              <a:srgbClr val="E9DFC4"/>
            </a:solidFill>
            <a:prstDash val="solid"/>
          </a:ln>
        </p:spPr>
      </p:sp>
      <p:sp>
        <p:nvSpPr>
          <p:cNvPr id="16" name="Shape 14"/>
          <p:cNvSpPr/>
          <p:nvPr/>
        </p:nvSpPr>
        <p:spPr>
          <a:xfrm>
            <a:off x="1051560" y="320040"/>
            <a:ext cx="0" cy="6309360"/>
          </a:xfrm>
          <a:prstGeom prst="line">
            <a:avLst/>
          </a:prstGeom>
          <a:noFill/>
          <a:ln w="15875">
            <a:solidFill>
              <a:srgbClr val="C0392B"/>
            </a:solidFill>
            <a:prstDash val="solid"/>
          </a:ln>
        </p:spPr>
      </p:sp>
      <p:sp>
        <p:nvSpPr>
          <p:cNvPr id="17" name="Text 15"/>
          <p:cNvSpPr/>
          <p:nvPr/>
        </p:nvSpPr>
        <p:spPr>
          <a:xfrm>
            <a:off x="1280160" y="310896"/>
            <a:ext cx="2743200" cy="320040"/>
          </a:xfrm>
          <a:prstGeom prst="rect">
            <a:avLst/>
          </a:prstGeom>
          <a:noFill/>
          <a:ln/>
        </p:spPr>
        <p:txBody>
          <a:bodyPr wrap="square" lIns="0" tIns="0" rIns="0" bIns="0" rtlCol="0" anchor="ctr"/>
          <a:lstStyle/>
          <a:p>
            <a:pPr marL="0" indent="0">
              <a:buNone/>
            </a:pPr>
            <a:r>
              <a:rPr lang="en-US" sz="1300" b="1" dirty="0">
                <a:solidFill>
                  <a:srgbClr val="C0392B"/>
                </a:solidFill>
                <a:latin typeface="Calibri" pitchFamily="34" charset="0"/>
                <a:ea typeface="Calibri" pitchFamily="34" charset="-122"/>
                <a:cs typeface="Calibri" pitchFamily="34" charset="-120"/>
              </a:rPr>
              <a:t>Topic 1.9</a:t>
            </a:r>
            <a:endParaRPr lang="en-US" sz="1300" dirty="0"/>
          </a:p>
        </p:txBody>
      </p:sp>
      <p:sp>
        <p:nvSpPr>
          <p:cNvPr id="18" name="Text 16"/>
          <p:cNvSpPr/>
          <p:nvPr/>
        </p:nvSpPr>
        <p:spPr>
          <a:xfrm>
            <a:off x="1234440" y="566928"/>
            <a:ext cx="8138160" cy="777240"/>
          </a:xfrm>
          <a:prstGeom prst="rect">
            <a:avLst/>
          </a:prstGeom>
          <a:noFill/>
          <a:ln/>
        </p:spPr>
        <p:txBody>
          <a:bodyPr wrap="square" lIns="0" tIns="0" rIns="0" bIns="0" rtlCol="0" anchor="t"/>
          <a:lstStyle/>
          <a:p>
            <a:pPr marL="0" indent="0">
              <a:buNone/>
            </a:pPr>
            <a:r>
              <a:rPr lang="en-US" sz="3000" b="1" dirty="0">
                <a:solidFill>
                  <a:srgbClr val="1B3A6B"/>
                </a:solidFill>
                <a:latin typeface="Comic Sans MS" pitchFamily="34" charset="0"/>
                <a:ea typeface="Comic Sans MS" pitchFamily="34" charset="-122"/>
                <a:cs typeface="Comic Sans MS" pitchFamily="34" charset="-120"/>
              </a:rPr>
              <a:t>IBM zEnterprise EC12 I/O Structure</a:t>
            </a:r>
            <a:endParaRPr lang="en-US" sz="3000" dirty="0"/>
          </a:p>
        </p:txBody>
      </p:sp>
      <p:sp>
        <p:nvSpPr>
          <p:cNvPr id="19" name="Shape 17"/>
          <p:cNvSpPr/>
          <p:nvPr/>
        </p:nvSpPr>
        <p:spPr>
          <a:xfrm>
            <a:off x="9646920" y="384048"/>
            <a:ext cx="1965960" cy="384048"/>
          </a:xfrm>
          <a:prstGeom prst="roundRect">
            <a:avLst>
              <a:gd name="adj" fmla="val 19048"/>
            </a:avLst>
          </a:prstGeom>
          <a:solidFill>
            <a:srgbClr val="C0392B"/>
          </a:solidFill>
          <a:ln/>
        </p:spPr>
      </p:sp>
      <p:sp>
        <p:nvSpPr>
          <p:cNvPr id="20" name="Text 18"/>
          <p:cNvSpPr/>
          <p:nvPr/>
        </p:nvSpPr>
        <p:spPr>
          <a:xfrm>
            <a:off x="9646920" y="384048"/>
            <a:ext cx="196596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EXAMPLE</a:t>
            </a:r>
            <a:endParaRPr lang="en-US" sz="1200" dirty="0"/>
          </a:p>
        </p:txBody>
      </p:sp>
      <p:sp>
        <p:nvSpPr>
          <p:cNvPr id="21" name="Shape 19"/>
          <p:cNvSpPr/>
          <p:nvPr/>
        </p:nvSpPr>
        <p:spPr>
          <a:xfrm>
            <a:off x="8732520" y="502920"/>
            <a:ext cx="1051560" cy="1051560"/>
          </a:xfrm>
          <a:prstGeom prst="ellipse">
            <a:avLst/>
          </a:prstGeom>
          <a:solidFill>
            <a:srgbClr val="DCE6F5"/>
          </a:solidFill>
          <a:ln/>
          <a:effectLst>
            <a:outerShdw blurRad="50800" dist="25400" dir="5400000" algn="bl" rotWithShape="0">
              <a:srgbClr val="999999">
                <a:alpha val="25000"/>
              </a:srgbClr>
            </a:outerShdw>
          </a:effectLst>
        </p:spPr>
      </p:sp>
      <p:pic>
        <p:nvPicPr>
          <p:cNvPr id="22" name="Image 0" descr="/home/claude/iobook/icons/building.png"/>
          <p:cNvPicPr>
            <a:picLocks noChangeAspect="1"/>
          </p:cNvPicPr>
          <p:nvPr/>
        </p:nvPicPr>
        <p:blipFill>
          <a:blip r:embed="rId3"/>
          <a:stretch>
            <a:fillRect/>
          </a:stretch>
        </p:blipFill>
        <p:spPr>
          <a:xfrm>
            <a:off x="8963863" y="734263"/>
            <a:ext cx="588874" cy="588874"/>
          </a:xfrm>
          <a:prstGeom prst="rect">
            <a:avLst/>
          </a:prstGeom>
        </p:spPr>
      </p:pic>
      <p:sp>
        <p:nvSpPr>
          <p:cNvPr id="23" name="Shape 20"/>
          <p:cNvSpPr/>
          <p:nvPr/>
        </p:nvSpPr>
        <p:spPr>
          <a:xfrm>
            <a:off x="1280160" y="1691640"/>
            <a:ext cx="6126480" cy="2834640"/>
          </a:xfrm>
          <a:prstGeom prst="roundRect">
            <a:avLst>
              <a:gd name="adj" fmla="val 3226"/>
            </a:avLst>
          </a:prstGeom>
          <a:solidFill>
            <a:srgbClr val="FFFFFF"/>
          </a:solidFill>
          <a:ln w="12700">
            <a:solidFill>
              <a:srgbClr val="1B3A6B"/>
            </a:solidFill>
            <a:prstDash val="solid"/>
          </a:ln>
          <a:effectLst>
            <a:outerShdw blurRad="38100" dist="25400" dir="5400000" algn="bl" rotWithShape="0">
              <a:srgbClr val="999999">
                <a:alpha val="20000"/>
              </a:srgbClr>
            </a:outerShdw>
          </a:effectLst>
        </p:spPr>
      </p:sp>
      <p:sp>
        <p:nvSpPr>
          <p:cNvPr id="24" name="Text 21"/>
          <p:cNvSpPr/>
          <p:nvPr/>
        </p:nvSpPr>
        <p:spPr>
          <a:xfrm>
            <a:off x="1508760" y="1828800"/>
            <a:ext cx="5669280" cy="320040"/>
          </a:xfrm>
          <a:prstGeom prst="rect">
            <a:avLst/>
          </a:prstGeom>
          <a:noFill/>
          <a:ln/>
        </p:spPr>
        <p:txBody>
          <a:bodyPr wrap="square" lIns="0" tIns="0" rIns="0" bIns="0" rtlCol="0" anchor="ctr"/>
          <a:lstStyle/>
          <a:p>
            <a:pPr marL="0" indent="0">
              <a:buNone/>
            </a:pPr>
            <a:r>
              <a:rPr lang="en-US" sz="1300" b="1" dirty="0">
                <a:solidFill>
                  <a:srgbClr val="C0392B"/>
                </a:solidFill>
                <a:latin typeface="Calibri" pitchFamily="34" charset="0"/>
                <a:ea typeface="Calibri" pitchFamily="34" charset="-122"/>
                <a:cs typeface="Calibri" pitchFamily="34" charset="-120"/>
              </a:rPr>
              <a:t>REAL-LIFE EXAMPLE</a:t>
            </a:r>
            <a:endParaRPr lang="en-US" sz="1300" dirty="0"/>
          </a:p>
        </p:txBody>
      </p:sp>
      <p:sp>
        <p:nvSpPr>
          <p:cNvPr id="25" name="Text 22"/>
          <p:cNvSpPr/>
          <p:nvPr/>
        </p:nvSpPr>
        <p:spPr>
          <a:xfrm>
            <a:off x="1508760" y="2194560"/>
            <a:ext cx="5669280" cy="2194560"/>
          </a:xfrm>
          <a:prstGeom prst="rect">
            <a:avLst/>
          </a:prstGeom>
          <a:noFill/>
          <a:ln/>
        </p:spPr>
        <p:txBody>
          <a:bodyPr wrap="square" lIns="0" tIns="0" rIns="0" bIns="0" rtlCol="0" anchor="t"/>
          <a:lstStyle/>
          <a:p>
            <a:pPr marL="0" indent="0">
              <a:buNone/>
            </a:pPr>
            <a:r>
              <a:rPr lang="en-US" sz="1450" dirty="0">
                <a:solidFill>
                  <a:srgbClr val="1B3A6B"/>
                </a:solidFill>
                <a:latin typeface="Calibri" pitchFamily="34" charset="0"/>
                <a:ea typeface="Calibri" pitchFamily="34" charset="-122"/>
                <a:cs typeface="Calibri" pitchFamily="34" charset="-120"/>
              </a:rPr>
              <a:t>A bank's ATM network can run on mainframes like the zEnterprise EC12, so that even if one cable or path fails, your money transfer still goes through safely.</a:t>
            </a:r>
            <a:endParaRPr lang="en-US" sz="1450" dirty="0"/>
          </a:p>
        </p:txBody>
      </p:sp>
      <p:sp>
        <p:nvSpPr>
          <p:cNvPr id="26" name="Shape 23"/>
          <p:cNvSpPr/>
          <p:nvPr/>
        </p:nvSpPr>
        <p:spPr>
          <a:xfrm>
            <a:off x="7635240" y="1691640"/>
            <a:ext cx="3383280" cy="2834640"/>
          </a:xfrm>
          <a:prstGeom prst="roundRect">
            <a:avLst>
              <a:gd name="adj" fmla="val 3226"/>
            </a:avLst>
          </a:prstGeom>
          <a:solidFill>
            <a:srgbClr val="C0392B"/>
          </a:solidFill>
          <a:ln/>
          <a:effectLst>
            <a:outerShdw blurRad="50800" dist="25400" dir="5400000" algn="bl" rotWithShape="0">
              <a:srgbClr val="000000">
                <a:alpha val="25000"/>
              </a:srgbClr>
            </a:outerShdw>
          </a:effectLst>
        </p:spPr>
      </p:sp>
      <p:pic>
        <p:nvPicPr>
          <p:cNvPr id="27" name="Image 1" descr="/home/claude/iobook/icons/check.png"/>
          <p:cNvPicPr>
            <a:picLocks noChangeAspect="1"/>
          </p:cNvPicPr>
          <p:nvPr/>
        </p:nvPicPr>
        <p:blipFill>
          <a:blip r:embed="rId4"/>
          <a:stretch>
            <a:fillRect/>
          </a:stretch>
        </p:blipFill>
        <p:spPr>
          <a:xfrm>
            <a:off x="7863840" y="1874520"/>
            <a:ext cx="457200" cy="457200"/>
          </a:xfrm>
          <a:prstGeom prst="rect">
            <a:avLst/>
          </a:prstGeom>
        </p:spPr>
      </p:pic>
      <p:sp>
        <p:nvSpPr>
          <p:cNvPr id="28" name="Text 24"/>
          <p:cNvSpPr/>
          <p:nvPr/>
        </p:nvSpPr>
        <p:spPr>
          <a:xfrm>
            <a:off x="8412480" y="1920240"/>
            <a:ext cx="2514600" cy="32004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KEY TAKEAWAY</a:t>
            </a:r>
            <a:endParaRPr lang="en-US" sz="1250" dirty="0"/>
          </a:p>
        </p:txBody>
      </p:sp>
      <p:sp>
        <p:nvSpPr>
          <p:cNvPr id="29" name="Text 25"/>
          <p:cNvSpPr/>
          <p:nvPr/>
        </p:nvSpPr>
        <p:spPr>
          <a:xfrm>
            <a:off x="7863840" y="2423160"/>
            <a:ext cx="3017520" cy="1965960"/>
          </a:xfrm>
          <a:prstGeom prst="rect">
            <a:avLst/>
          </a:prstGeom>
          <a:noFill/>
          <a:ln/>
        </p:spPr>
        <p:txBody>
          <a:bodyPr wrap="square" lIns="0" tIns="0" rIns="0" bIns="0" rtlCol="0" anchor="t"/>
          <a:lstStyle/>
          <a:p>
            <a:pPr marL="0" indent="0">
              <a:buNone/>
            </a:pPr>
            <a:r>
              <a:rPr lang="en-US" sz="1300" dirty="0">
                <a:solidFill>
                  <a:srgbClr val="FFFFFF"/>
                </a:solidFill>
                <a:latin typeface="Calibri" pitchFamily="34" charset="0"/>
                <a:ea typeface="Calibri" pitchFamily="34" charset="-122"/>
                <a:cs typeface="Calibri" pitchFamily="34" charset="-120"/>
              </a:rPr>
              <a:t>Enterprise mainframe I/O is built around one idea: redundancy, so no single failure stops the system.</a:t>
            </a:r>
            <a:endParaRPr lang="en-US" sz="1300" dirty="0"/>
          </a:p>
        </p:txBody>
      </p:sp>
      <p:sp>
        <p:nvSpPr>
          <p:cNvPr id="30" name="Shape 26"/>
          <p:cNvSpPr/>
          <p:nvPr/>
        </p:nvSpPr>
        <p:spPr>
          <a:xfrm>
            <a:off x="1280160" y="4709160"/>
            <a:ext cx="9738360" cy="685800"/>
          </a:xfrm>
          <a:prstGeom prst="roundRect">
            <a:avLst>
              <a:gd name="adj" fmla="val 10667"/>
            </a:avLst>
          </a:prstGeom>
          <a:solidFill>
            <a:srgbClr val="FFE082">
              <a:alpha val="60000"/>
            </a:srgbClr>
          </a:solidFill>
          <a:ln w="9525">
            <a:solidFill>
              <a:srgbClr val="1B3A6B"/>
            </a:solidFill>
            <a:prstDash val="dash"/>
          </a:ln>
        </p:spPr>
      </p:sp>
      <p:sp>
        <p:nvSpPr>
          <p:cNvPr id="31" name="Text 27"/>
          <p:cNvSpPr/>
          <p:nvPr/>
        </p:nvSpPr>
        <p:spPr>
          <a:xfrm>
            <a:off x="1463040" y="4709160"/>
            <a:ext cx="9372600" cy="685800"/>
          </a:xfrm>
          <a:prstGeom prst="rect">
            <a:avLst/>
          </a:prstGeom>
          <a:noFill/>
          <a:ln/>
        </p:spPr>
        <p:txBody>
          <a:bodyPr wrap="square" lIns="0" tIns="0" rIns="0" bIns="0" rtlCol="0" anchor="ctr"/>
          <a:lstStyle/>
          <a:p>
            <a:pPr marL="0" indent="0">
              <a:buNone/>
            </a:pPr>
            <a:r>
              <a:rPr lang="en-US" sz="1300" b="1" dirty="0">
                <a:solidFill>
                  <a:srgbClr val="C0392B"/>
                </a:solidFill>
                <a:latin typeface="Calibri" pitchFamily="34" charset="0"/>
                <a:ea typeface="Calibri" pitchFamily="34" charset="-122"/>
                <a:cs typeface="Calibri" pitchFamily="34" charset="-120"/>
              </a:rPr>
              <a:t>Remember: </a:t>
            </a:r>
            <a:r>
              <a:rPr lang="en-US" sz="1300" dirty="0">
                <a:solidFill>
                  <a:srgbClr val="1B3A6B"/>
                </a:solidFill>
                <a:latin typeface="Calibri" pitchFamily="34" charset="0"/>
                <a:ea typeface="Calibri" pitchFamily="34" charset="-122"/>
                <a:cs typeface="Calibri" pitchFamily="34" charset="-120"/>
              </a:rPr>
              <a:t>zEnterprise EC12 = a real mainframe using a redundant Channel Subsystem for non-stop I/O.</a:t>
            </a:r>
            <a:endParaRPr lang="en-US" sz="1300" dirty="0"/>
          </a:p>
        </p:txBody>
      </p:sp>
      <p:sp>
        <p:nvSpPr>
          <p:cNvPr id="32" name="Text 28"/>
          <p:cNvSpPr/>
          <p:nvPr/>
        </p:nvSpPr>
        <p:spPr>
          <a:xfrm>
            <a:off x="320040" y="6510528"/>
            <a:ext cx="5486400" cy="274320"/>
          </a:xfrm>
          <a:prstGeom prst="rect">
            <a:avLst/>
          </a:prstGeom>
          <a:noFill/>
          <a:ln/>
        </p:spPr>
        <p:txBody>
          <a:bodyPr wrap="square" lIns="0" tIns="0" rIns="0" bIns="0" rtlCol="0" anchor="ctr"/>
          <a:lstStyle/>
          <a:p>
            <a:pPr marL="0" indent="0">
              <a:buNone/>
            </a:pPr>
            <a:r>
              <a:rPr lang="en-US" sz="1000" i="1" dirty="0">
                <a:solidFill>
                  <a:srgbClr val="4A4A4A"/>
                </a:solidFill>
                <a:latin typeface="Calibri" pitchFamily="34" charset="0"/>
                <a:ea typeface="Calibri" pitchFamily="34" charset="-122"/>
                <a:cs typeface="Calibri" pitchFamily="34" charset="-120"/>
              </a:rPr>
              <a:t>IBM zEnterprise EC12 I/O Structure</a:t>
            </a:r>
            <a:endParaRPr lang="en-US" sz="1000" dirty="0"/>
          </a:p>
        </p:txBody>
      </p:sp>
      <p:sp>
        <p:nvSpPr>
          <p:cNvPr id="33" name="Text 29"/>
          <p:cNvSpPr/>
          <p:nvPr/>
        </p:nvSpPr>
        <p:spPr>
          <a:xfrm>
            <a:off x="5029200" y="6510528"/>
            <a:ext cx="5029200" cy="274320"/>
          </a:xfrm>
          <a:prstGeom prst="rect">
            <a:avLst/>
          </a:prstGeom>
          <a:noFill/>
          <a:ln/>
        </p:spPr>
        <p:txBody>
          <a:bodyPr wrap="square" lIns="0" tIns="0" rIns="0" bIns="0" rtlCol="0" anchor="ctr"/>
          <a:lstStyle/>
          <a:p>
            <a:pPr marL="0" indent="0" algn="r">
              <a:buNone/>
            </a:pPr>
            <a:r>
              <a:rPr lang="en-US" sz="900" dirty="0">
                <a:solidFill>
                  <a:srgbClr val="4A4A4A"/>
                </a:solidFill>
                <a:latin typeface="Calibri" pitchFamily="34" charset="0"/>
                <a:ea typeface="Calibri" pitchFamily="34" charset="-122"/>
                <a:cs typeface="Calibri" pitchFamily="34" charset="-120"/>
              </a:rPr>
              <a:t>Ch.7 • Stallings, Computer Organization &amp; Architecture</a:t>
            </a:r>
            <a:endParaRPr lang="en-US" sz="900" dirty="0"/>
          </a:p>
        </p:txBody>
      </p:sp>
      <p:sp>
        <p:nvSpPr>
          <p:cNvPr id="34" name="Text 30"/>
          <p:cNvSpPr/>
          <p:nvPr/>
        </p:nvSpPr>
        <p:spPr>
          <a:xfrm>
            <a:off x="11475720" y="6510528"/>
            <a:ext cx="548640" cy="274320"/>
          </a:xfrm>
          <a:prstGeom prst="rect">
            <a:avLst/>
          </a:prstGeom>
          <a:noFill/>
          <a:ln/>
        </p:spPr>
        <p:txBody>
          <a:bodyPr wrap="square" lIns="0" tIns="0" rIns="0" bIns="0" rtlCol="0" anchor="ctr"/>
          <a:lstStyle/>
          <a:p>
            <a:pPr marL="0" indent="0" algn="r">
              <a:buNone/>
            </a:pPr>
            <a:r>
              <a:rPr lang="en-US" sz="1000" dirty="0">
                <a:solidFill>
                  <a:srgbClr val="4A4A4A"/>
                </a:solidFill>
                <a:latin typeface="Calibri" pitchFamily="34" charset="0"/>
                <a:ea typeface="Calibri" pitchFamily="34" charset="-122"/>
                <a:cs typeface="Calibri" pitchFamily="34" charset="-120"/>
              </a:rPr>
              <a:t>28/30</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8E1"/>
        </a:solidFill>
        <a:effectLst/>
      </p:bgPr>
    </p:bg>
    <p:spTree>
      <p:nvGrpSpPr>
        <p:cNvPr id="1" name=""/>
        <p:cNvGrpSpPr/>
        <p:nvPr/>
      </p:nvGrpSpPr>
      <p:grpSpPr>
        <a:xfrm>
          <a:off x="0" y="0"/>
          <a:ext cx="0" cy="0"/>
          <a:chOff x="0" y="0"/>
          <a:chExt cx="0" cy="0"/>
        </a:xfrm>
      </p:grpSpPr>
      <p:sp>
        <p:nvSpPr>
          <p:cNvPr id="2" name="Shape 0"/>
          <p:cNvSpPr/>
          <p:nvPr/>
        </p:nvSpPr>
        <p:spPr>
          <a:xfrm>
            <a:off x="1234440" y="1417320"/>
            <a:ext cx="10607040" cy="0"/>
          </a:xfrm>
          <a:prstGeom prst="line">
            <a:avLst/>
          </a:prstGeom>
          <a:noFill/>
          <a:ln w="12700">
            <a:solidFill>
              <a:srgbClr val="E9DFC4"/>
            </a:solidFill>
            <a:prstDash val="solid"/>
          </a:ln>
        </p:spPr>
      </p:sp>
      <p:sp>
        <p:nvSpPr>
          <p:cNvPr id="3" name="Shape 1"/>
          <p:cNvSpPr/>
          <p:nvPr/>
        </p:nvSpPr>
        <p:spPr>
          <a:xfrm>
            <a:off x="1234440" y="1801368"/>
            <a:ext cx="10607040" cy="0"/>
          </a:xfrm>
          <a:prstGeom prst="line">
            <a:avLst/>
          </a:prstGeom>
          <a:noFill/>
          <a:ln w="12700">
            <a:solidFill>
              <a:srgbClr val="E9DFC4"/>
            </a:solidFill>
            <a:prstDash val="solid"/>
          </a:ln>
        </p:spPr>
      </p:sp>
      <p:sp>
        <p:nvSpPr>
          <p:cNvPr id="4" name="Shape 2"/>
          <p:cNvSpPr/>
          <p:nvPr/>
        </p:nvSpPr>
        <p:spPr>
          <a:xfrm>
            <a:off x="1234440" y="2185416"/>
            <a:ext cx="10607040" cy="0"/>
          </a:xfrm>
          <a:prstGeom prst="line">
            <a:avLst/>
          </a:prstGeom>
          <a:noFill/>
          <a:ln w="12700">
            <a:solidFill>
              <a:srgbClr val="E9DFC4"/>
            </a:solidFill>
            <a:prstDash val="solid"/>
          </a:ln>
        </p:spPr>
      </p:sp>
      <p:sp>
        <p:nvSpPr>
          <p:cNvPr id="5" name="Shape 3"/>
          <p:cNvSpPr/>
          <p:nvPr/>
        </p:nvSpPr>
        <p:spPr>
          <a:xfrm>
            <a:off x="1234440" y="2569464"/>
            <a:ext cx="10607040" cy="0"/>
          </a:xfrm>
          <a:prstGeom prst="line">
            <a:avLst/>
          </a:prstGeom>
          <a:noFill/>
          <a:ln w="12700">
            <a:solidFill>
              <a:srgbClr val="E9DFC4"/>
            </a:solidFill>
            <a:prstDash val="solid"/>
          </a:ln>
        </p:spPr>
      </p:sp>
      <p:sp>
        <p:nvSpPr>
          <p:cNvPr id="6" name="Shape 4"/>
          <p:cNvSpPr/>
          <p:nvPr/>
        </p:nvSpPr>
        <p:spPr>
          <a:xfrm>
            <a:off x="1234440" y="2953512"/>
            <a:ext cx="10607040" cy="0"/>
          </a:xfrm>
          <a:prstGeom prst="line">
            <a:avLst/>
          </a:prstGeom>
          <a:noFill/>
          <a:ln w="12700">
            <a:solidFill>
              <a:srgbClr val="E9DFC4"/>
            </a:solidFill>
            <a:prstDash val="solid"/>
          </a:ln>
        </p:spPr>
      </p:sp>
      <p:sp>
        <p:nvSpPr>
          <p:cNvPr id="7" name="Shape 5"/>
          <p:cNvSpPr/>
          <p:nvPr/>
        </p:nvSpPr>
        <p:spPr>
          <a:xfrm>
            <a:off x="1234440" y="3337560"/>
            <a:ext cx="10607040" cy="0"/>
          </a:xfrm>
          <a:prstGeom prst="line">
            <a:avLst/>
          </a:prstGeom>
          <a:noFill/>
          <a:ln w="12700">
            <a:solidFill>
              <a:srgbClr val="E9DFC4"/>
            </a:solidFill>
            <a:prstDash val="solid"/>
          </a:ln>
        </p:spPr>
      </p:sp>
      <p:sp>
        <p:nvSpPr>
          <p:cNvPr id="8" name="Shape 6"/>
          <p:cNvSpPr/>
          <p:nvPr/>
        </p:nvSpPr>
        <p:spPr>
          <a:xfrm>
            <a:off x="1234440" y="3721608"/>
            <a:ext cx="10607040" cy="0"/>
          </a:xfrm>
          <a:prstGeom prst="line">
            <a:avLst/>
          </a:prstGeom>
          <a:noFill/>
          <a:ln w="12700">
            <a:solidFill>
              <a:srgbClr val="E9DFC4"/>
            </a:solidFill>
            <a:prstDash val="solid"/>
          </a:ln>
        </p:spPr>
      </p:sp>
      <p:sp>
        <p:nvSpPr>
          <p:cNvPr id="9" name="Shape 7"/>
          <p:cNvSpPr/>
          <p:nvPr/>
        </p:nvSpPr>
        <p:spPr>
          <a:xfrm>
            <a:off x="1234440" y="4105656"/>
            <a:ext cx="10607040" cy="0"/>
          </a:xfrm>
          <a:prstGeom prst="line">
            <a:avLst/>
          </a:prstGeom>
          <a:noFill/>
          <a:ln w="12700">
            <a:solidFill>
              <a:srgbClr val="E9DFC4"/>
            </a:solidFill>
            <a:prstDash val="solid"/>
          </a:ln>
        </p:spPr>
      </p:sp>
      <p:sp>
        <p:nvSpPr>
          <p:cNvPr id="10" name="Shape 8"/>
          <p:cNvSpPr/>
          <p:nvPr/>
        </p:nvSpPr>
        <p:spPr>
          <a:xfrm>
            <a:off x="1234440" y="4489704"/>
            <a:ext cx="10607040" cy="0"/>
          </a:xfrm>
          <a:prstGeom prst="line">
            <a:avLst/>
          </a:prstGeom>
          <a:noFill/>
          <a:ln w="12700">
            <a:solidFill>
              <a:srgbClr val="E9DFC4"/>
            </a:solidFill>
            <a:prstDash val="solid"/>
          </a:ln>
        </p:spPr>
      </p:sp>
      <p:sp>
        <p:nvSpPr>
          <p:cNvPr id="11" name="Shape 9"/>
          <p:cNvSpPr/>
          <p:nvPr/>
        </p:nvSpPr>
        <p:spPr>
          <a:xfrm>
            <a:off x="1234440" y="4873752"/>
            <a:ext cx="10607040" cy="0"/>
          </a:xfrm>
          <a:prstGeom prst="line">
            <a:avLst/>
          </a:prstGeom>
          <a:noFill/>
          <a:ln w="12700">
            <a:solidFill>
              <a:srgbClr val="E9DFC4"/>
            </a:solidFill>
            <a:prstDash val="solid"/>
          </a:ln>
        </p:spPr>
      </p:sp>
      <p:sp>
        <p:nvSpPr>
          <p:cNvPr id="12" name="Shape 10"/>
          <p:cNvSpPr/>
          <p:nvPr/>
        </p:nvSpPr>
        <p:spPr>
          <a:xfrm>
            <a:off x="1234440" y="5257800"/>
            <a:ext cx="10607040" cy="0"/>
          </a:xfrm>
          <a:prstGeom prst="line">
            <a:avLst/>
          </a:prstGeom>
          <a:noFill/>
          <a:ln w="12700">
            <a:solidFill>
              <a:srgbClr val="E9DFC4"/>
            </a:solidFill>
            <a:prstDash val="solid"/>
          </a:ln>
        </p:spPr>
      </p:sp>
      <p:sp>
        <p:nvSpPr>
          <p:cNvPr id="13" name="Shape 11"/>
          <p:cNvSpPr/>
          <p:nvPr/>
        </p:nvSpPr>
        <p:spPr>
          <a:xfrm>
            <a:off x="1234440" y="5641848"/>
            <a:ext cx="10607040" cy="0"/>
          </a:xfrm>
          <a:prstGeom prst="line">
            <a:avLst/>
          </a:prstGeom>
          <a:noFill/>
          <a:ln w="12700">
            <a:solidFill>
              <a:srgbClr val="E9DFC4"/>
            </a:solidFill>
            <a:prstDash val="solid"/>
          </a:ln>
        </p:spPr>
      </p:sp>
      <p:sp>
        <p:nvSpPr>
          <p:cNvPr id="14" name="Shape 12"/>
          <p:cNvSpPr/>
          <p:nvPr/>
        </p:nvSpPr>
        <p:spPr>
          <a:xfrm>
            <a:off x="1234440" y="6025896"/>
            <a:ext cx="10607040" cy="0"/>
          </a:xfrm>
          <a:prstGeom prst="line">
            <a:avLst/>
          </a:prstGeom>
          <a:noFill/>
          <a:ln w="12700">
            <a:solidFill>
              <a:srgbClr val="E9DFC4"/>
            </a:solidFill>
            <a:prstDash val="solid"/>
          </a:ln>
        </p:spPr>
      </p:sp>
      <p:sp>
        <p:nvSpPr>
          <p:cNvPr id="15" name="Shape 13"/>
          <p:cNvSpPr/>
          <p:nvPr/>
        </p:nvSpPr>
        <p:spPr>
          <a:xfrm>
            <a:off x="1234440" y="6409944"/>
            <a:ext cx="10607040" cy="0"/>
          </a:xfrm>
          <a:prstGeom prst="line">
            <a:avLst/>
          </a:prstGeom>
          <a:noFill/>
          <a:ln w="12700">
            <a:solidFill>
              <a:srgbClr val="E9DFC4"/>
            </a:solidFill>
            <a:prstDash val="solid"/>
          </a:ln>
        </p:spPr>
      </p:sp>
      <p:sp>
        <p:nvSpPr>
          <p:cNvPr id="16" name="Shape 14"/>
          <p:cNvSpPr/>
          <p:nvPr/>
        </p:nvSpPr>
        <p:spPr>
          <a:xfrm>
            <a:off x="1051560" y="320040"/>
            <a:ext cx="0" cy="6309360"/>
          </a:xfrm>
          <a:prstGeom prst="line">
            <a:avLst/>
          </a:prstGeom>
          <a:noFill/>
          <a:ln w="15875">
            <a:solidFill>
              <a:srgbClr val="C0392B"/>
            </a:solidFill>
            <a:prstDash val="solid"/>
          </a:ln>
        </p:spPr>
      </p:sp>
      <p:sp>
        <p:nvSpPr>
          <p:cNvPr id="17" name="Text 15"/>
          <p:cNvSpPr/>
          <p:nvPr/>
        </p:nvSpPr>
        <p:spPr>
          <a:xfrm>
            <a:off x="1234440" y="457200"/>
            <a:ext cx="7315200" cy="640080"/>
          </a:xfrm>
          <a:prstGeom prst="rect">
            <a:avLst/>
          </a:prstGeom>
          <a:noFill/>
          <a:ln/>
        </p:spPr>
        <p:txBody>
          <a:bodyPr wrap="square" lIns="0" tIns="0" rIns="0" bIns="0" rtlCol="0" anchor="ctr"/>
          <a:lstStyle/>
          <a:p>
            <a:pPr marL="0" indent="0">
              <a:buNone/>
            </a:pPr>
            <a:r>
              <a:rPr lang="en-US" sz="3200" b="1" dirty="0">
                <a:solidFill>
                  <a:srgbClr val="1B3A6B"/>
                </a:solidFill>
                <a:latin typeface="Comic Sans MS" pitchFamily="34" charset="0"/>
                <a:ea typeface="Comic Sans MS" pitchFamily="34" charset="-122"/>
                <a:cs typeface="Comic Sans MS" pitchFamily="34" charset="-120"/>
              </a:rPr>
              <a:t>QUICK RECAP</a:t>
            </a:r>
            <a:endParaRPr lang="en-US" sz="3200" dirty="0"/>
          </a:p>
        </p:txBody>
      </p:sp>
      <p:sp>
        <p:nvSpPr>
          <p:cNvPr id="18" name="Shape 16"/>
          <p:cNvSpPr/>
          <p:nvPr/>
        </p:nvSpPr>
        <p:spPr>
          <a:xfrm>
            <a:off x="9646920" y="384048"/>
            <a:ext cx="1965960" cy="384048"/>
          </a:xfrm>
          <a:prstGeom prst="roundRect">
            <a:avLst>
              <a:gd name="adj" fmla="val 19048"/>
            </a:avLst>
          </a:prstGeom>
          <a:solidFill>
            <a:srgbClr val="C0392B"/>
          </a:solidFill>
          <a:ln/>
        </p:spPr>
      </p:sp>
      <p:sp>
        <p:nvSpPr>
          <p:cNvPr id="19" name="Text 17"/>
          <p:cNvSpPr/>
          <p:nvPr/>
        </p:nvSpPr>
        <p:spPr>
          <a:xfrm>
            <a:off x="9646920" y="384048"/>
            <a:ext cx="196596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SUMMARY</a:t>
            </a:r>
            <a:endParaRPr lang="en-US" sz="1200" dirty="0"/>
          </a:p>
        </p:txBody>
      </p:sp>
      <p:sp>
        <p:nvSpPr>
          <p:cNvPr id="20" name="Shape 18"/>
          <p:cNvSpPr/>
          <p:nvPr/>
        </p:nvSpPr>
        <p:spPr>
          <a:xfrm>
            <a:off x="8732520" y="411480"/>
            <a:ext cx="914400" cy="914400"/>
          </a:xfrm>
          <a:prstGeom prst="ellipse">
            <a:avLst/>
          </a:prstGeom>
          <a:solidFill>
            <a:srgbClr val="DCE6F5"/>
          </a:solidFill>
          <a:ln/>
          <a:effectLst>
            <a:outerShdw blurRad="50800" dist="25400" dir="5400000" algn="bl" rotWithShape="0">
              <a:srgbClr val="999999">
                <a:alpha val="25000"/>
              </a:srgbClr>
            </a:outerShdw>
          </a:effectLst>
        </p:spPr>
      </p:sp>
      <p:pic>
        <p:nvPicPr>
          <p:cNvPr id="21" name="Image 0" descr="/home/claude/iobook/icons/check.png"/>
          <p:cNvPicPr>
            <a:picLocks noChangeAspect="1"/>
          </p:cNvPicPr>
          <p:nvPr/>
        </p:nvPicPr>
        <p:blipFill>
          <a:blip r:embed="rId3"/>
          <a:stretch>
            <a:fillRect/>
          </a:stretch>
        </p:blipFill>
        <p:spPr>
          <a:xfrm>
            <a:off x="8933688" y="612648"/>
            <a:ext cx="512064" cy="512064"/>
          </a:xfrm>
          <a:prstGeom prst="rect">
            <a:avLst/>
          </a:prstGeom>
        </p:spPr>
      </p:pic>
      <p:sp>
        <p:nvSpPr>
          <p:cNvPr id="22" name="Shape 19"/>
          <p:cNvSpPr/>
          <p:nvPr/>
        </p:nvSpPr>
        <p:spPr>
          <a:xfrm>
            <a:off x="1280160" y="1472184"/>
            <a:ext cx="329184" cy="329184"/>
          </a:xfrm>
          <a:prstGeom prst="ellipse">
            <a:avLst/>
          </a:prstGeom>
          <a:solidFill>
            <a:srgbClr val="C0392B"/>
          </a:solidFill>
          <a:ln/>
        </p:spPr>
      </p:sp>
      <p:sp>
        <p:nvSpPr>
          <p:cNvPr id="23" name="Text 20"/>
          <p:cNvSpPr/>
          <p:nvPr/>
        </p:nvSpPr>
        <p:spPr>
          <a:xfrm>
            <a:off x="1280160" y="1472184"/>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1.1</a:t>
            </a:r>
            <a:endParaRPr lang="en-US" sz="1200" dirty="0"/>
          </a:p>
        </p:txBody>
      </p:sp>
      <p:sp>
        <p:nvSpPr>
          <p:cNvPr id="24" name="Text 21"/>
          <p:cNvSpPr/>
          <p:nvPr/>
        </p:nvSpPr>
        <p:spPr>
          <a:xfrm>
            <a:off x="1783080" y="1417320"/>
            <a:ext cx="2880360" cy="548640"/>
          </a:xfrm>
          <a:prstGeom prst="rect">
            <a:avLst/>
          </a:prstGeom>
          <a:noFill/>
          <a:ln/>
        </p:spPr>
        <p:txBody>
          <a:bodyPr wrap="square" lIns="0" tIns="0" rIns="0" bIns="0" rtlCol="0" anchor="ctr"/>
          <a:lstStyle/>
          <a:p>
            <a:pPr marL="0" indent="0">
              <a:buNone/>
            </a:pPr>
            <a:r>
              <a:rPr lang="en-US" sz="1250" b="1" dirty="0">
                <a:solidFill>
                  <a:srgbClr val="1B3A6B"/>
                </a:solidFill>
                <a:latin typeface="Calibri" pitchFamily="34" charset="0"/>
                <a:ea typeface="Calibri" pitchFamily="34" charset="-122"/>
                <a:cs typeface="Calibri" pitchFamily="34" charset="-120"/>
              </a:rPr>
              <a:t>External Devices</a:t>
            </a:r>
            <a:endParaRPr lang="en-US" sz="1250" dirty="0"/>
          </a:p>
        </p:txBody>
      </p:sp>
      <p:sp>
        <p:nvSpPr>
          <p:cNvPr id="25" name="Text 22"/>
          <p:cNvSpPr/>
          <p:nvPr/>
        </p:nvSpPr>
        <p:spPr>
          <a:xfrm>
            <a:off x="4754880" y="1417320"/>
            <a:ext cx="7086600" cy="548640"/>
          </a:xfrm>
          <a:prstGeom prst="rect">
            <a:avLst/>
          </a:prstGeom>
          <a:noFill/>
          <a:ln/>
        </p:spPr>
        <p:txBody>
          <a:bodyPr wrap="square" lIns="0" tIns="0" rIns="0" bIns="0" rtlCol="0" anchor="ctr"/>
          <a:lstStyle/>
          <a:p>
            <a:pPr marL="0" indent="0">
              <a:buNone/>
            </a:pPr>
            <a:r>
              <a:rPr lang="en-US" sz="1150" dirty="0">
                <a:solidFill>
                  <a:srgbClr val="4A4A4A"/>
                </a:solidFill>
                <a:latin typeface="Calibri" pitchFamily="34" charset="0"/>
                <a:ea typeface="Calibri" pitchFamily="34" charset="-122"/>
                <a:cs typeface="Calibri" pitchFamily="34" charset="-120"/>
              </a:rPr>
              <a:t>external devices = hardware outside CPU/memory used for input and/or output.</a:t>
            </a:r>
            <a:endParaRPr lang="en-US" sz="1150" dirty="0"/>
          </a:p>
        </p:txBody>
      </p:sp>
      <p:sp>
        <p:nvSpPr>
          <p:cNvPr id="26" name="Shape 23"/>
          <p:cNvSpPr/>
          <p:nvPr/>
        </p:nvSpPr>
        <p:spPr>
          <a:xfrm>
            <a:off x="1280160" y="2020824"/>
            <a:ext cx="329184" cy="329184"/>
          </a:xfrm>
          <a:prstGeom prst="ellipse">
            <a:avLst/>
          </a:prstGeom>
          <a:solidFill>
            <a:srgbClr val="C0392B"/>
          </a:solidFill>
          <a:ln/>
        </p:spPr>
      </p:sp>
      <p:sp>
        <p:nvSpPr>
          <p:cNvPr id="27" name="Text 24"/>
          <p:cNvSpPr/>
          <p:nvPr/>
        </p:nvSpPr>
        <p:spPr>
          <a:xfrm>
            <a:off x="1280160" y="2020824"/>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1.2</a:t>
            </a:r>
            <a:endParaRPr lang="en-US" sz="1200" dirty="0"/>
          </a:p>
        </p:txBody>
      </p:sp>
      <p:sp>
        <p:nvSpPr>
          <p:cNvPr id="28" name="Text 25"/>
          <p:cNvSpPr/>
          <p:nvPr/>
        </p:nvSpPr>
        <p:spPr>
          <a:xfrm>
            <a:off x="1783080" y="1965960"/>
            <a:ext cx="2880360" cy="548640"/>
          </a:xfrm>
          <a:prstGeom prst="rect">
            <a:avLst/>
          </a:prstGeom>
          <a:noFill/>
          <a:ln/>
        </p:spPr>
        <p:txBody>
          <a:bodyPr wrap="square" lIns="0" tIns="0" rIns="0" bIns="0" rtlCol="0" anchor="ctr"/>
          <a:lstStyle/>
          <a:p>
            <a:pPr marL="0" indent="0">
              <a:buNone/>
            </a:pPr>
            <a:r>
              <a:rPr lang="en-US" sz="1250" b="1" dirty="0">
                <a:solidFill>
                  <a:srgbClr val="1B3A6B"/>
                </a:solidFill>
                <a:latin typeface="Calibri" pitchFamily="34" charset="0"/>
                <a:ea typeface="Calibri" pitchFamily="34" charset="-122"/>
                <a:cs typeface="Calibri" pitchFamily="34" charset="-120"/>
              </a:rPr>
              <a:t>I/O Modules</a:t>
            </a:r>
            <a:endParaRPr lang="en-US" sz="1250" dirty="0"/>
          </a:p>
        </p:txBody>
      </p:sp>
      <p:sp>
        <p:nvSpPr>
          <p:cNvPr id="29" name="Text 26"/>
          <p:cNvSpPr/>
          <p:nvPr/>
        </p:nvSpPr>
        <p:spPr>
          <a:xfrm>
            <a:off x="4754880" y="1965960"/>
            <a:ext cx="7086600" cy="548640"/>
          </a:xfrm>
          <a:prstGeom prst="rect">
            <a:avLst/>
          </a:prstGeom>
          <a:noFill/>
          <a:ln/>
        </p:spPr>
        <p:txBody>
          <a:bodyPr wrap="square" lIns="0" tIns="0" rIns="0" bIns="0" rtlCol="0" anchor="ctr"/>
          <a:lstStyle/>
          <a:p>
            <a:pPr marL="0" indent="0">
              <a:buNone/>
            </a:pPr>
            <a:r>
              <a:rPr lang="en-US" sz="1150" dirty="0">
                <a:solidFill>
                  <a:srgbClr val="4A4A4A"/>
                </a:solidFill>
                <a:latin typeface="Calibri" pitchFamily="34" charset="0"/>
                <a:ea typeface="Calibri" pitchFamily="34" charset="-122"/>
                <a:cs typeface="Calibri" pitchFamily="34" charset="-120"/>
              </a:rPr>
              <a:t>I/O module = the 'middleman' hardware between the CPU/bus and an external device.</a:t>
            </a:r>
            <a:endParaRPr lang="en-US" sz="1150" dirty="0"/>
          </a:p>
        </p:txBody>
      </p:sp>
      <p:sp>
        <p:nvSpPr>
          <p:cNvPr id="30" name="Shape 27"/>
          <p:cNvSpPr/>
          <p:nvPr/>
        </p:nvSpPr>
        <p:spPr>
          <a:xfrm>
            <a:off x="1280160" y="2569464"/>
            <a:ext cx="329184" cy="329184"/>
          </a:xfrm>
          <a:prstGeom prst="ellipse">
            <a:avLst/>
          </a:prstGeom>
          <a:solidFill>
            <a:srgbClr val="C0392B"/>
          </a:solidFill>
          <a:ln/>
        </p:spPr>
      </p:sp>
      <p:sp>
        <p:nvSpPr>
          <p:cNvPr id="31" name="Text 28"/>
          <p:cNvSpPr/>
          <p:nvPr/>
        </p:nvSpPr>
        <p:spPr>
          <a:xfrm>
            <a:off x="1280160" y="2569464"/>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1.3</a:t>
            </a:r>
            <a:endParaRPr lang="en-US" sz="1200" dirty="0"/>
          </a:p>
        </p:txBody>
      </p:sp>
      <p:sp>
        <p:nvSpPr>
          <p:cNvPr id="32" name="Text 29"/>
          <p:cNvSpPr/>
          <p:nvPr/>
        </p:nvSpPr>
        <p:spPr>
          <a:xfrm>
            <a:off x="1783080" y="2514600"/>
            <a:ext cx="2880360" cy="548640"/>
          </a:xfrm>
          <a:prstGeom prst="rect">
            <a:avLst/>
          </a:prstGeom>
          <a:noFill/>
          <a:ln/>
        </p:spPr>
        <p:txBody>
          <a:bodyPr wrap="square" lIns="0" tIns="0" rIns="0" bIns="0" rtlCol="0" anchor="ctr"/>
          <a:lstStyle/>
          <a:p>
            <a:pPr marL="0" indent="0">
              <a:buNone/>
            </a:pPr>
            <a:r>
              <a:rPr lang="en-US" sz="1250" b="1" dirty="0">
                <a:solidFill>
                  <a:srgbClr val="1B3A6B"/>
                </a:solidFill>
                <a:latin typeface="Calibri" pitchFamily="34" charset="0"/>
                <a:ea typeface="Calibri" pitchFamily="34" charset="-122"/>
                <a:cs typeface="Calibri" pitchFamily="34" charset="-120"/>
              </a:rPr>
              <a:t>Programmed I/O</a:t>
            </a:r>
            <a:endParaRPr lang="en-US" sz="1250" dirty="0"/>
          </a:p>
        </p:txBody>
      </p:sp>
      <p:sp>
        <p:nvSpPr>
          <p:cNvPr id="33" name="Text 30"/>
          <p:cNvSpPr/>
          <p:nvPr/>
        </p:nvSpPr>
        <p:spPr>
          <a:xfrm>
            <a:off x="4754880" y="2514600"/>
            <a:ext cx="7086600" cy="548640"/>
          </a:xfrm>
          <a:prstGeom prst="rect">
            <a:avLst/>
          </a:prstGeom>
          <a:noFill/>
          <a:ln/>
        </p:spPr>
        <p:txBody>
          <a:bodyPr wrap="square" lIns="0" tIns="0" rIns="0" bIns="0" rtlCol="0" anchor="ctr"/>
          <a:lstStyle/>
          <a:p>
            <a:pPr marL="0" indent="0">
              <a:buNone/>
            </a:pPr>
            <a:r>
              <a:rPr lang="en-US" sz="1150" dirty="0">
                <a:solidFill>
                  <a:srgbClr val="4A4A4A"/>
                </a:solidFill>
                <a:latin typeface="Calibri" pitchFamily="34" charset="0"/>
                <a:ea typeface="Calibri" pitchFamily="34" charset="-122"/>
                <a:cs typeface="Calibri" pitchFamily="34" charset="-120"/>
              </a:rPr>
              <a:t>programmed I/O = CPU sends command, then busy-waits, polling until the device is ready.</a:t>
            </a:r>
            <a:endParaRPr lang="en-US" sz="1150" dirty="0"/>
          </a:p>
        </p:txBody>
      </p:sp>
      <p:sp>
        <p:nvSpPr>
          <p:cNvPr id="34" name="Shape 31"/>
          <p:cNvSpPr/>
          <p:nvPr/>
        </p:nvSpPr>
        <p:spPr>
          <a:xfrm>
            <a:off x="1280160" y="3118104"/>
            <a:ext cx="329184" cy="329184"/>
          </a:xfrm>
          <a:prstGeom prst="ellipse">
            <a:avLst/>
          </a:prstGeom>
          <a:solidFill>
            <a:srgbClr val="C0392B"/>
          </a:solidFill>
          <a:ln/>
        </p:spPr>
      </p:sp>
      <p:sp>
        <p:nvSpPr>
          <p:cNvPr id="35" name="Text 32"/>
          <p:cNvSpPr/>
          <p:nvPr/>
        </p:nvSpPr>
        <p:spPr>
          <a:xfrm>
            <a:off x="1280160" y="3118104"/>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1.4</a:t>
            </a:r>
            <a:endParaRPr lang="en-US" sz="1200" dirty="0"/>
          </a:p>
        </p:txBody>
      </p:sp>
      <p:sp>
        <p:nvSpPr>
          <p:cNvPr id="36" name="Text 33"/>
          <p:cNvSpPr/>
          <p:nvPr/>
        </p:nvSpPr>
        <p:spPr>
          <a:xfrm>
            <a:off x="1783080" y="3063240"/>
            <a:ext cx="2880360" cy="548640"/>
          </a:xfrm>
          <a:prstGeom prst="rect">
            <a:avLst/>
          </a:prstGeom>
          <a:noFill/>
          <a:ln/>
        </p:spPr>
        <p:txBody>
          <a:bodyPr wrap="square" lIns="0" tIns="0" rIns="0" bIns="0" rtlCol="0" anchor="ctr"/>
          <a:lstStyle/>
          <a:p>
            <a:pPr marL="0" indent="0">
              <a:buNone/>
            </a:pPr>
            <a:r>
              <a:rPr lang="en-US" sz="1250" b="1" dirty="0">
                <a:solidFill>
                  <a:srgbClr val="1B3A6B"/>
                </a:solidFill>
                <a:latin typeface="Calibri" pitchFamily="34" charset="0"/>
                <a:ea typeface="Calibri" pitchFamily="34" charset="-122"/>
                <a:cs typeface="Calibri" pitchFamily="34" charset="-120"/>
              </a:rPr>
              <a:t>Interrupt-Driven I/O</a:t>
            </a:r>
            <a:endParaRPr lang="en-US" sz="1250" dirty="0"/>
          </a:p>
        </p:txBody>
      </p:sp>
      <p:sp>
        <p:nvSpPr>
          <p:cNvPr id="37" name="Text 34"/>
          <p:cNvSpPr/>
          <p:nvPr/>
        </p:nvSpPr>
        <p:spPr>
          <a:xfrm>
            <a:off x="4754880" y="3063240"/>
            <a:ext cx="7086600" cy="548640"/>
          </a:xfrm>
          <a:prstGeom prst="rect">
            <a:avLst/>
          </a:prstGeom>
          <a:noFill/>
          <a:ln/>
        </p:spPr>
        <p:txBody>
          <a:bodyPr wrap="square" lIns="0" tIns="0" rIns="0" bIns="0" rtlCol="0" anchor="ctr"/>
          <a:lstStyle/>
          <a:p>
            <a:pPr marL="0" indent="0">
              <a:buNone/>
            </a:pPr>
            <a:r>
              <a:rPr lang="en-US" sz="1150" dirty="0">
                <a:solidFill>
                  <a:srgbClr val="4A4A4A"/>
                </a:solidFill>
                <a:latin typeface="Calibri" pitchFamily="34" charset="0"/>
                <a:ea typeface="Calibri" pitchFamily="34" charset="-122"/>
                <a:cs typeface="Calibri" pitchFamily="34" charset="-120"/>
              </a:rPr>
              <a:t>interrupt-driven I/O = CPU works freely and is only interrupted when the device is done.</a:t>
            </a:r>
            <a:endParaRPr lang="en-US" sz="1150" dirty="0"/>
          </a:p>
        </p:txBody>
      </p:sp>
      <p:sp>
        <p:nvSpPr>
          <p:cNvPr id="38" name="Shape 35"/>
          <p:cNvSpPr/>
          <p:nvPr/>
        </p:nvSpPr>
        <p:spPr>
          <a:xfrm>
            <a:off x="1280160" y="3666744"/>
            <a:ext cx="329184" cy="329184"/>
          </a:xfrm>
          <a:prstGeom prst="ellipse">
            <a:avLst/>
          </a:prstGeom>
          <a:solidFill>
            <a:srgbClr val="C0392B"/>
          </a:solidFill>
          <a:ln/>
        </p:spPr>
      </p:sp>
      <p:sp>
        <p:nvSpPr>
          <p:cNvPr id="39" name="Text 36"/>
          <p:cNvSpPr/>
          <p:nvPr/>
        </p:nvSpPr>
        <p:spPr>
          <a:xfrm>
            <a:off x="1280160" y="3666744"/>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1.5</a:t>
            </a:r>
            <a:endParaRPr lang="en-US" sz="1200" dirty="0"/>
          </a:p>
        </p:txBody>
      </p:sp>
      <p:sp>
        <p:nvSpPr>
          <p:cNvPr id="40" name="Text 37"/>
          <p:cNvSpPr/>
          <p:nvPr/>
        </p:nvSpPr>
        <p:spPr>
          <a:xfrm>
            <a:off x="1783080" y="3611880"/>
            <a:ext cx="2880360" cy="548640"/>
          </a:xfrm>
          <a:prstGeom prst="rect">
            <a:avLst/>
          </a:prstGeom>
          <a:noFill/>
          <a:ln/>
        </p:spPr>
        <p:txBody>
          <a:bodyPr wrap="square" lIns="0" tIns="0" rIns="0" bIns="0" rtlCol="0" anchor="ctr"/>
          <a:lstStyle/>
          <a:p>
            <a:pPr marL="0" indent="0">
              <a:buNone/>
            </a:pPr>
            <a:r>
              <a:rPr lang="en-US" sz="1250" b="1" dirty="0">
                <a:solidFill>
                  <a:srgbClr val="1B3A6B"/>
                </a:solidFill>
                <a:latin typeface="Calibri" pitchFamily="34" charset="0"/>
                <a:ea typeface="Calibri" pitchFamily="34" charset="-122"/>
                <a:cs typeface="Calibri" pitchFamily="34" charset="-120"/>
              </a:rPr>
              <a:t>Direct Memory Access (DMA)</a:t>
            </a:r>
            <a:endParaRPr lang="en-US" sz="1250" dirty="0"/>
          </a:p>
        </p:txBody>
      </p:sp>
      <p:sp>
        <p:nvSpPr>
          <p:cNvPr id="41" name="Text 38"/>
          <p:cNvSpPr/>
          <p:nvPr/>
        </p:nvSpPr>
        <p:spPr>
          <a:xfrm>
            <a:off x="4754880" y="3611880"/>
            <a:ext cx="7086600" cy="548640"/>
          </a:xfrm>
          <a:prstGeom prst="rect">
            <a:avLst/>
          </a:prstGeom>
          <a:noFill/>
          <a:ln/>
        </p:spPr>
        <p:txBody>
          <a:bodyPr wrap="square" lIns="0" tIns="0" rIns="0" bIns="0" rtlCol="0" anchor="ctr"/>
          <a:lstStyle/>
          <a:p>
            <a:pPr marL="0" indent="0">
              <a:buNone/>
            </a:pPr>
            <a:r>
              <a:rPr lang="en-US" sz="1150" dirty="0">
                <a:solidFill>
                  <a:srgbClr val="4A4A4A"/>
                </a:solidFill>
                <a:latin typeface="Calibri" pitchFamily="34" charset="0"/>
                <a:ea typeface="Calibri" pitchFamily="34" charset="-122"/>
                <a:cs typeface="Calibri" pitchFamily="34" charset="-120"/>
              </a:rPr>
              <a:t>DMA = a dedicated controller copies data directly to/from memory, bypassing the CPU.</a:t>
            </a:r>
            <a:endParaRPr lang="en-US" sz="1150" dirty="0"/>
          </a:p>
        </p:txBody>
      </p:sp>
      <p:sp>
        <p:nvSpPr>
          <p:cNvPr id="42" name="Shape 39"/>
          <p:cNvSpPr/>
          <p:nvPr/>
        </p:nvSpPr>
        <p:spPr>
          <a:xfrm>
            <a:off x="1280160" y="4215384"/>
            <a:ext cx="329184" cy="329184"/>
          </a:xfrm>
          <a:prstGeom prst="ellipse">
            <a:avLst/>
          </a:prstGeom>
          <a:solidFill>
            <a:srgbClr val="C0392B"/>
          </a:solidFill>
          <a:ln/>
        </p:spPr>
      </p:sp>
      <p:sp>
        <p:nvSpPr>
          <p:cNvPr id="43" name="Text 40"/>
          <p:cNvSpPr/>
          <p:nvPr/>
        </p:nvSpPr>
        <p:spPr>
          <a:xfrm>
            <a:off x="1280160" y="4215384"/>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1.6</a:t>
            </a:r>
            <a:endParaRPr lang="en-US" sz="1200" dirty="0"/>
          </a:p>
        </p:txBody>
      </p:sp>
      <p:sp>
        <p:nvSpPr>
          <p:cNvPr id="44" name="Text 41"/>
          <p:cNvSpPr/>
          <p:nvPr/>
        </p:nvSpPr>
        <p:spPr>
          <a:xfrm>
            <a:off x="1783080" y="4160520"/>
            <a:ext cx="2880360" cy="548640"/>
          </a:xfrm>
          <a:prstGeom prst="rect">
            <a:avLst/>
          </a:prstGeom>
          <a:noFill/>
          <a:ln/>
        </p:spPr>
        <p:txBody>
          <a:bodyPr wrap="square" lIns="0" tIns="0" rIns="0" bIns="0" rtlCol="0" anchor="ctr"/>
          <a:lstStyle/>
          <a:p>
            <a:pPr marL="0" indent="0">
              <a:buNone/>
            </a:pPr>
            <a:r>
              <a:rPr lang="en-US" sz="1250" b="1" dirty="0">
                <a:solidFill>
                  <a:srgbClr val="1B3A6B"/>
                </a:solidFill>
                <a:latin typeface="Calibri" pitchFamily="34" charset="0"/>
                <a:ea typeface="Calibri" pitchFamily="34" charset="-122"/>
                <a:cs typeface="Calibri" pitchFamily="34" charset="-120"/>
              </a:rPr>
              <a:t>Direct Cache Access (DCA)</a:t>
            </a:r>
            <a:endParaRPr lang="en-US" sz="1250" dirty="0"/>
          </a:p>
        </p:txBody>
      </p:sp>
      <p:sp>
        <p:nvSpPr>
          <p:cNvPr id="45" name="Text 42"/>
          <p:cNvSpPr/>
          <p:nvPr/>
        </p:nvSpPr>
        <p:spPr>
          <a:xfrm>
            <a:off x="4754880" y="4160520"/>
            <a:ext cx="7086600" cy="548640"/>
          </a:xfrm>
          <a:prstGeom prst="rect">
            <a:avLst/>
          </a:prstGeom>
          <a:noFill/>
          <a:ln/>
        </p:spPr>
        <p:txBody>
          <a:bodyPr wrap="square" lIns="0" tIns="0" rIns="0" bIns="0" rtlCol="0" anchor="ctr"/>
          <a:lstStyle/>
          <a:p>
            <a:pPr marL="0" indent="0">
              <a:buNone/>
            </a:pPr>
            <a:r>
              <a:rPr lang="en-US" sz="1150" dirty="0">
                <a:solidFill>
                  <a:srgbClr val="4A4A4A"/>
                </a:solidFill>
                <a:latin typeface="Calibri" pitchFamily="34" charset="0"/>
                <a:ea typeface="Calibri" pitchFamily="34" charset="-122"/>
                <a:cs typeface="Calibri" pitchFamily="34" charset="-120"/>
              </a:rPr>
              <a:t>DCA = I/O data is placed directly into cache, not just main memory, for faster CPU access.</a:t>
            </a:r>
            <a:endParaRPr lang="en-US" sz="1150" dirty="0"/>
          </a:p>
        </p:txBody>
      </p:sp>
      <p:sp>
        <p:nvSpPr>
          <p:cNvPr id="46" name="Shape 43"/>
          <p:cNvSpPr/>
          <p:nvPr/>
        </p:nvSpPr>
        <p:spPr>
          <a:xfrm>
            <a:off x="1280160" y="4764024"/>
            <a:ext cx="329184" cy="329184"/>
          </a:xfrm>
          <a:prstGeom prst="ellipse">
            <a:avLst/>
          </a:prstGeom>
          <a:solidFill>
            <a:srgbClr val="C0392B"/>
          </a:solidFill>
          <a:ln/>
        </p:spPr>
      </p:sp>
      <p:sp>
        <p:nvSpPr>
          <p:cNvPr id="47" name="Text 44"/>
          <p:cNvSpPr/>
          <p:nvPr/>
        </p:nvSpPr>
        <p:spPr>
          <a:xfrm>
            <a:off x="1280160" y="4764024"/>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1.7</a:t>
            </a:r>
            <a:endParaRPr lang="en-US" sz="1200" dirty="0"/>
          </a:p>
        </p:txBody>
      </p:sp>
      <p:sp>
        <p:nvSpPr>
          <p:cNvPr id="48" name="Text 45"/>
          <p:cNvSpPr/>
          <p:nvPr/>
        </p:nvSpPr>
        <p:spPr>
          <a:xfrm>
            <a:off x="1783080" y="4709160"/>
            <a:ext cx="2880360" cy="548640"/>
          </a:xfrm>
          <a:prstGeom prst="rect">
            <a:avLst/>
          </a:prstGeom>
          <a:noFill/>
          <a:ln/>
        </p:spPr>
        <p:txBody>
          <a:bodyPr wrap="square" lIns="0" tIns="0" rIns="0" bIns="0" rtlCol="0" anchor="ctr"/>
          <a:lstStyle/>
          <a:p>
            <a:pPr marL="0" indent="0">
              <a:buNone/>
            </a:pPr>
            <a:r>
              <a:rPr lang="en-US" sz="1250" b="1" dirty="0">
                <a:solidFill>
                  <a:srgbClr val="1B3A6B"/>
                </a:solidFill>
                <a:latin typeface="Calibri" pitchFamily="34" charset="0"/>
                <a:ea typeface="Calibri" pitchFamily="34" charset="-122"/>
                <a:cs typeface="Calibri" pitchFamily="34" charset="-120"/>
              </a:rPr>
              <a:t>I/O Channels and Processors</a:t>
            </a:r>
            <a:endParaRPr lang="en-US" sz="1250" dirty="0"/>
          </a:p>
        </p:txBody>
      </p:sp>
      <p:sp>
        <p:nvSpPr>
          <p:cNvPr id="49" name="Text 46"/>
          <p:cNvSpPr/>
          <p:nvPr/>
        </p:nvSpPr>
        <p:spPr>
          <a:xfrm>
            <a:off x="4754880" y="4709160"/>
            <a:ext cx="7086600" cy="548640"/>
          </a:xfrm>
          <a:prstGeom prst="rect">
            <a:avLst/>
          </a:prstGeom>
          <a:noFill/>
          <a:ln/>
        </p:spPr>
        <p:txBody>
          <a:bodyPr wrap="square" lIns="0" tIns="0" rIns="0" bIns="0" rtlCol="0" anchor="ctr"/>
          <a:lstStyle/>
          <a:p>
            <a:pPr marL="0" indent="0">
              <a:buNone/>
            </a:pPr>
            <a:r>
              <a:rPr lang="en-US" sz="1150" dirty="0">
                <a:solidFill>
                  <a:srgbClr val="4A4A4A"/>
                </a:solidFill>
                <a:latin typeface="Calibri" pitchFamily="34" charset="0"/>
                <a:ea typeface="Calibri" pitchFamily="34" charset="-122"/>
                <a:cs typeface="Calibri" pitchFamily="34" charset="-120"/>
              </a:rPr>
              <a:t>I/O channel/processor = a smart, independent unit that runs whole I/O programs on its own.</a:t>
            </a:r>
            <a:endParaRPr lang="en-US" sz="1150" dirty="0"/>
          </a:p>
        </p:txBody>
      </p:sp>
      <p:sp>
        <p:nvSpPr>
          <p:cNvPr id="50" name="Shape 47"/>
          <p:cNvSpPr/>
          <p:nvPr/>
        </p:nvSpPr>
        <p:spPr>
          <a:xfrm>
            <a:off x="1280160" y="5312664"/>
            <a:ext cx="329184" cy="329184"/>
          </a:xfrm>
          <a:prstGeom prst="ellipse">
            <a:avLst/>
          </a:prstGeom>
          <a:solidFill>
            <a:srgbClr val="C0392B"/>
          </a:solidFill>
          <a:ln/>
        </p:spPr>
      </p:sp>
      <p:sp>
        <p:nvSpPr>
          <p:cNvPr id="51" name="Text 48"/>
          <p:cNvSpPr/>
          <p:nvPr/>
        </p:nvSpPr>
        <p:spPr>
          <a:xfrm>
            <a:off x="1280160" y="5312664"/>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1.8</a:t>
            </a:r>
            <a:endParaRPr lang="en-US" sz="1200" dirty="0"/>
          </a:p>
        </p:txBody>
      </p:sp>
      <p:sp>
        <p:nvSpPr>
          <p:cNvPr id="52" name="Text 49"/>
          <p:cNvSpPr/>
          <p:nvPr/>
        </p:nvSpPr>
        <p:spPr>
          <a:xfrm>
            <a:off x="1783080" y="5257800"/>
            <a:ext cx="2880360" cy="548640"/>
          </a:xfrm>
          <a:prstGeom prst="rect">
            <a:avLst/>
          </a:prstGeom>
          <a:noFill/>
          <a:ln/>
        </p:spPr>
        <p:txBody>
          <a:bodyPr wrap="square" lIns="0" tIns="0" rIns="0" bIns="0" rtlCol="0" anchor="ctr"/>
          <a:lstStyle/>
          <a:p>
            <a:pPr marL="0" indent="0">
              <a:buNone/>
            </a:pPr>
            <a:r>
              <a:rPr lang="en-US" sz="1250" b="1" dirty="0">
                <a:solidFill>
                  <a:srgbClr val="1B3A6B"/>
                </a:solidFill>
                <a:latin typeface="Calibri" pitchFamily="34" charset="0"/>
                <a:ea typeface="Calibri" pitchFamily="34" charset="-122"/>
                <a:cs typeface="Calibri" pitchFamily="34" charset="-120"/>
              </a:rPr>
              <a:t>External Interconnection Standards</a:t>
            </a:r>
            <a:endParaRPr lang="en-US" sz="1250" dirty="0"/>
          </a:p>
        </p:txBody>
      </p:sp>
      <p:sp>
        <p:nvSpPr>
          <p:cNvPr id="53" name="Text 50"/>
          <p:cNvSpPr/>
          <p:nvPr/>
        </p:nvSpPr>
        <p:spPr>
          <a:xfrm>
            <a:off x="4754880" y="5257800"/>
            <a:ext cx="7086600" cy="548640"/>
          </a:xfrm>
          <a:prstGeom prst="rect">
            <a:avLst/>
          </a:prstGeom>
          <a:noFill/>
          <a:ln/>
        </p:spPr>
        <p:txBody>
          <a:bodyPr wrap="square" lIns="0" tIns="0" rIns="0" bIns="0" rtlCol="0" anchor="ctr"/>
          <a:lstStyle/>
          <a:p>
            <a:pPr marL="0" indent="0">
              <a:buNone/>
            </a:pPr>
            <a:r>
              <a:rPr lang="en-US" sz="1150" dirty="0">
                <a:solidFill>
                  <a:srgbClr val="4A4A4A"/>
                </a:solidFill>
                <a:latin typeface="Calibri" pitchFamily="34" charset="0"/>
                <a:ea typeface="Calibri" pitchFamily="34" charset="-122"/>
                <a:cs typeface="Calibri" pitchFamily="34" charset="-120"/>
              </a:rPr>
              <a:t>interconnection standards = shared rules that make devices from any vendor compatible.</a:t>
            </a:r>
            <a:endParaRPr lang="en-US" sz="1150" dirty="0"/>
          </a:p>
        </p:txBody>
      </p:sp>
      <p:sp>
        <p:nvSpPr>
          <p:cNvPr id="54" name="Shape 51"/>
          <p:cNvSpPr/>
          <p:nvPr/>
        </p:nvSpPr>
        <p:spPr>
          <a:xfrm>
            <a:off x="1280160" y="5861304"/>
            <a:ext cx="329184" cy="329184"/>
          </a:xfrm>
          <a:prstGeom prst="ellipse">
            <a:avLst/>
          </a:prstGeom>
          <a:solidFill>
            <a:srgbClr val="C0392B"/>
          </a:solidFill>
          <a:ln/>
        </p:spPr>
      </p:sp>
      <p:sp>
        <p:nvSpPr>
          <p:cNvPr id="55" name="Text 52"/>
          <p:cNvSpPr/>
          <p:nvPr/>
        </p:nvSpPr>
        <p:spPr>
          <a:xfrm>
            <a:off x="1280160" y="5861304"/>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1.9</a:t>
            </a:r>
            <a:endParaRPr lang="en-US" sz="1200" dirty="0"/>
          </a:p>
        </p:txBody>
      </p:sp>
      <p:sp>
        <p:nvSpPr>
          <p:cNvPr id="56" name="Text 53"/>
          <p:cNvSpPr/>
          <p:nvPr/>
        </p:nvSpPr>
        <p:spPr>
          <a:xfrm>
            <a:off x="1783080" y="5806440"/>
            <a:ext cx="2880360" cy="548640"/>
          </a:xfrm>
          <a:prstGeom prst="rect">
            <a:avLst/>
          </a:prstGeom>
          <a:noFill/>
          <a:ln/>
        </p:spPr>
        <p:txBody>
          <a:bodyPr wrap="square" lIns="0" tIns="0" rIns="0" bIns="0" rtlCol="0" anchor="ctr"/>
          <a:lstStyle/>
          <a:p>
            <a:pPr marL="0" indent="0">
              <a:buNone/>
            </a:pPr>
            <a:r>
              <a:rPr lang="en-US" sz="1250" b="1" dirty="0">
                <a:solidFill>
                  <a:srgbClr val="1B3A6B"/>
                </a:solidFill>
                <a:latin typeface="Calibri" pitchFamily="34" charset="0"/>
                <a:ea typeface="Calibri" pitchFamily="34" charset="-122"/>
                <a:cs typeface="Calibri" pitchFamily="34" charset="-120"/>
              </a:rPr>
              <a:t>IBM zEnterprise EC12 I/O Structure</a:t>
            </a:r>
            <a:endParaRPr lang="en-US" sz="1250" dirty="0"/>
          </a:p>
        </p:txBody>
      </p:sp>
      <p:sp>
        <p:nvSpPr>
          <p:cNvPr id="57" name="Text 54"/>
          <p:cNvSpPr/>
          <p:nvPr/>
        </p:nvSpPr>
        <p:spPr>
          <a:xfrm>
            <a:off x="4754880" y="5806440"/>
            <a:ext cx="7086600" cy="548640"/>
          </a:xfrm>
          <a:prstGeom prst="rect">
            <a:avLst/>
          </a:prstGeom>
          <a:noFill/>
          <a:ln/>
        </p:spPr>
        <p:txBody>
          <a:bodyPr wrap="square" lIns="0" tIns="0" rIns="0" bIns="0" rtlCol="0" anchor="ctr"/>
          <a:lstStyle/>
          <a:p>
            <a:pPr marL="0" indent="0">
              <a:buNone/>
            </a:pPr>
            <a:r>
              <a:rPr lang="en-US" sz="1150" dirty="0">
                <a:solidFill>
                  <a:srgbClr val="4A4A4A"/>
                </a:solidFill>
                <a:latin typeface="Calibri" pitchFamily="34" charset="0"/>
                <a:ea typeface="Calibri" pitchFamily="34" charset="-122"/>
                <a:cs typeface="Calibri" pitchFamily="34" charset="-120"/>
              </a:rPr>
              <a:t>zEnterprise EC12 = a real mainframe using a redundant Channel Subsystem for non-stop I/O.</a:t>
            </a:r>
            <a:endParaRPr lang="en-US" sz="1150" dirty="0"/>
          </a:p>
        </p:txBody>
      </p:sp>
      <p:sp>
        <p:nvSpPr>
          <p:cNvPr id="58" name="Text 55"/>
          <p:cNvSpPr/>
          <p:nvPr/>
        </p:nvSpPr>
        <p:spPr>
          <a:xfrm>
            <a:off x="320040" y="6510528"/>
            <a:ext cx="5486400" cy="274320"/>
          </a:xfrm>
          <a:prstGeom prst="rect">
            <a:avLst/>
          </a:prstGeom>
          <a:noFill/>
          <a:ln/>
        </p:spPr>
        <p:txBody>
          <a:bodyPr wrap="square" lIns="0" tIns="0" rIns="0" bIns="0" rtlCol="0" anchor="ctr"/>
          <a:lstStyle/>
          <a:p>
            <a:pPr marL="0" indent="0">
              <a:buNone/>
            </a:pPr>
            <a:r>
              <a:rPr lang="en-US" sz="1000" i="1" dirty="0">
                <a:solidFill>
                  <a:srgbClr val="4A4A4A"/>
                </a:solidFill>
                <a:latin typeface="Calibri" pitchFamily="34" charset="0"/>
                <a:ea typeface="Calibri" pitchFamily="34" charset="-122"/>
                <a:cs typeface="Calibri" pitchFamily="34" charset="-120"/>
              </a:rPr>
              <a:t>Recap</a:t>
            </a:r>
            <a:endParaRPr lang="en-US" sz="1000" dirty="0"/>
          </a:p>
        </p:txBody>
      </p:sp>
      <p:sp>
        <p:nvSpPr>
          <p:cNvPr id="59" name="Text 56"/>
          <p:cNvSpPr/>
          <p:nvPr/>
        </p:nvSpPr>
        <p:spPr>
          <a:xfrm>
            <a:off x="5029200" y="6510528"/>
            <a:ext cx="5029200" cy="274320"/>
          </a:xfrm>
          <a:prstGeom prst="rect">
            <a:avLst/>
          </a:prstGeom>
          <a:noFill/>
          <a:ln/>
        </p:spPr>
        <p:txBody>
          <a:bodyPr wrap="square" lIns="0" tIns="0" rIns="0" bIns="0" rtlCol="0" anchor="ctr"/>
          <a:lstStyle/>
          <a:p>
            <a:pPr marL="0" indent="0" algn="r">
              <a:buNone/>
            </a:pPr>
            <a:r>
              <a:rPr lang="en-US" sz="900" dirty="0">
                <a:solidFill>
                  <a:srgbClr val="4A4A4A"/>
                </a:solidFill>
                <a:latin typeface="Calibri" pitchFamily="34" charset="0"/>
                <a:ea typeface="Calibri" pitchFamily="34" charset="-122"/>
                <a:cs typeface="Calibri" pitchFamily="34" charset="-120"/>
              </a:rPr>
              <a:t>Ch.7 • Stallings, Computer Organization &amp; Architecture</a:t>
            </a:r>
            <a:endParaRPr lang="en-US" sz="900" dirty="0"/>
          </a:p>
        </p:txBody>
      </p:sp>
      <p:sp>
        <p:nvSpPr>
          <p:cNvPr id="60" name="Text 57"/>
          <p:cNvSpPr/>
          <p:nvPr/>
        </p:nvSpPr>
        <p:spPr>
          <a:xfrm>
            <a:off x="11475720" y="6510528"/>
            <a:ext cx="548640" cy="274320"/>
          </a:xfrm>
          <a:prstGeom prst="rect">
            <a:avLst/>
          </a:prstGeom>
          <a:noFill/>
          <a:ln/>
        </p:spPr>
        <p:txBody>
          <a:bodyPr wrap="square" lIns="0" tIns="0" rIns="0" bIns="0" rtlCol="0" anchor="ctr"/>
          <a:lstStyle/>
          <a:p>
            <a:pPr marL="0" indent="0" algn="r">
              <a:buNone/>
            </a:pPr>
            <a:r>
              <a:rPr lang="en-US" sz="1000" dirty="0">
                <a:solidFill>
                  <a:srgbClr val="4A4A4A"/>
                </a:solidFill>
                <a:latin typeface="Calibri" pitchFamily="34" charset="0"/>
                <a:ea typeface="Calibri" pitchFamily="34" charset="-122"/>
                <a:cs typeface="Calibri" pitchFamily="34" charset="-120"/>
              </a:rPr>
              <a:t>29/30</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8E1"/>
        </a:solidFill>
        <a:effectLst/>
      </p:bgPr>
    </p:bg>
    <p:spTree>
      <p:nvGrpSpPr>
        <p:cNvPr id="1" name=""/>
        <p:cNvGrpSpPr/>
        <p:nvPr/>
      </p:nvGrpSpPr>
      <p:grpSpPr>
        <a:xfrm>
          <a:off x="0" y="0"/>
          <a:ext cx="0" cy="0"/>
          <a:chOff x="0" y="0"/>
          <a:chExt cx="0" cy="0"/>
        </a:xfrm>
      </p:grpSpPr>
      <p:sp>
        <p:nvSpPr>
          <p:cNvPr id="2" name="Shape 0"/>
          <p:cNvSpPr/>
          <p:nvPr/>
        </p:nvSpPr>
        <p:spPr>
          <a:xfrm>
            <a:off x="1234440" y="1417320"/>
            <a:ext cx="10607040" cy="0"/>
          </a:xfrm>
          <a:prstGeom prst="line">
            <a:avLst/>
          </a:prstGeom>
          <a:noFill/>
          <a:ln w="12700">
            <a:solidFill>
              <a:srgbClr val="E9DFC4"/>
            </a:solidFill>
            <a:prstDash val="solid"/>
          </a:ln>
        </p:spPr>
      </p:sp>
      <p:sp>
        <p:nvSpPr>
          <p:cNvPr id="3" name="Shape 1"/>
          <p:cNvSpPr/>
          <p:nvPr/>
        </p:nvSpPr>
        <p:spPr>
          <a:xfrm>
            <a:off x="1234440" y="1801368"/>
            <a:ext cx="10607040" cy="0"/>
          </a:xfrm>
          <a:prstGeom prst="line">
            <a:avLst/>
          </a:prstGeom>
          <a:noFill/>
          <a:ln w="12700">
            <a:solidFill>
              <a:srgbClr val="E9DFC4"/>
            </a:solidFill>
            <a:prstDash val="solid"/>
          </a:ln>
        </p:spPr>
      </p:sp>
      <p:sp>
        <p:nvSpPr>
          <p:cNvPr id="4" name="Shape 2"/>
          <p:cNvSpPr/>
          <p:nvPr/>
        </p:nvSpPr>
        <p:spPr>
          <a:xfrm>
            <a:off x="1234440" y="2185416"/>
            <a:ext cx="10607040" cy="0"/>
          </a:xfrm>
          <a:prstGeom prst="line">
            <a:avLst/>
          </a:prstGeom>
          <a:noFill/>
          <a:ln w="12700">
            <a:solidFill>
              <a:srgbClr val="E9DFC4"/>
            </a:solidFill>
            <a:prstDash val="solid"/>
          </a:ln>
        </p:spPr>
      </p:sp>
      <p:sp>
        <p:nvSpPr>
          <p:cNvPr id="5" name="Shape 3"/>
          <p:cNvSpPr/>
          <p:nvPr/>
        </p:nvSpPr>
        <p:spPr>
          <a:xfrm>
            <a:off x="1234440" y="2569464"/>
            <a:ext cx="10607040" cy="0"/>
          </a:xfrm>
          <a:prstGeom prst="line">
            <a:avLst/>
          </a:prstGeom>
          <a:noFill/>
          <a:ln w="12700">
            <a:solidFill>
              <a:srgbClr val="E9DFC4"/>
            </a:solidFill>
            <a:prstDash val="solid"/>
          </a:ln>
        </p:spPr>
      </p:sp>
      <p:sp>
        <p:nvSpPr>
          <p:cNvPr id="6" name="Shape 4"/>
          <p:cNvSpPr/>
          <p:nvPr/>
        </p:nvSpPr>
        <p:spPr>
          <a:xfrm>
            <a:off x="1234440" y="2953512"/>
            <a:ext cx="10607040" cy="0"/>
          </a:xfrm>
          <a:prstGeom prst="line">
            <a:avLst/>
          </a:prstGeom>
          <a:noFill/>
          <a:ln w="12700">
            <a:solidFill>
              <a:srgbClr val="E9DFC4"/>
            </a:solidFill>
            <a:prstDash val="solid"/>
          </a:ln>
        </p:spPr>
      </p:sp>
      <p:sp>
        <p:nvSpPr>
          <p:cNvPr id="7" name="Shape 5"/>
          <p:cNvSpPr/>
          <p:nvPr/>
        </p:nvSpPr>
        <p:spPr>
          <a:xfrm>
            <a:off x="1234440" y="3337560"/>
            <a:ext cx="10607040" cy="0"/>
          </a:xfrm>
          <a:prstGeom prst="line">
            <a:avLst/>
          </a:prstGeom>
          <a:noFill/>
          <a:ln w="12700">
            <a:solidFill>
              <a:srgbClr val="E9DFC4"/>
            </a:solidFill>
            <a:prstDash val="solid"/>
          </a:ln>
        </p:spPr>
      </p:sp>
      <p:sp>
        <p:nvSpPr>
          <p:cNvPr id="8" name="Shape 6"/>
          <p:cNvSpPr/>
          <p:nvPr/>
        </p:nvSpPr>
        <p:spPr>
          <a:xfrm>
            <a:off x="1234440" y="3721608"/>
            <a:ext cx="10607040" cy="0"/>
          </a:xfrm>
          <a:prstGeom prst="line">
            <a:avLst/>
          </a:prstGeom>
          <a:noFill/>
          <a:ln w="12700">
            <a:solidFill>
              <a:srgbClr val="E9DFC4"/>
            </a:solidFill>
            <a:prstDash val="solid"/>
          </a:ln>
        </p:spPr>
      </p:sp>
      <p:sp>
        <p:nvSpPr>
          <p:cNvPr id="9" name="Shape 7"/>
          <p:cNvSpPr/>
          <p:nvPr/>
        </p:nvSpPr>
        <p:spPr>
          <a:xfrm>
            <a:off x="1234440" y="4105656"/>
            <a:ext cx="10607040" cy="0"/>
          </a:xfrm>
          <a:prstGeom prst="line">
            <a:avLst/>
          </a:prstGeom>
          <a:noFill/>
          <a:ln w="12700">
            <a:solidFill>
              <a:srgbClr val="E9DFC4"/>
            </a:solidFill>
            <a:prstDash val="solid"/>
          </a:ln>
        </p:spPr>
      </p:sp>
      <p:sp>
        <p:nvSpPr>
          <p:cNvPr id="10" name="Shape 8"/>
          <p:cNvSpPr/>
          <p:nvPr/>
        </p:nvSpPr>
        <p:spPr>
          <a:xfrm>
            <a:off x="1234440" y="4489704"/>
            <a:ext cx="10607040" cy="0"/>
          </a:xfrm>
          <a:prstGeom prst="line">
            <a:avLst/>
          </a:prstGeom>
          <a:noFill/>
          <a:ln w="12700">
            <a:solidFill>
              <a:srgbClr val="E9DFC4"/>
            </a:solidFill>
            <a:prstDash val="solid"/>
          </a:ln>
        </p:spPr>
      </p:sp>
      <p:sp>
        <p:nvSpPr>
          <p:cNvPr id="11" name="Shape 9"/>
          <p:cNvSpPr/>
          <p:nvPr/>
        </p:nvSpPr>
        <p:spPr>
          <a:xfrm>
            <a:off x="1234440" y="4873752"/>
            <a:ext cx="10607040" cy="0"/>
          </a:xfrm>
          <a:prstGeom prst="line">
            <a:avLst/>
          </a:prstGeom>
          <a:noFill/>
          <a:ln w="12700">
            <a:solidFill>
              <a:srgbClr val="E9DFC4"/>
            </a:solidFill>
            <a:prstDash val="solid"/>
          </a:ln>
        </p:spPr>
      </p:sp>
      <p:sp>
        <p:nvSpPr>
          <p:cNvPr id="12" name="Shape 10"/>
          <p:cNvSpPr/>
          <p:nvPr/>
        </p:nvSpPr>
        <p:spPr>
          <a:xfrm>
            <a:off x="1234440" y="5257800"/>
            <a:ext cx="10607040" cy="0"/>
          </a:xfrm>
          <a:prstGeom prst="line">
            <a:avLst/>
          </a:prstGeom>
          <a:noFill/>
          <a:ln w="12700">
            <a:solidFill>
              <a:srgbClr val="E9DFC4"/>
            </a:solidFill>
            <a:prstDash val="solid"/>
          </a:ln>
        </p:spPr>
      </p:sp>
      <p:sp>
        <p:nvSpPr>
          <p:cNvPr id="13" name="Shape 11"/>
          <p:cNvSpPr/>
          <p:nvPr/>
        </p:nvSpPr>
        <p:spPr>
          <a:xfrm>
            <a:off x="1234440" y="5641848"/>
            <a:ext cx="10607040" cy="0"/>
          </a:xfrm>
          <a:prstGeom prst="line">
            <a:avLst/>
          </a:prstGeom>
          <a:noFill/>
          <a:ln w="12700">
            <a:solidFill>
              <a:srgbClr val="E9DFC4"/>
            </a:solidFill>
            <a:prstDash val="solid"/>
          </a:ln>
        </p:spPr>
      </p:sp>
      <p:sp>
        <p:nvSpPr>
          <p:cNvPr id="14" name="Shape 12"/>
          <p:cNvSpPr/>
          <p:nvPr/>
        </p:nvSpPr>
        <p:spPr>
          <a:xfrm>
            <a:off x="1234440" y="6025896"/>
            <a:ext cx="10607040" cy="0"/>
          </a:xfrm>
          <a:prstGeom prst="line">
            <a:avLst/>
          </a:prstGeom>
          <a:noFill/>
          <a:ln w="12700">
            <a:solidFill>
              <a:srgbClr val="E9DFC4"/>
            </a:solidFill>
            <a:prstDash val="solid"/>
          </a:ln>
        </p:spPr>
      </p:sp>
      <p:sp>
        <p:nvSpPr>
          <p:cNvPr id="15" name="Shape 13"/>
          <p:cNvSpPr/>
          <p:nvPr/>
        </p:nvSpPr>
        <p:spPr>
          <a:xfrm>
            <a:off x="1234440" y="6409944"/>
            <a:ext cx="10607040" cy="0"/>
          </a:xfrm>
          <a:prstGeom prst="line">
            <a:avLst/>
          </a:prstGeom>
          <a:noFill/>
          <a:ln w="12700">
            <a:solidFill>
              <a:srgbClr val="E9DFC4"/>
            </a:solidFill>
            <a:prstDash val="solid"/>
          </a:ln>
        </p:spPr>
      </p:sp>
      <p:sp>
        <p:nvSpPr>
          <p:cNvPr id="16" name="Shape 14"/>
          <p:cNvSpPr/>
          <p:nvPr/>
        </p:nvSpPr>
        <p:spPr>
          <a:xfrm>
            <a:off x="1051560" y="320040"/>
            <a:ext cx="0" cy="6309360"/>
          </a:xfrm>
          <a:prstGeom prst="line">
            <a:avLst/>
          </a:prstGeom>
          <a:noFill/>
          <a:ln w="15875">
            <a:solidFill>
              <a:srgbClr val="C0392B"/>
            </a:solidFill>
            <a:prstDash val="solid"/>
          </a:ln>
        </p:spPr>
      </p:sp>
      <p:sp>
        <p:nvSpPr>
          <p:cNvPr id="17" name="Text 15"/>
          <p:cNvSpPr/>
          <p:nvPr/>
        </p:nvSpPr>
        <p:spPr>
          <a:xfrm>
            <a:off x="1234440" y="457200"/>
            <a:ext cx="8229600" cy="640080"/>
          </a:xfrm>
          <a:prstGeom prst="rect">
            <a:avLst/>
          </a:prstGeom>
          <a:noFill/>
          <a:ln/>
        </p:spPr>
        <p:txBody>
          <a:bodyPr wrap="square" lIns="0" tIns="0" rIns="0" bIns="0" rtlCol="0" anchor="ctr"/>
          <a:lstStyle/>
          <a:p>
            <a:pPr marL="0" indent="0">
              <a:buNone/>
            </a:pPr>
            <a:r>
              <a:rPr lang="en-US" sz="3000" b="1" dirty="0">
                <a:solidFill>
                  <a:srgbClr val="1B3A6B"/>
                </a:solidFill>
                <a:latin typeface="Comic Sans MS" pitchFamily="34" charset="0"/>
                <a:ea typeface="Comic Sans MS" pitchFamily="34" charset="-122"/>
                <a:cs typeface="Comic Sans MS" pitchFamily="34" charset="-120"/>
              </a:rPr>
              <a:t>REFERENCES &amp; NEXT STEPS</a:t>
            </a:r>
            <a:endParaRPr lang="en-US" sz="3000" dirty="0"/>
          </a:p>
        </p:txBody>
      </p:sp>
      <p:sp>
        <p:nvSpPr>
          <p:cNvPr id="18" name="Shape 16"/>
          <p:cNvSpPr/>
          <p:nvPr/>
        </p:nvSpPr>
        <p:spPr>
          <a:xfrm>
            <a:off x="8732520" y="411480"/>
            <a:ext cx="914400" cy="914400"/>
          </a:xfrm>
          <a:prstGeom prst="ellipse">
            <a:avLst/>
          </a:prstGeom>
          <a:solidFill>
            <a:srgbClr val="DCE6F5"/>
          </a:solidFill>
          <a:ln/>
          <a:effectLst>
            <a:outerShdw blurRad="50800" dist="25400" dir="5400000" algn="bl" rotWithShape="0">
              <a:srgbClr val="999999">
                <a:alpha val="25000"/>
              </a:srgbClr>
            </a:outerShdw>
          </a:effectLst>
        </p:spPr>
      </p:sp>
      <p:pic>
        <p:nvPicPr>
          <p:cNvPr id="19" name="Image 0" descr="/home/claude/iobook/icons/book.png"/>
          <p:cNvPicPr>
            <a:picLocks noChangeAspect="1"/>
          </p:cNvPicPr>
          <p:nvPr/>
        </p:nvPicPr>
        <p:blipFill>
          <a:blip r:embed="rId3"/>
          <a:stretch>
            <a:fillRect/>
          </a:stretch>
        </p:blipFill>
        <p:spPr>
          <a:xfrm>
            <a:off x="8933688" y="612648"/>
            <a:ext cx="512064" cy="512064"/>
          </a:xfrm>
          <a:prstGeom prst="rect">
            <a:avLst/>
          </a:prstGeom>
        </p:spPr>
      </p:pic>
      <p:sp>
        <p:nvSpPr>
          <p:cNvPr id="20" name="Shape 17"/>
          <p:cNvSpPr/>
          <p:nvPr/>
        </p:nvSpPr>
        <p:spPr>
          <a:xfrm>
            <a:off x="1280160" y="1600200"/>
            <a:ext cx="8778240" cy="1828800"/>
          </a:xfrm>
          <a:prstGeom prst="roundRect">
            <a:avLst>
              <a:gd name="adj" fmla="val 5000"/>
            </a:avLst>
          </a:prstGeom>
          <a:solidFill>
            <a:srgbClr val="FFFFFF"/>
          </a:solidFill>
          <a:ln w="12700">
            <a:solidFill>
              <a:srgbClr val="1B3A6B"/>
            </a:solidFill>
            <a:prstDash val="solid"/>
          </a:ln>
        </p:spPr>
      </p:sp>
      <p:sp>
        <p:nvSpPr>
          <p:cNvPr id="21" name="Text 18"/>
          <p:cNvSpPr/>
          <p:nvPr/>
        </p:nvSpPr>
        <p:spPr>
          <a:xfrm>
            <a:off x="1508760" y="1737360"/>
            <a:ext cx="8229600" cy="274320"/>
          </a:xfrm>
          <a:prstGeom prst="rect">
            <a:avLst/>
          </a:prstGeom>
          <a:noFill/>
          <a:ln/>
        </p:spPr>
        <p:txBody>
          <a:bodyPr wrap="square" lIns="0" tIns="0" rIns="0" bIns="0" rtlCol="0" anchor="ctr"/>
          <a:lstStyle/>
          <a:p>
            <a:pPr marL="0" indent="0">
              <a:buNone/>
            </a:pPr>
            <a:r>
              <a:rPr lang="en-US" sz="1200" b="1" dirty="0">
                <a:solidFill>
                  <a:srgbClr val="C0392B"/>
                </a:solidFill>
                <a:latin typeface="Calibri" pitchFamily="34" charset="0"/>
                <a:ea typeface="Calibri" pitchFamily="34" charset="-122"/>
                <a:cs typeface="Calibri" pitchFamily="34" charset="-120"/>
              </a:rPr>
              <a:t>TEXTBOOK</a:t>
            </a:r>
            <a:endParaRPr lang="en-US" sz="1200" dirty="0"/>
          </a:p>
        </p:txBody>
      </p:sp>
      <p:sp>
        <p:nvSpPr>
          <p:cNvPr id="22" name="Text 19"/>
          <p:cNvSpPr/>
          <p:nvPr/>
        </p:nvSpPr>
        <p:spPr>
          <a:xfrm>
            <a:off x="1508760" y="2057400"/>
            <a:ext cx="8229600" cy="548640"/>
          </a:xfrm>
          <a:prstGeom prst="rect">
            <a:avLst/>
          </a:prstGeom>
          <a:noFill/>
          <a:ln/>
        </p:spPr>
        <p:txBody>
          <a:bodyPr wrap="square" lIns="0" tIns="0" rIns="0" bIns="0" rtlCol="0" anchor="ctr"/>
          <a:lstStyle/>
          <a:p>
            <a:pPr marL="0" indent="0">
              <a:buNone/>
            </a:pPr>
            <a:r>
              <a:rPr lang="en-US" sz="1400" dirty="0">
                <a:solidFill>
                  <a:srgbClr val="1B3A6B"/>
                </a:solidFill>
                <a:latin typeface="Calibri" pitchFamily="34" charset="0"/>
                <a:ea typeface="Calibri" pitchFamily="34" charset="-122"/>
                <a:cs typeface="Calibri" pitchFamily="34" charset="-120"/>
              </a:rPr>
              <a:t>William Stallings — Computer Organization and Architecture, Chapter 7: Input/Output (pages 230–266).</a:t>
            </a:r>
            <a:endParaRPr lang="en-US" sz="1400" dirty="0"/>
          </a:p>
        </p:txBody>
      </p:sp>
      <p:sp>
        <p:nvSpPr>
          <p:cNvPr id="23" name="Text 20"/>
          <p:cNvSpPr/>
          <p:nvPr/>
        </p:nvSpPr>
        <p:spPr>
          <a:xfrm>
            <a:off x="1508760" y="2697480"/>
            <a:ext cx="8229600" cy="640080"/>
          </a:xfrm>
          <a:prstGeom prst="rect">
            <a:avLst/>
          </a:prstGeom>
          <a:noFill/>
          <a:ln/>
        </p:spPr>
        <p:txBody>
          <a:bodyPr wrap="square" lIns="0" tIns="0" rIns="0" bIns="0" rtlCol="0" anchor="ctr"/>
          <a:lstStyle/>
          <a:p>
            <a:pPr marL="0" indent="0">
              <a:buNone/>
            </a:pPr>
            <a:r>
              <a:rPr lang="en-US" sz="1150" i="1" dirty="0">
                <a:solidFill>
                  <a:srgbClr val="4A4A4A"/>
                </a:solidFill>
                <a:latin typeface="Calibri" pitchFamily="34" charset="0"/>
                <a:ea typeface="Calibri" pitchFamily="34" charset="-122"/>
                <a:cs typeface="Calibri" pitchFamily="34" charset="-120"/>
              </a:rPr>
              <a:t>Sections covered: External Devices · I/O Modules · Programmed I/O · Interrupt-Driven I/O · DMA · Direct Cache Access · I/O Channels &amp; Processors · External Interconnection Standards · IBM zEnterprise EC12 I/O Structure.</a:t>
            </a:r>
            <a:endParaRPr lang="en-US" sz="1150" dirty="0"/>
          </a:p>
        </p:txBody>
      </p:sp>
      <p:sp>
        <p:nvSpPr>
          <p:cNvPr id="24" name="Shape 21"/>
          <p:cNvSpPr/>
          <p:nvPr/>
        </p:nvSpPr>
        <p:spPr>
          <a:xfrm>
            <a:off x="1280160" y="3657600"/>
            <a:ext cx="8778240" cy="1371600"/>
          </a:xfrm>
          <a:prstGeom prst="roundRect">
            <a:avLst>
              <a:gd name="adj" fmla="val 6667"/>
            </a:avLst>
          </a:prstGeom>
          <a:solidFill>
            <a:srgbClr val="FFE082">
              <a:alpha val="65000"/>
            </a:srgbClr>
          </a:solidFill>
          <a:ln w="9525">
            <a:solidFill>
              <a:srgbClr val="1B3A6B"/>
            </a:solidFill>
            <a:prstDash val="dash"/>
          </a:ln>
        </p:spPr>
      </p:sp>
      <p:pic>
        <p:nvPicPr>
          <p:cNvPr id="25" name="Image 1" descr="/home/claude/iobook/icons/lightbulb.png"/>
          <p:cNvPicPr>
            <a:picLocks noChangeAspect="1"/>
          </p:cNvPicPr>
          <p:nvPr/>
        </p:nvPicPr>
        <p:blipFill>
          <a:blip r:embed="rId4"/>
          <a:stretch>
            <a:fillRect/>
          </a:stretch>
        </p:blipFill>
        <p:spPr>
          <a:xfrm>
            <a:off x="1508760" y="3840480"/>
            <a:ext cx="502920" cy="502920"/>
          </a:xfrm>
          <a:prstGeom prst="rect">
            <a:avLst/>
          </a:prstGeom>
        </p:spPr>
      </p:pic>
      <p:sp>
        <p:nvSpPr>
          <p:cNvPr id="26" name="Text 22"/>
          <p:cNvSpPr/>
          <p:nvPr/>
        </p:nvSpPr>
        <p:spPr>
          <a:xfrm>
            <a:off x="2148840" y="3794760"/>
            <a:ext cx="7772400" cy="1143000"/>
          </a:xfrm>
          <a:prstGeom prst="rect">
            <a:avLst/>
          </a:prstGeom>
          <a:noFill/>
          <a:ln/>
        </p:spPr>
        <p:txBody>
          <a:bodyPr wrap="square" lIns="0" tIns="0" rIns="0" bIns="0" rtlCol="0" anchor="t"/>
          <a:lstStyle/>
          <a:p>
            <a:pPr marL="0" indent="0">
              <a:buNone/>
            </a:pPr>
            <a:r>
              <a:rPr lang="en-US" sz="1300" dirty="0">
                <a:solidFill>
                  <a:srgbClr val="1B3A6B"/>
                </a:solidFill>
                <a:latin typeface="Calibri" pitchFamily="34" charset="0"/>
                <a:ea typeface="Calibri" pitchFamily="34" charset="-122"/>
                <a:cs typeface="Calibri" pitchFamily="34" charset="-120"/>
              </a:rPr>
              <a:t>Study tip: cover the CPU-involvement ladder — Programmed I/O (CPU fully busy) → Interrupts (CPU checks less) → DMA (CPU barely involved) → I/O Channels (CPU almost free). Knowing WHY each was invented helps you remember the order!</a:t>
            </a:r>
            <a:endParaRPr lang="en-US" sz="1300" dirty="0"/>
          </a:p>
        </p:txBody>
      </p:sp>
      <p:sp>
        <p:nvSpPr>
          <p:cNvPr id="27" name="Text 23"/>
          <p:cNvSpPr/>
          <p:nvPr/>
        </p:nvSpPr>
        <p:spPr>
          <a:xfrm>
            <a:off x="320040" y="6510528"/>
            <a:ext cx="5486400" cy="274320"/>
          </a:xfrm>
          <a:prstGeom prst="rect">
            <a:avLst/>
          </a:prstGeom>
          <a:noFill/>
          <a:ln/>
        </p:spPr>
        <p:txBody>
          <a:bodyPr wrap="square" lIns="0" tIns="0" rIns="0" bIns="0" rtlCol="0" anchor="ctr"/>
          <a:lstStyle/>
          <a:p>
            <a:pPr marL="0" indent="0">
              <a:buNone/>
            </a:pPr>
            <a:r>
              <a:rPr lang="en-US" sz="1000" i="1" dirty="0">
                <a:solidFill>
                  <a:srgbClr val="4A4A4A"/>
                </a:solidFill>
                <a:latin typeface="Calibri" pitchFamily="34" charset="0"/>
                <a:ea typeface="Calibri" pitchFamily="34" charset="-122"/>
                <a:cs typeface="Calibri" pitchFamily="34" charset="-120"/>
              </a:rPr>
              <a:t>References</a:t>
            </a:r>
            <a:endParaRPr lang="en-US" sz="1000" dirty="0"/>
          </a:p>
        </p:txBody>
      </p:sp>
      <p:sp>
        <p:nvSpPr>
          <p:cNvPr id="28" name="Text 24"/>
          <p:cNvSpPr/>
          <p:nvPr/>
        </p:nvSpPr>
        <p:spPr>
          <a:xfrm>
            <a:off x="5029200" y="6510528"/>
            <a:ext cx="5029200" cy="274320"/>
          </a:xfrm>
          <a:prstGeom prst="rect">
            <a:avLst/>
          </a:prstGeom>
          <a:noFill/>
          <a:ln/>
        </p:spPr>
        <p:txBody>
          <a:bodyPr wrap="square" lIns="0" tIns="0" rIns="0" bIns="0" rtlCol="0" anchor="ctr"/>
          <a:lstStyle/>
          <a:p>
            <a:pPr marL="0" indent="0" algn="r">
              <a:buNone/>
            </a:pPr>
            <a:r>
              <a:rPr lang="en-US" sz="900" dirty="0">
                <a:solidFill>
                  <a:srgbClr val="4A4A4A"/>
                </a:solidFill>
                <a:latin typeface="Calibri" pitchFamily="34" charset="0"/>
                <a:ea typeface="Calibri" pitchFamily="34" charset="-122"/>
                <a:cs typeface="Calibri" pitchFamily="34" charset="-120"/>
              </a:rPr>
              <a:t>Ch.7 • Stallings, Computer Organization &amp; Architecture</a:t>
            </a:r>
            <a:endParaRPr lang="en-US" sz="900" dirty="0"/>
          </a:p>
        </p:txBody>
      </p:sp>
      <p:sp>
        <p:nvSpPr>
          <p:cNvPr id="29" name="Text 25"/>
          <p:cNvSpPr/>
          <p:nvPr/>
        </p:nvSpPr>
        <p:spPr>
          <a:xfrm>
            <a:off x="11475720" y="6510528"/>
            <a:ext cx="548640" cy="274320"/>
          </a:xfrm>
          <a:prstGeom prst="rect">
            <a:avLst/>
          </a:prstGeom>
          <a:noFill/>
          <a:ln/>
        </p:spPr>
        <p:txBody>
          <a:bodyPr wrap="square" lIns="0" tIns="0" rIns="0" bIns="0" rtlCol="0" anchor="ctr"/>
          <a:lstStyle/>
          <a:p>
            <a:pPr marL="0" indent="0" algn="r">
              <a:buNone/>
            </a:pPr>
            <a:r>
              <a:rPr lang="en-US" sz="1000" dirty="0">
                <a:solidFill>
                  <a:srgbClr val="4A4A4A"/>
                </a:solidFill>
                <a:latin typeface="Calibri" pitchFamily="34" charset="0"/>
                <a:ea typeface="Calibri" pitchFamily="34" charset="-122"/>
                <a:cs typeface="Calibri" pitchFamily="34" charset="-120"/>
              </a:rPr>
              <a:t>30/30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2715</Words>
  <Application>Microsoft Office PowerPoint</Application>
  <PresentationFormat>Widescreen</PresentationFormat>
  <Paragraphs>452</Paragraphs>
  <Slides>30</Slides>
  <Notes>30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Arial</vt:lpstr>
      <vt:lpstr>Calibri</vt:lpstr>
      <vt:lpstr>Comic Sans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PC</cp:lastModifiedBy>
  <cp:revision>2</cp:revision>
  <dcterms:created xsi:type="dcterms:W3CDTF">2026-09-03T01:57:34Z</dcterms:created>
  <dcterms:modified xsi:type="dcterms:W3CDTF">2026-09-03T02:35:48Z</dcterms:modified>
</cp:coreProperties>
</file>